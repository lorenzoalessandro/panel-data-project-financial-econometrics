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1"/>
  </p:notesMasterIdLst>
  <p:handoutMasterIdLst>
    <p:handoutMasterId r:id="rId412"/>
  </p:handoutMasterIdLst>
  <p:sldIdLst>
    <p:sldId id="257" r:id="rId2"/>
    <p:sldId id="259" r:id="rId3"/>
    <p:sldId id="260" r:id="rId4"/>
    <p:sldId id="261" r:id="rId5"/>
    <p:sldId id="262" r:id="rId6"/>
    <p:sldId id="263" r:id="rId7"/>
    <p:sldId id="707" r:id="rId8"/>
    <p:sldId id="706" r:id="rId9"/>
    <p:sldId id="705"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717" r:id="rId30"/>
    <p:sldId id="718" r:id="rId31"/>
    <p:sldId id="679" r:id="rId32"/>
    <p:sldId id="716" r:id="rId33"/>
    <p:sldId id="732" r:id="rId34"/>
    <p:sldId id="675" r:id="rId35"/>
    <p:sldId id="676" r:id="rId36"/>
    <p:sldId id="677" r:id="rId37"/>
    <p:sldId id="310" r:id="rId38"/>
    <p:sldId id="311" r:id="rId39"/>
    <p:sldId id="312" r:id="rId40"/>
    <p:sldId id="672" r:id="rId41"/>
    <p:sldId id="313" r:id="rId42"/>
    <p:sldId id="671" r:id="rId43"/>
    <p:sldId id="316" r:id="rId44"/>
    <p:sldId id="317" r:id="rId45"/>
    <p:sldId id="318" r:id="rId46"/>
    <p:sldId id="670" r:id="rId47"/>
    <p:sldId id="719" r:id="rId48"/>
    <p:sldId id="720" r:id="rId49"/>
    <p:sldId id="319" r:id="rId50"/>
    <p:sldId id="320" r:id="rId51"/>
    <p:sldId id="321" r:id="rId52"/>
    <p:sldId id="322" r:id="rId53"/>
    <p:sldId id="323" r:id="rId54"/>
    <p:sldId id="324" r:id="rId55"/>
    <p:sldId id="325" r:id="rId56"/>
    <p:sldId id="326" r:id="rId57"/>
    <p:sldId id="327" r:id="rId58"/>
    <p:sldId id="328" r:id="rId59"/>
    <p:sldId id="329" r:id="rId60"/>
    <p:sldId id="634" r:id="rId61"/>
    <p:sldId id="330" r:id="rId62"/>
    <p:sldId id="331" r:id="rId63"/>
    <p:sldId id="332" r:id="rId64"/>
    <p:sldId id="680" r:id="rId65"/>
    <p:sldId id="334" r:id="rId66"/>
    <p:sldId id="335" r:id="rId67"/>
    <p:sldId id="336" r:id="rId68"/>
    <p:sldId id="342" r:id="rId69"/>
    <p:sldId id="343" r:id="rId70"/>
    <p:sldId id="344" r:id="rId71"/>
    <p:sldId id="346" r:id="rId72"/>
    <p:sldId id="347" r:id="rId73"/>
    <p:sldId id="348" r:id="rId74"/>
    <p:sldId id="349" r:id="rId75"/>
    <p:sldId id="350" r:id="rId76"/>
    <p:sldId id="728" r:id="rId77"/>
    <p:sldId id="351" r:id="rId78"/>
    <p:sldId id="352" r:id="rId79"/>
    <p:sldId id="353" r:id="rId80"/>
    <p:sldId id="354" r:id="rId81"/>
    <p:sldId id="355" r:id="rId82"/>
    <p:sldId id="721" r:id="rId83"/>
    <p:sldId id="733" r:id="rId84"/>
    <p:sldId id="727" r:id="rId85"/>
    <p:sldId id="726" r:id="rId86"/>
    <p:sldId id="725" r:id="rId87"/>
    <p:sldId id="662" r:id="rId88"/>
    <p:sldId id="663" r:id="rId89"/>
    <p:sldId id="664" r:id="rId90"/>
    <p:sldId id="666" r:id="rId91"/>
    <p:sldId id="667" r:id="rId92"/>
    <p:sldId id="668" r:id="rId93"/>
    <p:sldId id="665" r:id="rId94"/>
    <p:sldId id="669" r:id="rId95"/>
    <p:sldId id="592" r:id="rId96"/>
    <p:sldId id="593" r:id="rId97"/>
    <p:sldId id="594" r:id="rId98"/>
    <p:sldId id="595" r:id="rId99"/>
    <p:sldId id="596" r:id="rId100"/>
    <p:sldId id="597" r:id="rId101"/>
    <p:sldId id="599" r:id="rId102"/>
    <p:sldId id="600" r:id="rId103"/>
    <p:sldId id="601" r:id="rId104"/>
    <p:sldId id="602" r:id="rId105"/>
    <p:sldId id="603" r:id="rId106"/>
    <p:sldId id="604" r:id="rId107"/>
    <p:sldId id="605" r:id="rId108"/>
    <p:sldId id="606" r:id="rId109"/>
    <p:sldId id="710" r:id="rId110"/>
    <p:sldId id="607" r:id="rId111"/>
    <p:sldId id="608" r:id="rId112"/>
    <p:sldId id="609" r:id="rId113"/>
    <p:sldId id="610" r:id="rId114"/>
    <p:sldId id="611" r:id="rId115"/>
    <p:sldId id="612" r:id="rId116"/>
    <p:sldId id="613" r:id="rId117"/>
    <p:sldId id="614" r:id="rId118"/>
    <p:sldId id="615" r:id="rId119"/>
    <p:sldId id="616" r:id="rId120"/>
    <p:sldId id="356" r:id="rId121"/>
    <p:sldId id="658" r:id="rId122"/>
    <p:sldId id="357" r:id="rId123"/>
    <p:sldId id="358" r:id="rId124"/>
    <p:sldId id="359" r:id="rId125"/>
    <p:sldId id="575" r:id="rId126"/>
    <p:sldId id="580" r:id="rId127"/>
    <p:sldId id="577" r:id="rId128"/>
    <p:sldId id="578" r:id="rId129"/>
    <p:sldId id="576" r:id="rId130"/>
    <p:sldId id="579" r:id="rId131"/>
    <p:sldId id="731" r:id="rId132"/>
    <p:sldId id="673" r:id="rId133"/>
    <p:sldId id="729" r:id="rId134"/>
    <p:sldId id="674" r:id="rId135"/>
    <p:sldId id="581" r:id="rId136"/>
    <p:sldId id="582" r:id="rId137"/>
    <p:sldId id="583" r:id="rId138"/>
    <p:sldId id="618" r:id="rId139"/>
    <p:sldId id="617" r:id="rId140"/>
    <p:sldId id="584" r:id="rId141"/>
    <p:sldId id="585" r:id="rId142"/>
    <p:sldId id="620" r:id="rId143"/>
    <p:sldId id="361" r:id="rId144"/>
    <p:sldId id="364" r:id="rId145"/>
    <p:sldId id="365" r:id="rId146"/>
    <p:sldId id="366" r:id="rId147"/>
    <p:sldId id="367" r:id="rId148"/>
    <p:sldId id="588" r:id="rId149"/>
    <p:sldId id="589" r:id="rId150"/>
    <p:sldId id="368" r:id="rId151"/>
    <p:sldId id="369" r:id="rId152"/>
    <p:sldId id="591" r:id="rId153"/>
    <p:sldId id="590" r:id="rId154"/>
    <p:sldId id="370" r:id="rId155"/>
    <p:sldId id="586" r:id="rId156"/>
    <p:sldId id="373" r:id="rId157"/>
    <p:sldId id="621" r:id="rId158"/>
    <p:sldId id="622" r:id="rId159"/>
    <p:sldId id="374" r:id="rId160"/>
    <p:sldId id="625" r:id="rId161"/>
    <p:sldId id="623" r:id="rId162"/>
    <p:sldId id="375" r:id="rId163"/>
    <p:sldId id="624" r:id="rId164"/>
    <p:sldId id="379" r:id="rId165"/>
    <p:sldId id="380" r:id="rId166"/>
    <p:sldId id="381" r:id="rId167"/>
    <p:sldId id="382" r:id="rId168"/>
    <p:sldId id="383" r:id="rId169"/>
    <p:sldId id="384" r:id="rId170"/>
    <p:sldId id="385" r:id="rId171"/>
    <p:sldId id="386" r:id="rId172"/>
    <p:sldId id="387" r:id="rId173"/>
    <p:sldId id="388" r:id="rId174"/>
    <p:sldId id="389" r:id="rId175"/>
    <p:sldId id="390" r:id="rId176"/>
    <p:sldId id="391" r:id="rId177"/>
    <p:sldId id="392" r:id="rId178"/>
    <p:sldId id="393" r:id="rId179"/>
    <p:sldId id="394" r:id="rId180"/>
    <p:sldId id="395" r:id="rId181"/>
    <p:sldId id="396" r:id="rId182"/>
    <p:sldId id="397" r:id="rId183"/>
    <p:sldId id="398" r:id="rId184"/>
    <p:sldId id="399" r:id="rId185"/>
    <p:sldId id="402" r:id="rId186"/>
    <p:sldId id="403" r:id="rId187"/>
    <p:sldId id="404" r:id="rId188"/>
    <p:sldId id="405" r:id="rId189"/>
    <p:sldId id="686" r:id="rId190"/>
    <p:sldId id="681" r:id="rId191"/>
    <p:sldId id="692" r:id="rId192"/>
    <p:sldId id="691" r:id="rId193"/>
    <p:sldId id="693" r:id="rId194"/>
    <p:sldId id="694" r:id="rId195"/>
    <p:sldId id="688" r:id="rId196"/>
    <p:sldId id="689" r:id="rId197"/>
    <p:sldId id="687" r:id="rId198"/>
    <p:sldId id="696" r:id="rId199"/>
    <p:sldId id="695" r:id="rId200"/>
    <p:sldId id="408" r:id="rId201"/>
    <p:sldId id="734" r:id="rId202"/>
    <p:sldId id="409" r:id="rId203"/>
    <p:sldId id="410" r:id="rId204"/>
    <p:sldId id="411" r:id="rId205"/>
    <p:sldId id="659" r:id="rId206"/>
    <p:sldId id="661" r:id="rId207"/>
    <p:sldId id="660" r:id="rId208"/>
    <p:sldId id="413" r:id="rId209"/>
    <p:sldId id="414" r:id="rId210"/>
    <p:sldId id="415" r:id="rId211"/>
    <p:sldId id="416" r:id="rId212"/>
    <p:sldId id="417" r:id="rId213"/>
    <p:sldId id="419" r:id="rId214"/>
    <p:sldId id="420" r:id="rId215"/>
    <p:sldId id="421" r:id="rId216"/>
    <p:sldId id="422" r:id="rId217"/>
    <p:sldId id="424" r:id="rId218"/>
    <p:sldId id="425" r:id="rId219"/>
    <p:sldId id="426" r:id="rId220"/>
    <p:sldId id="427" r:id="rId221"/>
    <p:sldId id="428" r:id="rId222"/>
    <p:sldId id="430" r:id="rId223"/>
    <p:sldId id="431" r:id="rId224"/>
    <p:sldId id="432" r:id="rId225"/>
    <p:sldId id="433" r:id="rId226"/>
    <p:sldId id="434" r:id="rId227"/>
    <p:sldId id="435" r:id="rId228"/>
    <p:sldId id="436" r:id="rId229"/>
    <p:sldId id="437" r:id="rId230"/>
    <p:sldId id="713" r:id="rId231"/>
    <p:sldId id="700" r:id="rId232"/>
    <p:sldId id="701" r:id="rId233"/>
    <p:sldId id="708" r:id="rId234"/>
    <p:sldId id="709" r:id="rId235"/>
    <p:sldId id="711" r:id="rId236"/>
    <p:sldId id="702" r:id="rId237"/>
    <p:sldId id="698" r:id="rId238"/>
    <p:sldId id="699" r:id="rId239"/>
    <p:sldId id="439" r:id="rId240"/>
    <p:sldId id="440" r:id="rId241"/>
    <p:sldId id="441" r:id="rId242"/>
    <p:sldId id="442" r:id="rId243"/>
    <p:sldId id="443" r:id="rId244"/>
    <p:sldId id="444" r:id="rId245"/>
    <p:sldId id="712" r:id="rId246"/>
    <p:sldId id="445" r:id="rId247"/>
    <p:sldId id="446" r:id="rId248"/>
    <p:sldId id="447" r:id="rId249"/>
    <p:sldId id="448" r:id="rId250"/>
    <p:sldId id="449" r:id="rId251"/>
    <p:sldId id="450" r:id="rId252"/>
    <p:sldId id="451" r:id="rId253"/>
    <p:sldId id="452" r:id="rId254"/>
    <p:sldId id="453" r:id="rId255"/>
    <p:sldId id="454" r:id="rId256"/>
    <p:sldId id="455" r:id="rId257"/>
    <p:sldId id="456" r:id="rId258"/>
    <p:sldId id="457" r:id="rId259"/>
    <p:sldId id="458" r:id="rId260"/>
    <p:sldId id="459" r:id="rId261"/>
    <p:sldId id="460" r:id="rId262"/>
    <p:sldId id="461" r:id="rId263"/>
    <p:sldId id="462" r:id="rId264"/>
    <p:sldId id="463" r:id="rId265"/>
    <p:sldId id="464" r:id="rId266"/>
    <p:sldId id="465" r:id="rId267"/>
    <p:sldId id="466" r:id="rId268"/>
    <p:sldId id="467" r:id="rId269"/>
    <p:sldId id="468" r:id="rId270"/>
    <p:sldId id="469" r:id="rId271"/>
    <p:sldId id="470" r:id="rId272"/>
    <p:sldId id="471" r:id="rId273"/>
    <p:sldId id="472" r:id="rId274"/>
    <p:sldId id="473" r:id="rId275"/>
    <p:sldId id="474" r:id="rId276"/>
    <p:sldId id="475" r:id="rId277"/>
    <p:sldId id="476" r:id="rId278"/>
    <p:sldId id="477" r:id="rId279"/>
    <p:sldId id="478" r:id="rId280"/>
    <p:sldId id="479" r:id="rId281"/>
    <p:sldId id="480" r:id="rId282"/>
    <p:sldId id="481" r:id="rId283"/>
    <p:sldId id="482" r:id="rId284"/>
    <p:sldId id="483" r:id="rId285"/>
    <p:sldId id="484" r:id="rId286"/>
    <p:sldId id="485" r:id="rId287"/>
    <p:sldId id="486" r:id="rId288"/>
    <p:sldId id="487" r:id="rId289"/>
    <p:sldId id="488" r:id="rId290"/>
    <p:sldId id="489" r:id="rId291"/>
    <p:sldId id="490" r:id="rId292"/>
    <p:sldId id="491" r:id="rId293"/>
    <p:sldId id="492" r:id="rId294"/>
    <p:sldId id="493" r:id="rId295"/>
    <p:sldId id="494" r:id="rId296"/>
    <p:sldId id="495" r:id="rId297"/>
    <p:sldId id="496" r:id="rId298"/>
    <p:sldId id="497" r:id="rId299"/>
    <p:sldId id="498" r:id="rId300"/>
    <p:sldId id="499" r:id="rId301"/>
    <p:sldId id="500" r:id="rId302"/>
    <p:sldId id="626" r:id="rId303"/>
    <p:sldId id="501" r:id="rId304"/>
    <p:sldId id="502" r:id="rId305"/>
    <p:sldId id="503" r:id="rId306"/>
    <p:sldId id="504" r:id="rId307"/>
    <p:sldId id="505" r:id="rId308"/>
    <p:sldId id="506" r:id="rId309"/>
    <p:sldId id="507" r:id="rId310"/>
    <p:sldId id="508" r:id="rId311"/>
    <p:sldId id="509" r:id="rId312"/>
    <p:sldId id="510" r:id="rId313"/>
    <p:sldId id="511" r:id="rId314"/>
    <p:sldId id="512" r:id="rId315"/>
    <p:sldId id="513" r:id="rId316"/>
    <p:sldId id="514" r:id="rId317"/>
    <p:sldId id="515" r:id="rId318"/>
    <p:sldId id="516" r:id="rId319"/>
    <p:sldId id="517" r:id="rId320"/>
    <p:sldId id="518" r:id="rId321"/>
    <p:sldId id="519" r:id="rId322"/>
    <p:sldId id="520" r:id="rId323"/>
    <p:sldId id="521" r:id="rId324"/>
    <p:sldId id="522" r:id="rId325"/>
    <p:sldId id="735" r:id="rId326"/>
    <p:sldId id="523" r:id="rId327"/>
    <p:sldId id="736" r:id="rId328"/>
    <p:sldId id="737" r:id="rId329"/>
    <p:sldId id="738" r:id="rId330"/>
    <p:sldId id="524" r:id="rId331"/>
    <p:sldId id="525" r:id="rId332"/>
    <p:sldId id="526" r:id="rId333"/>
    <p:sldId id="527" r:id="rId334"/>
    <p:sldId id="528" r:id="rId335"/>
    <p:sldId id="529" r:id="rId336"/>
    <p:sldId id="530" r:id="rId337"/>
    <p:sldId id="531" r:id="rId338"/>
    <p:sldId id="714" r:id="rId339"/>
    <p:sldId id="715" r:id="rId340"/>
    <p:sldId id="532" r:id="rId341"/>
    <p:sldId id="533" r:id="rId342"/>
    <p:sldId id="534" r:id="rId343"/>
    <p:sldId id="535" r:id="rId344"/>
    <p:sldId id="536" r:id="rId345"/>
    <p:sldId id="537" r:id="rId346"/>
    <p:sldId id="538" r:id="rId347"/>
    <p:sldId id="539" r:id="rId348"/>
    <p:sldId id="540" r:id="rId349"/>
    <p:sldId id="541" r:id="rId350"/>
    <p:sldId id="542" r:id="rId351"/>
    <p:sldId id="543" r:id="rId352"/>
    <p:sldId id="544" r:id="rId353"/>
    <p:sldId id="545" r:id="rId354"/>
    <p:sldId id="546" r:id="rId355"/>
    <p:sldId id="547" r:id="rId356"/>
    <p:sldId id="548" r:id="rId357"/>
    <p:sldId id="549" r:id="rId358"/>
    <p:sldId id="550" r:id="rId359"/>
    <p:sldId id="551" r:id="rId360"/>
    <p:sldId id="552" r:id="rId361"/>
    <p:sldId id="553" r:id="rId362"/>
    <p:sldId id="554" r:id="rId363"/>
    <p:sldId id="555" r:id="rId364"/>
    <p:sldId id="556" r:id="rId365"/>
    <p:sldId id="557" r:id="rId366"/>
    <p:sldId id="558" r:id="rId367"/>
    <p:sldId id="559" r:id="rId368"/>
    <p:sldId id="560" r:id="rId369"/>
    <p:sldId id="561" r:id="rId370"/>
    <p:sldId id="562" r:id="rId371"/>
    <p:sldId id="563" r:id="rId372"/>
    <p:sldId id="564" r:id="rId373"/>
    <p:sldId id="565" r:id="rId374"/>
    <p:sldId id="566" r:id="rId375"/>
    <p:sldId id="567" r:id="rId376"/>
    <p:sldId id="568" r:id="rId377"/>
    <p:sldId id="569" r:id="rId378"/>
    <p:sldId id="628" r:id="rId379"/>
    <p:sldId id="653" r:id="rId380"/>
    <p:sldId id="654" r:id="rId381"/>
    <p:sldId id="635" r:id="rId382"/>
    <p:sldId id="636" r:id="rId383"/>
    <p:sldId id="633" r:id="rId384"/>
    <p:sldId id="627" r:id="rId385"/>
    <p:sldId id="629" r:id="rId386"/>
    <p:sldId id="652" r:id="rId387"/>
    <p:sldId id="641" r:id="rId388"/>
    <p:sldId id="649" r:id="rId389"/>
    <p:sldId id="631" r:id="rId390"/>
    <p:sldId id="632" r:id="rId391"/>
    <p:sldId id="650" r:id="rId392"/>
    <p:sldId id="651" r:id="rId393"/>
    <p:sldId id="638" r:id="rId394"/>
    <p:sldId id="657" r:id="rId395"/>
    <p:sldId id="630" r:id="rId396"/>
    <p:sldId id="639" r:id="rId397"/>
    <p:sldId id="640" r:id="rId398"/>
    <p:sldId id="642" r:id="rId399"/>
    <p:sldId id="643" r:id="rId400"/>
    <p:sldId id="645" r:id="rId401"/>
    <p:sldId id="646" r:id="rId402"/>
    <p:sldId id="644" r:id="rId403"/>
    <p:sldId id="655" r:id="rId404"/>
    <p:sldId id="570" r:id="rId405"/>
    <p:sldId id="572" r:id="rId406"/>
    <p:sldId id="647" r:id="rId407"/>
    <p:sldId id="573" r:id="rId408"/>
    <p:sldId id="574" r:id="rId409"/>
    <p:sldId id="648" r:id="rId410"/>
  </p:sldIdLst>
  <p:sldSz cx="9144000" cy="6858000" type="screen4x3"/>
  <p:notesSz cx="6888163" cy="100203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07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5" autoAdjust="0"/>
    <p:restoredTop sz="94605" autoAdjust="0"/>
  </p:normalViewPr>
  <p:slideViewPr>
    <p:cSldViewPr>
      <p:cViewPr varScale="1">
        <p:scale>
          <a:sx n="155" d="100"/>
          <a:sy n="155" d="100"/>
        </p:scale>
        <p:origin x="1248"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presProps" Target="presProps.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theme" Target="theme/theme1.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16" Type="http://schemas.openxmlformats.org/officeDocument/2006/relationships/slide" Target="slides/slide15.xml"/><Relationship Id="rId221" Type="http://schemas.openxmlformats.org/officeDocument/2006/relationships/slide" Target="slides/slide220.xml"/><Relationship Id="rId263" Type="http://schemas.openxmlformats.org/officeDocument/2006/relationships/slide" Target="slides/slide262.xml"/><Relationship Id="rId319" Type="http://schemas.openxmlformats.org/officeDocument/2006/relationships/slide" Target="slides/slide318.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165" Type="http://schemas.openxmlformats.org/officeDocument/2006/relationships/slide" Target="slides/slide164.xml"/><Relationship Id="rId372" Type="http://schemas.openxmlformats.org/officeDocument/2006/relationships/slide" Target="slides/slide371.xml"/><Relationship Id="rId232" Type="http://schemas.openxmlformats.org/officeDocument/2006/relationships/slide" Target="slides/slide231.xml"/><Relationship Id="rId274" Type="http://schemas.openxmlformats.org/officeDocument/2006/relationships/slide" Target="slides/slide273.xml"/><Relationship Id="rId27" Type="http://schemas.openxmlformats.org/officeDocument/2006/relationships/slide" Target="slides/slide26.xml"/><Relationship Id="rId69" Type="http://schemas.openxmlformats.org/officeDocument/2006/relationships/slide" Target="slides/slide68.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394" Type="http://schemas.openxmlformats.org/officeDocument/2006/relationships/slide" Target="slides/slide393.xml"/><Relationship Id="rId408" Type="http://schemas.openxmlformats.org/officeDocument/2006/relationships/slide" Target="slides/slide407.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slide" Target="slides/slide394.xml"/><Relationship Id="rId409" Type="http://schemas.openxmlformats.org/officeDocument/2006/relationships/slide" Target="slides/slide408.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notesMaster" Target="notesMasters/notesMaster1.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handoutMaster" Target="handoutMasters/handoutMaster1.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viewProps" Target="viewProps.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tableStyles" Target="tableStyles.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200" Type="http://schemas.openxmlformats.org/officeDocument/2006/relationships/slide" Target="slides/slide199.xml"/><Relationship Id="rId382" Type="http://schemas.openxmlformats.org/officeDocument/2006/relationships/slide" Target="slides/slide381.xml"/><Relationship Id="rId242" Type="http://schemas.openxmlformats.org/officeDocument/2006/relationships/slide" Target="slides/slide241.xml"/><Relationship Id="rId284" Type="http://schemas.openxmlformats.org/officeDocument/2006/relationships/slide" Target="slides/slide283.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fr-FR"/>
          </a:p>
        </p:txBody>
      </p:sp>
      <p:sp>
        <p:nvSpPr>
          <p:cNvPr id="3" name="Espace réservé de la date 2"/>
          <p:cNvSpPr>
            <a:spLocks noGrp="1"/>
          </p:cNvSpPr>
          <p:nvPr>
            <p:ph type="dt" sz="quarter" idx="1"/>
          </p:nvPr>
        </p:nvSpPr>
        <p:spPr>
          <a:xfrm>
            <a:off x="3901698" y="0"/>
            <a:ext cx="2984871" cy="501015"/>
          </a:xfrm>
          <a:prstGeom prst="rect">
            <a:avLst/>
          </a:prstGeom>
        </p:spPr>
        <p:txBody>
          <a:bodyPr vert="horz" lIns="96616" tIns="48308" rIns="96616" bIns="48308" rtlCol="0"/>
          <a:lstStyle>
            <a:lvl1pPr algn="r">
              <a:defRPr sz="1300"/>
            </a:lvl1pPr>
          </a:lstStyle>
          <a:p>
            <a:fld id="{C1E46DA4-6FE3-48DE-B7A4-A94AF7F76790}" type="datetimeFigureOut">
              <a:rPr lang="fr-FR" smtClean="0"/>
              <a:t>09/12/2025</a:t>
            </a:fld>
            <a:endParaRPr lang="fr-FR"/>
          </a:p>
        </p:txBody>
      </p:sp>
      <p:sp>
        <p:nvSpPr>
          <p:cNvPr id="4" name="Espace réservé du pied de page 3"/>
          <p:cNvSpPr>
            <a:spLocks noGrp="1"/>
          </p:cNvSpPr>
          <p:nvPr>
            <p:ph type="ftr" sz="quarter" idx="2"/>
          </p:nvPr>
        </p:nvSpPr>
        <p:spPr>
          <a:xfrm>
            <a:off x="0" y="9517546"/>
            <a:ext cx="2984871" cy="501015"/>
          </a:xfrm>
          <a:prstGeom prst="rect">
            <a:avLst/>
          </a:prstGeom>
        </p:spPr>
        <p:txBody>
          <a:bodyPr vert="horz" lIns="96616" tIns="48308" rIns="96616" bIns="48308" rtlCol="0" anchor="b"/>
          <a:lstStyle>
            <a:lvl1pPr algn="l">
              <a:defRPr sz="1300"/>
            </a:lvl1pPr>
          </a:lstStyle>
          <a:p>
            <a:endParaRPr lang="fr-FR"/>
          </a:p>
        </p:txBody>
      </p:sp>
      <p:sp>
        <p:nvSpPr>
          <p:cNvPr id="5" name="Espace réservé du numéro de diapositive 4"/>
          <p:cNvSpPr>
            <a:spLocks noGrp="1"/>
          </p:cNvSpPr>
          <p:nvPr>
            <p:ph type="sldNum" sz="quarter" idx="3"/>
          </p:nvPr>
        </p:nvSpPr>
        <p:spPr>
          <a:xfrm>
            <a:off x="3901698" y="9517546"/>
            <a:ext cx="2984871" cy="501015"/>
          </a:xfrm>
          <a:prstGeom prst="rect">
            <a:avLst/>
          </a:prstGeom>
        </p:spPr>
        <p:txBody>
          <a:bodyPr vert="horz" lIns="96616" tIns="48308" rIns="96616" bIns="48308" rtlCol="0" anchor="b"/>
          <a:lstStyle>
            <a:lvl1pPr algn="r">
              <a:defRPr sz="1300"/>
            </a:lvl1pPr>
          </a:lstStyle>
          <a:p>
            <a:fld id="{77888D6C-5221-4E03-B53D-7B0F00ABF3BB}" type="slidenum">
              <a:rPr lang="fr-FR" smtClean="0"/>
              <a:t>‹#›</a:t>
            </a:fld>
            <a:endParaRPr lang="fr-FR"/>
          </a:p>
        </p:txBody>
      </p:sp>
    </p:spTree>
    <p:extLst>
      <p:ext uri="{BB962C8B-B14F-4D97-AF65-F5344CB8AC3E}">
        <p14:creationId xmlns:p14="http://schemas.microsoft.com/office/powerpoint/2010/main" val="1457851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A43BF838-BC23-4B7B-83B2-072028B322FB}" type="datetimeFigureOut">
              <a:rPr lang="fr-FR" smtClean="0"/>
              <a:t>05/12/2025</a:t>
            </a:fld>
            <a:endParaRPr lang="fr-FR"/>
          </a:p>
        </p:txBody>
      </p:sp>
      <p:sp>
        <p:nvSpPr>
          <p:cNvPr id="4" name="Espace réservé de l'image des diapositives 3"/>
          <p:cNvSpPr>
            <a:spLocks noGrp="1" noRot="1" noChangeAspect="1"/>
          </p:cNvSpPr>
          <p:nvPr>
            <p:ph type="sldImg" idx="2"/>
          </p:nvPr>
        </p:nvSpPr>
        <p:spPr>
          <a:xfrm>
            <a:off x="939800" y="750888"/>
            <a:ext cx="5008563" cy="3757612"/>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8975" y="4759325"/>
            <a:ext cx="5510213" cy="4510088"/>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EBCAA3A2-F34D-4144-A2C2-912966DF0D6E}" type="slidenum">
              <a:rPr lang="fr-FR" smtClean="0"/>
              <a:t>‹#›</a:t>
            </a:fld>
            <a:endParaRPr lang="fr-FR"/>
          </a:p>
        </p:txBody>
      </p:sp>
    </p:spTree>
    <p:extLst>
      <p:ext uri="{BB962C8B-B14F-4D97-AF65-F5344CB8AC3E}">
        <p14:creationId xmlns:p14="http://schemas.microsoft.com/office/powerpoint/2010/main" val="104489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000">
                <a:solidFill>
                  <a:schemeClr val="tx1"/>
                </a:solidFill>
                <a:latin typeface="Arial" charset="0"/>
              </a:defRPr>
            </a:lvl1pPr>
            <a:lvl2pPr marL="740324" indent="-284740" eaLnBrk="0" hangingPunct="0">
              <a:defRPr sz="3000">
                <a:solidFill>
                  <a:schemeClr val="tx1"/>
                </a:solidFill>
                <a:latin typeface="Arial" charset="0"/>
              </a:defRPr>
            </a:lvl2pPr>
            <a:lvl3pPr marL="1138960" indent="-227792" eaLnBrk="0" hangingPunct="0">
              <a:defRPr sz="3000">
                <a:solidFill>
                  <a:schemeClr val="tx1"/>
                </a:solidFill>
                <a:latin typeface="Arial" charset="0"/>
              </a:defRPr>
            </a:lvl3pPr>
            <a:lvl4pPr marL="1594542" indent="-227792" eaLnBrk="0" hangingPunct="0">
              <a:defRPr sz="3000">
                <a:solidFill>
                  <a:schemeClr val="tx1"/>
                </a:solidFill>
                <a:latin typeface="Arial" charset="0"/>
              </a:defRPr>
            </a:lvl4pPr>
            <a:lvl5pPr marL="2050126" indent="-227792" eaLnBrk="0" hangingPunct="0">
              <a:defRPr sz="3000">
                <a:solidFill>
                  <a:schemeClr val="tx1"/>
                </a:solidFill>
                <a:latin typeface="Arial" charset="0"/>
              </a:defRPr>
            </a:lvl5pPr>
            <a:lvl6pPr marL="2505710" indent="-227792" eaLnBrk="0" fontAlgn="base" hangingPunct="0">
              <a:spcBef>
                <a:spcPct val="0"/>
              </a:spcBef>
              <a:spcAft>
                <a:spcPct val="0"/>
              </a:spcAft>
              <a:defRPr sz="3000">
                <a:solidFill>
                  <a:schemeClr val="tx1"/>
                </a:solidFill>
                <a:latin typeface="Arial" charset="0"/>
              </a:defRPr>
            </a:lvl6pPr>
            <a:lvl7pPr marL="2961294" indent="-227792" eaLnBrk="0" fontAlgn="base" hangingPunct="0">
              <a:spcBef>
                <a:spcPct val="0"/>
              </a:spcBef>
              <a:spcAft>
                <a:spcPct val="0"/>
              </a:spcAft>
              <a:defRPr sz="3000">
                <a:solidFill>
                  <a:schemeClr val="tx1"/>
                </a:solidFill>
                <a:latin typeface="Arial" charset="0"/>
              </a:defRPr>
            </a:lvl7pPr>
            <a:lvl8pPr marL="3416877" indent="-227792" eaLnBrk="0" fontAlgn="base" hangingPunct="0">
              <a:spcBef>
                <a:spcPct val="0"/>
              </a:spcBef>
              <a:spcAft>
                <a:spcPct val="0"/>
              </a:spcAft>
              <a:defRPr sz="3000">
                <a:solidFill>
                  <a:schemeClr val="tx1"/>
                </a:solidFill>
                <a:latin typeface="Arial" charset="0"/>
              </a:defRPr>
            </a:lvl8pPr>
            <a:lvl9pPr marL="3872461" indent="-227792" eaLnBrk="0" fontAlgn="base" hangingPunct="0">
              <a:spcBef>
                <a:spcPct val="0"/>
              </a:spcBef>
              <a:spcAft>
                <a:spcPct val="0"/>
              </a:spcAft>
              <a:defRPr sz="3000">
                <a:solidFill>
                  <a:schemeClr val="tx1"/>
                </a:solidFill>
                <a:latin typeface="Arial" charset="0"/>
              </a:defRPr>
            </a:lvl9pPr>
          </a:lstStyle>
          <a:p>
            <a:pPr eaLnBrk="1" hangingPunct="1"/>
            <a:fld id="{D7F9BC13-310D-43E1-A7CA-746E5A6184D0}" type="slidenum">
              <a:rPr lang="fr-FR" sz="1200"/>
              <a:pPr eaLnBrk="1" hangingPunct="1"/>
              <a:t>354</a:t>
            </a:fld>
            <a:endParaRPr lang="fr-FR" sz="120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83F041CC-0056-40D2-9CED-71329A2F465B}" type="datetimeFigureOut">
              <a:rPr lang="fr-FR" smtClean="0"/>
              <a:t>05/12/2025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4265269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3F041CC-0056-40D2-9CED-71329A2F465B}" type="datetimeFigureOut">
              <a:rPr lang="fr-FR" smtClean="0"/>
              <a:t>05/12/2025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1751345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83F041CC-0056-40D2-9CED-71329A2F465B}" type="datetimeFigureOut">
              <a:rPr lang="fr-FR" smtClean="0"/>
              <a:t>05/12/2025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1231956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83F041CC-0056-40D2-9CED-71329A2F465B}" type="datetimeFigureOut">
              <a:rPr lang="fr-FR" smtClean="0"/>
              <a:t>05/12/2025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4201659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83F041CC-0056-40D2-9CED-71329A2F465B}" type="datetimeFigureOut">
              <a:rPr lang="fr-FR" smtClean="0"/>
              <a:t>05/12/2025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2738798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83F041CC-0056-40D2-9CED-71329A2F465B}" type="datetimeFigureOut">
              <a:rPr lang="fr-FR" smtClean="0"/>
              <a:t>05/12/2025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3354004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3F041CC-0056-40D2-9CED-71329A2F465B}" type="datetimeFigureOut">
              <a:rPr lang="fr-FR" smtClean="0"/>
              <a:t>05/12/2025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3291947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83F041CC-0056-40D2-9CED-71329A2F465B}" type="datetimeFigureOut">
              <a:rPr lang="fr-FR" smtClean="0"/>
              <a:t>05/12/2025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2268908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83F041CC-0056-40D2-9CED-71329A2F465B}" type="datetimeFigureOut">
              <a:rPr lang="fr-FR" smtClean="0"/>
              <a:t>05/12/2025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2034306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3F041CC-0056-40D2-9CED-71329A2F465B}" type="datetimeFigureOut">
              <a:rPr lang="fr-FR" smtClean="0"/>
              <a:t>05/12/2025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162787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3F041CC-0056-40D2-9CED-71329A2F465B}" type="datetimeFigureOut">
              <a:rPr lang="fr-FR" smtClean="0"/>
              <a:t>05/12/2025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B2B6B4C-3789-439E-A2D7-D7B68203989C}" type="slidenum">
              <a:rPr lang="fr-FR" smtClean="0"/>
              <a:t>‹#›</a:t>
            </a:fld>
            <a:endParaRPr lang="fr-FR"/>
          </a:p>
        </p:txBody>
      </p:sp>
    </p:spTree>
    <p:extLst>
      <p:ext uri="{BB962C8B-B14F-4D97-AF65-F5344CB8AC3E}">
        <p14:creationId xmlns:p14="http://schemas.microsoft.com/office/powerpoint/2010/main" val="3493333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041CC-0056-40D2-9CED-71329A2F465B}" type="datetimeFigureOut">
              <a:rPr lang="fr-FR" smtClean="0"/>
              <a:t>05/12/2025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2B6B4C-3789-439E-A2D7-D7B68203989C}" type="slidenum">
              <a:rPr lang="fr-FR" smtClean="0"/>
              <a:t>‹#›</a:t>
            </a:fld>
            <a:endParaRPr lang="fr-FR"/>
          </a:p>
        </p:txBody>
      </p:sp>
    </p:spTree>
    <p:extLst>
      <p:ext uri="{BB962C8B-B14F-4D97-AF65-F5344CB8AC3E}">
        <p14:creationId xmlns:p14="http://schemas.microsoft.com/office/powerpoint/2010/main" val="2938460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4.emf"/><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a:bodyPr>
          <a:lstStyle/>
          <a:p>
            <a:r>
              <a:rPr lang="en-US" dirty="0"/>
              <a:t>Panel Data Econometrics</a:t>
            </a:r>
          </a:p>
        </p:txBody>
      </p:sp>
      <p:sp>
        <p:nvSpPr>
          <p:cNvPr id="3" name="Sous-titre 2"/>
          <p:cNvSpPr>
            <a:spLocks noGrp="1"/>
          </p:cNvSpPr>
          <p:nvPr>
            <p:ph type="subTitle" idx="1"/>
          </p:nvPr>
        </p:nvSpPr>
        <p:spPr/>
        <p:txBody>
          <a:bodyPr/>
          <a:lstStyle/>
          <a:p>
            <a:r>
              <a:rPr lang="fr-FR">
                <a:solidFill>
                  <a:schemeClr val="tx1"/>
                </a:solidFill>
              </a:rPr>
              <a:t>Jean-Bernard Châtelain</a:t>
            </a:r>
            <a:endParaRPr lang="fr-FR" dirty="0">
              <a:solidFill>
                <a:schemeClr val="tx1"/>
              </a:solidFill>
            </a:endParaRPr>
          </a:p>
        </p:txBody>
      </p:sp>
    </p:spTree>
    <p:extLst>
      <p:ext uri="{BB962C8B-B14F-4D97-AF65-F5344CB8AC3E}">
        <p14:creationId xmlns:p14="http://schemas.microsoft.com/office/powerpoint/2010/main" val="2878397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Autofit/>
          </a:bodyPr>
          <a:lstStyle/>
          <a:p>
            <a:r>
              <a:rPr lang="en-US" sz="2400" dirty="0" err="1">
                <a:latin typeface="Cambria Math" panose="02040503050406030204" pitchFamily="18" charset="0"/>
                <a:ea typeface="Cambria Math" panose="02040503050406030204" pitchFamily="18" charset="0"/>
              </a:rPr>
              <a:t>DiD</a:t>
            </a:r>
            <a:r>
              <a:rPr lang="en-US" sz="2400" dirty="0">
                <a:latin typeface="Cambria Math" panose="02040503050406030204" pitchFamily="18" charset="0"/>
                <a:ea typeface="Cambria Math" panose="02040503050406030204" pitchFamily="18" charset="0"/>
              </a:rPr>
              <a:t>: A particular case of two way fixed effects, D</a:t>
            </a:r>
            <a:r>
              <a:rPr lang="en-US" sz="2400" baseline="-25000" dirty="0">
                <a:latin typeface="Cambria Math" panose="02040503050406030204" pitchFamily="18" charset="0"/>
                <a:ea typeface="Cambria Math" panose="02040503050406030204" pitchFamily="18" charset="0"/>
              </a:rPr>
              <a:t>i</a:t>
            </a:r>
            <a:r>
              <a:rPr lang="en-US" sz="2400" dirty="0">
                <a:latin typeface="Cambria Math" panose="02040503050406030204" pitchFamily="18" charset="0"/>
                <a:ea typeface="Cambria Math" panose="02040503050406030204" pitchFamily="18" charset="0"/>
              </a:rPr>
              <a:t>=1 treated group, D</a:t>
            </a:r>
            <a:r>
              <a:rPr lang="en-US" sz="2400" baseline="-25000" dirty="0">
                <a:latin typeface="Cambria Math" panose="02040503050406030204" pitchFamily="18" charset="0"/>
                <a:ea typeface="Cambria Math" panose="02040503050406030204" pitchFamily="18" charset="0"/>
              </a:rPr>
              <a:t>t</a:t>
            </a:r>
            <a:r>
              <a:rPr lang="en-US" sz="2400" dirty="0">
                <a:latin typeface="Cambria Math" panose="02040503050406030204" pitchFamily="18" charset="0"/>
                <a:ea typeface="Cambria Math" panose="02040503050406030204" pitchFamily="18" charset="0"/>
              </a:rPr>
              <a:t>=1 post treatment,  parallel trend β</a:t>
            </a:r>
            <a:r>
              <a:rPr lang="en-US" sz="2400" baseline="-25000" dirty="0">
                <a:latin typeface="Cambria Math" panose="02040503050406030204" pitchFamily="18" charset="0"/>
                <a:ea typeface="Cambria Math" panose="02040503050406030204" pitchFamily="18" charset="0"/>
              </a:rPr>
              <a:t>01 </a:t>
            </a:r>
            <a:r>
              <a:rPr lang="en-US" sz="2400" dirty="0">
                <a:latin typeface="Cambria Math" panose="02040503050406030204" pitchFamily="18" charset="0"/>
                <a:ea typeface="Cambria Math" panose="02040503050406030204" pitchFamily="18" charset="0"/>
              </a:rPr>
              <a:t>common slope:  </a:t>
            </a:r>
            <a:r>
              <a:rPr lang="en-US" sz="2400" dirty="0" err="1">
                <a:latin typeface="Cambria Math" panose="02040503050406030204" pitchFamily="18" charset="0"/>
                <a:ea typeface="Cambria Math" panose="02040503050406030204" pitchFamily="18" charset="0"/>
              </a:rPr>
              <a:t>y</a:t>
            </a:r>
            <a:r>
              <a:rPr lang="en-US" sz="2400" baseline="-25000" dirty="0" err="1">
                <a:latin typeface="Cambria Math" panose="02040503050406030204" pitchFamily="18" charset="0"/>
                <a:ea typeface="Cambria Math" panose="02040503050406030204" pitchFamily="18" charset="0"/>
              </a:rPr>
              <a:t>it</a:t>
            </a:r>
            <a:r>
              <a:rPr lang="en-US" sz="2400" dirty="0">
                <a:latin typeface="Cambria Math" panose="02040503050406030204" pitchFamily="18" charset="0"/>
                <a:ea typeface="Cambria Math" panose="02040503050406030204" pitchFamily="18" charset="0"/>
              </a:rPr>
              <a:t>=β</a:t>
            </a:r>
            <a:r>
              <a:rPr lang="en-US" sz="2400" baseline="-25000" dirty="0">
                <a:latin typeface="Cambria Math" panose="02040503050406030204" pitchFamily="18" charset="0"/>
                <a:ea typeface="Cambria Math" panose="02040503050406030204" pitchFamily="18" charset="0"/>
              </a:rPr>
              <a:t>00</a:t>
            </a:r>
            <a:r>
              <a:rPr lang="en-US" sz="2400" dirty="0">
                <a:latin typeface="Cambria Math" panose="02040503050406030204" pitchFamily="18" charset="0"/>
                <a:ea typeface="Cambria Math" panose="02040503050406030204" pitchFamily="18" charset="0"/>
              </a:rPr>
              <a:t>+β</a:t>
            </a:r>
            <a:r>
              <a:rPr lang="en-US" sz="2400" baseline="-25000" dirty="0">
                <a:latin typeface="Cambria Math" panose="02040503050406030204" pitchFamily="18" charset="0"/>
                <a:ea typeface="Cambria Math" panose="02040503050406030204" pitchFamily="18" charset="0"/>
              </a:rPr>
              <a:t>10</a:t>
            </a:r>
            <a:r>
              <a:rPr lang="en-US" sz="2400" dirty="0">
                <a:solidFill>
                  <a:srgbClr val="FF0000"/>
                </a:solidFill>
                <a:latin typeface="Cambria Math" panose="02040503050406030204" pitchFamily="18" charset="0"/>
                <a:ea typeface="Cambria Math" panose="02040503050406030204" pitchFamily="18" charset="0"/>
              </a:rPr>
              <a:t>D</a:t>
            </a:r>
            <a:r>
              <a:rPr lang="en-US" sz="2400" baseline="-25000" dirty="0">
                <a:solidFill>
                  <a:srgbClr val="FF0000"/>
                </a:solidFill>
                <a:latin typeface="Cambria Math" panose="02040503050406030204" pitchFamily="18" charset="0"/>
                <a:ea typeface="Cambria Math" panose="02040503050406030204" pitchFamily="18" charset="0"/>
              </a:rPr>
              <a:t>i</a:t>
            </a:r>
            <a:r>
              <a:rPr lang="en-US" sz="2400" dirty="0">
                <a:latin typeface="Cambria Math" panose="02040503050406030204" pitchFamily="18" charset="0"/>
                <a:ea typeface="Cambria Math" panose="02040503050406030204" pitchFamily="18" charset="0"/>
              </a:rPr>
              <a:t>+β</a:t>
            </a:r>
            <a:r>
              <a:rPr lang="en-US" sz="2400" baseline="-25000" dirty="0">
                <a:latin typeface="Cambria Math" panose="02040503050406030204" pitchFamily="18" charset="0"/>
                <a:ea typeface="Cambria Math" panose="02040503050406030204" pitchFamily="18" charset="0"/>
              </a:rPr>
              <a:t>01</a:t>
            </a:r>
            <a:r>
              <a:rPr lang="en-US" sz="2400" dirty="0">
                <a:solidFill>
                  <a:srgbClr val="FF0000"/>
                </a:solidFill>
                <a:latin typeface="Cambria Math" panose="02040503050406030204" pitchFamily="18" charset="0"/>
                <a:ea typeface="Cambria Math" panose="02040503050406030204" pitchFamily="18" charset="0"/>
              </a:rPr>
              <a:t>D</a:t>
            </a:r>
            <a:r>
              <a:rPr lang="en-US" sz="2400" baseline="-25000" dirty="0">
                <a:solidFill>
                  <a:srgbClr val="FF0000"/>
                </a:solidFill>
                <a:latin typeface="Cambria Math" panose="02040503050406030204" pitchFamily="18" charset="0"/>
                <a:ea typeface="Cambria Math" panose="02040503050406030204" pitchFamily="18" charset="0"/>
              </a:rPr>
              <a:t>t</a:t>
            </a:r>
            <a:r>
              <a:rPr lang="en-US" sz="2400" dirty="0">
                <a:latin typeface="Cambria Math" panose="02040503050406030204" pitchFamily="18" charset="0"/>
                <a:ea typeface="Cambria Math" panose="02040503050406030204" pitchFamily="18" charset="0"/>
              </a:rPr>
              <a:t>+β</a:t>
            </a:r>
            <a:r>
              <a:rPr lang="en-US" sz="2400" baseline="-25000" dirty="0">
                <a:latin typeface="Cambria Math" panose="02040503050406030204" pitchFamily="18" charset="0"/>
                <a:ea typeface="Cambria Math" panose="02040503050406030204" pitchFamily="18" charset="0"/>
              </a:rPr>
              <a:t>11</a:t>
            </a:r>
            <a:r>
              <a:rPr lang="en-US" sz="2400" dirty="0">
                <a:latin typeface="Cambria Math" panose="02040503050406030204" pitchFamily="18" charset="0"/>
                <a:ea typeface="Cambria Math" panose="02040503050406030204" pitchFamily="18" charset="0"/>
              </a:rPr>
              <a:t>D</a:t>
            </a:r>
            <a:r>
              <a:rPr lang="en-US" sz="2400" baseline="-25000" dirty="0">
                <a:latin typeface="Cambria Math" panose="02040503050406030204" pitchFamily="18" charset="0"/>
                <a:ea typeface="Cambria Math" panose="02040503050406030204" pitchFamily="18" charset="0"/>
              </a:rPr>
              <a:t>i</a:t>
            </a:r>
            <a:r>
              <a:rPr lang="en-US" sz="2400" dirty="0">
                <a:latin typeface="Cambria Math" panose="02040503050406030204" pitchFamily="18" charset="0"/>
                <a:ea typeface="Cambria Math" panose="02040503050406030204" pitchFamily="18" charset="0"/>
              </a:rPr>
              <a:t>D</a:t>
            </a:r>
            <a:r>
              <a:rPr lang="en-US" sz="2400" baseline="-25000" dirty="0">
                <a:latin typeface="Cambria Math" panose="02040503050406030204" pitchFamily="18" charset="0"/>
                <a:ea typeface="Cambria Math" panose="02040503050406030204" pitchFamily="18" charset="0"/>
              </a:rPr>
              <a:t>t</a:t>
            </a:r>
            <a:r>
              <a:rPr lang="en-US" sz="2400" dirty="0">
                <a:latin typeface="Cambria Math" panose="02040503050406030204" pitchFamily="18" charset="0"/>
                <a:ea typeface="Cambria Math" panose="02040503050406030204" pitchFamily="18" charset="0"/>
              </a:rPr>
              <a:t>+ </a:t>
            </a:r>
            <a:r>
              <a:rPr lang="en-US" sz="2400" dirty="0" err="1">
                <a:latin typeface="Cambria Math" panose="02040503050406030204" pitchFamily="18" charset="0"/>
                <a:ea typeface="Cambria Math" panose="02040503050406030204" pitchFamily="18" charset="0"/>
              </a:rPr>
              <a:t>ε</a:t>
            </a:r>
            <a:r>
              <a:rPr lang="en-US" sz="2400" baseline="-25000" dirty="0" err="1">
                <a:latin typeface="Cambria Math" panose="02040503050406030204" pitchFamily="18" charset="0"/>
                <a:ea typeface="Cambria Math" panose="02040503050406030204" pitchFamily="18" charset="0"/>
              </a:rPr>
              <a:t>it</a:t>
            </a:r>
            <a:r>
              <a:rPr lang="en-US" sz="2800" dirty="0">
                <a:latin typeface="Cambria Math" panose="02040503050406030204" pitchFamily="18" charset="0"/>
                <a:ea typeface="Cambria Math" panose="02040503050406030204" pitchFamily="18" charset="0"/>
              </a:rPr>
              <a:t> </a:t>
            </a:r>
          </a:p>
        </p:txBody>
      </p:sp>
      <p:pic>
        <p:nvPicPr>
          <p:cNvPr id="104450" name="Picture 2" descr="Illustration of Difference in Differenc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695450"/>
            <a:ext cx="5381625" cy="516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948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dirty="0" err="1"/>
              <a:t>We</a:t>
            </a:r>
            <a:r>
              <a:rPr lang="fr-FR" dirty="0"/>
              <a:t> pool time </a:t>
            </a:r>
            <a:r>
              <a:rPr lang="fr-FR" dirty="0" err="1"/>
              <a:t>series</a:t>
            </a:r>
            <a:r>
              <a:rPr lang="fr-FR" dirty="0"/>
              <a:t> cross section  for </a:t>
            </a:r>
            <a:r>
              <a:rPr lang="fr-FR" dirty="0" err="1"/>
              <a:t>testing</a:t>
            </a:r>
            <a:r>
              <a:rPr lang="fr-FR" dirty="0"/>
              <a:t> </a:t>
            </a:r>
            <a:r>
              <a:rPr lang="fr-FR" dirty="0" err="1"/>
              <a:t>differences</a:t>
            </a:r>
            <a:r>
              <a:rPr lang="fr-FR" dirty="0"/>
              <a:t> (un-pool).</a:t>
            </a:r>
          </a:p>
        </p:txBody>
      </p:sp>
      <p:sp>
        <p:nvSpPr>
          <p:cNvPr id="4" name="Espace réservé du contenu 3"/>
          <p:cNvSpPr>
            <a:spLocks noGrp="1"/>
          </p:cNvSpPr>
          <p:nvPr>
            <p:ph idx="1"/>
          </p:nvPr>
        </p:nvSpPr>
        <p:spPr/>
        <p:txBody>
          <a:bodyPr>
            <a:normAutofit lnSpcReduction="10000"/>
          </a:bodyPr>
          <a:lstStyle/>
          <a:p>
            <a:pPr marL="0" indent="0">
              <a:buNone/>
            </a:pPr>
            <a:r>
              <a:rPr lang="en-US" sz="2800" dirty="0"/>
              <a:t>We pool ( =common slope, different intercepts) N time series </a:t>
            </a:r>
          </a:p>
          <a:p>
            <a:pPr marL="0" indent="0">
              <a:buNone/>
            </a:pPr>
            <a:r>
              <a:rPr lang="en-US" sz="2800" dirty="0"/>
              <a:t>To test differences of slopes </a:t>
            </a:r>
            <a:r>
              <a:rPr lang="en-US" sz="2800" dirty="0" err="1"/>
              <a:t>unpooling</a:t>
            </a:r>
            <a:r>
              <a:rPr lang="en-US" sz="2800" dirty="0"/>
              <a:t> in two groups N1+N2=N, N1 with common slope; N2 with common slope (top or bottom cross section quartile = N2 sample).</a:t>
            </a:r>
          </a:p>
          <a:p>
            <a:pPr marL="0" indent="0">
              <a:buNone/>
            </a:pPr>
            <a:r>
              <a:rPr lang="en-US" sz="2800" dirty="0"/>
              <a:t>(more than N1=1 East Germany versus N2=1 West Germany, cf. </a:t>
            </a:r>
            <a:r>
              <a:rPr lang="en-US" sz="2800" dirty="0" err="1"/>
              <a:t>Abadie</a:t>
            </a:r>
            <a:r>
              <a:rPr lang="en-US" sz="2800" dirty="0"/>
              <a:t> synthetic control).</a:t>
            </a:r>
          </a:p>
          <a:p>
            <a:pPr marL="0" indent="0">
              <a:buNone/>
            </a:pPr>
            <a:r>
              <a:rPr lang="en-US" sz="2800" dirty="0"/>
              <a:t>N1 may be close to N2 sample with respect to Z variables using propensity score matching.</a:t>
            </a:r>
          </a:p>
        </p:txBody>
      </p:sp>
    </p:spTree>
    <p:extLst>
      <p:ext uri="{BB962C8B-B14F-4D97-AF65-F5344CB8AC3E}">
        <p14:creationId xmlns:p14="http://schemas.microsoft.com/office/powerpoint/2010/main" val="2106504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p:txBody>
          <a:bodyPr/>
          <a:lstStyle/>
          <a:p>
            <a:r>
              <a:rPr lang="fr-FR" altLang="fr-FR" dirty="0"/>
              <a:t>Plan (1/2)</a:t>
            </a:r>
          </a:p>
        </p:txBody>
      </p:sp>
      <p:sp>
        <p:nvSpPr>
          <p:cNvPr id="3075" name="Espace réservé du contenu 2"/>
          <p:cNvSpPr>
            <a:spLocks noGrp="1"/>
          </p:cNvSpPr>
          <p:nvPr>
            <p:ph idx="1"/>
          </p:nvPr>
        </p:nvSpPr>
        <p:spPr/>
        <p:txBody>
          <a:bodyPr/>
          <a:lstStyle/>
          <a:p>
            <a:pPr marL="514350" indent="-514350">
              <a:buFontTx/>
              <a:buAutoNum type="arabicPeriod"/>
              <a:defRPr/>
            </a:pPr>
            <a:r>
              <a:rPr lang="fr-FR" altLang="fr-FR" dirty="0" err="1"/>
              <a:t>Summary</a:t>
            </a:r>
            <a:r>
              <a:rPr lang="fr-FR" altLang="fr-FR" dirty="0"/>
              <a:t>: To do </a:t>
            </a:r>
            <a:r>
              <a:rPr lang="fr-FR" altLang="fr-FR" dirty="0" err="1"/>
              <a:t>list</a:t>
            </a:r>
            <a:r>
              <a:rPr lang="fr-FR" altLang="fr-FR" dirty="0"/>
              <a:t>.</a:t>
            </a:r>
          </a:p>
          <a:p>
            <a:pPr marL="514350" indent="-514350">
              <a:buFontTx/>
              <a:buAutoNum type="arabicPeriod"/>
              <a:defRPr/>
            </a:pPr>
            <a:r>
              <a:rPr lang="fr-FR" altLang="fr-FR" dirty="0" err="1"/>
              <a:t>Statistical</a:t>
            </a:r>
            <a:r>
              <a:rPr lang="fr-FR" altLang="fr-FR" dirty="0"/>
              <a:t> </a:t>
            </a:r>
            <a:r>
              <a:rPr lang="fr-FR" altLang="fr-FR" dirty="0" err="1"/>
              <a:t>significance</a:t>
            </a:r>
            <a:r>
              <a:rPr lang="fr-FR" altLang="fr-FR" dirty="0"/>
              <a:t> and </a:t>
            </a:r>
            <a:r>
              <a:rPr lang="fr-FR" altLang="fr-FR" dirty="0" err="1"/>
              <a:t>pooling</a:t>
            </a:r>
            <a:r>
              <a:rPr lang="fr-FR" altLang="fr-FR" dirty="0"/>
              <a:t> time </a:t>
            </a:r>
            <a:r>
              <a:rPr lang="fr-FR" altLang="fr-FR" dirty="0" err="1"/>
              <a:t>series</a:t>
            </a:r>
            <a:r>
              <a:rPr lang="fr-FR" altLang="fr-FR" dirty="0"/>
              <a:t>.</a:t>
            </a:r>
          </a:p>
          <a:p>
            <a:pPr marL="514350" indent="-514350">
              <a:buFontTx/>
              <a:buAutoNum type="arabicPeriod"/>
              <a:defRPr/>
            </a:pPr>
            <a:r>
              <a:rPr lang="fr-FR" altLang="fr-FR" dirty="0" err="1"/>
              <a:t>Definitions</a:t>
            </a:r>
            <a:endParaRPr lang="fr-FR" altLang="fr-FR" dirty="0"/>
          </a:p>
          <a:p>
            <a:pPr marL="514350" indent="-514350">
              <a:buFontTx/>
              <a:buAutoNum type="arabicPeriod"/>
              <a:defRPr/>
            </a:pPr>
            <a:r>
              <a:rPr lang="fr-FR" altLang="fr-FR" dirty="0"/>
              <a:t>Common </a:t>
            </a:r>
            <a:r>
              <a:rPr lang="fr-FR" altLang="fr-FR" dirty="0" err="1"/>
              <a:t>slope</a:t>
            </a:r>
            <a:r>
              <a:rPr lang="fr-FR" altLang="fr-FR" dirty="0"/>
              <a:t> </a:t>
            </a:r>
            <a:r>
              <a:rPr lang="fr-FR" altLang="fr-FR" dirty="0" err="1"/>
              <a:t>across</a:t>
            </a:r>
            <a:r>
              <a:rPr lang="fr-FR" altLang="fr-FR" dirty="0"/>
              <a:t> </a:t>
            </a:r>
            <a:r>
              <a:rPr lang="fr-FR" altLang="fr-FR" dirty="0" err="1"/>
              <a:t>individuals</a:t>
            </a:r>
            <a:endParaRPr lang="fr-FR" altLang="fr-FR" dirty="0"/>
          </a:p>
          <a:p>
            <a:pPr marL="514350" indent="-514350">
              <a:buFontTx/>
              <a:buAutoNum type="arabicPeriod"/>
              <a:defRPr/>
            </a:pPr>
            <a:r>
              <a:rPr lang="fr-FR" altLang="fr-FR" dirty="0" err="1"/>
              <a:t>Within</a:t>
            </a:r>
            <a:r>
              <a:rPr lang="fr-FR" altLang="fr-FR" dirty="0"/>
              <a:t> vs </a:t>
            </a:r>
            <a:r>
              <a:rPr lang="fr-FR" altLang="fr-FR" dirty="0" err="1"/>
              <a:t>Between</a:t>
            </a:r>
            <a:r>
              <a:rPr lang="fr-FR" altLang="fr-FR" dirty="0"/>
              <a:t> </a:t>
            </a:r>
            <a:r>
              <a:rPr lang="fr-FR" altLang="fr-FR" dirty="0" err="1"/>
              <a:t>analysis</a:t>
            </a:r>
            <a:r>
              <a:rPr lang="fr-FR" altLang="fr-FR" dirty="0"/>
              <a:t> of variance</a:t>
            </a:r>
          </a:p>
          <a:p>
            <a:pPr marL="514350" indent="-514350">
              <a:buFontTx/>
              <a:buAutoNum type="arabicPeriod"/>
              <a:defRPr/>
            </a:pPr>
            <a:r>
              <a:rPr lang="fr-FR" altLang="fr-FR" dirty="0" err="1"/>
              <a:t>Growth</a:t>
            </a:r>
            <a:r>
              <a:rPr lang="fr-FR" altLang="fr-FR" dirty="0"/>
              <a:t> </a:t>
            </a:r>
            <a:r>
              <a:rPr lang="fr-FR" altLang="fr-FR" dirty="0" err="1"/>
              <a:t>Aid</a:t>
            </a:r>
            <a:r>
              <a:rPr lang="fr-FR" altLang="fr-FR" dirty="0"/>
              <a:t> </a:t>
            </a:r>
            <a:r>
              <a:rPr lang="fr-FR" altLang="fr-FR" dirty="0" err="1"/>
              <a:t>univariate</a:t>
            </a:r>
            <a:r>
              <a:rPr lang="fr-FR" altLang="fr-FR" dirty="0"/>
              <a:t> </a:t>
            </a:r>
            <a:r>
              <a:rPr lang="fr-FR" altLang="fr-FR" dirty="0" err="1"/>
              <a:t>bivariate</a:t>
            </a:r>
            <a:r>
              <a:rPr lang="fr-FR" altLang="fr-FR" dirty="0"/>
              <a:t> </a:t>
            </a:r>
            <a:r>
              <a:rPr lang="fr-FR" altLang="fr-FR" dirty="0" err="1"/>
              <a:t>analysis</a:t>
            </a:r>
            <a:endParaRPr lang="fr-FR" altLang="fr-FR" dirty="0"/>
          </a:p>
        </p:txBody>
      </p:sp>
    </p:spTree>
    <p:extLst>
      <p:ext uri="{BB962C8B-B14F-4D97-AF65-F5344CB8AC3E}">
        <p14:creationId xmlns:p14="http://schemas.microsoft.com/office/powerpoint/2010/main" val="1351854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Plan (2/2)</a:t>
            </a:r>
          </a:p>
        </p:txBody>
      </p:sp>
      <p:sp>
        <p:nvSpPr>
          <p:cNvPr id="3" name="Espace réservé du contenu 2"/>
          <p:cNvSpPr>
            <a:spLocks noGrp="1"/>
          </p:cNvSpPr>
          <p:nvPr>
            <p:ph idx="1"/>
          </p:nvPr>
        </p:nvSpPr>
        <p:spPr/>
        <p:txBody>
          <a:bodyPr/>
          <a:lstStyle/>
          <a:p>
            <a:pPr marL="514350" indent="-514350">
              <a:buFontTx/>
              <a:buAutoNum type="arabicPeriod"/>
              <a:defRPr/>
            </a:pPr>
            <a:r>
              <a:rPr lang="en-US" altLang="fr-FR" sz="2800" dirty="0"/>
              <a:t>Individual (</a:t>
            </a:r>
            <a:r>
              <a:rPr lang="en-US" altLang="fr-FR" sz="2800" dirty="0" err="1"/>
              <a:t>i</a:t>
            </a:r>
            <a:r>
              <a:rPr lang="en-US" altLang="fr-FR" sz="2800" dirty="0"/>
              <a:t>)  </a:t>
            </a:r>
            <a:r>
              <a:rPr lang="en-US" altLang="fr-FR" sz="2800" dirty="0" err="1"/>
              <a:t>heteroskedasticity</a:t>
            </a:r>
            <a:r>
              <a:rPr lang="en-US" altLang="fr-FR" sz="2800" dirty="0"/>
              <a:t>: GLS random effects.</a:t>
            </a:r>
          </a:p>
          <a:p>
            <a:pPr marL="514350" indent="-514350">
              <a:buFontTx/>
              <a:buAutoNum type="arabicPeriod"/>
              <a:defRPr/>
            </a:pPr>
            <a:r>
              <a:rPr lang="en-US" altLang="fr-FR" sz="2800" dirty="0"/>
              <a:t>Individual (</a:t>
            </a:r>
            <a:r>
              <a:rPr lang="en-US" altLang="fr-FR" sz="2800" dirty="0" err="1"/>
              <a:t>i</a:t>
            </a:r>
            <a:r>
              <a:rPr lang="en-US" altLang="fr-FR" sz="2800" dirty="0"/>
              <a:t>) endogeneity: IV Mundlak, within, LSDV fixed effects </a:t>
            </a:r>
          </a:p>
          <a:p>
            <a:pPr marL="514350" indent="-514350">
              <a:buFontTx/>
              <a:buAutoNum type="arabicPeriod"/>
              <a:defRPr/>
            </a:pPr>
            <a:r>
              <a:rPr lang="en-US" altLang="fr-FR" sz="2800" dirty="0"/>
              <a:t>Between variance and time-invariant variables</a:t>
            </a:r>
          </a:p>
          <a:p>
            <a:pPr marL="514350" indent="-514350">
              <a:buFontTx/>
              <a:buAutoNum type="arabicPeriod"/>
              <a:defRPr/>
            </a:pPr>
            <a:r>
              <a:rPr lang="en-US" altLang="fr-FR" sz="2800" dirty="0"/>
              <a:t>Exploratory tools</a:t>
            </a:r>
          </a:p>
          <a:p>
            <a:pPr marL="514350" indent="-514350">
              <a:buFontTx/>
              <a:buAutoNum type="arabicPeriod"/>
              <a:defRPr/>
            </a:pPr>
            <a:r>
              <a:rPr lang="en-US" altLang="fr-FR" sz="2800" dirty="0"/>
              <a:t>Growth Aid multivariate analysis</a:t>
            </a:r>
          </a:p>
          <a:p>
            <a:pPr marL="514350" indent="-514350">
              <a:buFontTx/>
              <a:buAutoNum type="arabicPeriod"/>
              <a:defRPr/>
            </a:pPr>
            <a:r>
              <a:rPr lang="en-US" altLang="fr-FR" sz="2800" dirty="0" err="1"/>
              <a:t>Hausman</a:t>
            </a:r>
            <a:r>
              <a:rPr lang="en-US" altLang="fr-FR" sz="2800" dirty="0"/>
              <a:t> and Taylor endogenous time-invariant explanatory variables.</a:t>
            </a:r>
            <a:endParaRPr lang="en-US" dirty="0"/>
          </a:p>
        </p:txBody>
      </p:sp>
    </p:spTree>
    <p:extLst>
      <p:ext uri="{BB962C8B-B14F-4D97-AF65-F5344CB8AC3E}">
        <p14:creationId xmlns:p14="http://schemas.microsoft.com/office/powerpoint/2010/main" val="3715319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ormAutofit/>
          </a:bodyPr>
          <a:lstStyle/>
          <a:p>
            <a:r>
              <a:rPr lang="fr-FR" dirty="0"/>
              <a:t>1. To do </a:t>
            </a:r>
            <a:r>
              <a:rPr lang="fr-FR" dirty="0" err="1"/>
              <a:t>list</a:t>
            </a:r>
            <a:br>
              <a:rPr lang="fr-FR" dirty="0"/>
            </a:br>
            <a:r>
              <a:rPr lang="fr-FR" dirty="0" err="1"/>
              <a:t>with</a:t>
            </a:r>
            <a:r>
              <a:rPr lang="fr-FR" dirty="0"/>
              <a:t> panel data</a:t>
            </a:r>
          </a:p>
        </p:txBody>
      </p:sp>
    </p:spTree>
    <p:extLst>
      <p:ext uri="{BB962C8B-B14F-4D97-AF65-F5344CB8AC3E}">
        <p14:creationId xmlns:p14="http://schemas.microsoft.com/office/powerpoint/2010/main" val="3543891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Sections of the To do </a:t>
            </a:r>
            <a:r>
              <a:rPr lang="fr-FR" dirty="0" err="1"/>
              <a:t>list</a:t>
            </a:r>
            <a:r>
              <a:rPr lang="fr-FR" dirty="0"/>
              <a:t> (1/2)</a:t>
            </a:r>
          </a:p>
        </p:txBody>
      </p:sp>
      <p:sp>
        <p:nvSpPr>
          <p:cNvPr id="3" name="Espace réservé du contenu 2"/>
          <p:cNvSpPr>
            <a:spLocks noGrp="1"/>
          </p:cNvSpPr>
          <p:nvPr>
            <p:ph idx="1"/>
          </p:nvPr>
        </p:nvSpPr>
        <p:spPr/>
        <p:txBody>
          <a:bodyPr>
            <a:noAutofit/>
          </a:bodyPr>
          <a:lstStyle/>
          <a:p>
            <a:pPr marL="0" indent="0" algn="just">
              <a:buNone/>
              <a:defRPr/>
            </a:pPr>
            <a:r>
              <a:rPr lang="en-US" altLang="fr-FR" sz="2300" dirty="0"/>
              <a:t>1. Data selection N=, T=, check how sample is unbalanced, classify variables by variations with respect to indices. If N&lt;20 and k&lt;T, estimate time series by individuals.</a:t>
            </a:r>
          </a:p>
          <a:p>
            <a:pPr marL="0" indent="0" algn="just">
              <a:buNone/>
              <a:defRPr/>
            </a:pPr>
            <a:r>
              <a:rPr lang="en-US" altLang="fr-FR" sz="2300" dirty="0"/>
              <a:t>2. Variables transformations (ratios, ln), then between, within, first differences and two way fixed effects.</a:t>
            </a:r>
          </a:p>
          <a:p>
            <a:pPr marL="0" indent="0" algn="just">
              <a:buNone/>
              <a:defRPr/>
            </a:pPr>
            <a:r>
              <a:rPr lang="en-US" altLang="fr-FR" sz="2300" dirty="0"/>
              <a:t>3. Univariate descriptive statistics, graph, boxplots by individuals, by time, check standardized high leverage observations.</a:t>
            </a:r>
          </a:p>
          <a:p>
            <a:pPr marL="0" indent="0" algn="just">
              <a:buNone/>
              <a:defRPr/>
            </a:pPr>
            <a:r>
              <a:rPr lang="en-US" altLang="fr-FR" sz="2300" dirty="0"/>
              <a:t>4. Bivariate descriptive statistics, bivariate graphs, check outliers.</a:t>
            </a:r>
          </a:p>
          <a:p>
            <a:pPr marL="0" indent="0" algn="just">
              <a:buNone/>
              <a:defRPr/>
            </a:pPr>
            <a:r>
              <a:rPr lang="en-US" altLang="fr-FR" sz="2300" dirty="0"/>
              <a:t>5. If T&gt;10, test panel unit root, trend, autocorrelations of variables. </a:t>
            </a:r>
          </a:p>
        </p:txBody>
      </p:sp>
    </p:spTree>
    <p:extLst>
      <p:ext uri="{BB962C8B-B14F-4D97-AF65-F5344CB8AC3E}">
        <p14:creationId xmlns:p14="http://schemas.microsoft.com/office/powerpoint/2010/main" val="2841648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Sections of the To do </a:t>
            </a:r>
            <a:r>
              <a:rPr lang="fr-FR" dirty="0" err="1"/>
              <a:t>list</a:t>
            </a:r>
            <a:r>
              <a:rPr lang="fr-FR" dirty="0"/>
              <a:t> (2/2)</a:t>
            </a:r>
            <a:br>
              <a:rPr lang="fr-FR" dirty="0"/>
            </a:br>
            <a:r>
              <a:rPr lang="fr-FR" dirty="0"/>
              <a:t>6. Estimations</a:t>
            </a:r>
          </a:p>
        </p:txBody>
      </p:sp>
      <p:sp>
        <p:nvSpPr>
          <p:cNvPr id="3" name="Espace réservé du contenu 2"/>
          <p:cNvSpPr>
            <a:spLocks noGrp="1"/>
          </p:cNvSpPr>
          <p:nvPr>
            <p:ph idx="1"/>
          </p:nvPr>
        </p:nvSpPr>
        <p:spPr/>
        <p:txBody>
          <a:bodyPr>
            <a:noAutofit/>
          </a:bodyPr>
          <a:lstStyle/>
          <a:p>
            <a:pPr marL="0" indent="0" algn="just">
              <a:buNone/>
              <a:defRPr/>
            </a:pPr>
            <a:r>
              <a:rPr lang="en-US" altLang="fr-FR" sz="2300" dirty="0"/>
              <a:t>6.1. Static regressions FE, two way FE, First differences. </a:t>
            </a:r>
          </a:p>
          <a:p>
            <a:pPr marL="0" indent="0" algn="just">
              <a:buNone/>
              <a:defRPr/>
            </a:pPr>
            <a:r>
              <a:rPr lang="en-US" altLang="fr-FR" sz="2300" dirty="0"/>
              <a:t>6.2. If time-invariant variable of interest, </a:t>
            </a:r>
            <a:r>
              <a:rPr lang="en-US" altLang="fr-FR" sz="2300" dirty="0" err="1"/>
              <a:t>Hausman</a:t>
            </a:r>
            <a:r>
              <a:rPr lang="en-US" altLang="fr-FR" sz="2300" dirty="0"/>
              <a:t>-Taylor or interaction terms.</a:t>
            </a:r>
          </a:p>
          <a:p>
            <a:pPr marL="0" indent="0" algn="just">
              <a:buNone/>
              <a:defRPr/>
            </a:pPr>
            <a:r>
              <a:rPr lang="en-US" altLang="fr-FR" sz="2300" dirty="0"/>
              <a:t>6.3. Dynamic regressions, First differences, IV First differences (Anderson </a:t>
            </a:r>
            <a:r>
              <a:rPr lang="en-US" altLang="fr-FR" sz="2300" dirty="0" err="1"/>
              <a:t>Hsiaoh</a:t>
            </a:r>
            <a:r>
              <a:rPr lang="en-US" altLang="fr-FR" sz="2300" dirty="0"/>
              <a:t>) with first stage. But GMM only if T&lt;10.</a:t>
            </a:r>
          </a:p>
          <a:p>
            <a:pPr marL="0" indent="0" algn="just">
              <a:buNone/>
              <a:defRPr/>
            </a:pPr>
            <a:r>
              <a:rPr lang="en-US" altLang="fr-FR" sz="2300" dirty="0"/>
              <a:t>6.4.</a:t>
            </a:r>
            <a:r>
              <a:rPr lang="en-US" altLang="fr-FR" sz="2300" b="1" dirty="0"/>
              <a:t> </a:t>
            </a:r>
            <a:r>
              <a:rPr lang="en-US" altLang="fr-FR" sz="2300" b="1" i="1" dirty="0"/>
              <a:t>Combinations as if </a:t>
            </a:r>
            <a:r>
              <a:rPr lang="en-US" altLang="fr-FR" sz="2300" b="1" i="1" dirty="0" err="1"/>
              <a:t>DiD</a:t>
            </a:r>
            <a:r>
              <a:rPr lang="en-US" altLang="fr-FR" sz="2300" dirty="0"/>
              <a:t>: Split into subgroups before/after, for two-way FE with multiple treatments at different dates (De </a:t>
            </a:r>
            <a:r>
              <a:rPr lang="en-US" altLang="fr-FR" sz="2300" dirty="0" err="1"/>
              <a:t>Chaisemartin</a:t>
            </a:r>
            <a:r>
              <a:rPr lang="en-US" altLang="fr-FR" sz="2300" dirty="0"/>
              <a:t> et </a:t>
            </a:r>
            <a:r>
              <a:rPr lang="en-US" altLang="fr-FR" sz="2300" dirty="0" err="1"/>
              <a:t>d’Haultfoeuille</a:t>
            </a:r>
            <a:r>
              <a:rPr lang="en-US" altLang="fr-FR" sz="2300" dirty="0"/>
              <a:t> (2022) etc.), </a:t>
            </a:r>
          </a:p>
          <a:p>
            <a:pPr marL="0" indent="0" algn="just">
              <a:buNone/>
              <a:defRPr/>
            </a:pPr>
            <a:r>
              <a:rPr lang="en-US" altLang="fr-FR" sz="2300" dirty="0"/>
              <a:t>7.  Robustness when removing outliers, including vs excluding variables.</a:t>
            </a:r>
          </a:p>
          <a:p>
            <a:pPr marL="0" indent="0" algn="just">
              <a:buNone/>
              <a:defRPr/>
            </a:pPr>
            <a:endParaRPr lang="en-US" altLang="fr-FR" sz="1600" dirty="0"/>
          </a:p>
        </p:txBody>
      </p:sp>
    </p:spTree>
    <p:extLst>
      <p:ext uri="{BB962C8B-B14F-4D97-AF65-F5344CB8AC3E}">
        <p14:creationId xmlns:p14="http://schemas.microsoft.com/office/powerpoint/2010/main" val="1808778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altLang="fr-FR" dirty="0"/>
              <a:t>1. Small N&lt;20 and k&lt;T=100: </a:t>
            </a:r>
            <a:br>
              <a:rPr lang="en-US" altLang="fr-FR" dirty="0"/>
            </a:br>
            <a:r>
              <a:rPr lang="en-US" altLang="fr-FR" dirty="0"/>
              <a:t>Time Series &gt; Fixed Effects.</a:t>
            </a:r>
            <a:endParaRPr lang="en-US" dirty="0"/>
          </a:p>
        </p:txBody>
      </p:sp>
      <p:sp>
        <p:nvSpPr>
          <p:cNvPr id="3" name="Espace réservé du contenu 2"/>
          <p:cNvSpPr>
            <a:spLocks noGrp="1"/>
          </p:cNvSpPr>
          <p:nvPr>
            <p:ph idx="1"/>
          </p:nvPr>
        </p:nvSpPr>
        <p:spPr/>
        <p:txBody>
          <a:bodyPr>
            <a:normAutofit lnSpcReduction="10000"/>
          </a:bodyPr>
          <a:lstStyle/>
          <a:p>
            <a:pPr marL="514350" indent="-514350">
              <a:buAutoNum type="arabicPeriod"/>
            </a:pPr>
            <a:r>
              <a:rPr lang="en-US" altLang="fr-FR" sz="2800" dirty="0"/>
              <a:t>Run times-series estimations for each individual with DISTINCT SLOPES.</a:t>
            </a:r>
          </a:p>
          <a:p>
            <a:pPr marL="514350" indent="-514350">
              <a:buAutoNum type="arabicPeriod"/>
            </a:pPr>
            <a:r>
              <a:rPr lang="en-US" altLang="fr-FR" sz="2800" dirty="0"/>
              <a:t>Compare parameters with COMMON SLOPES with fixed effects.</a:t>
            </a:r>
          </a:p>
          <a:p>
            <a:pPr marL="514350" indent="-514350">
              <a:buAutoNum type="arabicPeriod"/>
            </a:pPr>
            <a:r>
              <a:rPr lang="en-US" sz="2800" dirty="0"/>
              <a:t>If too much difference across time-series, per </a:t>
            </a:r>
            <a:r>
              <a:rPr lang="en-US" sz="2800" b="1" u="sng" dirty="0"/>
              <a:t>all</a:t>
            </a:r>
            <a:r>
              <a:rPr lang="en-US" sz="2800" dirty="0"/>
              <a:t> individuals: </a:t>
            </a:r>
            <a:r>
              <a:rPr lang="en-US" sz="2800" b="1" dirty="0">
                <a:solidFill>
                  <a:srgbClr val="FF0000"/>
                </a:solidFill>
              </a:rPr>
              <a:t>unless you wish to test differences of parameters</a:t>
            </a:r>
            <a:r>
              <a:rPr lang="en-US" sz="2800" dirty="0"/>
              <a:t>, do not pool, </a:t>
            </a:r>
            <a:r>
              <a:rPr lang="en-US" sz="2800" b="1" dirty="0">
                <a:solidFill>
                  <a:srgbClr val="FF0000"/>
                </a:solidFill>
              </a:rPr>
              <a:t>stick to time-series</a:t>
            </a:r>
            <a:r>
              <a:rPr lang="en-US" sz="2800" dirty="0"/>
              <a:t>. Else poor forecast.</a:t>
            </a:r>
          </a:p>
          <a:p>
            <a:pPr marL="514350" indent="-514350">
              <a:buAutoNum type="arabicPeriod"/>
            </a:pPr>
            <a:r>
              <a:rPr lang="en-US" sz="2800" dirty="0"/>
              <a:t>Else POOL individuals with time-series parameters which are not too different. </a:t>
            </a:r>
          </a:p>
          <a:p>
            <a:pPr marL="0" indent="0" algn="just">
              <a:buNone/>
              <a:defRPr/>
            </a:pPr>
            <a:endParaRPr lang="en-US" altLang="fr-FR" sz="2800" dirty="0"/>
          </a:p>
        </p:txBody>
      </p:sp>
    </p:spTree>
    <p:extLst>
      <p:ext uri="{BB962C8B-B14F-4D97-AF65-F5344CB8AC3E}">
        <p14:creationId xmlns:p14="http://schemas.microsoft.com/office/powerpoint/2010/main" val="2540550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2. Stata </a:t>
            </a:r>
            <a:r>
              <a:rPr lang="fr-FR" dirty="0" err="1"/>
              <a:t>xt</a:t>
            </a:r>
            <a:endParaRPr lang="fr-FR" dirty="0"/>
          </a:p>
        </p:txBody>
      </p:sp>
      <p:sp>
        <p:nvSpPr>
          <p:cNvPr id="3" name="Espace réservé du contenu 2"/>
          <p:cNvSpPr>
            <a:spLocks noGrp="1"/>
          </p:cNvSpPr>
          <p:nvPr>
            <p:ph idx="1"/>
          </p:nvPr>
        </p:nvSpPr>
        <p:spPr/>
        <p:txBody>
          <a:bodyPr/>
          <a:lstStyle/>
          <a:p>
            <a:pPr marL="0" indent="0">
              <a:buNone/>
            </a:pPr>
            <a:r>
              <a:rPr lang="fr-FR" b="1" dirty="0"/>
              <a:t>Descriptive </a:t>
            </a:r>
            <a:r>
              <a:rPr lang="fr-FR" b="1" dirty="0" err="1"/>
              <a:t>statistics</a:t>
            </a:r>
            <a:r>
              <a:rPr lang="fr-FR" b="1" dirty="0"/>
              <a:t>:</a:t>
            </a:r>
          </a:p>
          <a:p>
            <a:pPr marL="0" indent="0">
              <a:buNone/>
            </a:pPr>
            <a:r>
              <a:rPr lang="fr-FR" dirty="0" err="1">
                <a:solidFill>
                  <a:srgbClr val="FF0000"/>
                </a:solidFill>
              </a:rPr>
              <a:t>xtset</a:t>
            </a:r>
            <a:r>
              <a:rPr lang="fr-FR" dirty="0">
                <a:solidFill>
                  <a:srgbClr val="FF0000"/>
                </a:solidFill>
              </a:rPr>
              <a:t> (</a:t>
            </a:r>
            <a:r>
              <a:rPr lang="fr-FR" dirty="0" err="1">
                <a:solidFill>
                  <a:srgbClr val="FF0000"/>
                </a:solidFill>
              </a:rPr>
              <a:t>define</a:t>
            </a:r>
            <a:r>
              <a:rPr lang="fr-FR" dirty="0">
                <a:solidFill>
                  <a:srgbClr val="FF0000"/>
                </a:solidFill>
              </a:rPr>
              <a:t> </a:t>
            </a:r>
            <a:r>
              <a:rPr lang="fr-FR" dirty="0" err="1">
                <a:solidFill>
                  <a:srgbClr val="FF0000"/>
                </a:solidFill>
              </a:rPr>
              <a:t>two</a:t>
            </a:r>
            <a:r>
              <a:rPr lang="fr-FR" dirty="0">
                <a:solidFill>
                  <a:srgbClr val="FF0000"/>
                </a:solidFill>
              </a:rPr>
              <a:t> indices)</a:t>
            </a:r>
            <a:r>
              <a:rPr lang="fr-FR" dirty="0"/>
              <a:t>, </a:t>
            </a:r>
          </a:p>
          <a:p>
            <a:pPr marL="0" indent="0">
              <a:buNone/>
            </a:pPr>
            <a:r>
              <a:rPr lang="fr-FR" dirty="0" err="1"/>
              <a:t>xtdescribe</a:t>
            </a:r>
            <a:r>
              <a:rPr lang="fr-FR" dirty="0"/>
              <a:t>, </a:t>
            </a:r>
            <a:r>
              <a:rPr lang="fr-FR" dirty="0" err="1"/>
              <a:t>xtsum</a:t>
            </a:r>
            <a:r>
              <a:rPr lang="fr-FR" dirty="0"/>
              <a:t>, </a:t>
            </a:r>
            <a:r>
              <a:rPr lang="fr-FR" dirty="0" err="1"/>
              <a:t>xttab</a:t>
            </a:r>
            <a:r>
              <a:rPr lang="fr-FR" dirty="0"/>
              <a:t>, </a:t>
            </a:r>
            <a:r>
              <a:rPr lang="fr-FR" dirty="0" err="1"/>
              <a:t>xtdata</a:t>
            </a:r>
            <a:r>
              <a:rPr lang="fr-FR" dirty="0"/>
              <a:t>, </a:t>
            </a:r>
            <a:r>
              <a:rPr lang="fr-FR" dirty="0" err="1"/>
              <a:t>xtline</a:t>
            </a:r>
            <a:r>
              <a:rPr lang="fr-FR" dirty="0"/>
              <a:t>, </a:t>
            </a:r>
            <a:r>
              <a:rPr lang="fr-FR" dirty="0" err="1"/>
              <a:t>xtunitroot</a:t>
            </a:r>
            <a:endParaRPr lang="fr-FR" dirty="0"/>
          </a:p>
          <a:p>
            <a:pPr marL="0" indent="0">
              <a:buNone/>
            </a:pPr>
            <a:r>
              <a:rPr lang="fr-FR" b="1" dirty="0" err="1"/>
              <a:t>Regressions</a:t>
            </a:r>
            <a:r>
              <a:rPr lang="fr-FR" b="1" dirty="0"/>
              <a:t>:</a:t>
            </a:r>
          </a:p>
          <a:p>
            <a:pPr marL="0" indent="0">
              <a:buNone/>
            </a:pPr>
            <a:r>
              <a:rPr lang="fr-FR" dirty="0" err="1"/>
              <a:t>xtreg</a:t>
            </a:r>
            <a:r>
              <a:rPr lang="fr-FR" dirty="0"/>
              <a:t> </a:t>
            </a:r>
            <a:r>
              <a:rPr lang="fr-FR" dirty="0" err="1"/>
              <a:t>be</a:t>
            </a:r>
            <a:r>
              <a:rPr lang="fr-FR" dirty="0"/>
              <a:t> </a:t>
            </a:r>
            <a:r>
              <a:rPr lang="fr-FR" dirty="0" err="1"/>
              <a:t>re</a:t>
            </a:r>
            <a:r>
              <a:rPr lang="fr-FR" dirty="0"/>
              <a:t> </a:t>
            </a:r>
            <a:r>
              <a:rPr lang="fr-FR" dirty="0" err="1"/>
              <a:t>fe</a:t>
            </a:r>
            <a:endParaRPr lang="fr-FR" dirty="0"/>
          </a:p>
          <a:p>
            <a:pPr marL="0" indent="0">
              <a:buNone/>
            </a:pPr>
            <a:r>
              <a:rPr lang="fr-FR" dirty="0"/>
              <a:t>xtabond2</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1746398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2. </a:t>
            </a:r>
            <a:r>
              <a:rPr lang="en-GB" dirty="0"/>
              <a:t>Order your variables with separate univariate statistics</a:t>
            </a:r>
          </a:p>
        </p:txBody>
      </p:sp>
      <p:sp>
        <p:nvSpPr>
          <p:cNvPr id="3" name="Espace réservé du contenu 2"/>
          <p:cNvSpPr>
            <a:spLocks noGrp="1"/>
          </p:cNvSpPr>
          <p:nvPr>
            <p:ph idx="1"/>
          </p:nvPr>
        </p:nvSpPr>
        <p:spPr/>
        <p:txBody>
          <a:bodyPr>
            <a:normAutofit/>
          </a:bodyPr>
          <a:lstStyle/>
          <a:p>
            <a:pPr marL="0" indent="0">
              <a:buNone/>
            </a:pPr>
            <a:r>
              <a:rPr lang="fr-FR" dirty="0"/>
              <a:t>X(</a:t>
            </a:r>
            <a:r>
              <a:rPr lang="fr-FR" dirty="0" err="1"/>
              <a:t>it</a:t>
            </a:r>
            <a:r>
              <a:rPr lang="fr-FR" dirty="0"/>
              <a:t>): time and </a:t>
            </a:r>
            <a:r>
              <a:rPr lang="fr-FR" dirty="0" err="1"/>
              <a:t>invidual</a:t>
            </a:r>
            <a:r>
              <a:rPr lang="fr-FR" dirty="0"/>
              <a:t> </a:t>
            </a:r>
            <a:r>
              <a:rPr lang="fr-FR" dirty="0" err="1"/>
              <a:t>varying</a:t>
            </a:r>
            <a:r>
              <a:rPr lang="fr-FR" dirty="0"/>
              <a:t>.</a:t>
            </a:r>
          </a:p>
          <a:p>
            <a:pPr marL="0" indent="0">
              <a:buNone/>
            </a:pPr>
            <a:r>
              <a:rPr lang="fr-FR" dirty="0"/>
              <a:t>X(t): </a:t>
            </a:r>
            <a:r>
              <a:rPr lang="fr-FR" dirty="0" err="1"/>
              <a:t>only</a:t>
            </a:r>
            <a:r>
              <a:rPr lang="fr-FR" dirty="0"/>
              <a:t> time </a:t>
            </a:r>
            <a:r>
              <a:rPr lang="fr-FR" dirty="0" err="1"/>
              <a:t>dependent</a:t>
            </a:r>
            <a:endParaRPr lang="fr-FR" dirty="0"/>
          </a:p>
          <a:p>
            <a:pPr marL="0" indent="0">
              <a:buNone/>
            </a:pPr>
            <a:r>
              <a:rPr lang="fr-FR" dirty="0"/>
              <a:t>X(i): </a:t>
            </a:r>
            <a:r>
              <a:rPr lang="en-GB" dirty="0"/>
              <a:t>only</a:t>
            </a:r>
            <a:r>
              <a:rPr lang="fr-FR" dirty="0"/>
              <a:t> </a:t>
            </a:r>
            <a:r>
              <a:rPr lang="fr-FR" dirty="0" err="1"/>
              <a:t>individual</a:t>
            </a:r>
            <a:r>
              <a:rPr lang="fr-FR" dirty="0"/>
              <a:t> </a:t>
            </a:r>
            <a:r>
              <a:rPr lang="fr-FR" dirty="0" err="1"/>
              <a:t>varying</a:t>
            </a:r>
            <a:r>
              <a:rPr lang="fr-FR" dirty="0"/>
              <a:t> (time-invariant).</a:t>
            </a:r>
          </a:p>
          <a:p>
            <a:pPr marL="0" indent="0">
              <a:buNone/>
            </a:pPr>
            <a:endParaRPr lang="fr-FR" dirty="0"/>
          </a:p>
          <a:p>
            <a:pPr marL="0" indent="0">
              <a:buNone/>
            </a:pPr>
            <a:r>
              <a:rPr lang="fr-FR" dirty="0"/>
              <a:t>Do the </a:t>
            </a:r>
            <a:r>
              <a:rPr lang="fr-FR" dirty="0" err="1"/>
              <a:t>same</a:t>
            </a:r>
            <a:r>
              <a:rPr lang="fr-FR" dirty="0"/>
              <a:t> if more indices X(</a:t>
            </a:r>
            <a:r>
              <a:rPr lang="fr-FR" dirty="0" err="1"/>
              <a:t>itsc</a:t>
            </a:r>
            <a:r>
              <a:rPr lang="fr-FR" dirty="0"/>
              <a:t>):</a:t>
            </a:r>
          </a:p>
          <a:p>
            <a:pPr marL="0" indent="0">
              <a:buNone/>
            </a:pPr>
            <a:r>
              <a:rPr lang="fr-FR" dirty="0"/>
              <a:t>X(</a:t>
            </a:r>
            <a:r>
              <a:rPr lang="fr-FR" dirty="0" err="1"/>
              <a:t>its</a:t>
            </a:r>
            <a:r>
              <a:rPr lang="fr-FR" dirty="0"/>
              <a:t>)</a:t>
            </a:r>
          </a:p>
          <a:p>
            <a:pPr marL="0" indent="0">
              <a:buNone/>
            </a:pPr>
            <a:endParaRPr lang="fr-FR" dirty="0"/>
          </a:p>
        </p:txBody>
      </p:sp>
    </p:spTree>
    <p:extLst>
      <p:ext uri="{BB962C8B-B14F-4D97-AF65-F5344CB8AC3E}">
        <p14:creationId xmlns:p14="http://schemas.microsoft.com/office/powerpoint/2010/main" val="2372416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re 1"/>
          <p:cNvSpPr>
            <a:spLocks noGrp="1"/>
          </p:cNvSpPr>
          <p:nvPr>
            <p:ph type="title"/>
          </p:nvPr>
        </p:nvSpPr>
        <p:spPr/>
        <p:txBody>
          <a:bodyPr>
            <a:normAutofit/>
          </a:bodyPr>
          <a:lstStyle/>
          <a:p>
            <a:r>
              <a:rPr lang="fr-FR" altLang="fr-FR" sz="3200" dirty="0"/>
              <a:t>3. Transformations of variables: </a:t>
            </a:r>
            <a:r>
              <a:rPr lang="fr-FR" altLang="fr-FR" sz="3200" dirty="0" err="1"/>
              <a:t>Between</a:t>
            </a:r>
            <a:r>
              <a:rPr lang="fr-FR" altLang="fr-FR" sz="3200" dirty="0"/>
              <a:t>, </a:t>
            </a:r>
            <a:r>
              <a:rPr lang="fr-FR" altLang="fr-FR" sz="3200" dirty="0" err="1"/>
              <a:t>Within</a:t>
            </a:r>
            <a:r>
              <a:rPr lang="fr-FR" altLang="fr-FR" sz="3200" dirty="0"/>
              <a:t>, </a:t>
            </a:r>
            <a:r>
              <a:rPr lang="fr-FR" altLang="fr-FR" sz="3200" dirty="0" err="1"/>
              <a:t>Two-way</a:t>
            </a:r>
            <a:r>
              <a:rPr lang="fr-FR" altLang="fr-FR" sz="3200" dirty="0"/>
              <a:t> </a:t>
            </a:r>
            <a:r>
              <a:rPr lang="fr-FR" altLang="fr-FR" sz="3200" dirty="0" err="1"/>
              <a:t>Within</a:t>
            </a:r>
            <a:r>
              <a:rPr lang="fr-FR" altLang="fr-FR" sz="3200" dirty="0"/>
              <a:t> and First </a:t>
            </a:r>
            <a:r>
              <a:rPr lang="fr-FR" altLang="fr-FR" sz="3200" dirty="0" err="1"/>
              <a:t>Differences</a:t>
            </a:r>
            <a:endParaRPr lang="fr-FR" altLang="fr-FR" sz="3200" dirty="0"/>
          </a:p>
        </p:txBody>
      </p:sp>
      <p:sp>
        <p:nvSpPr>
          <p:cNvPr id="2" name="Espace réservé du contenu 1"/>
          <p:cNvSpPr>
            <a:spLocks noGrp="1"/>
          </p:cNvSpPr>
          <p:nvPr>
            <p:ph idx="1"/>
          </p:nvPr>
        </p:nvSpPr>
        <p:spPr/>
        <p:txBody>
          <a:bodyPr>
            <a:normAutofit lnSpcReduction="10000"/>
          </a:bodyPr>
          <a:lstStyle/>
          <a:p>
            <a:pPr marL="514350" indent="-514350" algn="just">
              <a:buFontTx/>
              <a:buAutoNum type="arabicPeriod"/>
            </a:pPr>
            <a:r>
              <a:rPr lang="en-US" altLang="fr-FR" dirty="0">
                <a:solidFill>
                  <a:srgbClr val="FF0000"/>
                </a:solidFill>
              </a:rPr>
              <a:t>Never do descriptive statistics on x(it): they are not used by panel estimates. Fixed effects uses x(it)-x(</a:t>
            </a:r>
            <a:r>
              <a:rPr lang="en-US" altLang="fr-FR" dirty="0" err="1">
                <a:solidFill>
                  <a:srgbClr val="FF0000"/>
                </a:solidFill>
              </a:rPr>
              <a:t>i</a:t>
            </a:r>
            <a:r>
              <a:rPr lang="en-US" altLang="fr-FR" dirty="0">
                <a:solidFill>
                  <a:srgbClr val="FF0000"/>
                </a:solidFill>
              </a:rPr>
              <a:t>.).</a:t>
            </a:r>
          </a:p>
          <a:p>
            <a:pPr marL="514350" indent="-514350" algn="just">
              <a:buAutoNum type="arabicPeriod"/>
            </a:pPr>
            <a:r>
              <a:rPr lang="en-US" altLang="fr-FR" dirty="0"/>
              <a:t>Compute x(</a:t>
            </a:r>
            <a:r>
              <a:rPr lang="en-US" altLang="fr-FR" dirty="0" err="1"/>
              <a:t>i</a:t>
            </a:r>
            <a:r>
              <a:rPr lang="en-US" altLang="fr-FR" dirty="0"/>
              <a:t>.); x(it)-x(</a:t>
            </a:r>
            <a:r>
              <a:rPr lang="en-US" altLang="fr-FR" dirty="0" err="1"/>
              <a:t>i</a:t>
            </a:r>
            <a:r>
              <a:rPr lang="en-US" altLang="fr-FR" dirty="0"/>
              <a:t>.) and x(it)-x(i,t-1)</a:t>
            </a:r>
          </a:p>
          <a:p>
            <a:pPr marL="514350" indent="-514350" algn="just">
              <a:buAutoNum type="arabicPeriod"/>
            </a:pPr>
            <a:r>
              <a:rPr lang="en-US" altLang="fr-FR" dirty="0"/>
              <a:t>Separate variables into groups: time-invariant x(</a:t>
            </a:r>
            <a:r>
              <a:rPr lang="en-US" altLang="fr-FR" dirty="0" err="1"/>
              <a:t>i</a:t>
            </a:r>
            <a:r>
              <a:rPr lang="en-US" altLang="fr-FR" dirty="0"/>
              <a:t>), country-invariant x(t) variables from x(it).</a:t>
            </a:r>
          </a:p>
          <a:p>
            <a:pPr marL="514350" indent="-514350" algn="just">
              <a:buAutoNum type="arabicPeriod"/>
            </a:pPr>
            <a:r>
              <a:rPr lang="en-US" dirty="0"/>
              <a:t>Check data missing per individual for unbalanced panel (</a:t>
            </a:r>
            <a:r>
              <a:rPr lang="en-US" dirty="0" err="1"/>
              <a:t>xt</a:t>
            </a:r>
            <a:r>
              <a:rPr lang="en-US" dirty="0"/>
              <a:t> command).</a:t>
            </a:r>
          </a:p>
        </p:txBody>
      </p:sp>
    </p:spTree>
    <p:extLst>
      <p:ext uri="{BB962C8B-B14F-4D97-AF65-F5344CB8AC3E}">
        <p14:creationId xmlns:p14="http://schemas.microsoft.com/office/powerpoint/2010/main" val="1113994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marL="514350" indent="-514350"/>
            <a:r>
              <a:rPr lang="fr-FR" sz="3200" dirty="0"/>
              <a:t>4. </a:t>
            </a:r>
            <a:r>
              <a:rPr lang="fr-FR" sz="3200" dirty="0" err="1"/>
              <a:t>Univariate</a:t>
            </a:r>
            <a:r>
              <a:rPr lang="fr-FR" sz="3200" dirty="0"/>
              <a:t> </a:t>
            </a:r>
            <a:r>
              <a:rPr lang="fr-FR" sz="3200" dirty="0" err="1"/>
              <a:t>statistics</a:t>
            </a:r>
            <a:r>
              <a:rPr lang="fr-FR" sz="3200" dirty="0"/>
              <a:t> </a:t>
            </a:r>
            <a:r>
              <a:rPr lang="fr-FR" altLang="fr-FR" sz="3200" dirty="0"/>
              <a:t>on x(i.),</a:t>
            </a:r>
            <a:br>
              <a:rPr lang="fr-FR" altLang="fr-FR" sz="3200" dirty="0"/>
            </a:br>
            <a:r>
              <a:rPr lang="fr-FR" altLang="fr-FR" sz="3200" dirty="0"/>
              <a:t>x(</a:t>
            </a:r>
            <a:r>
              <a:rPr lang="fr-FR" altLang="fr-FR" sz="3200" dirty="0" err="1"/>
              <a:t>it</a:t>
            </a:r>
            <a:r>
              <a:rPr lang="fr-FR" altLang="fr-FR" sz="3200" dirty="0"/>
              <a:t>)-x(i.), x(</a:t>
            </a:r>
            <a:r>
              <a:rPr lang="fr-FR" altLang="fr-FR" sz="3200" dirty="0" err="1"/>
              <a:t>it</a:t>
            </a:r>
            <a:r>
              <a:rPr lang="fr-FR" altLang="fr-FR" sz="3200" dirty="0"/>
              <a:t>)-x(i.)-x(.t)+x(..), x(</a:t>
            </a:r>
            <a:r>
              <a:rPr lang="fr-FR" altLang="fr-FR" sz="3200" dirty="0" err="1"/>
              <a:t>it</a:t>
            </a:r>
            <a:r>
              <a:rPr lang="fr-FR" altLang="fr-FR" sz="3200" dirty="0"/>
              <a:t>)-x(i,t-1) </a:t>
            </a:r>
            <a:endParaRPr lang="fr-FR" sz="3200" dirty="0"/>
          </a:p>
        </p:txBody>
      </p:sp>
      <p:sp>
        <p:nvSpPr>
          <p:cNvPr id="3" name="Espace réservé du contenu 2"/>
          <p:cNvSpPr>
            <a:spLocks noGrp="1"/>
          </p:cNvSpPr>
          <p:nvPr>
            <p:ph idx="1"/>
          </p:nvPr>
        </p:nvSpPr>
        <p:spPr/>
        <p:txBody>
          <a:bodyPr/>
          <a:lstStyle/>
          <a:p>
            <a:pPr marL="514350" indent="-514350">
              <a:buAutoNum type="arabicPeriod"/>
            </a:pPr>
            <a:r>
              <a:rPr lang="fr-FR" altLang="fr-FR" dirty="0"/>
              <a:t>Do descriptive </a:t>
            </a:r>
            <a:r>
              <a:rPr lang="fr-FR" altLang="fr-FR" dirty="0" err="1"/>
              <a:t>univariate</a:t>
            </a:r>
            <a:r>
              <a:rPr lang="fr-FR" altLang="fr-FR" dirty="0"/>
              <a:t> </a:t>
            </a:r>
            <a:r>
              <a:rPr lang="fr-FR" altLang="fr-FR" dirty="0" err="1"/>
              <a:t>statistics</a:t>
            </a:r>
            <a:r>
              <a:rPr lang="fr-FR" altLang="fr-FR" dirty="0"/>
              <a:t> (min </a:t>
            </a:r>
            <a:r>
              <a:rPr lang="fr-FR" altLang="fr-FR" dirty="0" err="1"/>
              <a:t>median</a:t>
            </a:r>
            <a:r>
              <a:rPr lang="fr-FR" altLang="fr-FR" dirty="0"/>
              <a:t> </a:t>
            </a:r>
            <a:r>
              <a:rPr lang="fr-FR" altLang="fr-FR" dirty="0" err="1"/>
              <a:t>mean</a:t>
            </a:r>
            <a:r>
              <a:rPr lang="fr-FR" altLang="fr-FR" dirty="0"/>
              <a:t> max sigma)</a:t>
            </a:r>
          </a:p>
          <a:p>
            <a:pPr marL="514350" indent="-514350">
              <a:buAutoNum type="arabicPeriod"/>
            </a:pPr>
            <a:r>
              <a:rPr lang="fr-FR" altLang="fr-FR" dirty="0"/>
              <a:t>Plot </a:t>
            </a:r>
            <a:r>
              <a:rPr lang="fr-FR" altLang="fr-FR" dirty="0" err="1"/>
              <a:t>histograms</a:t>
            </a:r>
            <a:r>
              <a:rPr lang="fr-FR" altLang="fr-FR" dirty="0"/>
              <a:t>, normal </a:t>
            </a:r>
            <a:r>
              <a:rPr lang="fr-FR" altLang="fr-FR" dirty="0" err="1"/>
              <a:t>law</a:t>
            </a:r>
            <a:r>
              <a:rPr lang="fr-FR" altLang="fr-FR" dirty="0"/>
              <a:t> and </a:t>
            </a:r>
            <a:r>
              <a:rPr lang="fr-FR" altLang="fr-FR" dirty="0" err="1"/>
              <a:t>kernel</a:t>
            </a:r>
            <a:r>
              <a:rPr lang="fr-FR" altLang="fr-FR" dirty="0"/>
              <a:t> and </a:t>
            </a:r>
            <a:r>
              <a:rPr lang="fr-FR" altLang="fr-FR" dirty="0" err="1"/>
              <a:t>discuss</a:t>
            </a:r>
            <a:r>
              <a:rPr lang="fr-FR" altLang="fr-FR" dirty="0"/>
              <a:t>: </a:t>
            </a:r>
            <a:r>
              <a:rPr lang="fr-FR" altLang="fr-FR" dirty="0" err="1"/>
              <a:t>skewness</a:t>
            </a:r>
            <a:r>
              <a:rPr lang="fr-FR" altLang="fr-FR" dirty="0"/>
              <a:t>, </a:t>
            </a:r>
            <a:r>
              <a:rPr lang="fr-FR" altLang="fr-FR" dirty="0" err="1"/>
              <a:t>outliers</a:t>
            </a:r>
            <a:r>
              <a:rPr lang="fr-FR" altLang="fr-FR" dirty="0"/>
              <a:t>, non-</a:t>
            </a:r>
            <a:r>
              <a:rPr lang="fr-FR" altLang="fr-FR" dirty="0" err="1"/>
              <a:t>normality</a:t>
            </a:r>
            <a:endParaRPr lang="fr-FR" altLang="fr-FR" dirty="0"/>
          </a:p>
          <a:p>
            <a:pPr marL="514350" indent="-514350">
              <a:buAutoNum type="arabicPeriod"/>
            </a:pPr>
            <a:r>
              <a:rPr lang="fr-FR" dirty="0"/>
              <a:t>Comment and compare </a:t>
            </a:r>
            <a:r>
              <a:rPr lang="fr-FR" dirty="0" err="1"/>
              <a:t>discrepancies</a:t>
            </a:r>
            <a:r>
              <a:rPr lang="fr-FR" dirty="0"/>
              <a:t> </a:t>
            </a:r>
            <a:r>
              <a:rPr lang="fr-FR" dirty="0" err="1"/>
              <a:t>between</a:t>
            </a:r>
            <a:r>
              <a:rPr lang="fr-FR" dirty="0"/>
              <a:t> versus </a:t>
            </a:r>
            <a:r>
              <a:rPr lang="fr-FR" dirty="0" err="1"/>
              <a:t>within</a:t>
            </a:r>
            <a:r>
              <a:rPr lang="fr-FR" dirty="0"/>
              <a:t> distribution.</a:t>
            </a:r>
          </a:p>
          <a:p>
            <a:pPr marL="0" indent="0">
              <a:buNone/>
            </a:pPr>
            <a:endParaRPr lang="fr-FR" dirty="0"/>
          </a:p>
        </p:txBody>
      </p:sp>
    </p:spTree>
    <p:extLst>
      <p:ext uri="{BB962C8B-B14F-4D97-AF65-F5344CB8AC3E}">
        <p14:creationId xmlns:p14="http://schemas.microsoft.com/office/powerpoint/2010/main" val="3215574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re 1"/>
          <p:cNvSpPr>
            <a:spLocks noGrp="1"/>
          </p:cNvSpPr>
          <p:nvPr>
            <p:ph type="title"/>
          </p:nvPr>
        </p:nvSpPr>
        <p:spPr/>
        <p:txBody>
          <a:bodyPr>
            <a:normAutofit fontScale="90000"/>
          </a:bodyPr>
          <a:lstStyle/>
          <a:p>
            <a:r>
              <a:rPr lang="fr-FR" altLang="fr-FR" dirty="0"/>
              <a:t>5. Small N (&lt;50) </a:t>
            </a:r>
            <a:r>
              <a:rPr lang="fr-FR" altLang="fr-FR" dirty="0" err="1"/>
              <a:t>sample</a:t>
            </a:r>
            <a:r>
              <a:rPr lang="fr-FR" altLang="fr-FR" dirty="0"/>
              <a:t>: </a:t>
            </a:r>
            <a:br>
              <a:rPr lang="fr-FR" altLang="fr-FR" dirty="0"/>
            </a:br>
            <a:r>
              <a:rPr lang="fr-FR" altLang="fr-FR" dirty="0" err="1"/>
              <a:t>Within</a:t>
            </a:r>
            <a:r>
              <a:rPr lang="fr-FR" altLang="fr-FR" dirty="0"/>
              <a:t> </a:t>
            </a:r>
            <a:r>
              <a:rPr lang="fr-FR" altLang="fr-FR" dirty="0" err="1"/>
              <a:t>Boxplots</a:t>
            </a:r>
            <a:r>
              <a:rPr lang="fr-FR" altLang="fr-FR" dirty="0"/>
              <a:t> </a:t>
            </a:r>
            <a:r>
              <a:rPr lang="fr-FR" altLang="fr-FR" b="1" dirty="0">
                <a:solidFill>
                  <a:srgbClr val="FF0000"/>
                </a:solidFill>
              </a:rPr>
              <a:t>by </a:t>
            </a:r>
            <a:r>
              <a:rPr lang="fr-FR" altLang="fr-FR" b="1" dirty="0" err="1">
                <a:solidFill>
                  <a:srgbClr val="FF0000"/>
                </a:solidFill>
              </a:rPr>
              <a:t>individuals</a:t>
            </a:r>
            <a:r>
              <a:rPr lang="fr-FR" altLang="fr-FR" dirty="0"/>
              <a:t> </a:t>
            </a:r>
          </a:p>
        </p:txBody>
      </p:sp>
      <p:sp>
        <p:nvSpPr>
          <p:cNvPr id="2" name="Espace réservé du contenu 1"/>
          <p:cNvSpPr>
            <a:spLocks noGrp="1"/>
          </p:cNvSpPr>
          <p:nvPr>
            <p:ph idx="1"/>
          </p:nvPr>
        </p:nvSpPr>
        <p:spPr/>
        <p:txBody>
          <a:bodyPr/>
          <a:lstStyle/>
          <a:p>
            <a:pPr marL="514350" indent="-514350">
              <a:buAutoNum type="arabicPeriod"/>
            </a:pPr>
            <a:r>
              <a:rPr lang="fr-FR" altLang="fr-FR" dirty="0"/>
              <a:t>Plot </a:t>
            </a:r>
            <a:r>
              <a:rPr lang="fr-FR" altLang="fr-FR" dirty="0" err="1"/>
              <a:t>boxplots</a:t>
            </a:r>
            <a:r>
              <a:rPr lang="fr-FR" altLang="fr-FR" dirty="0"/>
              <a:t> per-</a:t>
            </a:r>
            <a:r>
              <a:rPr lang="fr-FR" altLang="fr-FR" dirty="0" err="1"/>
              <a:t>individuals</a:t>
            </a:r>
            <a:r>
              <a:rPr lang="fr-FR" altLang="fr-FR" dirty="0"/>
              <a:t> of x(</a:t>
            </a:r>
            <a:r>
              <a:rPr lang="fr-FR" altLang="fr-FR" dirty="0" err="1"/>
              <a:t>it</a:t>
            </a:r>
            <a:r>
              <a:rPr lang="fr-FR" altLang="fr-FR" dirty="0"/>
              <a:t>)-x(i.).</a:t>
            </a:r>
          </a:p>
          <a:p>
            <a:pPr marL="514350" indent="-514350">
              <a:buAutoNum type="arabicPeriod"/>
            </a:pPr>
            <a:r>
              <a:rPr lang="fr-FR" altLang="fr-FR" dirty="0" err="1"/>
              <a:t>Compute</a:t>
            </a:r>
            <a:r>
              <a:rPr lang="fr-FR" altLang="fr-FR" dirty="0"/>
              <a:t> descriptive </a:t>
            </a:r>
            <a:r>
              <a:rPr lang="fr-FR" altLang="fr-FR" dirty="0" err="1"/>
              <a:t>statistics</a:t>
            </a:r>
            <a:r>
              <a:rPr lang="fr-FR" altLang="fr-FR" dirty="0"/>
              <a:t> by </a:t>
            </a:r>
            <a:r>
              <a:rPr lang="fr-FR" altLang="fr-FR" dirty="0" err="1"/>
              <a:t>individuals</a:t>
            </a:r>
            <a:r>
              <a:rPr lang="fr-FR" altLang="fr-FR" dirty="0"/>
              <a:t> </a:t>
            </a:r>
            <a:r>
              <a:rPr lang="fr-FR" altLang="fr-FR" dirty="0" err="1"/>
              <a:t>ordered</a:t>
            </a:r>
            <a:r>
              <a:rPr lang="fr-FR" altLang="fr-FR" dirty="0"/>
              <a:t> by </a:t>
            </a:r>
            <a:r>
              <a:rPr lang="fr-FR" altLang="fr-FR" dirty="0" err="1"/>
              <a:t>their</a:t>
            </a:r>
            <a:r>
              <a:rPr lang="fr-FR" altLang="fr-FR" dirty="0"/>
              <a:t> standard </a:t>
            </a:r>
            <a:r>
              <a:rPr lang="fr-FR" altLang="fr-FR" dirty="0" err="1"/>
              <a:t>error</a:t>
            </a:r>
            <a:r>
              <a:rPr lang="fr-FR" altLang="fr-FR" dirty="0"/>
              <a:t>.</a:t>
            </a:r>
          </a:p>
          <a:p>
            <a:pPr marL="514350" indent="-514350">
              <a:buAutoNum type="arabicPeriod"/>
            </a:pPr>
            <a:r>
              <a:rPr lang="fr-FR" altLang="fr-FR" dirty="0"/>
              <a:t>Comment on </a:t>
            </a:r>
            <a:r>
              <a:rPr lang="fr-FR" altLang="fr-FR" dirty="0" err="1"/>
              <a:t>individual</a:t>
            </a:r>
            <a:r>
              <a:rPr lang="fr-FR" altLang="fr-FR" dirty="0"/>
              <a:t> </a:t>
            </a:r>
            <a:r>
              <a:rPr lang="fr-FR" altLang="fr-FR" dirty="0" err="1"/>
              <a:t>specific</a:t>
            </a:r>
            <a:r>
              <a:rPr lang="fr-FR" altLang="fr-FR" dirty="0"/>
              <a:t> variance and </a:t>
            </a:r>
            <a:r>
              <a:rPr lang="fr-FR" altLang="fr-FR" dirty="0" err="1"/>
              <a:t>heteroskedasticity</a:t>
            </a:r>
            <a:r>
              <a:rPr lang="fr-FR" altLang="fr-FR" dirty="0"/>
              <a:t>: </a:t>
            </a:r>
            <a:r>
              <a:rPr lang="fr-FR" altLang="fr-FR" dirty="0" err="1"/>
              <a:t>it</a:t>
            </a:r>
            <a:r>
              <a:rPr lang="fr-FR" altLang="fr-FR" dirty="0"/>
              <a:t> </a:t>
            </a:r>
            <a:r>
              <a:rPr lang="fr-FR" altLang="fr-FR" dirty="0" err="1"/>
              <a:t>is</a:t>
            </a:r>
            <a:r>
              <a:rPr lang="fr-FR" altLang="fr-FR" dirty="0"/>
              <a:t> </a:t>
            </a:r>
            <a:r>
              <a:rPr lang="fr-FR" altLang="fr-FR" dirty="0" err="1"/>
              <a:t>also</a:t>
            </a:r>
            <a:r>
              <a:rPr lang="fr-FR" altLang="fr-FR" dirty="0"/>
              <a:t> </a:t>
            </a:r>
            <a:r>
              <a:rPr lang="fr-FR" altLang="fr-FR" dirty="0" err="1"/>
              <a:t>related</a:t>
            </a:r>
            <a:r>
              <a:rPr lang="fr-FR" altLang="fr-FR" dirty="0"/>
              <a:t> to the </a:t>
            </a:r>
            <a:r>
              <a:rPr lang="fr-FR" altLang="fr-FR" dirty="0" err="1"/>
              <a:t>number</a:t>
            </a:r>
            <a:r>
              <a:rPr lang="fr-FR" altLang="fr-FR" dirty="0"/>
              <a:t> of observations per-</a:t>
            </a:r>
            <a:r>
              <a:rPr lang="fr-FR" altLang="fr-FR" dirty="0" err="1"/>
              <a:t>individuals</a:t>
            </a:r>
            <a:r>
              <a:rPr lang="fr-FR" altLang="fr-FR" dirty="0"/>
              <a:t> (</a:t>
            </a:r>
            <a:r>
              <a:rPr lang="fr-FR" altLang="fr-FR" dirty="0" err="1"/>
              <a:t>unbalanced</a:t>
            </a:r>
            <a:r>
              <a:rPr lang="fr-FR" altLang="fr-FR" dirty="0"/>
              <a:t> panel).</a:t>
            </a:r>
          </a:p>
        </p:txBody>
      </p:sp>
    </p:spTree>
    <p:extLst>
      <p:ext uri="{BB962C8B-B14F-4D97-AF65-F5344CB8AC3E}">
        <p14:creationId xmlns:p14="http://schemas.microsoft.com/office/powerpoint/2010/main" val="2705252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re 1"/>
          <p:cNvSpPr>
            <a:spLocks noGrp="1"/>
          </p:cNvSpPr>
          <p:nvPr>
            <p:ph type="title"/>
          </p:nvPr>
        </p:nvSpPr>
        <p:spPr/>
        <p:txBody>
          <a:bodyPr>
            <a:normAutofit fontScale="90000"/>
          </a:bodyPr>
          <a:lstStyle/>
          <a:p>
            <a:r>
              <a:rPr lang="fr-FR" altLang="fr-FR" dirty="0"/>
              <a:t>6. Small T (&lt;50) </a:t>
            </a:r>
            <a:r>
              <a:rPr lang="fr-FR" altLang="fr-FR" dirty="0" err="1"/>
              <a:t>sample</a:t>
            </a:r>
            <a:r>
              <a:rPr lang="fr-FR" altLang="fr-FR" dirty="0"/>
              <a:t>: </a:t>
            </a:r>
            <a:br>
              <a:rPr lang="fr-FR" altLang="fr-FR" dirty="0"/>
            </a:br>
            <a:r>
              <a:rPr lang="fr-FR" altLang="fr-FR" dirty="0" err="1"/>
              <a:t>Within</a:t>
            </a:r>
            <a:r>
              <a:rPr lang="fr-FR" altLang="fr-FR" dirty="0"/>
              <a:t> </a:t>
            </a:r>
            <a:r>
              <a:rPr lang="fr-FR" altLang="fr-FR" dirty="0" err="1"/>
              <a:t>Boxplot</a:t>
            </a:r>
            <a:r>
              <a:rPr lang="fr-FR" altLang="fr-FR" dirty="0"/>
              <a:t> </a:t>
            </a:r>
            <a:r>
              <a:rPr lang="fr-FR" altLang="fr-FR" dirty="0" err="1"/>
              <a:t>across</a:t>
            </a:r>
            <a:r>
              <a:rPr lang="fr-FR" altLang="fr-FR" dirty="0"/>
              <a:t> time</a:t>
            </a:r>
          </a:p>
        </p:txBody>
      </p:sp>
      <p:sp>
        <p:nvSpPr>
          <p:cNvPr id="2" name="Espace réservé du contenu 1"/>
          <p:cNvSpPr>
            <a:spLocks noGrp="1"/>
          </p:cNvSpPr>
          <p:nvPr>
            <p:ph idx="1"/>
          </p:nvPr>
        </p:nvSpPr>
        <p:spPr/>
        <p:txBody>
          <a:bodyPr/>
          <a:lstStyle/>
          <a:p>
            <a:pPr marL="514350" indent="-514350" algn="just">
              <a:buAutoNum type="arabicPeriod"/>
            </a:pPr>
            <a:r>
              <a:rPr lang="fr-FR" altLang="fr-FR" sz="3600" dirty="0"/>
              <a:t>Plot </a:t>
            </a:r>
            <a:r>
              <a:rPr lang="fr-FR" altLang="fr-FR" sz="3600" dirty="0" err="1"/>
              <a:t>boxplots</a:t>
            </a:r>
            <a:r>
              <a:rPr lang="fr-FR" altLang="fr-FR" sz="3600" dirty="0"/>
              <a:t> per-</a:t>
            </a:r>
            <a:r>
              <a:rPr lang="fr-FR" altLang="fr-FR" sz="3600" dirty="0" err="1"/>
              <a:t>year</a:t>
            </a:r>
            <a:r>
              <a:rPr lang="fr-FR" altLang="fr-FR" sz="3600" dirty="0"/>
              <a:t> of x(</a:t>
            </a:r>
            <a:r>
              <a:rPr lang="fr-FR" altLang="fr-FR" sz="3600" dirty="0" err="1"/>
              <a:t>it</a:t>
            </a:r>
            <a:r>
              <a:rPr lang="fr-FR" altLang="fr-FR" sz="3600" dirty="0"/>
              <a:t>)-x(i.).</a:t>
            </a:r>
          </a:p>
          <a:p>
            <a:pPr marL="514350" indent="-514350" algn="just">
              <a:buAutoNum type="arabicPeriod"/>
            </a:pPr>
            <a:r>
              <a:rPr lang="fr-FR" altLang="fr-FR" sz="3600" dirty="0" err="1"/>
              <a:t>Compute</a:t>
            </a:r>
            <a:r>
              <a:rPr lang="fr-FR" altLang="fr-FR" sz="3600" dirty="0"/>
              <a:t> descriptive </a:t>
            </a:r>
            <a:r>
              <a:rPr lang="fr-FR" altLang="fr-FR" sz="3600" dirty="0" err="1"/>
              <a:t>statistics</a:t>
            </a:r>
            <a:r>
              <a:rPr lang="fr-FR" altLang="fr-FR" sz="3600" dirty="0"/>
              <a:t> by dates </a:t>
            </a:r>
            <a:r>
              <a:rPr lang="fr-FR" altLang="fr-FR" sz="3600" dirty="0" err="1"/>
              <a:t>ordered</a:t>
            </a:r>
            <a:r>
              <a:rPr lang="fr-FR" altLang="fr-FR" sz="3600" dirty="0"/>
              <a:t> by </a:t>
            </a:r>
            <a:r>
              <a:rPr lang="fr-FR" altLang="fr-FR" sz="3600" dirty="0" err="1"/>
              <a:t>their</a:t>
            </a:r>
            <a:r>
              <a:rPr lang="fr-FR" altLang="fr-FR" sz="3600" dirty="0"/>
              <a:t> standard </a:t>
            </a:r>
            <a:r>
              <a:rPr lang="fr-FR" altLang="fr-FR" sz="3600" dirty="0" err="1"/>
              <a:t>error</a:t>
            </a:r>
            <a:r>
              <a:rPr lang="fr-FR" altLang="fr-FR" sz="3600" dirty="0"/>
              <a:t>.</a:t>
            </a:r>
          </a:p>
          <a:p>
            <a:pPr marL="514350" indent="-514350" algn="just">
              <a:buAutoNum type="arabicPeriod"/>
            </a:pPr>
            <a:r>
              <a:rPr lang="fr-FR" altLang="fr-FR" sz="3600" dirty="0"/>
              <a:t>Comment on </a:t>
            </a:r>
            <a:r>
              <a:rPr lang="fr-FR" altLang="fr-FR" sz="3600" b="1" dirty="0"/>
              <a:t>trends</a:t>
            </a:r>
            <a:r>
              <a:rPr lang="fr-FR" altLang="fr-FR" sz="3600" dirty="0"/>
              <a:t> or up and </a:t>
            </a:r>
            <a:r>
              <a:rPr lang="fr-FR" altLang="fr-FR" sz="3600" dirty="0" err="1"/>
              <a:t>downs</a:t>
            </a:r>
            <a:r>
              <a:rPr lang="fr-FR" altLang="fr-FR" sz="3600" dirty="0"/>
              <a:t> of standard </a:t>
            </a:r>
            <a:r>
              <a:rPr lang="fr-FR" altLang="fr-FR" sz="3600" dirty="0" err="1"/>
              <a:t>errors</a:t>
            </a:r>
            <a:r>
              <a:rPr lang="fr-FR" altLang="fr-FR" sz="3600" dirty="0"/>
              <a:t> per </a:t>
            </a:r>
            <a:r>
              <a:rPr lang="fr-FR" altLang="fr-FR" sz="3600" dirty="0" err="1"/>
              <a:t>period</a:t>
            </a:r>
            <a:r>
              <a:rPr lang="fr-FR" altLang="fr-FR" sz="3600" dirty="0"/>
              <a:t>.</a:t>
            </a:r>
          </a:p>
        </p:txBody>
      </p:sp>
    </p:spTree>
    <p:extLst>
      <p:ext uri="{BB962C8B-B14F-4D97-AF65-F5344CB8AC3E}">
        <p14:creationId xmlns:p14="http://schemas.microsoft.com/office/powerpoint/2010/main" val="3840895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7. </a:t>
            </a:r>
            <a:r>
              <a:rPr lang="fr-FR" dirty="0" err="1"/>
              <a:t>Bivariate</a:t>
            </a:r>
            <a:r>
              <a:rPr lang="fr-FR" dirty="0"/>
              <a:t> </a:t>
            </a:r>
            <a:r>
              <a:rPr lang="fr-FR" dirty="0" err="1"/>
              <a:t>statistics</a:t>
            </a:r>
            <a:r>
              <a:rPr lang="fr-FR" dirty="0"/>
              <a:t> for x(i.), x(</a:t>
            </a:r>
            <a:r>
              <a:rPr lang="fr-FR" dirty="0" err="1"/>
              <a:t>it</a:t>
            </a:r>
            <a:r>
              <a:rPr lang="fr-FR" dirty="0"/>
              <a:t>)-x(i.), first </a:t>
            </a:r>
            <a:r>
              <a:rPr lang="fr-FR" dirty="0" err="1"/>
              <a:t>differences</a:t>
            </a:r>
            <a:endParaRPr lang="fr-FR" dirty="0"/>
          </a:p>
        </p:txBody>
      </p:sp>
      <p:sp>
        <p:nvSpPr>
          <p:cNvPr id="3" name="Espace réservé du contenu 2"/>
          <p:cNvSpPr>
            <a:spLocks noGrp="1"/>
          </p:cNvSpPr>
          <p:nvPr>
            <p:ph idx="1"/>
          </p:nvPr>
        </p:nvSpPr>
        <p:spPr/>
        <p:txBody>
          <a:bodyPr/>
          <a:lstStyle/>
          <a:p>
            <a:pPr marL="514350" indent="-514350">
              <a:buAutoNum type="arabicPeriod"/>
            </a:pPr>
            <a:r>
              <a:rPr lang="fr-FR" dirty="0" err="1"/>
              <a:t>Correlation</a:t>
            </a:r>
            <a:r>
              <a:rPr lang="fr-FR" dirty="0"/>
              <a:t> matrix </a:t>
            </a:r>
            <a:r>
              <a:rPr lang="fr-FR" dirty="0" err="1"/>
              <a:t>also</a:t>
            </a:r>
            <a:r>
              <a:rPr lang="fr-FR" dirty="0"/>
              <a:t> </a:t>
            </a:r>
            <a:r>
              <a:rPr lang="fr-FR" dirty="0" err="1"/>
              <a:t>with</a:t>
            </a:r>
            <a:r>
              <a:rPr lang="fr-FR" dirty="0"/>
              <a:t> x(i,t-1)-x(i.)</a:t>
            </a:r>
          </a:p>
          <a:p>
            <a:pPr marL="514350" indent="-514350">
              <a:buAutoNum type="arabicPeriod"/>
            </a:pPr>
            <a:r>
              <a:rPr lang="fr-FR" dirty="0"/>
              <a:t>Matrix of </a:t>
            </a:r>
            <a:r>
              <a:rPr lang="fr-FR" dirty="0" err="1"/>
              <a:t>clouds</a:t>
            </a:r>
            <a:r>
              <a:rPr lang="fr-FR" dirty="0"/>
              <a:t> of points</a:t>
            </a:r>
          </a:p>
          <a:p>
            <a:pPr marL="514350" indent="-514350">
              <a:buAutoNum type="arabicPeriod"/>
            </a:pPr>
            <a:r>
              <a:rPr lang="fr-FR" b="1" dirty="0"/>
              <a:t>For key </a:t>
            </a:r>
            <a:r>
              <a:rPr lang="fr-FR" b="1" dirty="0" err="1"/>
              <a:t>explanatory</a:t>
            </a:r>
            <a:r>
              <a:rPr lang="fr-FR" b="1" dirty="0"/>
              <a:t> variable of </a:t>
            </a:r>
            <a:r>
              <a:rPr lang="fr-FR" b="1" dirty="0" err="1"/>
              <a:t>interest</a:t>
            </a:r>
            <a:r>
              <a:rPr lang="fr-FR" b="1" dirty="0"/>
              <a:t> and the </a:t>
            </a:r>
            <a:r>
              <a:rPr lang="fr-FR" b="1" dirty="0" err="1"/>
              <a:t>dependent</a:t>
            </a:r>
            <a:r>
              <a:rPr lang="fr-FR" b="1" dirty="0"/>
              <a:t> variable</a:t>
            </a:r>
            <a:r>
              <a:rPr lang="fr-FR" dirty="0"/>
              <a:t>: </a:t>
            </a:r>
            <a:r>
              <a:rPr lang="fr-FR" dirty="0" err="1"/>
              <a:t>Bivariate</a:t>
            </a:r>
            <a:r>
              <a:rPr lang="fr-FR" dirty="0"/>
              <a:t> graph </a:t>
            </a:r>
            <a:r>
              <a:rPr lang="fr-FR" dirty="0" err="1"/>
              <a:t>with</a:t>
            </a:r>
            <a:r>
              <a:rPr lang="fr-FR" dirty="0"/>
              <a:t> </a:t>
            </a:r>
            <a:r>
              <a:rPr lang="fr-FR" dirty="0" err="1"/>
              <a:t>lowess</a:t>
            </a:r>
            <a:r>
              <a:rPr lang="fr-FR" dirty="0"/>
              <a:t>, </a:t>
            </a:r>
            <a:r>
              <a:rPr lang="fr-FR" dirty="0" err="1"/>
              <a:t>quadratic</a:t>
            </a:r>
            <a:r>
              <a:rPr lang="fr-FR" dirty="0"/>
              <a:t> and </a:t>
            </a:r>
            <a:r>
              <a:rPr lang="fr-FR" dirty="0" err="1"/>
              <a:t>regression</a:t>
            </a:r>
            <a:r>
              <a:rPr lang="fr-FR" dirty="0"/>
              <a:t> line: </a:t>
            </a:r>
            <a:r>
              <a:rPr lang="fr-FR" dirty="0" err="1"/>
              <a:t>outliers</a:t>
            </a:r>
            <a:r>
              <a:rPr lang="fr-FR" dirty="0"/>
              <a:t>, non-</a:t>
            </a:r>
            <a:r>
              <a:rPr lang="fr-FR" dirty="0" err="1"/>
              <a:t>linear</a:t>
            </a:r>
            <a:r>
              <a:rPr lang="fr-FR" dirty="0"/>
              <a:t>?</a:t>
            </a:r>
          </a:p>
          <a:p>
            <a:pPr marL="514350" indent="-514350">
              <a:buAutoNum type="arabicPeriod"/>
            </a:pPr>
            <a:r>
              <a:rPr lang="fr-FR" dirty="0" err="1"/>
              <a:t>Low</a:t>
            </a:r>
            <a:r>
              <a:rPr lang="fr-FR" dirty="0"/>
              <a:t> </a:t>
            </a:r>
            <a:r>
              <a:rPr lang="fr-FR" dirty="0" err="1"/>
              <a:t>correlation</a:t>
            </a:r>
            <a:r>
              <a:rPr lang="fr-FR" dirty="0"/>
              <a:t> </a:t>
            </a:r>
            <a:r>
              <a:rPr lang="fr-FR" dirty="0" err="1"/>
              <a:t>with</a:t>
            </a:r>
            <a:r>
              <a:rPr lang="fr-FR" dirty="0"/>
              <a:t> </a:t>
            </a:r>
            <a:r>
              <a:rPr lang="fr-FR" dirty="0" err="1"/>
              <a:t>dependent</a:t>
            </a:r>
            <a:r>
              <a:rPr lang="fr-FR" dirty="0"/>
              <a:t>, high </a:t>
            </a:r>
            <a:r>
              <a:rPr lang="fr-FR" dirty="0" err="1"/>
              <a:t>correlation</a:t>
            </a:r>
            <a:r>
              <a:rPr lang="fr-FR" dirty="0"/>
              <a:t> </a:t>
            </a:r>
            <a:r>
              <a:rPr lang="fr-FR" dirty="0" err="1"/>
              <a:t>between</a:t>
            </a:r>
            <a:r>
              <a:rPr lang="fr-FR" dirty="0"/>
              <a:t> </a:t>
            </a:r>
            <a:r>
              <a:rPr lang="fr-FR" dirty="0" err="1"/>
              <a:t>regressors</a:t>
            </a:r>
            <a:r>
              <a:rPr lang="fr-FR" dirty="0"/>
              <a:t>: comment</a:t>
            </a:r>
          </a:p>
        </p:txBody>
      </p:sp>
    </p:spTree>
    <p:extLst>
      <p:ext uri="{BB962C8B-B14F-4D97-AF65-F5344CB8AC3E}">
        <p14:creationId xmlns:p14="http://schemas.microsoft.com/office/powerpoint/2010/main" val="3813391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8. </a:t>
            </a:r>
            <a:r>
              <a:rPr lang="fr-FR" dirty="0" err="1"/>
              <a:t>xtreg</a:t>
            </a:r>
            <a:r>
              <a:rPr lang="fr-FR" dirty="0"/>
              <a:t> </a:t>
            </a:r>
            <a:r>
              <a:rPr lang="fr-FR" dirty="0" err="1"/>
              <a:t>be</a:t>
            </a:r>
            <a:r>
              <a:rPr lang="fr-FR" dirty="0"/>
              <a:t> </a:t>
            </a:r>
            <a:r>
              <a:rPr lang="fr-FR" dirty="0" err="1"/>
              <a:t>fe</a:t>
            </a:r>
            <a:r>
              <a:rPr lang="fr-FR" dirty="0"/>
              <a:t> </a:t>
            </a:r>
            <a:r>
              <a:rPr lang="fr-FR" dirty="0" err="1"/>
              <a:t>re</a:t>
            </a:r>
            <a:r>
              <a:rPr lang="fr-FR" dirty="0"/>
              <a:t> </a:t>
            </a:r>
            <a:br>
              <a:rPr lang="fr-FR" dirty="0"/>
            </a:br>
            <a:r>
              <a:rPr lang="fr-FR" dirty="0" err="1"/>
              <a:t>Mundlak</a:t>
            </a:r>
            <a:r>
              <a:rPr lang="fr-FR" dirty="0"/>
              <a:t>, First-</a:t>
            </a:r>
            <a:r>
              <a:rPr lang="fr-FR" dirty="0" err="1"/>
              <a:t>differences</a:t>
            </a:r>
            <a:endParaRPr lang="fr-FR" dirty="0"/>
          </a:p>
        </p:txBody>
      </p:sp>
      <p:sp>
        <p:nvSpPr>
          <p:cNvPr id="3" name="Espace réservé du contenu 2"/>
          <p:cNvSpPr>
            <a:spLocks noGrp="1"/>
          </p:cNvSpPr>
          <p:nvPr>
            <p:ph idx="1"/>
          </p:nvPr>
        </p:nvSpPr>
        <p:spPr/>
        <p:txBody>
          <a:bodyPr>
            <a:normAutofit lnSpcReduction="10000"/>
          </a:bodyPr>
          <a:lstStyle/>
          <a:p>
            <a:pPr marL="514350" indent="-514350">
              <a:buAutoNum type="arabicPeriod"/>
            </a:pPr>
            <a:r>
              <a:rPr lang="fr-FR" dirty="0"/>
              <a:t>Comment </a:t>
            </a:r>
            <a:r>
              <a:rPr lang="fr-FR" b="1" dirty="0">
                <a:solidFill>
                  <a:srgbClr val="FF0000"/>
                </a:solidFill>
              </a:rPr>
              <a:t>BE</a:t>
            </a:r>
            <a:r>
              <a:rPr lang="fr-FR" dirty="0"/>
              <a:t>, FE, RE, RE </a:t>
            </a:r>
            <a:r>
              <a:rPr lang="fr-FR" dirty="0" err="1"/>
              <a:t>with</a:t>
            </a:r>
            <a:r>
              <a:rPr lang="fr-FR" dirty="0"/>
              <a:t> x(i.) (</a:t>
            </a:r>
            <a:r>
              <a:rPr lang="fr-FR" dirty="0" err="1"/>
              <a:t>Mundlak</a:t>
            </a:r>
            <a:r>
              <a:rPr lang="fr-FR" dirty="0"/>
              <a:t>), FD </a:t>
            </a:r>
            <a:r>
              <a:rPr lang="fr-FR" dirty="0" err="1"/>
              <a:t>regressions</a:t>
            </a:r>
            <a:r>
              <a:rPr lang="fr-FR" dirty="0"/>
              <a:t> and comment.</a:t>
            </a:r>
          </a:p>
          <a:p>
            <a:pPr marL="514350" indent="-514350">
              <a:buAutoNum type="arabicPeriod"/>
            </a:pPr>
            <a:r>
              <a:rPr lang="fr-FR" dirty="0"/>
              <a:t>Report Hausman test: FE &gt; RE</a:t>
            </a:r>
          </a:p>
          <a:p>
            <a:pPr marL="514350" indent="-514350">
              <a:buAutoNum type="arabicPeriod"/>
            </a:pPr>
            <a:r>
              <a:rPr lang="fr-FR" b="1" dirty="0" err="1">
                <a:solidFill>
                  <a:srgbClr val="FF0000"/>
                </a:solidFill>
              </a:rPr>
              <a:t>Fixed</a:t>
            </a:r>
            <a:r>
              <a:rPr lang="fr-FR" b="1" dirty="0">
                <a:solidFill>
                  <a:srgbClr val="FF0000"/>
                </a:solidFill>
              </a:rPr>
              <a:t> </a:t>
            </a:r>
            <a:r>
              <a:rPr lang="fr-FR" b="1" dirty="0" err="1">
                <a:solidFill>
                  <a:srgbClr val="FF0000"/>
                </a:solidFill>
              </a:rPr>
              <a:t>Effects</a:t>
            </a:r>
            <a:r>
              <a:rPr lang="fr-FR" b="1" dirty="0">
                <a:solidFill>
                  <a:srgbClr val="FF0000"/>
                </a:solidFill>
              </a:rPr>
              <a:t> </a:t>
            </a:r>
            <a:r>
              <a:rPr lang="fr-FR" b="1" dirty="0" err="1">
                <a:solidFill>
                  <a:srgbClr val="FF0000"/>
                </a:solidFill>
              </a:rPr>
              <a:t>is</a:t>
            </a:r>
            <a:r>
              <a:rPr lang="fr-FR" b="1" dirty="0">
                <a:solidFill>
                  <a:srgbClr val="FF0000"/>
                </a:solidFill>
              </a:rPr>
              <a:t> </a:t>
            </a:r>
            <a:r>
              <a:rPr lang="fr-FR" b="1" dirty="0" err="1">
                <a:solidFill>
                  <a:srgbClr val="FF0000"/>
                </a:solidFill>
              </a:rPr>
              <a:t>your</a:t>
            </a:r>
            <a:r>
              <a:rPr lang="fr-FR" b="1" dirty="0">
                <a:solidFill>
                  <a:srgbClr val="FF0000"/>
                </a:solidFill>
              </a:rPr>
              <a:t> benchmark</a:t>
            </a:r>
            <a:r>
              <a:rPr lang="fr-FR" dirty="0"/>
              <a:t> </a:t>
            </a:r>
            <a:r>
              <a:rPr lang="fr-FR" dirty="0" err="1"/>
              <a:t>unless</a:t>
            </a:r>
            <a:r>
              <a:rPr lang="fr-FR" dirty="0"/>
              <a:t> high </a:t>
            </a:r>
            <a:r>
              <a:rPr lang="fr-FR" dirty="0" err="1"/>
              <a:t>auto-correlation</a:t>
            </a:r>
            <a:r>
              <a:rPr lang="fr-FR" dirty="0"/>
              <a:t> of </a:t>
            </a:r>
            <a:r>
              <a:rPr lang="fr-FR" dirty="0" err="1"/>
              <a:t>dependent</a:t>
            </a:r>
            <a:r>
              <a:rPr lang="fr-FR" dirty="0"/>
              <a:t> and key </a:t>
            </a:r>
            <a:r>
              <a:rPr lang="fr-FR" dirty="0" err="1"/>
              <a:t>regressor</a:t>
            </a:r>
            <a:r>
              <a:rPr lang="fr-FR" dirty="0"/>
              <a:t>: x(</a:t>
            </a:r>
            <a:r>
              <a:rPr lang="fr-FR" dirty="0" err="1"/>
              <a:t>it</a:t>
            </a:r>
            <a:r>
              <a:rPr lang="fr-FR" dirty="0"/>
              <a:t>)-x(i.) </a:t>
            </a:r>
            <a:r>
              <a:rPr lang="fr-FR" dirty="0" err="1"/>
              <a:t>highly</a:t>
            </a:r>
            <a:r>
              <a:rPr lang="fr-FR" dirty="0"/>
              <a:t> </a:t>
            </a:r>
            <a:r>
              <a:rPr lang="fr-FR" dirty="0" err="1"/>
              <a:t>correlated</a:t>
            </a:r>
            <a:r>
              <a:rPr lang="fr-FR" dirty="0"/>
              <a:t> </a:t>
            </a:r>
            <a:r>
              <a:rPr lang="fr-FR" dirty="0" err="1"/>
              <a:t>with</a:t>
            </a:r>
            <a:r>
              <a:rPr lang="fr-FR" dirty="0"/>
              <a:t> x(i,t-1)-x(i.), Time </a:t>
            </a:r>
            <a:r>
              <a:rPr lang="fr-FR" dirty="0" err="1"/>
              <a:t>may</a:t>
            </a:r>
            <a:r>
              <a:rPr lang="fr-FR" dirty="0"/>
              <a:t> </a:t>
            </a:r>
            <a:r>
              <a:rPr lang="fr-FR" dirty="0" err="1"/>
              <a:t>be</a:t>
            </a:r>
            <a:r>
              <a:rPr lang="fr-FR" dirty="0"/>
              <a:t> a </a:t>
            </a:r>
            <a:r>
              <a:rPr lang="fr-FR" dirty="0" err="1"/>
              <a:t>common</a:t>
            </a:r>
            <a:r>
              <a:rPr lang="fr-FR" dirty="0"/>
              <a:t> trend </a:t>
            </a:r>
            <a:r>
              <a:rPr lang="fr-FR" dirty="0" err="1"/>
              <a:t>regressor</a:t>
            </a:r>
            <a:r>
              <a:rPr lang="fr-FR" dirty="0"/>
              <a:t>, unit </a:t>
            </a:r>
            <a:r>
              <a:rPr lang="fr-FR" dirty="0" err="1"/>
              <a:t>root</a:t>
            </a:r>
            <a:r>
              <a:rPr lang="fr-FR" dirty="0"/>
              <a:t> </a:t>
            </a:r>
            <a:r>
              <a:rPr lang="fr-FR" dirty="0" err="1"/>
              <a:t>even</a:t>
            </a:r>
            <a:r>
              <a:rPr lang="fr-FR" dirty="0"/>
              <a:t> if T </a:t>
            </a:r>
            <a:r>
              <a:rPr lang="fr-FR" dirty="0" err="1"/>
              <a:t>small</a:t>
            </a:r>
            <a:r>
              <a:rPr lang="fr-FR" dirty="0"/>
              <a:t> THEN </a:t>
            </a:r>
            <a:r>
              <a:rPr lang="fr-FR" b="1" dirty="0">
                <a:solidFill>
                  <a:srgbClr val="FF0000"/>
                </a:solidFill>
              </a:rPr>
              <a:t>First </a:t>
            </a:r>
            <a:r>
              <a:rPr lang="fr-FR" b="1" dirty="0" err="1">
                <a:solidFill>
                  <a:srgbClr val="FF0000"/>
                </a:solidFill>
              </a:rPr>
              <a:t>Differences</a:t>
            </a:r>
            <a:r>
              <a:rPr lang="fr-FR" b="1" dirty="0">
                <a:solidFill>
                  <a:srgbClr val="FF0000"/>
                </a:solidFill>
              </a:rPr>
              <a:t>.</a:t>
            </a:r>
          </a:p>
        </p:txBody>
      </p:sp>
    </p:spTree>
    <p:extLst>
      <p:ext uri="{BB962C8B-B14F-4D97-AF65-F5344CB8AC3E}">
        <p14:creationId xmlns:p14="http://schemas.microsoft.com/office/powerpoint/2010/main" val="461053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9. </a:t>
            </a:r>
            <a:r>
              <a:rPr lang="fr-FR" b="1" dirty="0" err="1">
                <a:solidFill>
                  <a:srgbClr val="FF0000"/>
                </a:solidFill>
              </a:rPr>
              <a:t>Residuals</a:t>
            </a:r>
            <a:r>
              <a:rPr lang="fr-FR" b="1" dirty="0">
                <a:solidFill>
                  <a:srgbClr val="FF0000"/>
                </a:solidFill>
              </a:rPr>
              <a:t> by </a:t>
            </a:r>
            <a:r>
              <a:rPr lang="fr-FR" b="1" dirty="0" err="1">
                <a:solidFill>
                  <a:srgbClr val="FF0000"/>
                </a:solidFill>
              </a:rPr>
              <a:t>individuals</a:t>
            </a:r>
            <a:br>
              <a:rPr lang="fr-FR" dirty="0"/>
            </a:br>
            <a:r>
              <a:rPr lang="fr-FR" dirty="0"/>
              <a:t>FE or </a:t>
            </a:r>
            <a:r>
              <a:rPr lang="fr-FR" dirty="0" err="1"/>
              <a:t>Mundlak</a:t>
            </a:r>
            <a:endParaRPr lang="fr-FR" dirty="0"/>
          </a:p>
        </p:txBody>
      </p:sp>
      <p:sp>
        <p:nvSpPr>
          <p:cNvPr id="3" name="Espace réservé du contenu 2"/>
          <p:cNvSpPr>
            <a:spLocks noGrp="1"/>
          </p:cNvSpPr>
          <p:nvPr>
            <p:ph idx="1"/>
          </p:nvPr>
        </p:nvSpPr>
        <p:spPr/>
        <p:txBody>
          <a:bodyPr/>
          <a:lstStyle/>
          <a:p>
            <a:pPr marL="514350" indent="-514350">
              <a:buAutoNum type="arabicPeriod"/>
            </a:pPr>
            <a:r>
              <a:rPr lang="fr-FR" dirty="0"/>
              <a:t>If N&lt;50, </a:t>
            </a:r>
            <a:r>
              <a:rPr lang="fr-FR" dirty="0" err="1"/>
              <a:t>boxplot</a:t>
            </a:r>
            <a:r>
              <a:rPr lang="fr-FR" dirty="0"/>
              <a:t> </a:t>
            </a:r>
            <a:r>
              <a:rPr lang="fr-FR" dirty="0" err="1"/>
              <a:t>studentized</a:t>
            </a:r>
            <a:r>
              <a:rPr lang="fr-FR" dirty="0"/>
              <a:t> </a:t>
            </a:r>
            <a:r>
              <a:rPr lang="fr-FR" dirty="0" err="1"/>
              <a:t>residuals</a:t>
            </a:r>
            <a:r>
              <a:rPr lang="fr-FR" dirty="0"/>
              <a:t> per </a:t>
            </a:r>
            <a:r>
              <a:rPr lang="fr-FR" dirty="0" err="1"/>
              <a:t>individuals</a:t>
            </a:r>
            <a:r>
              <a:rPr lang="fr-FR" dirty="0"/>
              <a:t>: comment on </a:t>
            </a:r>
            <a:r>
              <a:rPr lang="fr-FR" dirty="0" err="1"/>
              <a:t>goodness</a:t>
            </a:r>
            <a:r>
              <a:rPr lang="fr-FR" dirty="0"/>
              <a:t> of fit per </a:t>
            </a:r>
            <a:r>
              <a:rPr lang="fr-FR" dirty="0" err="1"/>
              <a:t>individuals</a:t>
            </a:r>
            <a:r>
              <a:rPr lang="fr-FR" dirty="0"/>
              <a:t> (</a:t>
            </a:r>
            <a:r>
              <a:rPr lang="fr-FR" dirty="0" err="1"/>
              <a:t>heteroscedasticity</a:t>
            </a:r>
            <a:r>
              <a:rPr lang="fr-FR" dirty="0"/>
              <a:t>) and </a:t>
            </a:r>
            <a:r>
              <a:rPr lang="fr-FR" dirty="0" err="1"/>
              <a:t>outliers</a:t>
            </a:r>
            <a:r>
              <a:rPr lang="fr-FR" dirty="0"/>
              <a:t>, </a:t>
            </a:r>
            <a:r>
              <a:rPr lang="fr-FR" dirty="0" err="1"/>
              <a:t>you</a:t>
            </a:r>
            <a:r>
              <a:rPr lang="fr-FR" dirty="0"/>
              <a:t> </a:t>
            </a:r>
            <a:r>
              <a:rPr lang="fr-FR" dirty="0" err="1"/>
              <a:t>may</a:t>
            </a:r>
            <a:r>
              <a:rPr lang="fr-FR" dirty="0"/>
              <a:t> </a:t>
            </a:r>
            <a:r>
              <a:rPr lang="fr-FR" dirty="0" err="1"/>
              <a:t>compute</a:t>
            </a:r>
            <a:r>
              <a:rPr lang="fr-FR" dirty="0"/>
              <a:t> RMSE by </a:t>
            </a:r>
            <a:r>
              <a:rPr lang="fr-FR" dirty="0" err="1"/>
              <a:t>individuals</a:t>
            </a:r>
            <a:r>
              <a:rPr lang="fr-FR" dirty="0"/>
              <a:t>.</a:t>
            </a:r>
          </a:p>
          <a:p>
            <a:pPr marL="514350" indent="-514350">
              <a:buAutoNum type="arabicPeriod"/>
            </a:pPr>
            <a:r>
              <a:rPr lang="fr-FR" dirty="0"/>
              <a:t>If N&gt;50, </a:t>
            </a:r>
            <a:r>
              <a:rPr lang="fr-FR" dirty="0" err="1"/>
              <a:t>compute</a:t>
            </a:r>
            <a:r>
              <a:rPr lang="fr-FR" dirty="0"/>
              <a:t> </a:t>
            </a:r>
            <a:r>
              <a:rPr lang="fr-FR" dirty="0" err="1"/>
              <a:t>studentized</a:t>
            </a:r>
            <a:r>
              <a:rPr lang="fr-FR" dirty="0"/>
              <a:t> </a:t>
            </a:r>
            <a:r>
              <a:rPr lang="fr-FR" dirty="0" err="1"/>
              <a:t>residuals</a:t>
            </a:r>
            <a:r>
              <a:rPr lang="fr-FR" dirty="0"/>
              <a:t> and </a:t>
            </a:r>
            <a:r>
              <a:rPr lang="fr-FR" dirty="0" err="1"/>
              <a:t>collect</a:t>
            </a:r>
            <a:r>
              <a:rPr lang="fr-FR" dirty="0"/>
              <a:t> </a:t>
            </a:r>
            <a:r>
              <a:rPr lang="fr-FR" dirty="0" err="1"/>
              <a:t>those</a:t>
            </a:r>
            <a:r>
              <a:rPr lang="fr-FR" dirty="0"/>
              <a:t> over 2 or 3. </a:t>
            </a:r>
          </a:p>
          <a:p>
            <a:pPr marL="514350" indent="-514350">
              <a:buAutoNum type="arabicPeriod"/>
            </a:pPr>
            <a:r>
              <a:rPr lang="fr-FR" dirty="0"/>
              <a:t>If </a:t>
            </a:r>
            <a:r>
              <a:rPr lang="fr-FR" dirty="0" err="1"/>
              <a:t>autocorrelation</a:t>
            </a:r>
            <a:r>
              <a:rPr lang="fr-FR" dirty="0"/>
              <a:t> of </a:t>
            </a:r>
            <a:r>
              <a:rPr lang="fr-FR" dirty="0" err="1"/>
              <a:t>residuals</a:t>
            </a:r>
            <a:r>
              <a:rPr lang="fr-FR" dirty="0"/>
              <a:t>: </a:t>
            </a:r>
            <a:r>
              <a:rPr lang="fr-FR" dirty="0" err="1"/>
              <a:t>xtregar</a:t>
            </a:r>
            <a:r>
              <a:rPr lang="fr-FR" dirty="0"/>
              <a:t>.</a:t>
            </a:r>
          </a:p>
          <a:p>
            <a:pPr marL="0" indent="0">
              <a:buNone/>
            </a:pPr>
            <a:endParaRPr lang="fr-FR" dirty="0"/>
          </a:p>
        </p:txBody>
      </p:sp>
    </p:spTree>
    <p:extLst>
      <p:ext uri="{BB962C8B-B14F-4D97-AF65-F5344CB8AC3E}">
        <p14:creationId xmlns:p14="http://schemas.microsoft.com/office/powerpoint/2010/main" val="250236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10. </a:t>
            </a:r>
            <a:r>
              <a:rPr lang="fr-FR" dirty="0" err="1"/>
              <a:t>Your</a:t>
            </a:r>
            <a:r>
              <a:rPr lang="fr-FR" dirty="0"/>
              <a:t> key </a:t>
            </a:r>
            <a:r>
              <a:rPr lang="fr-FR" dirty="0" err="1"/>
              <a:t>regressor</a:t>
            </a:r>
            <a:r>
              <a:rPr lang="fr-FR" dirty="0"/>
              <a:t> </a:t>
            </a:r>
            <a:r>
              <a:rPr lang="fr-FR" dirty="0" err="1"/>
              <a:t>is</a:t>
            </a:r>
            <a:r>
              <a:rPr lang="fr-FR" dirty="0"/>
              <a:t> </a:t>
            </a:r>
            <a:br>
              <a:rPr lang="fr-FR" dirty="0"/>
            </a:br>
            <a:r>
              <a:rPr lang="fr-FR" dirty="0"/>
              <a:t>time-invariant z(i): </a:t>
            </a:r>
            <a:r>
              <a:rPr lang="fr-FR" dirty="0" err="1"/>
              <a:t>Mundlak</a:t>
            </a:r>
            <a:endParaRPr lang="fr-FR" dirty="0"/>
          </a:p>
        </p:txBody>
      </p:sp>
      <p:sp>
        <p:nvSpPr>
          <p:cNvPr id="3" name="Espace réservé du contenu 2"/>
          <p:cNvSpPr>
            <a:spLocks noGrp="1"/>
          </p:cNvSpPr>
          <p:nvPr>
            <p:ph idx="1"/>
          </p:nvPr>
        </p:nvSpPr>
        <p:spPr/>
        <p:txBody>
          <a:bodyPr/>
          <a:lstStyle/>
          <a:p>
            <a:pPr marL="514350" indent="-514350">
              <a:buAutoNum type="arabicPeriod"/>
            </a:pPr>
            <a:r>
              <a:rPr lang="fr-FR" dirty="0"/>
              <a:t>Benchmark </a:t>
            </a:r>
            <a:r>
              <a:rPr lang="fr-FR" dirty="0" err="1"/>
              <a:t>is</a:t>
            </a:r>
            <a:r>
              <a:rPr lang="fr-FR" dirty="0"/>
              <a:t> </a:t>
            </a:r>
            <a:r>
              <a:rPr lang="fr-FR" dirty="0" err="1"/>
              <a:t>Mundlak</a:t>
            </a:r>
            <a:r>
              <a:rPr lang="fr-FR" dirty="0"/>
              <a:t>: RE </a:t>
            </a:r>
            <a:r>
              <a:rPr lang="fr-FR" dirty="0" err="1"/>
              <a:t>with</a:t>
            </a:r>
            <a:r>
              <a:rPr lang="fr-FR" dirty="0"/>
              <a:t> x(i.). </a:t>
            </a:r>
          </a:p>
          <a:p>
            <a:pPr marL="514350" indent="-514350">
              <a:buFontTx/>
              <a:buAutoNum type="arabicPeriod"/>
            </a:pPr>
            <a:r>
              <a:rPr lang="fr-FR" dirty="0"/>
              <a:t>Benchmark IS NOT RE (</a:t>
            </a:r>
            <a:r>
              <a:rPr lang="fr-FR" dirty="0" err="1"/>
              <a:t>random</a:t>
            </a:r>
            <a:r>
              <a:rPr lang="fr-FR" dirty="0"/>
              <a:t> </a:t>
            </a:r>
            <a:r>
              <a:rPr lang="fr-FR" dirty="0" err="1"/>
              <a:t>effects</a:t>
            </a:r>
            <a:r>
              <a:rPr lang="fr-FR" dirty="0"/>
              <a:t>) </a:t>
            </a:r>
            <a:r>
              <a:rPr lang="fr-FR" dirty="0" err="1"/>
              <a:t>without</a:t>
            </a:r>
            <a:r>
              <a:rPr lang="fr-FR" dirty="0"/>
              <a:t> x(i.)</a:t>
            </a:r>
          </a:p>
          <a:p>
            <a:pPr marL="514350" indent="-514350">
              <a:buFontTx/>
              <a:buAutoNum type="arabicPeriod"/>
            </a:pPr>
            <a:r>
              <a:rPr lang="fr-FR" dirty="0"/>
              <a:t>Hausman Taylor </a:t>
            </a:r>
            <a:r>
              <a:rPr lang="fr-FR" dirty="0" err="1"/>
              <a:t>with</a:t>
            </a:r>
            <a:r>
              <a:rPr lang="fr-FR" dirty="0"/>
              <a:t> </a:t>
            </a:r>
            <a:r>
              <a:rPr lang="fr-FR" dirty="0" err="1"/>
              <a:t>internal</a:t>
            </a:r>
            <a:r>
              <a:rPr lang="fr-FR" dirty="0"/>
              <a:t> instruments x(i.) for z(i): </a:t>
            </a:r>
            <a:r>
              <a:rPr lang="fr-FR" b="1" dirty="0" err="1"/>
              <a:t>xthtaylor</a:t>
            </a:r>
            <a:endParaRPr lang="fr-FR" b="1" dirty="0"/>
          </a:p>
          <a:p>
            <a:pPr marL="514350" indent="-514350">
              <a:buAutoNum type="arabicPeriod"/>
            </a:pPr>
            <a:endParaRPr lang="fr-FR" b="1" dirty="0">
              <a:solidFill>
                <a:srgbClr val="FF0000"/>
              </a:solidFill>
            </a:endParaRPr>
          </a:p>
          <a:p>
            <a:pPr marL="514350" indent="-514350">
              <a:buAutoNum type="arabicPeriod"/>
            </a:pPr>
            <a:endParaRPr lang="fr-FR" b="1" dirty="0"/>
          </a:p>
        </p:txBody>
      </p:sp>
    </p:spTree>
    <p:extLst>
      <p:ext uri="{BB962C8B-B14F-4D97-AF65-F5344CB8AC3E}">
        <p14:creationId xmlns:p14="http://schemas.microsoft.com/office/powerpoint/2010/main" val="1191873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11. Multiple indices </a:t>
            </a:r>
            <a:r>
              <a:rPr lang="fr-FR" dirty="0" err="1"/>
              <a:t>with</a:t>
            </a:r>
            <a:r>
              <a:rPr lang="fr-FR" dirty="0"/>
              <a:t> </a:t>
            </a:r>
            <a:r>
              <a:rPr lang="fr-FR" dirty="0" err="1"/>
              <a:t>low</a:t>
            </a:r>
            <a:r>
              <a:rPr lang="fr-FR" dirty="0"/>
              <a:t> R2 and </a:t>
            </a:r>
            <a:r>
              <a:rPr lang="fr-FR" dirty="0" err="1"/>
              <a:t>low</a:t>
            </a:r>
            <a:r>
              <a:rPr lang="fr-FR" dirty="0"/>
              <a:t> standard </a:t>
            </a:r>
            <a:r>
              <a:rPr lang="fr-FR" dirty="0" err="1"/>
              <a:t>error</a:t>
            </a:r>
            <a:r>
              <a:rPr lang="fr-FR" dirty="0"/>
              <a:t> of betas</a:t>
            </a:r>
          </a:p>
        </p:txBody>
      </p:sp>
      <p:sp>
        <p:nvSpPr>
          <p:cNvPr id="3" name="Espace réservé du contenu 2"/>
          <p:cNvSpPr>
            <a:spLocks noGrp="1"/>
          </p:cNvSpPr>
          <p:nvPr>
            <p:ph idx="1"/>
          </p:nvPr>
        </p:nvSpPr>
        <p:spPr/>
        <p:txBody>
          <a:bodyPr/>
          <a:lstStyle/>
          <a:p>
            <a:pPr marL="0" indent="0">
              <a:buNone/>
            </a:pPr>
            <a:r>
              <a:rPr lang="fr-FR" dirty="0"/>
              <a:t>y(</a:t>
            </a:r>
            <a:r>
              <a:rPr lang="fr-FR" dirty="0" err="1"/>
              <a:t>i,t,s,j</a:t>
            </a:r>
            <a:r>
              <a:rPr lang="fr-FR" dirty="0"/>
              <a:t>) = beta. x(</a:t>
            </a:r>
            <a:r>
              <a:rPr lang="fr-FR" dirty="0" err="1"/>
              <a:t>s,t,j</a:t>
            </a:r>
            <a:r>
              <a:rPr lang="fr-FR" dirty="0"/>
              <a:t>)</a:t>
            </a:r>
          </a:p>
          <a:p>
            <a:pPr marL="0" indent="0">
              <a:buNone/>
            </a:pPr>
            <a:r>
              <a:rPr lang="fr-FR" dirty="0"/>
              <a:t>NTSJ observations versus TSJ obs.</a:t>
            </a:r>
          </a:p>
          <a:p>
            <a:pPr marL="0" indent="0">
              <a:buNone/>
            </a:pPr>
            <a:r>
              <a:rPr lang="fr-FR" dirty="0"/>
              <a:t>x(</a:t>
            </a:r>
            <a:r>
              <a:rPr lang="fr-FR" dirty="0" err="1"/>
              <a:t>s,t,j</a:t>
            </a:r>
            <a:r>
              <a:rPr lang="fr-FR" dirty="0"/>
              <a:t>) </a:t>
            </a:r>
            <a:r>
              <a:rPr lang="fr-FR" dirty="0" err="1"/>
              <a:t>can’t</a:t>
            </a:r>
            <a:r>
              <a:rPr lang="fr-FR" dirty="0"/>
              <a:t> </a:t>
            </a:r>
            <a:r>
              <a:rPr lang="fr-FR" dirty="0" err="1"/>
              <a:t>explain</a:t>
            </a:r>
            <a:r>
              <a:rPr lang="fr-FR" dirty="0"/>
              <a:t> the variance in dimension i. This </a:t>
            </a:r>
            <a:r>
              <a:rPr lang="fr-FR" dirty="0" err="1"/>
              <a:t>may</a:t>
            </a:r>
            <a:r>
              <a:rPr lang="fr-FR" dirty="0"/>
              <a:t> </a:t>
            </a:r>
            <a:r>
              <a:rPr lang="fr-FR" dirty="0" err="1"/>
              <a:t>imply</a:t>
            </a:r>
            <a:r>
              <a:rPr lang="fr-FR" dirty="0"/>
              <a:t> </a:t>
            </a:r>
            <a:r>
              <a:rPr lang="fr-FR" dirty="0" err="1"/>
              <a:t>low</a:t>
            </a:r>
            <a:r>
              <a:rPr lang="fr-FR" dirty="0"/>
              <a:t> R2 and </a:t>
            </a:r>
            <a:r>
              <a:rPr lang="fr-FR" dirty="0" err="1"/>
              <a:t>irrelevant</a:t>
            </a:r>
            <a:r>
              <a:rPr lang="fr-FR" dirty="0"/>
              <a:t> (</a:t>
            </a:r>
            <a:r>
              <a:rPr lang="fr-FR" dirty="0" err="1"/>
              <a:t>repeated</a:t>
            </a:r>
            <a:r>
              <a:rPr lang="fr-FR" dirty="0"/>
              <a:t> observations) SE(beta).</a:t>
            </a:r>
          </a:p>
          <a:p>
            <a:pPr marL="0" indent="0">
              <a:buNone/>
            </a:pPr>
            <a:r>
              <a:rPr lang="fr-FR" b="1" dirty="0">
                <a:solidFill>
                  <a:srgbClr val="FF0000"/>
                </a:solidFill>
              </a:rPr>
              <a:t>COMPUTE THE AVERAGE OF THE DEPENDENT </a:t>
            </a:r>
            <a:r>
              <a:rPr lang="fr-FR" b="1" dirty="0" err="1">
                <a:solidFill>
                  <a:srgbClr val="FF0000"/>
                </a:solidFill>
              </a:rPr>
              <a:t>with</a:t>
            </a:r>
            <a:r>
              <a:rPr lang="fr-FR" b="1" dirty="0">
                <a:solidFill>
                  <a:srgbClr val="FF0000"/>
                </a:solidFill>
              </a:rPr>
              <a:t> respect to (i) and RUN:</a:t>
            </a:r>
          </a:p>
          <a:p>
            <a:pPr marL="0" indent="0">
              <a:buNone/>
            </a:pPr>
            <a:r>
              <a:rPr lang="fr-FR" b="1" dirty="0">
                <a:solidFill>
                  <a:srgbClr val="FF0000"/>
                </a:solidFill>
              </a:rPr>
              <a:t>y(.,</a:t>
            </a:r>
            <a:r>
              <a:rPr lang="fr-FR" b="1" dirty="0" err="1">
                <a:solidFill>
                  <a:srgbClr val="FF0000"/>
                </a:solidFill>
              </a:rPr>
              <a:t>t,s,j</a:t>
            </a:r>
            <a:r>
              <a:rPr lang="fr-FR" b="1" dirty="0">
                <a:solidFill>
                  <a:srgbClr val="FF0000"/>
                </a:solidFill>
              </a:rPr>
              <a:t>) = beta. x(</a:t>
            </a:r>
            <a:r>
              <a:rPr lang="fr-FR" b="1" dirty="0" err="1">
                <a:solidFill>
                  <a:srgbClr val="FF0000"/>
                </a:solidFill>
              </a:rPr>
              <a:t>s,t,j</a:t>
            </a:r>
            <a:r>
              <a:rPr lang="fr-FR" b="1" dirty="0">
                <a:solidFill>
                  <a:srgbClr val="FF0000"/>
                </a:solidFill>
              </a:rPr>
              <a:t>), [</a:t>
            </a:r>
            <a:r>
              <a:rPr lang="fr-FR" b="1" dirty="0" err="1">
                <a:solidFill>
                  <a:srgbClr val="FF0000"/>
                </a:solidFill>
              </a:rPr>
              <a:t>increases</a:t>
            </a:r>
            <a:r>
              <a:rPr lang="fr-FR" b="1" dirty="0">
                <a:solidFill>
                  <a:srgbClr val="FF0000"/>
                </a:solidFill>
              </a:rPr>
              <a:t> R2].</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142320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12. </a:t>
            </a:r>
            <a:r>
              <a:rPr lang="fr-FR" dirty="0" err="1"/>
              <a:t>Combinations</a:t>
            </a:r>
            <a:r>
              <a:rPr lang="fr-FR" dirty="0"/>
              <a:t> by groups </a:t>
            </a:r>
            <a:r>
              <a:rPr lang="fr-FR" dirty="0" err="1"/>
              <a:t>with</a:t>
            </a:r>
            <a:r>
              <a:rPr lang="fr-FR" dirty="0"/>
              <a:t> </a:t>
            </a:r>
            <a:r>
              <a:rPr lang="fr-FR" dirty="0" err="1"/>
              <a:t>common</a:t>
            </a:r>
            <a:r>
              <a:rPr lang="fr-FR" dirty="0"/>
              <a:t> </a:t>
            </a:r>
            <a:r>
              <a:rPr lang="fr-FR" dirty="0" err="1"/>
              <a:t>slopes</a:t>
            </a:r>
            <a:endParaRPr lang="fr-FR" dirty="0"/>
          </a:p>
        </p:txBody>
      </p:sp>
      <p:sp>
        <p:nvSpPr>
          <p:cNvPr id="3" name="Espace réservé du contenu 2"/>
          <p:cNvSpPr>
            <a:spLocks noGrp="1"/>
          </p:cNvSpPr>
          <p:nvPr>
            <p:ph idx="1"/>
          </p:nvPr>
        </p:nvSpPr>
        <p:spPr/>
        <p:txBody>
          <a:bodyPr/>
          <a:lstStyle/>
          <a:p>
            <a:pPr marL="514350" indent="-514350" algn="just">
              <a:buFont typeface="+mj-lt"/>
              <a:buAutoNum type="arabicPeriod"/>
            </a:pPr>
            <a:r>
              <a:rPr lang="fr-FR" dirty="0" err="1"/>
              <a:t>Dummies</a:t>
            </a:r>
            <a:r>
              <a:rPr lang="fr-FR" dirty="0"/>
              <a:t> </a:t>
            </a:r>
            <a:r>
              <a:rPr lang="fr-FR" dirty="0" err="1"/>
              <a:t>constraining</a:t>
            </a:r>
            <a:r>
              <a:rPr lang="fr-FR" dirty="0"/>
              <a:t> </a:t>
            </a:r>
            <a:r>
              <a:rPr lang="fr-FR" dirty="0" err="1"/>
              <a:t>some</a:t>
            </a:r>
            <a:r>
              <a:rPr lang="fr-FR" dirty="0"/>
              <a:t> groups </a:t>
            </a:r>
            <a:r>
              <a:rPr lang="fr-FR" dirty="0" err="1"/>
              <a:t>during</a:t>
            </a:r>
            <a:r>
              <a:rPr lang="fr-FR" dirty="0"/>
              <a:t> </a:t>
            </a:r>
            <a:r>
              <a:rPr lang="fr-FR" dirty="0" err="1"/>
              <a:t>some</a:t>
            </a:r>
            <a:r>
              <a:rPr lang="fr-FR" dirty="0"/>
              <a:t> </a:t>
            </a:r>
            <a:r>
              <a:rPr lang="fr-FR" dirty="0" err="1"/>
              <a:t>periods</a:t>
            </a:r>
            <a:r>
              <a:rPr lang="fr-FR" dirty="0"/>
              <a:t> </a:t>
            </a:r>
            <a:r>
              <a:rPr lang="fr-FR" dirty="0" err="1"/>
              <a:t>with</a:t>
            </a:r>
            <a:r>
              <a:rPr lang="fr-FR" dirty="0"/>
              <a:t> </a:t>
            </a:r>
            <a:r>
              <a:rPr lang="fr-FR" dirty="0" err="1"/>
              <a:t>common</a:t>
            </a:r>
            <a:r>
              <a:rPr lang="fr-FR" dirty="0"/>
              <a:t> </a:t>
            </a:r>
            <a:r>
              <a:rPr lang="fr-FR" dirty="0" err="1"/>
              <a:t>slopes</a:t>
            </a:r>
            <a:r>
              <a:rPr lang="fr-FR" dirty="0"/>
              <a:t>  versus </a:t>
            </a:r>
            <a:r>
              <a:rPr lang="fr-FR" dirty="0" err="1"/>
              <a:t>some</a:t>
            </a:r>
            <a:r>
              <a:rPr lang="fr-FR" dirty="0"/>
              <a:t> </a:t>
            </a:r>
            <a:r>
              <a:rPr lang="fr-FR" dirty="0" err="1"/>
              <a:t>others</a:t>
            </a:r>
            <a:r>
              <a:rPr lang="fr-FR" dirty="0"/>
              <a:t> groups. (cf. </a:t>
            </a:r>
            <a:r>
              <a:rPr lang="fr-FR" dirty="0" err="1"/>
              <a:t>diff</a:t>
            </a:r>
            <a:r>
              <a:rPr lang="fr-FR" dirty="0"/>
              <a:t> on </a:t>
            </a:r>
            <a:r>
              <a:rPr lang="fr-FR" dirty="0" err="1"/>
              <a:t>diff</a:t>
            </a:r>
            <a:r>
              <a:rPr lang="fr-FR" dirty="0"/>
              <a:t>). </a:t>
            </a:r>
            <a:r>
              <a:rPr lang="fr-FR" u="sng" dirty="0"/>
              <a:t>THIS IS THE MOST INTERESTING PART.</a:t>
            </a:r>
          </a:p>
          <a:p>
            <a:pPr marL="514350" indent="-514350">
              <a:buFont typeface="+mj-lt"/>
              <a:buAutoNum type="arabicPeriod"/>
            </a:pPr>
            <a:r>
              <a:rPr lang="fr-FR" dirty="0"/>
              <a:t>Interaction </a:t>
            </a:r>
            <a:r>
              <a:rPr lang="fr-FR" dirty="0" err="1"/>
              <a:t>terms</a:t>
            </a:r>
            <a:r>
              <a:rPr lang="fr-FR" dirty="0"/>
              <a:t> </a:t>
            </a:r>
            <a:r>
              <a:rPr lang="fr-FR" dirty="0" err="1"/>
              <a:t>removes</a:t>
            </a:r>
            <a:r>
              <a:rPr lang="fr-FR" dirty="0"/>
              <a:t> the </a:t>
            </a:r>
            <a:r>
              <a:rPr lang="fr-FR" dirty="0" err="1"/>
              <a:t>constraint</a:t>
            </a:r>
            <a:r>
              <a:rPr lang="fr-FR" dirty="0"/>
              <a:t> of </a:t>
            </a:r>
            <a:r>
              <a:rPr lang="fr-FR" dirty="0" err="1"/>
              <a:t>identical</a:t>
            </a:r>
            <a:r>
              <a:rPr lang="fr-FR" dirty="0"/>
              <a:t> </a:t>
            </a:r>
            <a:r>
              <a:rPr lang="fr-FR" dirty="0" err="1"/>
              <a:t>slopes</a:t>
            </a:r>
            <a:r>
              <a:rPr lang="fr-FR" dirty="0"/>
              <a:t> for all </a:t>
            </a:r>
            <a:r>
              <a:rPr lang="fr-FR" dirty="0" err="1"/>
              <a:t>individuals</a:t>
            </a:r>
            <a:r>
              <a:rPr lang="fr-FR" dirty="0"/>
              <a:t>:</a:t>
            </a:r>
          </a:p>
          <a:p>
            <a:pPr marL="0" indent="0">
              <a:buNone/>
            </a:pPr>
            <a:r>
              <a:rPr lang="fr-FR" dirty="0"/>
              <a:t>(</a:t>
            </a:r>
            <a:r>
              <a:rPr lang="fr-FR" dirty="0" err="1"/>
              <a:t>A+B.x</a:t>
            </a:r>
            <a:r>
              <a:rPr lang="fr-FR" dirty="0"/>
              <a:t>(</a:t>
            </a:r>
            <a:r>
              <a:rPr lang="fr-FR" dirty="0" err="1"/>
              <a:t>it</a:t>
            </a:r>
            <a:r>
              <a:rPr lang="fr-FR" dirty="0"/>
              <a:t>)) . x’(</a:t>
            </a:r>
            <a:r>
              <a:rPr lang="fr-FR" dirty="0" err="1"/>
              <a:t>it</a:t>
            </a:r>
            <a:r>
              <a:rPr lang="fr-FR" dirty="0"/>
              <a:t>)</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869425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fr-FR" dirty="0"/>
              <a:t>Fragile/</a:t>
            </a:r>
            <a:r>
              <a:rPr lang="fr-FR" dirty="0" err="1"/>
              <a:t>Robust</a:t>
            </a:r>
            <a:r>
              <a:rPr lang="fr-FR" dirty="0"/>
              <a:t> group.</a:t>
            </a:r>
            <a:br>
              <a:rPr lang="fr-FR" dirty="0"/>
            </a:br>
            <a:r>
              <a:rPr lang="fr-FR" dirty="0"/>
              <a:t>Quiet/</a:t>
            </a:r>
            <a:r>
              <a:rPr lang="fr-FR" dirty="0" err="1"/>
              <a:t>Crisis</a:t>
            </a:r>
            <a:r>
              <a:rPr lang="fr-FR" dirty="0"/>
              <a:t>; Booms/</a:t>
            </a:r>
            <a:r>
              <a:rPr lang="fr-FR" dirty="0" err="1"/>
              <a:t>recessions</a:t>
            </a:r>
            <a:endParaRPr lang="fr-FR" dirty="0"/>
          </a:p>
        </p:txBody>
      </p:sp>
      <p:pic>
        <p:nvPicPr>
          <p:cNvPr id="104450" name="Picture 2" descr="Illustration of Difference in Differenc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695450"/>
            <a:ext cx="5381625" cy="516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337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dirty="0" err="1"/>
              <a:t>Try</a:t>
            </a:r>
            <a:r>
              <a:rPr lang="fr-FR" dirty="0"/>
              <a:t> </a:t>
            </a:r>
            <a:r>
              <a:rPr lang="fr-FR" dirty="0" err="1"/>
              <a:t>several</a:t>
            </a:r>
            <a:r>
              <a:rPr lang="fr-FR" dirty="0"/>
              <a:t> </a:t>
            </a:r>
            <a:r>
              <a:rPr lang="fr-FR" dirty="0" err="1"/>
              <a:t>combinations</a:t>
            </a:r>
            <a:r>
              <a:rPr lang="fr-FR" dirty="0"/>
              <a:t> of </a:t>
            </a:r>
            <a:r>
              <a:rPr lang="fr-FR" dirty="0" err="1"/>
              <a:t>heterogenous</a:t>
            </a:r>
            <a:r>
              <a:rPr lang="fr-FR" dirty="0"/>
              <a:t> groups</a:t>
            </a:r>
          </a:p>
        </p:txBody>
      </p:sp>
      <p:sp>
        <p:nvSpPr>
          <p:cNvPr id="4" name="Espace réservé du contenu 3"/>
          <p:cNvSpPr>
            <a:spLocks noGrp="1"/>
          </p:cNvSpPr>
          <p:nvPr>
            <p:ph idx="1"/>
          </p:nvPr>
        </p:nvSpPr>
        <p:spPr/>
        <p:txBody>
          <a:bodyPr/>
          <a:lstStyle/>
          <a:p>
            <a:pPr marL="0" indent="0" algn="just">
              <a:buNone/>
            </a:pPr>
            <a:r>
              <a:rPr lang="fr-FR" dirty="0"/>
              <a:t>Use </a:t>
            </a:r>
            <a:r>
              <a:rPr lang="fr-FR" dirty="0" err="1"/>
              <a:t>combinations</a:t>
            </a:r>
            <a:r>
              <a:rPr lang="fr-FR" dirty="0"/>
              <a:t> </a:t>
            </a:r>
            <a:r>
              <a:rPr lang="fr-FR" dirty="0" err="1"/>
              <a:t>using</a:t>
            </a:r>
            <a:r>
              <a:rPr lang="fr-FR" dirty="0"/>
              <a:t> </a:t>
            </a:r>
            <a:r>
              <a:rPr lang="fr-FR" dirty="0" err="1"/>
              <a:t>different</a:t>
            </a:r>
            <a:r>
              <a:rPr lang="fr-FR" dirty="0"/>
              <a:t> groups for </a:t>
            </a:r>
            <a:r>
              <a:rPr lang="fr-FR" dirty="0" err="1"/>
              <a:t>each</a:t>
            </a:r>
            <a:r>
              <a:rPr lang="fr-FR" dirty="0"/>
              <a:t> indices (time and </a:t>
            </a:r>
            <a:r>
              <a:rPr lang="fr-FR" dirty="0" err="1"/>
              <a:t>individuals</a:t>
            </a:r>
            <a:r>
              <a:rPr lang="fr-FR" dirty="0"/>
              <a:t>).</a:t>
            </a:r>
          </a:p>
          <a:p>
            <a:pPr marL="0" indent="0" algn="just">
              <a:buNone/>
            </a:pPr>
            <a:r>
              <a:rPr lang="fr-FR" dirty="0" err="1"/>
              <a:t>Pooling</a:t>
            </a:r>
            <a:r>
              <a:rPr lang="fr-FR" dirty="0"/>
              <a:t> (in panel) </a:t>
            </a:r>
            <a:r>
              <a:rPr lang="fr-FR" dirty="0" err="1"/>
              <a:t>widens</a:t>
            </a:r>
            <a:r>
              <a:rPr lang="fr-FR" dirty="0"/>
              <a:t> </a:t>
            </a:r>
            <a:r>
              <a:rPr lang="fr-FR" dirty="0" err="1"/>
              <a:t>analysis</a:t>
            </a:r>
            <a:r>
              <a:rPr lang="fr-FR" dirty="0"/>
              <a:t> </a:t>
            </a:r>
            <a:r>
              <a:rPr lang="fr-FR" dirty="0" err="1"/>
              <a:t>with</a:t>
            </a:r>
            <a:r>
              <a:rPr lang="fr-FR" dirty="0"/>
              <a:t> respect to time </a:t>
            </a:r>
            <a:r>
              <a:rPr lang="fr-FR" dirty="0" err="1"/>
              <a:t>series</a:t>
            </a:r>
            <a:r>
              <a:rPr lang="fr-FR" dirty="0"/>
              <a:t>.</a:t>
            </a:r>
          </a:p>
          <a:p>
            <a:pPr marL="0" indent="0" algn="just">
              <a:buNone/>
            </a:pPr>
            <a:r>
              <a:rPr lang="fr-FR" b="1" dirty="0"/>
              <a:t>Do not </a:t>
            </a:r>
            <a:r>
              <a:rPr lang="fr-FR" b="1" dirty="0" err="1"/>
              <a:t>restrict</a:t>
            </a:r>
            <a:r>
              <a:rPr lang="fr-FR" b="1" dirty="0"/>
              <a:t> data </a:t>
            </a:r>
            <a:r>
              <a:rPr lang="fr-FR" b="1" dirty="0" err="1"/>
              <a:t>only</a:t>
            </a:r>
            <a:r>
              <a:rPr lang="fr-FR" b="1" dirty="0"/>
              <a:t> to a </a:t>
            </a:r>
            <a:r>
              <a:rPr lang="fr-FR" b="1" dirty="0" err="1"/>
              <a:t>geographical</a:t>
            </a:r>
            <a:r>
              <a:rPr lang="fr-FR" b="1" dirty="0"/>
              <a:t> </a:t>
            </a:r>
            <a:r>
              <a:rPr lang="fr-FR" b="1" dirty="0" err="1"/>
              <a:t>subgroup</a:t>
            </a:r>
            <a:r>
              <a:rPr lang="fr-FR" b="1" dirty="0"/>
              <a:t>. Pool </a:t>
            </a:r>
            <a:r>
              <a:rPr lang="fr-FR" b="1" dirty="0" err="1"/>
              <a:t>with</a:t>
            </a:r>
            <a:r>
              <a:rPr lang="fr-FR" b="1" dirty="0"/>
              <a:t> </a:t>
            </a:r>
            <a:r>
              <a:rPr lang="fr-FR" b="1" dirty="0" err="1"/>
              <a:t>others</a:t>
            </a:r>
            <a:r>
              <a:rPr lang="fr-FR" b="1" dirty="0"/>
              <a:t> for </a:t>
            </a:r>
            <a:r>
              <a:rPr lang="fr-FR" b="1" dirty="0" err="1"/>
              <a:t>comparison</a:t>
            </a:r>
            <a:r>
              <a:rPr lang="fr-FR" b="1" dirty="0"/>
              <a:t>.</a:t>
            </a:r>
          </a:p>
        </p:txBody>
      </p:sp>
    </p:spTree>
    <p:extLst>
      <p:ext uri="{BB962C8B-B14F-4D97-AF65-F5344CB8AC3E}">
        <p14:creationId xmlns:p14="http://schemas.microsoft.com/office/powerpoint/2010/main" val="1091346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err="1"/>
              <a:t>Pooling</a:t>
            </a:r>
            <a:r>
              <a:rPr lang="fr-FR" sz="3200" dirty="0"/>
              <a:t> </a:t>
            </a:r>
            <a:r>
              <a:rPr lang="fr-FR" sz="3200" dirty="0" err="1"/>
              <a:t>allows</a:t>
            </a:r>
            <a:r>
              <a:rPr lang="fr-FR" sz="3200" dirty="0"/>
              <a:t> Chow (1960) tests of </a:t>
            </a:r>
            <a:r>
              <a:rPr lang="fr-FR" sz="3200" dirty="0" err="1"/>
              <a:t>differences</a:t>
            </a:r>
            <a:r>
              <a:rPr lang="fr-FR" sz="3200" dirty="0"/>
              <a:t> </a:t>
            </a:r>
            <a:r>
              <a:rPr lang="fr-FR" sz="3200" dirty="0" err="1"/>
              <a:t>between</a:t>
            </a:r>
            <a:r>
              <a:rPr lang="fr-FR" sz="3200" dirty="0"/>
              <a:t> groups and </a:t>
            </a:r>
            <a:r>
              <a:rPr lang="fr-FR" sz="3200" dirty="0" err="1"/>
              <a:t>periods</a:t>
            </a:r>
            <a:endParaRPr lang="fr-FR" sz="3200" dirty="0"/>
          </a:p>
        </p:txBody>
      </p:sp>
      <p:sp>
        <p:nvSpPr>
          <p:cNvPr id="3" name="Espace réservé du contenu 2"/>
          <p:cNvSpPr>
            <a:spLocks noGrp="1"/>
          </p:cNvSpPr>
          <p:nvPr>
            <p:ph idx="1"/>
          </p:nvPr>
        </p:nvSpPr>
        <p:spPr/>
        <p:txBody>
          <a:bodyPr>
            <a:normAutofit lnSpcReduction="10000"/>
          </a:bodyPr>
          <a:lstStyle/>
          <a:p>
            <a:pPr marL="0" indent="0">
              <a:buNone/>
            </a:pPr>
            <a:r>
              <a:rPr lang="fr-FR" dirty="0" err="1"/>
              <a:t>Two</a:t>
            </a:r>
            <a:r>
              <a:rPr lang="fr-FR" dirty="0"/>
              <a:t> groups A and B </a:t>
            </a:r>
          </a:p>
          <a:p>
            <a:pPr marL="0" indent="0">
              <a:buNone/>
            </a:pPr>
            <a:r>
              <a:rPr lang="fr-FR" dirty="0" err="1"/>
              <a:t>cov</a:t>
            </a:r>
            <a:r>
              <a:rPr lang="fr-FR" dirty="0"/>
              <a:t>(X,Y |A) </a:t>
            </a:r>
            <a:r>
              <a:rPr lang="fr-FR" dirty="0" err="1"/>
              <a:t>is</a:t>
            </a:r>
            <a:r>
              <a:rPr lang="fr-FR" dirty="0"/>
              <a:t> </a:t>
            </a:r>
            <a:r>
              <a:rPr lang="fr-FR" dirty="0" err="1"/>
              <a:t>different</a:t>
            </a:r>
            <a:r>
              <a:rPr lang="fr-FR" dirty="0"/>
              <a:t> </a:t>
            </a:r>
            <a:r>
              <a:rPr lang="fr-FR" dirty="0" err="1"/>
              <a:t>from</a:t>
            </a:r>
            <a:r>
              <a:rPr lang="fr-FR" dirty="0"/>
              <a:t> </a:t>
            </a:r>
            <a:r>
              <a:rPr lang="fr-FR" dirty="0" err="1"/>
              <a:t>cov</a:t>
            </a:r>
            <a:r>
              <a:rPr lang="fr-FR" dirty="0"/>
              <a:t>(X,Y |B)</a:t>
            </a:r>
          </a:p>
          <a:p>
            <a:pPr marL="0" indent="0">
              <a:buNone/>
            </a:pPr>
            <a:r>
              <a:rPr lang="fr-FR" b="1" dirty="0" err="1"/>
              <a:t>With</a:t>
            </a:r>
            <a:r>
              <a:rPr lang="fr-FR" b="1" dirty="0"/>
              <a:t> </a:t>
            </a:r>
            <a:r>
              <a:rPr lang="fr-FR" b="1" dirty="0" err="1"/>
              <a:t>two</a:t>
            </a:r>
            <a:r>
              <a:rPr lang="fr-FR" b="1" dirty="0"/>
              <a:t> </a:t>
            </a:r>
            <a:r>
              <a:rPr lang="fr-FR" b="1" dirty="0" err="1"/>
              <a:t>separate</a:t>
            </a:r>
            <a:r>
              <a:rPr lang="fr-FR" b="1" dirty="0"/>
              <a:t> </a:t>
            </a:r>
            <a:r>
              <a:rPr lang="fr-FR" b="1" dirty="0" err="1"/>
              <a:t>sample</a:t>
            </a:r>
            <a:r>
              <a:rPr lang="fr-FR" b="1" dirty="0"/>
              <a:t> </a:t>
            </a:r>
            <a:r>
              <a:rPr lang="fr-FR" b="1" dirty="0" err="1"/>
              <a:t>regressions</a:t>
            </a:r>
            <a:r>
              <a:rPr lang="fr-FR" dirty="0"/>
              <a:t>, </a:t>
            </a:r>
          </a:p>
          <a:p>
            <a:pPr marL="0" indent="0">
              <a:buNone/>
            </a:pPr>
            <a:r>
              <a:rPr lang="fr-FR" dirty="0"/>
              <a:t>I </a:t>
            </a:r>
            <a:r>
              <a:rPr lang="fr-FR" dirty="0" err="1"/>
              <a:t>obtain</a:t>
            </a:r>
            <a:r>
              <a:rPr lang="fr-FR" dirty="0"/>
              <a:t> </a:t>
            </a:r>
            <a:r>
              <a:rPr lang="fr-FR" dirty="0" err="1"/>
              <a:t>two</a:t>
            </a:r>
            <a:r>
              <a:rPr lang="fr-FR" dirty="0"/>
              <a:t> </a:t>
            </a:r>
            <a:r>
              <a:rPr lang="fr-FR" dirty="0" err="1"/>
              <a:t>different</a:t>
            </a:r>
            <a:r>
              <a:rPr lang="fr-FR" dirty="0"/>
              <a:t> </a:t>
            </a:r>
            <a:r>
              <a:rPr lang="fr-FR" dirty="0" err="1"/>
              <a:t>estimated</a:t>
            </a:r>
            <a:r>
              <a:rPr lang="fr-FR" dirty="0"/>
              <a:t> </a:t>
            </a:r>
            <a:r>
              <a:rPr lang="fr-FR" dirty="0" err="1"/>
              <a:t>parameters</a:t>
            </a:r>
            <a:r>
              <a:rPr lang="fr-FR" dirty="0"/>
              <a:t> </a:t>
            </a:r>
            <a:r>
              <a:rPr lang="fr-FR" dirty="0" err="1"/>
              <a:t>with</a:t>
            </a:r>
            <a:r>
              <a:rPr lang="fr-FR" dirty="0"/>
              <a:t> </a:t>
            </a:r>
            <a:r>
              <a:rPr lang="fr-FR" dirty="0" err="1"/>
              <a:t>two</a:t>
            </a:r>
            <a:r>
              <a:rPr lang="fr-FR" dirty="0"/>
              <a:t> </a:t>
            </a:r>
            <a:r>
              <a:rPr lang="fr-FR" dirty="0" err="1"/>
              <a:t>different</a:t>
            </a:r>
            <a:r>
              <a:rPr lang="fr-FR" dirty="0"/>
              <a:t> </a:t>
            </a:r>
            <a:r>
              <a:rPr lang="fr-FR" dirty="0" err="1"/>
              <a:t>estimated</a:t>
            </a:r>
            <a:r>
              <a:rPr lang="fr-FR" dirty="0"/>
              <a:t> standard </a:t>
            </a:r>
            <a:r>
              <a:rPr lang="fr-FR" dirty="0" err="1"/>
              <a:t>error</a:t>
            </a:r>
            <a:r>
              <a:rPr lang="fr-FR" dirty="0"/>
              <a:t>.</a:t>
            </a:r>
          </a:p>
          <a:p>
            <a:pPr marL="0" indent="0">
              <a:buNone/>
            </a:pPr>
            <a:r>
              <a:rPr lang="fr-FR" dirty="0"/>
              <a:t>But I </a:t>
            </a:r>
            <a:r>
              <a:rPr lang="fr-FR" dirty="0" err="1"/>
              <a:t>cannot</a:t>
            </a:r>
            <a:r>
              <a:rPr lang="fr-FR" dirty="0"/>
              <a:t> test </a:t>
            </a:r>
            <a:r>
              <a:rPr lang="fr-FR" dirty="0" err="1"/>
              <a:t>their</a:t>
            </a:r>
            <a:r>
              <a:rPr lang="fr-FR" dirty="0"/>
              <a:t> </a:t>
            </a:r>
            <a:r>
              <a:rPr lang="fr-FR" dirty="0" err="1"/>
              <a:t>equality</a:t>
            </a:r>
            <a:r>
              <a:rPr lang="fr-FR" dirty="0"/>
              <a:t>:</a:t>
            </a:r>
          </a:p>
          <a:p>
            <a:pPr marL="0" indent="0">
              <a:buNone/>
            </a:pPr>
            <a:r>
              <a:rPr lang="fr-FR" b="1" dirty="0"/>
              <a:t>The covariance(</a:t>
            </a:r>
            <a:r>
              <a:rPr lang="el-GR" b="1" dirty="0"/>
              <a:t>β</a:t>
            </a:r>
            <a:r>
              <a:rPr lang="fr-FR" b="1" dirty="0"/>
              <a:t>1^, </a:t>
            </a:r>
            <a:r>
              <a:rPr lang="el-GR" b="1" dirty="0"/>
              <a:t>β</a:t>
            </a:r>
            <a:r>
              <a:rPr lang="fr-FR" b="1" dirty="0"/>
              <a:t>2^) </a:t>
            </a:r>
            <a:r>
              <a:rPr lang="fr-FR" b="1" dirty="0" err="1"/>
              <a:t>is</a:t>
            </a:r>
            <a:r>
              <a:rPr lang="fr-FR" b="1" dirty="0"/>
              <a:t> </a:t>
            </a:r>
            <a:r>
              <a:rPr lang="fr-FR" b="1" dirty="0" err="1"/>
              <a:t>missing</a:t>
            </a:r>
            <a:r>
              <a:rPr lang="fr-FR" b="1" dirty="0"/>
              <a:t>.</a:t>
            </a:r>
          </a:p>
          <a:p>
            <a:pPr marL="0" indent="0">
              <a:buNone/>
            </a:pPr>
            <a:r>
              <a:rPr lang="fr-FR" dirty="0"/>
              <a:t>You </a:t>
            </a:r>
            <a:r>
              <a:rPr lang="fr-FR" dirty="0" err="1"/>
              <a:t>need</a:t>
            </a:r>
            <a:r>
              <a:rPr lang="fr-FR" dirty="0"/>
              <a:t> to pool data of groups A and B.</a:t>
            </a:r>
          </a:p>
        </p:txBody>
      </p:sp>
    </p:spTree>
    <p:extLst>
      <p:ext uri="{BB962C8B-B14F-4D97-AF65-F5344CB8AC3E}">
        <p14:creationId xmlns:p14="http://schemas.microsoft.com/office/powerpoint/2010/main" val="140072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err="1"/>
              <a:t>Dummy</a:t>
            </a:r>
            <a:r>
              <a:rPr lang="fr-FR" b="1" dirty="0"/>
              <a:t>(B)*X</a:t>
            </a:r>
            <a:r>
              <a:rPr lang="fr-FR" dirty="0"/>
              <a:t> </a:t>
            </a:r>
            <a:r>
              <a:rPr lang="fr-FR" dirty="0" err="1"/>
              <a:t>allows</a:t>
            </a:r>
            <a:r>
              <a:rPr lang="fr-FR" dirty="0"/>
              <a:t> to test </a:t>
            </a:r>
            <a:r>
              <a:rPr lang="fr-FR" dirty="0" err="1"/>
              <a:t>directly</a:t>
            </a:r>
            <a:r>
              <a:rPr lang="fr-FR" dirty="0"/>
              <a:t> </a:t>
            </a:r>
            <a:r>
              <a:rPr lang="el-GR" dirty="0"/>
              <a:t>β</a:t>
            </a:r>
            <a:r>
              <a:rPr lang="fr-FR" dirty="0"/>
              <a:t>(B) = </a:t>
            </a:r>
            <a:r>
              <a:rPr lang="el-GR" dirty="0"/>
              <a:t>β</a:t>
            </a:r>
            <a:r>
              <a:rPr lang="fr-FR" dirty="0"/>
              <a:t>(A) </a:t>
            </a:r>
          </a:p>
        </p:txBody>
      </p:sp>
      <p:sp>
        <p:nvSpPr>
          <p:cNvPr id="3" name="Espace réservé du contenu 2"/>
          <p:cNvSpPr>
            <a:spLocks noGrp="1"/>
          </p:cNvSpPr>
          <p:nvPr>
            <p:ph idx="1"/>
          </p:nvPr>
        </p:nvSpPr>
        <p:spPr/>
        <p:txBody>
          <a:bodyPr>
            <a:normAutofit lnSpcReduction="10000"/>
          </a:bodyPr>
          <a:lstStyle/>
          <a:p>
            <a:pPr marL="0" indent="0">
              <a:buNone/>
            </a:pPr>
            <a:r>
              <a:rPr lang="fr-FR" dirty="0"/>
              <a:t>Y= </a:t>
            </a:r>
            <a:r>
              <a:rPr lang="el-GR" dirty="0"/>
              <a:t>β</a:t>
            </a:r>
            <a:r>
              <a:rPr lang="fr-FR" dirty="0"/>
              <a:t>(A).</a:t>
            </a:r>
            <a:r>
              <a:rPr lang="fr-FR" b="1" dirty="0"/>
              <a:t>X</a:t>
            </a:r>
            <a:r>
              <a:rPr lang="fr-FR" dirty="0"/>
              <a:t> + </a:t>
            </a:r>
            <a:r>
              <a:rPr lang="el-GR" dirty="0"/>
              <a:t>β</a:t>
            </a:r>
            <a:r>
              <a:rPr lang="fr-FR" dirty="0"/>
              <a:t>(2). </a:t>
            </a:r>
            <a:r>
              <a:rPr lang="fr-FR" b="1" dirty="0" err="1"/>
              <a:t>Dummy</a:t>
            </a:r>
            <a:r>
              <a:rPr lang="fr-FR" b="1" dirty="0"/>
              <a:t>(B)*X</a:t>
            </a:r>
            <a:r>
              <a:rPr lang="fr-FR" dirty="0"/>
              <a:t> + </a:t>
            </a:r>
            <a:r>
              <a:rPr lang="el-GR" dirty="0"/>
              <a:t>β</a:t>
            </a:r>
            <a:r>
              <a:rPr lang="fr-FR" dirty="0"/>
              <a:t>0 + </a:t>
            </a:r>
            <a:r>
              <a:rPr lang="el-GR" dirty="0"/>
              <a:t>ε </a:t>
            </a:r>
            <a:r>
              <a:rPr lang="fr-FR" b="1" dirty="0" err="1"/>
              <a:t>Dummy</a:t>
            </a:r>
            <a:r>
              <a:rPr lang="fr-FR" b="1" dirty="0"/>
              <a:t>(B)=0</a:t>
            </a:r>
            <a:r>
              <a:rPr lang="fr-FR" dirty="0"/>
              <a:t> (group A, </a:t>
            </a:r>
            <a:r>
              <a:rPr lang="fr-FR" dirty="0" err="1"/>
              <a:t>reference</a:t>
            </a:r>
            <a:r>
              <a:rPr lang="fr-FR" dirty="0"/>
              <a:t>).</a:t>
            </a:r>
          </a:p>
          <a:p>
            <a:pPr marL="0" indent="0">
              <a:buNone/>
            </a:pPr>
            <a:r>
              <a:rPr lang="fr-FR" dirty="0"/>
              <a:t>Y= </a:t>
            </a:r>
            <a:r>
              <a:rPr lang="el-GR" dirty="0"/>
              <a:t>β</a:t>
            </a:r>
            <a:r>
              <a:rPr lang="fr-FR" dirty="0"/>
              <a:t>(A).X + </a:t>
            </a:r>
            <a:r>
              <a:rPr lang="fr-FR" dirty="0" err="1"/>
              <a:t>intercept</a:t>
            </a:r>
            <a:r>
              <a:rPr lang="fr-FR" dirty="0"/>
              <a:t> + </a:t>
            </a:r>
            <a:r>
              <a:rPr lang="el-GR" dirty="0"/>
              <a:t>β</a:t>
            </a:r>
            <a:r>
              <a:rPr lang="fr-FR" dirty="0"/>
              <a:t>0 + </a:t>
            </a:r>
            <a:r>
              <a:rPr lang="el-GR" dirty="0"/>
              <a:t>ε </a:t>
            </a:r>
            <a:r>
              <a:rPr lang="fr-FR" dirty="0"/>
              <a:t>.</a:t>
            </a:r>
          </a:p>
          <a:p>
            <a:pPr marL="0" indent="0">
              <a:buNone/>
            </a:pPr>
            <a:r>
              <a:rPr lang="fr-FR" b="1" dirty="0" err="1"/>
              <a:t>Dummy</a:t>
            </a:r>
            <a:r>
              <a:rPr lang="fr-FR" b="1" dirty="0"/>
              <a:t>(B)=1</a:t>
            </a:r>
            <a:r>
              <a:rPr lang="fr-FR" dirty="0"/>
              <a:t> (group B).</a:t>
            </a:r>
          </a:p>
          <a:p>
            <a:pPr marL="0" indent="0">
              <a:buNone/>
            </a:pPr>
            <a:r>
              <a:rPr lang="fr-FR" dirty="0"/>
              <a:t>Y= [</a:t>
            </a:r>
            <a:r>
              <a:rPr lang="el-GR" dirty="0"/>
              <a:t>β</a:t>
            </a:r>
            <a:r>
              <a:rPr lang="fr-FR" dirty="0"/>
              <a:t>(A)+</a:t>
            </a:r>
            <a:r>
              <a:rPr lang="el-GR" dirty="0"/>
              <a:t>β</a:t>
            </a:r>
            <a:r>
              <a:rPr lang="fr-FR" dirty="0"/>
              <a:t>(2)].X + </a:t>
            </a:r>
            <a:r>
              <a:rPr lang="el-GR" dirty="0"/>
              <a:t>β</a:t>
            </a:r>
            <a:r>
              <a:rPr lang="fr-FR" dirty="0"/>
              <a:t>0 + </a:t>
            </a:r>
            <a:r>
              <a:rPr lang="el-GR" dirty="0"/>
              <a:t>ε</a:t>
            </a:r>
            <a:endParaRPr lang="fr-FR" dirty="0"/>
          </a:p>
          <a:p>
            <a:pPr marL="0" indent="0">
              <a:buNone/>
            </a:pPr>
            <a:r>
              <a:rPr lang="el-GR" b="1" dirty="0"/>
              <a:t>β</a:t>
            </a:r>
            <a:r>
              <a:rPr lang="fr-FR" b="1" dirty="0"/>
              <a:t>(2)=</a:t>
            </a:r>
            <a:r>
              <a:rPr lang="el-GR" b="1" dirty="0"/>
              <a:t>β</a:t>
            </a:r>
            <a:r>
              <a:rPr lang="fr-FR" b="1" dirty="0"/>
              <a:t>(B)-</a:t>
            </a:r>
            <a:r>
              <a:rPr lang="el-GR" b="1" dirty="0"/>
              <a:t>β</a:t>
            </a:r>
            <a:r>
              <a:rPr lang="fr-FR" b="1" dirty="0"/>
              <a:t>(A)</a:t>
            </a:r>
            <a:r>
              <a:rPr lang="fr-FR" dirty="0"/>
              <a:t> </a:t>
            </a:r>
          </a:p>
          <a:p>
            <a:pPr marL="0" indent="0">
              <a:buNone/>
            </a:pPr>
            <a:r>
              <a:rPr lang="fr-FR" b="1" dirty="0"/>
              <a:t>H0: </a:t>
            </a:r>
            <a:r>
              <a:rPr lang="el-GR" b="1" dirty="0"/>
              <a:t>β</a:t>
            </a:r>
            <a:r>
              <a:rPr lang="fr-FR" b="1" dirty="0"/>
              <a:t>(2)=</a:t>
            </a:r>
            <a:r>
              <a:rPr lang="el-GR" b="1" dirty="0"/>
              <a:t>β</a:t>
            </a:r>
            <a:r>
              <a:rPr lang="fr-FR" b="1" dirty="0"/>
              <a:t>(B)-</a:t>
            </a:r>
            <a:r>
              <a:rPr lang="el-GR" b="1" dirty="0"/>
              <a:t>β</a:t>
            </a:r>
            <a:r>
              <a:rPr lang="fr-FR" b="1" dirty="0"/>
              <a:t>(A) = 0</a:t>
            </a:r>
            <a:r>
              <a:rPr lang="fr-FR" dirty="0"/>
              <a:t> IF </a:t>
            </a:r>
            <a:r>
              <a:rPr lang="el-GR" dirty="0"/>
              <a:t>β</a:t>
            </a:r>
            <a:r>
              <a:rPr lang="fr-FR" dirty="0"/>
              <a:t>(B) = </a:t>
            </a:r>
            <a:r>
              <a:rPr lang="el-GR" dirty="0"/>
              <a:t>β</a:t>
            </a:r>
            <a:r>
              <a:rPr lang="fr-FR" dirty="0"/>
              <a:t>(A)</a:t>
            </a:r>
          </a:p>
          <a:p>
            <a:pPr marL="0" indent="0">
              <a:buNone/>
            </a:pPr>
            <a:r>
              <a:rPr lang="fr-FR" dirty="0"/>
              <a:t>T-stat &gt; 2, </a:t>
            </a:r>
            <a:r>
              <a:rPr lang="fr-FR" dirty="0" err="1"/>
              <a:t>reject</a:t>
            </a:r>
            <a:r>
              <a:rPr lang="fr-FR" dirty="0"/>
              <a:t> </a:t>
            </a:r>
            <a:r>
              <a:rPr lang="fr-FR" dirty="0" err="1"/>
              <a:t>equality</a:t>
            </a:r>
            <a:r>
              <a:rPr lang="fr-FR" dirty="0"/>
              <a:t> </a:t>
            </a:r>
            <a:r>
              <a:rPr lang="el-GR" dirty="0"/>
              <a:t>β</a:t>
            </a:r>
            <a:r>
              <a:rPr lang="fr-FR" dirty="0"/>
              <a:t>(B) = </a:t>
            </a:r>
            <a:r>
              <a:rPr lang="el-GR" dirty="0"/>
              <a:t>β</a:t>
            </a:r>
            <a:r>
              <a:rPr lang="fr-FR" dirty="0"/>
              <a:t>(A) </a:t>
            </a:r>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1608730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13. </a:t>
            </a:r>
            <a:r>
              <a:rPr lang="fr-FR" dirty="0" err="1"/>
              <a:t>Optional</a:t>
            </a:r>
            <a:r>
              <a:rPr lang="fr-FR" dirty="0"/>
              <a:t>: </a:t>
            </a:r>
            <a:r>
              <a:rPr lang="fr-FR" dirty="0" err="1"/>
              <a:t>Other</a:t>
            </a:r>
            <a:r>
              <a:rPr lang="fr-FR" dirty="0"/>
              <a:t> IV </a:t>
            </a:r>
            <a:r>
              <a:rPr lang="fr-FR" dirty="0" err="1"/>
              <a:t>methods</a:t>
            </a:r>
            <a:br>
              <a:rPr lang="fr-FR" dirty="0"/>
            </a:br>
            <a:r>
              <a:rPr lang="fr-FR" dirty="0" err="1"/>
              <a:t>Lagged</a:t>
            </a:r>
            <a:r>
              <a:rPr lang="fr-FR" dirty="0"/>
              <a:t> </a:t>
            </a:r>
            <a:r>
              <a:rPr lang="fr-FR" dirty="0" err="1"/>
              <a:t>dependent</a:t>
            </a:r>
            <a:r>
              <a:rPr lang="fr-FR" dirty="0"/>
              <a:t> </a:t>
            </a:r>
            <a:r>
              <a:rPr lang="fr-FR" b="1" dirty="0"/>
              <a:t>Y(i,t-1)</a:t>
            </a:r>
          </a:p>
        </p:txBody>
      </p:sp>
      <p:sp>
        <p:nvSpPr>
          <p:cNvPr id="3" name="Espace réservé du contenu 2"/>
          <p:cNvSpPr>
            <a:spLocks noGrp="1"/>
          </p:cNvSpPr>
          <p:nvPr>
            <p:ph idx="1"/>
          </p:nvPr>
        </p:nvSpPr>
        <p:spPr/>
        <p:txBody>
          <a:bodyPr>
            <a:normAutofit fontScale="92500"/>
          </a:bodyPr>
          <a:lstStyle/>
          <a:p>
            <a:pPr marL="514350" indent="-514350">
              <a:buAutoNum type="arabicPeriod"/>
            </a:pPr>
            <a:r>
              <a:rPr lang="fr-FR" dirty="0"/>
              <a:t>IV for panel (</a:t>
            </a:r>
            <a:r>
              <a:rPr lang="fr-FR" dirty="0" err="1"/>
              <a:t>xtivreg</a:t>
            </a:r>
            <a:r>
              <a:rPr lang="fr-FR" dirty="0"/>
              <a:t>)</a:t>
            </a:r>
          </a:p>
          <a:p>
            <a:pPr marL="514350" indent="-514350">
              <a:buAutoNum type="arabicPeriod"/>
            </a:pPr>
            <a:r>
              <a:rPr lang="fr-FR" b="1" dirty="0">
                <a:solidFill>
                  <a:srgbClr val="FF0000"/>
                </a:solidFill>
              </a:rPr>
              <a:t>IF T&lt;10</a:t>
            </a:r>
            <a:r>
              <a:rPr lang="fr-FR" dirty="0"/>
              <a:t>: ANDERSON HSIAOH first </a:t>
            </a:r>
            <a:r>
              <a:rPr lang="fr-FR" dirty="0" err="1"/>
              <a:t>differences</a:t>
            </a:r>
            <a:r>
              <a:rPr lang="fr-FR" dirty="0"/>
              <a:t> IV in </a:t>
            </a:r>
            <a:r>
              <a:rPr lang="fr-FR" dirty="0" err="1"/>
              <a:t>levels</a:t>
            </a:r>
            <a:r>
              <a:rPr lang="fr-FR" dirty="0"/>
              <a:t>. Panel data GMM first </a:t>
            </a:r>
            <a:r>
              <a:rPr lang="fr-FR" dirty="0" err="1"/>
              <a:t>differences</a:t>
            </a:r>
            <a:r>
              <a:rPr lang="fr-FR" dirty="0"/>
              <a:t> (</a:t>
            </a:r>
            <a:r>
              <a:rPr lang="fr-FR" dirty="0" err="1"/>
              <a:t>Arellano</a:t>
            </a:r>
            <a:r>
              <a:rPr lang="fr-FR" dirty="0"/>
              <a:t> Bond) (</a:t>
            </a:r>
            <a:r>
              <a:rPr lang="fr-FR" dirty="0" err="1"/>
              <a:t>xtabond</a:t>
            </a:r>
            <a:r>
              <a:rPr lang="fr-FR" dirty="0"/>
              <a:t>, </a:t>
            </a:r>
            <a:r>
              <a:rPr lang="fr-FR" dirty="0" err="1"/>
              <a:t>xtdpd</a:t>
            </a:r>
            <a:r>
              <a:rPr lang="fr-FR" dirty="0"/>
              <a:t>, </a:t>
            </a:r>
            <a:r>
              <a:rPr lang="fr-FR" dirty="0" err="1"/>
              <a:t>Roodman’s</a:t>
            </a:r>
            <a:r>
              <a:rPr lang="fr-FR" dirty="0"/>
              <a:t> xtabond2 ). Panel data GMM system (</a:t>
            </a:r>
            <a:r>
              <a:rPr lang="fr-FR" dirty="0" err="1"/>
              <a:t>Arellano</a:t>
            </a:r>
            <a:r>
              <a:rPr lang="fr-FR" dirty="0"/>
              <a:t> </a:t>
            </a:r>
            <a:r>
              <a:rPr lang="fr-FR" dirty="0" err="1"/>
              <a:t>Bover</a:t>
            </a:r>
            <a:r>
              <a:rPr lang="fr-FR" dirty="0"/>
              <a:t>): </a:t>
            </a:r>
            <a:r>
              <a:rPr lang="fr-FR" dirty="0" err="1"/>
              <a:t>xtdpdsys</a:t>
            </a:r>
            <a:r>
              <a:rPr lang="fr-FR" dirty="0"/>
              <a:t>, xtabond2.</a:t>
            </a:r>
          </a:p>
          <a:p>
            <a:pPr marL="514350" indent="-514350">
              <a:buAutoNum type="arabicPeriod"/>
            </a:pPr>
            <a:r>
              <a:rPr lang="fr-FR" dirty="0"/>
              <a:t>T&gt;10, ANDERSON HSIAOH first </a:t>
            </a:r>
            <a:r>
              <a:rPr lang="fr-FR" dirty="0" err="1"/>
              <a:t>differences</a:t>
            </a:r>
            <a:r>
              <a:rPr lang="fr-FR" dirty="0"/>
              <a:t> </a:t>
            </a:r>
            <a:r>
              <a:rPr lang="fr-FR" dirty="0" err="1"/>
              <a:t>with</a:t>
            </a:r>
            <a:r>
              <a:rPr lang="fr-FR" dirty="0"/>
              <a:t> IV in </a:t>
            </a:r>
            <a:r>
              <a:rPr lang="fr-FR" dirty="0" err="1"/>
              <a:t>levels</a:t>
            </a:r>
            <a:r>
              <a:rPr lang="fr-FR" dirty="0"/>
              <a:t>, </a:t>
            </a:r>
            <a:r>
              <a:rPr lang="fr-FR" dirty="0" err="1"/>
              <a:t>two-way</a:t>
            </a:r>
            <a:r>
              <a:rPr lang="fr-FR" dirty="0"/>
              <a:t> </a:t>
            </a:r>
            <a:r>
              <a:rPr lang="fr-FR" dirty="0" err="1"/>
              <a:t>fixed</a:t>
            </a:r>
            <a:r>
              <a:rPr lang="fr-FR" dirty="0"/>
              <a:t> </a:t>
            </a:r>
            <a:r>
              <a:rPr lang="fr-FR" dirty="0" err="1"/>
              <a:t>effects</a:t>
            </a:r>
            <a:r>
              <a:rPr lang="fr-FR" dirty="0"/>
              <a:t> </a:t>
            </a:r>
            <a:r>
              <a:rPr lang="fr-FR" dirty="0" err="1"/>
              <a:t>with</a:t>
            </a:r>
            <a:r>
              <a:rPr lang="fr-FR" dirty="0"/>
              <a:t> IV</a:t>
            </a:r>
          </a:p>
        </p:txBody>
      </p:sp>
    </p:spTree>
    <p:extLst>
      <p:ext uri="{BB962C8B-B14F-4D97-AF65-F5344CB8AC3E}">
        <p14:creationId xmlns:p14="http://schemas.microsoft.com/office/powerpoint/2010/main" val="1343162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14. </a:t>
            </a:r>
            <a:r>
              <a:rPr lang="fr-FR" dirty="0" err="1"/>
              <a:t>Optional</a:t>
            </a:r>
            <a:r>
              <a:rPr lang="fr-FR" dirty="0"/>
              <a:t>: </a:t>
            </a:r>
            <a:r>
              <a:rPr lang="fr-FR" dirty="0" err="1"/>
              <a:t>Other</a:t>
            </a:r>
            <a:r>
              <a:rPr lang="fr-FR" dirty="0"/>
              <a:t> standard </a:t>
            </a:r>
            <a:r>
              <a:rPr lang="fr-FR" dirty="0" err="1"/>
              <a:t>errors</a:t>
            </a:r>
            <a:r>
              <a:rPr lang="fr-FR" dirty="0"/>
              <a:t> and </a:t>
            </a:r>
            <a:r>
              <a:rPr lang="fr-FR" dirty="0" err="1"/>
              <a:t>models</a:t>
            </a:r>
            <a:endParaRPr lang="fr-FR" dirty="0"/>
          </a:p>
        </p:txBody>
      </p:sp>
      <p:sp>
        <p:nvSpPr>
          <p:cNvPr id="3" name="Espace réservé du contenu 2"/>
          <p:cNvSpPr>
            <a:spLocks noGrp="1"/>
          </p:cNvSpPr>
          <p:nvPr>
            <p:ph idx="1"/>
          </p:nvPr>
        </p:nvSpPr>
        <p:spPr/>
        <p:txBody>
          <a:bodyPr/>
          <a:lstStyle/>
          <a:p>
            <a:pPr marL="0" indent="0">
              <a:buNone/>
            </a:pPr>
            <a:r>
              <a:rPr lang="fr-FR" dirty="0" err="1"/>
              <a:t>xtpcse</a:t>
            </a:r>
            <a:r>
              <a:rPr lang="fr-FR" dirty="0"/>
              <a:t> (</a:t>
            </a:r>
            <a:r>
              <a:rPr lang="fr-FR" dirty="0" err="1"/>
              <a:t>pcse</a:t>
            </a:r>
            <a:r>
              <a:rPr lang="fr-FR" dirty="0"/>
              <a:t>)</a:t>
            </a:r>
          </a:p>
          <a:p>
            <a:pPr marL="0" indent="0">
              <a:buNone/>
            </a:pPr>
            <a:r>
              <a:rPr lang="fr-FR" dirty="0" err="1"/>
              <a:t>xtrc</a:t>
            </a:r>
            <a:r>
              <a:rPr lang="fr-FR" dirty="0"/>
              <a:t> (</a:t>
            </a:r>
            <a:r>
              <a:rPr lang="fr-FR" dirty="0" err="1"/>
              <a:t>random</a:t>
            </a:r>
            <a:r>
              <a:rPr lang="fr-FR" dirty="0"/>
              <a:t> coefficients) </a:t>
            </a:r>
          </a:p>
          <a:p>
            <a:pPr marL="0" indent="0">
              <a:buNone/>
            </a:pPr>
            <a:r>
              <a:rPr lang="fr-FR" dirty="0" err="1"/>
              <a:t>xtmixed</a:t>
            </a:r>
            <a:r>
              <a:rPr lang="fr-FR" dirty="0"/>
              <a:t> (</a:t>
            </a:r>
            <a:r>
              <a:rPr lang="fr-FR" dirty="0" err="1"/>
              <a:t>random</a:t>
            </a:r>
            <a:r>
              <a:rPr lang="fr-FR" dirty="0"/>
              <a:t> </a:t>
            </a:r>
            <a:r>
              <a:rPr lang="fr-FR" dirty="0" err="1"/>
              <a:t>fixed</a:t>
            </a:r>
            <a:r>
              <a:rPr lang="fr-FR" dirty="0"/>
              <a:t> coefficients)</a:t>
            </a:r>
          </a:p>
          <a:p>
            <a:pPr marL="0" indent="0">
              <a:buNone/>
            </a:pPr>
            <a:r>
              <a:rPr lang="fr-FR" dirty="0" err="1"/>
              <a:t>xtgls</a:t>
            </a:r>
            <a:r>
              <a:rPr lang="fr-FR" dirty="0"/>
              <a:t> </a:t>
            </a:r>
          </a:p>
          <a:p>
            <a:pPr marL="0" indent="0">
              <a:buNone/>
            </a:pPr>
            <a:r>
              <a:rPr lang="fr-FR" dirty="0" err="1"/>
              <a:t>xtunitroot</a:t>
            </a:r>
            <a:r>
              <a:rPr lang="fr-FR" dirty="0"/>
              <a:t> </a:t>
            </a:r>
          </a:p>
          <a:p>
            <a:pPr marL="0" indent="0">
              <a:buNone/>
            </a:pPr>
            <a:endParaRPr lang="fr-FR" dirty="0"/>
          </a:p>
        </p:txBody>
      </p:sp>
    </p:spTree>
    <p:extLst>
      <p:ext uri="{BB962C8B-B14F-4D97-AF65-F5344CB8AC3E}">
        <p14:creationId xmlns:p14="http://schemas.microsoft.com/office/powerpoint/2010/main" val="1622252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15. </a:t>
            </a:r>
            <a:r>
              <a:rPr lang="fr-FR" dirty="0" err="1"/>
              <a:t>Statistical</a:t>
            </a:r>
            <a:r>
              <a:rPr lang="fr-FR" dirty="0"/>
              <a:t> </a:t>
            </a:r>
            <a:r>
              <a:rPr lang="fr-FR"/>
              <a:t>significance </a:t>
            </a:r>
            <a:br>
              <a:rPr lang="fr-FR" dirty="0"/>
            </a:br>
            <a:r>
              <a:rPr lang="fr-FR" dirty="0" err="1"/>
              <a:t>is</a:t>
            </a:r>
            <a:r>
              <a:rPr lang="fr-FR" dirty="0"/>
              <a:t> not </a:t>
            </a:r>
            <a:r>
              <a:rPr lang="fr-FR" dirty="0" err="1"/>
              <a:t>sufficient</a:t>
            </a:r>
            <a:r>
              <a:rPr lang="fr-FR" dirty="0"/>
              <a:t>. </a:t>
            </a:r>
          </a:p>
        </p:txBody>
      </p:sp>
      <p:sp>
        <p:nvSpPr>
          <p:cNvPr id="3" name="Espace réservé du contenu 2"/>
          <p:cNvSpPr>
            <a:spLocks noGrp="1"/>
          </p:cNvSpPr>
          <p:nvPr>
            <p:ph idx="1"/>
          </p:nvPr>
        </p:nvSpPr>
        <p:spPr/>
        <p:txBody>
          <a:bodyPr/>
          <a:lstStyle/>
          <a:p>
            <a:r>
              <a:rPr lang="fr-FR" dirty="0" err="1"/>
              <a:t>Number</a:t>
            </a:r>
            <a:r>
              <a:rPr lang="fr-FR" dirty="0"/>
              <a:t> of observations NT(SC) </a:t>
            </a:r>
            <a:r>
              <a:rPr lang="fr-FR" dirty="0" err="1"/>
              <a:t>is</a:t>
            </a:r>
            <a:r>
              <a:rPr lang="fr-FR" dirty="0"/>
              <a:t> </a:t>
            </a:r>
            <a:r>
              <a:rPr lang="fr-FR" dirty="0" err="1"/>
              <a:t>usually</a:t>
            </a:r>
            <a:r>
              <a:rPr lang="fr-FR" dirty="0"/>
              <a:t> </a:t>
            </a:r>
            <a:r>
              <a:rPr lang="fr-FR" dirty="0" err="1"/>
              <a:t>very</a:t>
            </a:r>
            <a:r>
              <a:rPr lang="fr-FR" dirty="0"/>
              <a:t> large (&gt;400=20*20).</a:t>
            </a:r>
          </a:p>
          <a:p>
            <a:r>
              <a:rPr lang="fr-FR" dirty="0"/>
              <a:t>Check the contribution to R2 (</a:t>
            </a:r>
            <a:r>
              <a:rPr lang="fr-FR" dirty="0" err="1"/>
              <a:t>increase</a:t>
            </a:r>
            <a:r>
              <a:rPr lang="fr-FR" dirty="0"/>
              <a:t> of R2 </a:t>
            </a:r>
            <a:r>
              <a:rPr lang="fr-FR" dirty="0" err="1"/>
              <a:t>when</a:t>
            </a:r>
            <a:r>
              <a:rPr lang="fr-FR" dirty="0"/>
              <a:t> </a:t>
            </a:r>
            <a:r>
              <a:rPr lang="fr-FR" dirty="0" err="1"/>
              <a:t>you</a:t>
            </a:r>
            <a:r>
              <a:rPr lang="fr-FR" dirty="0"/>
              <a:t> </a:t>
            </a:r>
            <a:r>
              <a:rPr lang="fr-FR" dirty="0" err="1"/>
              <a:t>add</a:t>
            </a:r>
            <a:r>
              <a:rPr lang="fr-FR" dirty="0"/>
              <a:t> 1 </a:t>
            </a:r>
            <a:r>
              <a:rPr lang="fr-FR" dirty="0" err="1"/>
              <a:t>regressor</a:t>
            </a:r>
            <a:r>
              <a:rPr lang="fr-FR" dirty="0"/>
              <a:t>).</a:t>
            </a:r>
          </a:p>
          <a:p>
            <a:r>
              <a:rPr lang="fr-FR" dirty="0" err="1"/>
              <a:t>Visualize</a:t>
            </a:r>
            <a:r>
              <a:rPr lang="fr-FR" dirty="0"/>
              <a:t> patterns in </a:t>
            </a:r>
            <a:r>
              <a:rPr lang="fr-FR" dirty="0" err="1"/>
              <a:t>residuals</a:t>
            </a:r>
            <a:r>
              <a:rPr lang="fr-FR" dirty="0"/>
              <a:t> by </a:t>
            </a:r>
            <a:r>
              <a:rPr lang="fr-FR" dirty="0" err="1"/>
              <a:t>individuals</a:t>
            </a:r>
            <a:r>
              <a:rPr lang="fr-FR" dirty="0"/>
              <a:t> (</a:t>
            </a:r>
            <a:r>
              <a:rPr lang="fr-FR" dirty="0" err="1"/>
              <a:t>outliers</a:t>
            </a:r>
            <a:r>
              <a:rPr lang="fr-FR" dirty="0"/>
              <a:t>, </a:t>
            </a:r>
            <a:r>
              <a:rPr lang="fr-FR" dirty="0" err="1"/>
              <a:t>heterogeneity</a:t>
            </a:r>
            <a:r>
              <a:rPr lang="fr-FR" dirty="0"/>
              <a:t>).</a:t>
            </a:r>
          </a:p>
          <a:p>
            <a:r>
              <a:rPr lang="fr-FR" dirty="0"/>
              <a:t>Check </a:t>
            </a:r>
            <a:r>
              <a:rPr lang="fr-FR" dirty="0" err="1"/>
              <a:t>near-multicollinearity</a:t>
            </a:r>
            <a:endParaRPr lang="fr-FR" dirty="0"/>
          </a:p>
          <a:p>
            <a:r>
              <a:rPr lang="fr-FR" dirty="0"/>
              <a:t>Check </a:t>
            </a:r>
            <a:r>
              <a:rPr lang="fr-FR" dirty="0" err="1"/>
              <a:t>weak</a:t>
            </a:r>
            <a:r>
              <a:rPr lang="fr-FR" dirty="0"/>
              <a:t> instruments</a:t>
            </a:r>
          </a:p>
        </p:txBody>
      </p:sp>
    </p:spTree>
    <p:extLst>
      <p:ext uri="{BB962C8B-B14F-4D97-AF65-F5344CB8AC3E}">
        <p14:creationId xmlns:p14="http://schemas.microsoft.com/office/powerpoint/2010/main" val="3166842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ormAutofit fontScale="90000"/>
          </a:bodyPr>
          <a:lstStyle/>
          <a:p>
            <a:br>
              <a:rPr lang="en-US" dirty="0"/>
            </a:br>
            <a:r>
              <a:rPr lang="en-US" dirty="0"/>
              <a:t>A. Four problems of the t-tests</a:t>
            </a:r>
            <a:br>
              <a:rPr lang="fr-FR" altLang="fr-FR" dirty="0"/>
            </a:br>
            <a:endParaRPr lang="en-US" dirty="0"/>
          </a:p>
        </p:txBody>
      </p:sp>
    </p:spTree>
    <p:extLst>
      <p:ext uri="{BB962C8B-B14F-4D97-AF65-F5344CB8AC3E}">
        <p14:creationId xmlns:p14="http://schemas.microsoft.com/office/powerpoint/2010/main" val="3560814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sz="3200" dirty="0"/>
              <a:t>Pooling time-series cross section, we expand N times several times series with T observations: this increases a lot t-statistics</a:t>
            </a:r>
          </a:p>
        </p:txBody>
      </p:sp>
      <p:sp>
        <p:nvSpPr>
          <p:cNvPr id="3" name="Espace réservé du contenu 2"/>
          <p:cNvSpPr>
            <a:spLocks noGrp="1"/>
          </p:cNvSpPr>
          <p:nvPr>
            <p:ph idx="1"/>
          </p:nvPr>
        </p:nvSpPr>
        <p:spPr/>
        <p:txBody>
          <a:bodyPr>
            <a:normAutofit fontScale="85000" lnSpcReduction="20000"/>
          </a:bodyPr>
          <a:lstStyle/>
          <a:p>
            <a:pPr marL="0" indent="0" algn="just">
              <a:buNone/>
            </a:pPr>
            <a:r>
              <a:rPr lang="en-US" dirty="0" err="1"/>
              <a:t>Pbm</a:t>
            </a:r>
            <a:r>
              <a:rPr lang="en-US" dirty="0"/>
              <a:t> 1: Interpretation mistake</a:t>
            </a:r>
          </a:p>
          <a:p>
            <a:pPr marL="0" indent="0" algn="just">
              <a:buNone/>
            </a:pPr>
            <a:r>
              <a:rPr lang="en-US" dirty="0" err="1"/>
              <a:t>Pbm</a:t>
            </a:r>
            <a:r>
              <a:rPr lang="en-US" dirty="0"/>
              <a:t> 2: Multiple testing of “reg monkeys”.</a:t>
            </a:r>
          </a:p>
          <a:p>
            <a:pPr marL="0" indent="0" algn="just">
              <a:buNone/>
            </a:pPr>
            <a:r>
              <a:rPr lang="en-US" dirty="0" err="1"/>
              <a:t>Pbm</a:t>
            </a:r>
            <a:r>
              <a:rPr lang="en-US" dirty="0"/>
              <a:t> 3: Substantive versus statistical significance</a:t>
            </a:r>
          </a:p>
          <a:p>
            <a:pPr marL="0" indent="0" algn="just">
              <a:buNone/>
            </a:pPr>
            <a:r>
              <a:rPr lang="en-US" dirty="0"/>
              <a:t>Intermezzo: what is a good R</a:t>
            </a:r>
            <a:r>
              <a:rPr lang="en-US" baseline="30000" dirty="0"/>
              <a:t>2</a:t>
            </a:r>
            <a:r>
              <a:rPr lang="en-US" dirty="0"/>
              <a:t>? In panel data, it could be very small.</a:t>
            </a:r>
          </a:p>
          <a:p>
            <a:pPr marL="0" indent="0" algn="just">
              <a:buNone/>
            </a:pPr>
            <a:r>
              <a:rPr lang="en-US" dirty="0" err="1"/>
              <a:t>Pbm</a:t>
            </a:r>
            <a:r>
              <a:rPr lang="en-US" dirty="0"/>
              <a:t> 4: Editors of academic journals reject papers which do not reject the null hypothesis creates incentives for p-hacking or “publication bias” which is detected in meta-analysis.</a:t>
            </a:r>
          </a:p>
          <a:p>
            <a:pPr marL="0" indent="0" algn="just">
              <a:buNone/>
            </a:pPr>
            <a:r>
              <a:rPr lang="en-US" dirty="0"/>
              <a:t>Finally, in practice, some tools to learn how to manipulate t-statistics KNOWING why, in addition to the multiple testing of “</a:t>
            </a:r>
            <a:r>
              <a:rPr lang="en-US" dirty="0" err="1"/>
              <a:t>reg</a:t>
            </a:r>
            <a:r>
              <a:rPr lang="en-US" dirty="0"/>
              <a:t> monkeys”.</a:t>
            </a:r>
          </a:p>
        </p:txBody>
      </p:sp>
    </p:spTree>
    <p:extLst>
      <p:ext uri="{BB962C8B-B14F-4D97-AF65-F5344CB8AC3E}">
        <p14:creationId xmlns:p14="http://schemas.microsoft.com/office/powerpoint/2010/main" val="2943141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ormAutofit fontScale="90000"/>
          </a:bodyPr>
          <a:lstStyle/>
          <a:p>
            <a:br>
              <a:rPr lang="en-US" dirty="0"/>
            </a:br>
            <a:r>
              <a:rPr lang="en-US" dirty="0"/>
              <a:t>Problem 1. Conditioning.</a:t>
            </a:r>
            <a:br>
              <a:rPr lang="en-US" dirty="0"/>
            </a:br>
            <a:r>
              <a:rPr lang="fr-FR" sz="3100" dirty="0"/>
              <a:t>p(</a:t>
            </a:r>
            <a:r>
              <a:rPr lang="fr-FR" altLang="fr-FR" sz="3100" dirty="0" err="1"/>
              <a:t>rejecting</a:t>
            </a:r>
            <a:r>
              <a:rPr lang="fr-FR" altLang="fr-FR" sz="3100" dirty="0"/>
              <a:t> </a:t>
            </a:r>
            <a:r>
              <a:rPr lang="fr-FR" sz="3100" dirty="0"/>
              <a:t>H</a:t>
            </a:r>
            <a:r>
              <a:rPr lang="fr-FR" sz="3100" baseline="-25000" dirty="0"/>
              <a:t>0  </a:t>
            </a:r>
            <a:r>
              <a:rPr lang="fr-FR" sz="3100" dirty="0" err="1"/>
              <a:t>with</a:t>
            </a:r>
            <a:r>
              <a:rPr lang="fr-FR" sz="3100" dirty="0"/>
              <a:t> test </a:t>
            </a:r>
            <a:r>
              <a:rPr lang="fr-FR" sz="3100" dirty="0" err="1"/>
              <a:t>statistic</a:t>
            </a:r>
            <a:r>
              <a:rPr lang="fr-FR" sz="3100" dirty="0"/>
              <a:t> T&gt;t | </a:t>
            </a:r>
            <a:r>
              <a:rPr lang="fr-FR" sz="3100" dirty="0">
                <a:solidFill>
                  <a:srgbClr val="FF0000"/>
                </a:solidFill>
              </a:rPr>
              <a:t>H</a:t>
            </a:r>
            <a:r>
              <a:rPr lang="fr-FR" sz="3100" baseline="-25000" dirty="0">
                <a:solidFill>
                  <a:srgbClr val="FF0000"/>
                </a:solidFill>
              </a:rPr>
              <a:t>0</a:t>
            </a:r>
            <a:r>
              <a:rPr lang="fr-FR" sz="3100" dirty="0">
                <a:solidFill>
                  <a:srgbClr val="FF0000"/>
                </a:solidFill>
              </a:rPr>
              <a:t> </a:t>
            </a:r>
            <a:r>
              <a:rPr lang="fr-FR" sz="3100" dirty="0" err="1">
                <a:solidFill>
                  <a:srgbClr val="FF0000"/>
                </a:solidFill>
              </a:rPr>
              <a:t>true</a:t>
            </a:r>
            <a:r>
              <a:rPr lang="fr-FR" sz="3100" dirty="0"/>
              <a:t>)</a:t>
            </a:r>
            <a:br>
              <a:rPr lang="fr-FR" sz="3100" dirty="0"/>
            </a:br>
            <a:r>
              <a:rPr lang="fr-FR" sz="3100" dirty="0"/>
              <a:t>&lt; </a:t>
            </a:r>
            <a:r>
              <a:rPr lang="el-GR" sz="3100" dirty="0"/>
              <a:t>α</a:t>
            </a:r>
            <a:r>
              <a:rPr lang="fr-FR" sz="3100" dirty="0"/>
              <a:t>=5</a:t>
            </a:r>
            <a:r>
              <a:rPr lang="fr-FR" sz="3100" b="1" dirty="0"/>
              <a:t>%</a:t>
            </a:r>
            <a:r>
              <a:rPr lang="fr-FR" altLang="fr-FR" sz="3100" dirty="0"/>
              <a:t>.</a:t>
            </a:r>
            <a:br>
              <a:rPr lang="fr-FR" altLang="fr-FR" dirty="0"/>
            </a:br>
            <a:endParaRPr lang="en-US" dirty="0"/>
          </a:p>
        </p:txBody>
      </p:sp>
    </p:spTree>
    <p:extLst>
      <p:ext uri="{BB962C8B-B14F-4D97-AF65-F5344CB8AC3E}">
        <p14:creationId xmlns:p14="http://schemas.microsoft.com/office/powerpoint/2010/main" val="823444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b="1" dirty="0" err="1"/>
              <a:t>Statistical</a:t>
            </a:r>
            <a:r>
              <a:rPr lang="fr-FR" sz="3200" b="1" dirty="0"/>
              <a:t> tests </a:t>
            </a:r>
            <a:r>
              <a:rPr lang="fr-FR" sz="3200" b="1" dirty="0" err="1"/>
              <a:t>theory</a:t>
            </a:r>
            <a:r>
              <a:rPr lang="fr-FR" sz="3200" dirty="0"/>
              <a:t> versus </a:t>
            </a:r>
            <a:r>
              <a:rPr lang="fr-FR" sz="3200" b="1" dirty="0" err="1"/>
              <a:t>medical</a:t>
            </a:r>
            <a:r>
              <a:rPr lang="fr-FR" sz="3200" b="1" dirty="0"/>
              <a:t> tests,</a:t>
            </a:r>
            <a:br>
              <a:rPr lang="fr-FR" sz="3200" dirty="0"/>
            </a:br>
            <a:r>
              <a:rPr lang="fr-FR" sz="3200" dirty="0" err="1"/>
              <a:t>conditional</a:t>
            </a:r>
            <a:r>
              <a:rPr lang="fr-FR" sz="3200" dirty="0"/>
              <a:t> on « </a:t>
            </a:r>
            <a:r>
              <a:rPr lang="fr-FR" sz="3200" dirty="0" err="1"/>
              <a:t>true</a:t>
            </a:r>
            <a:r>
              <a:rPr lang="fr-FR" sz="3200" dirty="0"/>
              <a:t> </a:t>
            </a:r>
            <a:r>
              <a:rPr lang="fr-FR" sz="3200" dirty="0" err="1"/>
              <a:t>hypothesis</a:t>
            </a:r>
            <a:r>
              <a:rPr lang="fr-FR" sz="3200" dirty="0"/>
              <a:t>»</a:t>
            </a:r>
            <a:endParaRPr lang="en-GB" sz="3200" dirty="0"/>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066206260"/>
              </p:ext>
            </p:extLst>
          </p:nvPr>
        </p:nvGraphicFramePr>
        <p:xfrm>
          <a:off x="457200" y="1600200"/>
          <a:ext cx="8229600" cy="4765040"/>
        </p:xfrm>
        <a:graphic>
          <a:graphicData uri="http://schemas.openxmlformats.org/drawingml/2006/table">
            <a:tbl>
              <a:tblPr firstRow="1" bandRow="1">
                <a:tableStyleId>{5940675A-B579-460E-94D1-54222C63F5DA}</a:tableStyleId>
              </a:tblPr>
              <a:tblGrid>
                <a:gridCol w="2242592">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gridCol w="3106688">
                  <a:extLst>
                    <a:ext uri="{9D8B030D-6E8A-4147-A177-3AD203B41FA5}">
                      <a16:colId xmlns:a16="http://schemas.microsoft.com/office/drawing/2014/main" val="20002"/>
                    </a:ext>
                  </a:extLst>
                </a:gridCol>
              </a:tblGrid>
              <a:tr h="370840">
                <a:tc>
                  <a:txBody>
                    <a:bodyPr/>
                    <a:lstStyle/>
                    <a:p>
                      <a:pPr>
                        <a:spcAft>
                          <a:spcPts val="0"/>
                        </a:spcAft>
                      </a:pPr>
                      <a:r>
                        <a:rPr lang="en-GB" sz="2400" dirty="0">
                          <a:effectLst/>
                          <a:latin typeface="Cambria Math"/>
                          <a:ea typeface="Calibri"/>
                          <a:cs typeface="Times New Roman"/>
                        </a:rPr>
                        <a:t> Given </a:t>
                      </a:r>
                      <a:r>
                        <a:rPr lang="en-GB" sz="2400" b="1" dirty="0">
                          <a:solidFill>
                            <a:srgbClr val="FF0000"/>
                          </a:solidFill>
                          <a:effectLst/>
                          <a:latin typeface="Cambria Math"/>
                          <a:ea typeface="Calibri"/>
                          <a:cs typeface="Times New Roman"/>
                        </a:rPr>
                        <a:t>n obs.</a:t>
                      </a:r>
                      <a:endParaRPr lang="en-GB" sz="2400" dirty="0">
                        <a:effectLst/>
                        <a:latin typeface="Calibri"/>
                        <a:ea typeface="Calibri"/>
                        <a:cs typeface="Times New Roman"/>
                      </a:endParaRPr>
                    </a:p>
                  </a:txBody>
                  <a:tcPr marL="68580" marR="68580" marT="0" marB="0"/>
                </a:tc>
                <a:tc>
                  <a:txBody>
                    <a:bodyPr/>
                    <a:lstStyle/>
                    <a:p>
                      <a:pPr>
                        <a:spcAft>
                          <a:spcPts val="0"/>
                        </a:spcAft>
                      </a:pPr>
                      <a:r>
                        <a:rPr lang="fr-FR" sz="2400" dirty="0">
                          <a:effectLst/>
                          <a:latin typeface="Cambria Math"/>
                          <a:ea typeface="Calibri"/>
                          <a:cs typeface="Times New Roman"/>
                        </a:rPr>
                        <a:t>H</a:t>
                      </a:r>
                      <a:r>
                        <a:rPr lang="fr-FR" sz="2400" baseline="-25000" dirty="0">
                          <a:effectLst/>
                          <a:latin typeface="Cambria Math"/>
                          <a:ea typeface="Calibri"/>
                          <a:cs typeface="Times New Roman"/>
                        </a:rPr>
                        <a:t>0  </a:t>
                      </a:r>
                      <a:r>
                        <a:rPr lang="fr-FR" sz="2400" dirty="0" err="1">
                          <a:effectLst/>
                          <a:latin typeface="Cambria Math"/>
                          <a:ea typeface="Calibri"/>
                          <a:cs typeface="Times New Roman"/>
                        </a:rPr>
                        <a:t>true</a:t>
                      </a:r>
                      <a:r>
                        <a:rPr lang="fr-FR" sz="2400" dirty="0">
                          <a:effectLst/>
                          <a:latin typeface="Cambria Math"/>
                          <a:ea typeface="Calibri"/>
                          <a:cs typeface="Times New Roman"/>
                        </a:rPr>
                        <a:t> (</a:t>
                      </a:r>
                      <a:r>
                        <a:rPr lang="fr-FR" sz="2400" b="1" dirty="0" err="1">
                          <a:effectLst/>
                          <a:latin typeface="Cambria Math"/>
                          <a:ea typeface="Calibri"/>
                          <a:cs typeface="Times New Roman"/>
                        </a:rPr>
                        <a:t>healthy</a:t>
                      </a:r>
                      <a:r>
                        <a:rPr lang="fr-FR" sz="2400" dirty="0">
                          <a:effectLst/>
                          <a:latin typeface="Cambria Math"/>
                          <a:ea typeface="Calibri"/>
                          <a:cs typeface="Times New Roman"/>
                        </a:rPr>
                        <a:t>)</a:t>
                      </a:r>
                      <a:endParaRPr lang="en-GB" sz="2400" dirty="0">
                        <a:effectLst/>
                        <a:latin typeface="Calibri"/>
                        <a:ea typeface="Calibri"/>
                        <a:cs typeface="Times New Roman"/>
                      </a:endParaRPr>
                    </a:p>
                  </a:txBody>
                  <a:tcPr marL="68580" marR="68580" marT="0" marB="0"/>
                </a:tc>
                <a:tc>
                  <a:txBody>
                    <a:bodyPr/>
                    <a:lstStyle/>
                    <a:p>
                      <a:pPr>
                        <a:spcAft>
                          <a:spcPts val="0"/>
                        </a:spcAft>
                      </a:pPr>
                      <a:r>
                        <a:rPr lang="fr-FR" sz="2400" dirty="0">
                          <a:effectLst/>
                          <a:latin typeface="Cambria Math"/>
                          <a:ea typeface="Calibri"/>
                          <a:cs typeface="Times New Roman"/>
                        </a:rPr>
                        <a:t>H</a:t>
                      </a:r>
                      <a:r>
                        <a:rPr lang="fr-FR" sz="2400" baseline="-25000" dirty="0">
                          <a:effectLst/>
                          <a:latin typeface="Cambria Math"/>
                          <a:ea typeface="Calibri"/>
                          <a:cs typeface="Times New Roman"/>
                        </a:rPr>
                        <a:t>1  </a:t>
                      </a:r>
                      <a:r>
                        <a:rPr lang="fr-FR" sz="2400" dirty="0" err="1">
                          <a:effectLst/>
                          <a:latin typeface="Cambria Math"/>
                          <a:ea typeface="Calibri"/>
                          <a:cs typeface="Times New Roman"/>
                        </a:rPr>
                        <a:t>true</a:t>
                      </a:r>
                      <a:r>
                        <a:rPr lang="fr-FR" sz="2400" dirty="0">
                          <a:effectLst/>
                          <a:latin typeface="Cambria Math"/>
                          <a:ea typeface="Calibri"/>
                          <a:cs typeface="Times New Roman"/>
                        </a:rPr>
                        <a:t> (</a:t>
                      </a:r>
                      <a:r>
                        <a:rPr lang="fr-FR" sz="2400" b="1" dirty="0" err="1">
                          <a:effectLst/>
                          <a:latin typeface="Cambria Math"/>
                          <a:ea typeface="Calibri"/>
                          <a:cs typeface="Times New Roman"/>
                        </a:rPr>
                        <a:t>sick</a:t>
                      </a:r>
                      <a:r>
                        <a:rPr lang="fr-FR" sz="2400" dirty="0">
                          <a:effectLst/>
                          <a:latin typeface="Cambria Math"/>
                          <a:ea typeface="Calibri"/>
                          <a:cs typeface="Times New Roman"/>
                        </a:rPr>
                        <a:t>)</a:t>
                      </a:r>
                      <a:endParaRPr lang="en-GB"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70840">
                <a:tc>
                  <a:txBody>
                    <a:bodyPr/>
                    <a:lstStyle/>
                    <a:p>
                      <a:pPr>
                        <a:spcAft>
                          <a:spcPts val="0"/>
                        </a:spcAft>
                      </a:pPr>
                      <a:r>
                        <a:rPr lang="en-GB" sz="2400" dirty="0">
                          <a:effectLst/>
                          <a:latin typeface="Cambria Math"/>
                          <a:ea typeface="Calibri"/>
                          <a:cs typeface="Times New Roman"/>
                        </a:rPr>
                        <a:t>T(</a:t>
                      </a:r>
                      <a:r>
                        <a:rPr lang="en-GB" sz="2400" dirty="0">
                          <a:solidFill>
                            <a:srgbClr val="FF0000"/>
                          </a:solidFill>
                          <a:effectLst/>
                          <a:latin typeface="Cambria Math"/>
                          <a:ea typeface="Calibri"/>
                          <a:cs typeface="Times New Roman"/>
                        </a:rPr>
                        <a:t>n</a:t>
                      </a:r>
                      <a:r>
                        <a:rPr lang="en-GB" sz="2400" dirty="0">
                          <a:effectLst/>
                          <a:latin typeface="Cambria Math"/>
                          <a:ea typeface="Calibri"/>
                          <a:cs typeface="Times New Roman"/>
                        </a:rPr>
                        <a:t>)&lt;t:  </a:t>
                      </a:r>
                    </a:p>
                    <a:p>
                      <a:pPr>
                        <a:spcAft>
                          <a:spcPts val="0"/>
                        </a:spcAft>
                      </a:pPr>
                      <a:r>
                        <a:rPr lang="en-GB" sz="2400" dirty="0">
                          <a:effectLst/>
                          <a:latin typeface="Cambria Math"/>
                          <a:ea typeface="Calibri"/>
                          <a:cs typeface="Times New Roman"/>
                        </a:rPr>
                        <a:t>do not reject </a:t>
                      </a:r>
                      <a:r>
                        <a:rPr lang="fr-FR" sz="2400" dirty="0">
                          <a:effectLst/>
                          <a:latin typeface="Cambria Math"/>
                          <a:ea typeface="Calibri"/>
                          <a:cs typeface="Times New Roman"/>
                        </a:rPr>
                        <a:t>H</a:t>
                      </a:r>
                      <a:r>
                        <a:rPr lang="fr-FR" sz="2400" baseline="-25000" dirty="0">
                          <a:effectLst/>
                          <a:latin typeface="Cambria Math"/>
                          <a:ea typeface="Calibri"/>
                          <a:cs typeface="Times New Roman"/>
                        </a:rPr>
                        <a:t>0</a:t>
                      </a:r>
                    </a:p>
                    <a:p>
                      <a:pPr marL="0" marR="0" indent="0" algn="l" defTabSz="914400" rtl="0" eaLnBrk="1" fontAlgn="auto" latinLnBrk="0" hangingPunct="1">
                        <a:lnSpc>
                          <a:spcPct val="100000"/>
                        </a:lnSpc>
                        <a:spcBef>
                          <a:spcPts val="0"/>
                        </a:spcBef>
                        <a:spcAft>
                          <a:spcPts val="0"/>
                        </a:spcAft>
                        <a:buClrTx/>
                        <a:buSzTx/>
                        <a:buFontTx/>
                        <a:buNone/>
                        <a:tabLst/>
                        <a:defRPr/>
                      </a:pPr>
                      <a:r>
                        <a:rPr lang="en-GB" sz="2400" b="1" dirty="0">
                          <a:effectLst/>
                          <a:latin typeface="Cambria Math"/>
                          <a:ea typeface="Calibri"/>
                          <a:cs typeface="Times New Roman"/>
                        </a:rPr>
                        <a:t>Negative medical</a:t>
                      </a:r>
                      <a:r>
                        <a:rPr lang="en-GB" sz="2400" b="1" baseline="0" dirty="0">
                          <a:effectLst/>
                          <a:latin typeface="Cambria Math"/>
                          <a:ea typeface="Calibri"/>
                          <a:cs typeface="Times New Roman"/>
                        </a:rPr>
                        <a:t> </a:t>
                      </a:r>
                      <a:r>
                        <a:rPr lang="en-GB" sz="2400" b="1" dirty="0">
                          <a:effectLst/>
                          <a:latin typeface="Cambria Math"/>
                          <a:ea typeface="Calibri"/>
                          <a:cs typeface="Times New Roman"/>
                        </a:rPr>
                        <a:t>test</a:t>
                      </a:r>
                      <a:endParaRPr lang="fr-FR" sz="2400" b="1" dirty="0">
                        <a:effectLst/>
                        <a:latin typeface="Calibri"/>
                        <a:ea typeface="Calibri"/>
                        <a:cs typeface="Times New Roman"/>
                      </a:endParaRPr>
                    </a:p>
                    <a:p>
                      <a:pPr>
                        <a:spcAft>
                          <a:spcPts val="0"/>
                        </a:spcAft>
                      </a:pPr>
                      <a:endParaRPr lang="en-GB" sz="2400" dirty="0">
                        <a:effectLst/>
                        <a:latin typeface="Calibri"/>
                        <a:ea typeface="Calibri"/>
                        <a:cs typeface="Times New Roman"/>
                      </a:endParaRPr>
                    </a:p>
                  </a:txBody>
                  <a:tcPr marL="68580" marR="68580" marT="0" marB="0"/>
                </a:tc>
                <a:tc>
                  <a:txBody>
                    <a:bodyPr/>
                    <a:lstStyle/>
                    <a:p>
                      <a:pPr>
                        <a:spcAft>
                          <a:spcPts val="0"/>
                        </a:spcAft>
                      </a:pPr>
                      <a:r>
                        <a:rPr lang="en-GB" sz="2400" dirty="0">
                          <a:effectLst/>
                          <a:latin typeface="Cambria Math"/>
                          <a:ea typeface="Calibri"/>
                          <a:cs typeface="Times New Roman"/>
                        </a:rPr>
                        <a:t>P(T&lt;t | </a:t>
                      </a:r>
                      <a:r>
                        <a:rPr lang="fr-FR" sz="2400" dirty="0">
                          <a:effectLst/>
                          <a:latin typeface="Cambria Math"/>
                          <a:ea typeface="Calibri"/>
                          <a:cs typeface="Times New Roman"/>
                        </a:rPr>
                        <a:t>H</a:t>
                      </a:r>
                      <a:r>
                        <a:rPr lang="fr-FR" sz="2400" baseline="-25000" dirty="0">
                          <a:effectLst/>
                          <a:latin typeface="Cambria Math"/>
                          <a:ea typeface="Calibri"/>
                          <a:cs typeface="Times New Roman"/>
                        </a:rPr>
                        <a:t>0  </a:t>
                      </a:r>
                      <a:r>
                        <a:rPr lang="fr-FR" sz="2400" dirty="0" err="1">
                          <a:effectLst/>
                          <a:latin typeface="Cambria Math"/>
                          <a:ea typeface="Calibri"/>
                          <a:cs typeface="Times New Roman"/>
                        </a:rPr>
                        <a:t>true</a:t>
                      </a:r>
                      <a:r>
                        <a:rPr lang="fr-FR" sz="2400" dirty="0">
                          <a:effectLst/>
                          <a:latin typeface="Cambria Math"/>
                          <a:ea typeface="Calibri"/>
                          <a:cs typeface="Times New Roman"/>
                        </a:rPr>
                        <a:t>)</a:t>
                      </a:r>
                      <a:endParaRPr lang="fr-FR" sz="2400" b="0" dirty="0">
                        <a:effectLst/>
                        <a:latin typeface="Cambria Math"/>
                        <a:ea typeface="Calibri"/>
                        <a:cs typeface="Times New Roman"/>
                      </a:endParaRPr>
                    </a:p>
                    <a:p>
                      <a:pPr>
                        <a:spcAft>
                          <a:spcPts val="0"/>
                        </a:spcAft>
                      </a:pPr>
                      <a:r>
                        <a:rPr lang="fr-FR" sz="2400" b="0" dirty="0">
                          <a:effectLst/>
                          <a:latin typeface="Cambria Math"/>
                          <a:ea typeface="Calibri"/>
                          <a:cs typeface="Times New Roman"/>
                        </a:rPr>
                        <a:t>= 1 - (p-value)</a:t>
                      </a:r>
                    </a:p>
                    <a:p>
                      <a:pPr>
                        <a:spcAft>
                          <a:spcPts val="0"/>
                        </a:spcAft>
                      </a:pPr>
                      <a:r>
                        <a:rPr lang="fr-FR" sz="2400" b="1" dirty="0">
                          <a:effectLst/>
                          <a:latin typeface="Cambria Math"/>
                          <a:ea typeface="Calibri"/>
                          <a:cs typeface="Times New Roman"/>
                        </a:rPr>
                        <a:t>Cf. </a:t>
                      </a:r>
                      <a:r>
                        <a:rPr lang="fr-FR" sz="2400" b="1" dirty="0" err="1">
                          <a:effectLst/>
                          <a:latin typeface="Cambria Math"/>
                          <a:ea typeface="Calibri"/>
                          <a:cs typeface="Times New Roman"/>
                        </a:rPr>
                        <a:t>specificity</a:t>
                      </a:r>
                      <a:r>
                        <a:rPr lang="fr-FR" sz="2400" b="1" dirty="0">
                          <a:effectLst/>
                          <a:latin typeface="Cambria Math"/>
                          <a:ea typeface="Calibri"/>
                          <a:cs typeface="Times New Roman"/>
                        </a:rPr>
                        <a:t>.</a:t>
                      </a:r>
                    </a:p>
                    <a:p>
                      <a:pPr>
                        <a:spcAft>
                          <a:spcPts val="0"/>
                        </a:spcAft>
                      </a:pPr>
                      <a:r>
                        <a:rPr lang="fr-FR" sz="2400" b="1" dirty="0" err="1">
                          <a:effectLst/>
                          <a:latin typeface="Cambria Math"/>
                          <a:ea typeface="Calibri"/>
                          <a:cs typeface="Times New Roman"/>
                        </a:rPr>
                        <a:t>True</a:t>
                      </a:r>
                      <a:r>
                        <a:rPr lang="fr-FR" sz="2400" b="1" dirty="0">
                          <a:effectLst/>
                          <a:latin typeface="Cambria Math"/>
                          <a:ea typeface="Calibri"/>
                          <a:cs typeface="Times New Roman"/>
                        </a:rPr>
                        <a:t> </a:t>
                      </a:r>
                      <a:r>
                        <a:rPr lang="fr-FR" sz="2400" b="1" dirty="0" err="1">
                          <a:effectLst/>
                          <a:latin typeface="Cambria Math"/>
                          <a:ea typeface="Calibri"/>
                          <a:cs typeface="Times New Roman"/>
                        </a:rPr>
                        <a:t>negative</a:t>
                      </a:r>
                      <a:r>
                        <a:rPr lang="fr-FR" sz="2400" b="1" dirty="0">
                          <a:effectLst/>
                          <a:latin typeface="Cambria Math"/>
                          <a:ea typeface="Calibri"/>
                          <a:cs typeface="Times New Roman"/>
                        </a:rPr>
                        <a:t>.</a:t>
                      </a:r>
                      <a:endParaRPr lang="en-GB" sz="2400" b="1" dirty="0">
                        <a:effectLst/>
                        <a:latin typeface="Calibri"/>
                        <a:ea typeface="Calibri"/>
                        <a:cs typeface="Times New Roman"/>
                      </a:endParaRPr>
                    </a:p>
                  </a:txBody>
                  <a:tcPr marL="68580" marR="68580" marT="0" marB="0"/>
                </a:tc>
                <a:tc>
                  <a:txBody>
                    <a:bodyPr/>
                    <a:lstStyle/>
                    <a:p>
                      <a:pPr>
                        <a:spcAft>
                          <a:spcPts val="0"/>
                        </a:spcAft>
                      </a:pPr>
                      <a:r>
                        <a:rPr lang="en-GB" sz="2400" dirty="0">
                          <a:effectLst/>
                          <a:latin typeface="Cambria Math"/>
                          <a:ea typeface="Calibri"/>
                          <a:cs typeface="Times New Roman"/>
                        </a:rPr>
                        <a:t>P(T&lt;t | </a:t>
                      </a:r>
                      <a:r>
                        <a:rPr lang="fr-FR" sz="2400" dirty="0">
                          <a:effectLst/>
                          <a:latin typeface="Cambria Math"/>
                          <a:ea typeface="Calibri"/>
                          <a:cs typeface="Times New Roman"/>
                        </a:rPr>
                        <a:t>H</a:t>
                      </a:r>
                      <a:r>
                        <a:rPr lang="fr-FR" sz="2400" baseline="-25000" dirty="0">
                          <a:effectLst/>
                          <a:latin typeface="Cambria Math"/>
                          <a:ea typeface="Calibri"/>
                          <a:cs typeface="Times New Roman"/>
                        </a:rPr>
                        <a:t>1  </a:t>
                      </a:r>
                      <a:r>
                        <a:rPr lang="fr-FR" sz="2400" dirty="0" err="1">
                          <a:effectLst/>
                          <a:latin typeface="Cambria Math"/>
                          <a:ea typeface="Calibri"/>
                          <a:cs typeface="Times New Roman"/>
                        </a:rPr>
                        <a:t>true</a:t>
                      </a:r>
                      <a:r>
                        <a:rPr lang="fr-FR" sz="2400" dirty="0">
                          <a:effectLst/>
                          <a:latin typeface="Cambria Math"/>
                          <a:ea typeface="Calibri"/>
                          <a:cs typeface="Times New Roman"/>
                        </a:rPr>
                        <a:t>)</a:t>
                      </a:r>
                      <a:endParaRPr lang="en-GB" sz="2400" dirty="0">
                        <a:effectLst/>
                        <a:latin typeface="Calibri"/>
                        <a:ea typeface="Calibri"/>
                        <a:cs typeface="Times New Roman"/>
                      </a:endParaRPr>
                    </a:p>
                    <a:p>
                      <a:pPr>
                        <a:spcAft>
                          <a:spcPts val="0"/>
                        </a:spcAft>
                      </a:pPr>
                      <a:r>
                        <a:rPr lang="fr-FR" sz="2400" dirty="0">
                          <a:effectLst/>
                          <a:latin typeface="Cambria Math"/>
                          <a:ea typeface="Calibri"/>
                          <a:cs typeface="Times New Roman"/>
                        </a:rPr>
                        <a:t>=1- </a:t>
                      </a:r>
                      <a:r>
                        <a:rPr lang="en-GB" sz="2400" dirty="0">
                          <a:effectLst/>
                          <a:latin typeface="Cambria Math"/>
                          <a:ea typeface="Calibri"/>
                          <a:cs typeface="Times New Roman"/>
                        </a:rPr>
                        <a:t>P(T&gt;t | </a:t>
                      </a:r>
                      <a:r>
                        <a:rPr lang="fr-FR" sz="2400" dirty="0">
                          <a:effectLst/>
                          <a:latin typeface="Cambria Math"/>
                          <a:ea typeface="Calibri"/>
                          <a:cs typeface="Times New Roman"/>
                        </a:rPr>
                        <a:t>H</a:t>
                      </a:r>
                      <a:r>
                        <a:rPr lang="fr-FR" sz="2400" baseline="-25000" dirty="0">
                          <a:effectLst/>
                          <a:latin typeface="Cambria Math"/>
                          <a:ea typeface="Calibri"/>
                          <a:cs typeface="Times New Roman"/>
                        </a:rPr>
                        <a:t>1  </a:t>
                      </a:r>
                      <a:r>
                        <a:rPr lang="fr-FR" sz="2400" dirty="0" err="1">
                          <a:effectLst/>
                          <a:latin typeface="Cambria Math"/>
                          <a:ea typeface="Calibri"/>
                          <a:cs typeface="Times New Roman"/>
                        </a:rPr>
                        <a:t>true</a:t>
                      </a:r>
                      <a:r>
                        <a:rPr lang="fr-FR" sz="2400" dirty="0">
                          <a:effectLst/>
                          <a:latin typeface="Cambria Math"/>
                          <a:ea typeface="Calibri"/>
                          <a:cs typeface="Times New Roman"/>
                        </a:rPr>
                        <a:t>)</a:t>
                      </a:r>
                    </a:p>
                    <a:p>
                      <a:pPr>
                        <a:spcAft>
                          <a:spcPts val="0"/>
                        </a:spcAft>
                      </a:pPr>
                      <a:r>
                        <a:rPr lang="fr-FR" sz="2400" dirty="0">
                          <a:effectLst/>
                          <a:latin typeface="Cambria Math"/>
                          <a:ea typeface="Calibri"/>
                          <a:cs typeface="Times New Roman"/>
                        </a:rPr>
                        <a:t>= 1 – power = </a:t>
                      </a:r>
                      <a:r>
                        <a:rPr lang="el-GR" sz="2400" dirty="0">
                          <a:latin typeface="Cambria Math" panose="02040503050406030204" pitchFamily="18" charset="0"/>
                          <a:ea typeface="Cambria Math" panose="02040503050406030204" pitchFamily="18" charset="0"/>
                        </a:rPr>
                        <a:t>β</a:t>
                      </a:r>
                      <a:endParaRPr lang="en-GB" sz="2400" dirty="0">
                        <a:effectLst/>
                        <a:latin typeface="Calibri"/>
                        <a:ea typeface="Calibri"/>
                        <a:cs typeface="Times New Roman"/>
                      </a:endParaRPr>
                    </a:p>
                    <a:p>
                      <a:pPr>
                        <a:spcAft>
                          <a:spcPts val="0"/>
                        </a:spcAft>
                      </a:pPr>
                      <a:r>
                        <a:rPr lang="fr-FR" sz="2400" dirty="0">
                          <a:effectLst/>
                          <a:latin typeface="Cambria Math"/>
                          <a:ea typeface="Calibri"/>
                          <a:cs typeface="Times New Roman"/>
                        </a:rPr>
                        <a:t>Type 2 </a:t>
                      </a:r>
                      <a:r>
                        <a:rPr lang="fr-FR" sz="2400" dirty="0" err="1">
                          <a:effectLst/>
                          <a:latin typeface="Cambria Math"/>
                          <a:ea typeface="Calibri"/>
                          <a:cs typeface="Times New Roman"/>
                        </a:rPr>
                        <a:t>error</a:t>
                      </a:r>
                      <a:endParaRPr lang="fr-FR" sz="2400" dirty="0">
                        <a:effectLst/>
                        <a:latin typeface="Cambria Math"/>
                        <a:ea typeface="Calibri"/>
                        <a:cs typeface="Times New Roman"/>
                      </a:endParaRPr>
                    </a:p>
                    <a:p>
                      <a:pPr>
                        <a:spcAft>
                          <a:spcPts val="0"/>
                        </a:spcAft>
                      </a:pPr>
                      <a:r>
                        <a:rPr lang="fr-FR" sz="2400" b="1" dirty="0">
                          <a:effectLst/>
                          <a:latin typeface="Cambria Math"/>
                          <a:ea typeface="Calibri"/>
                          <a:cs typeface="Times New Roman"/>
                        </a:rPr>
                        <a:t>False</a:t>
                      </a:r>
                      <a:r>
                        <a:rPr lang="fr-FR" sz="2400" b="1" baseline="0" dirty="0">
                          <a:effectLst/>
                          <a:latin typeface="Cambria Math"/>
                          <a:ea typeface="Calibri"/>
                          <a:cs typeface="Times New Roman"/>
                        </a:rPr>
                        <a:t> </a:t>
                      </a:r>
                      <a:r>
                        <a:rPr lang="fr-FR" sz="2400" b="1" baseline="0" dirty="0" err="1">
                          <a:effectLst/>
                          <a:latin typeface="Cambria Math"/>
                          <a:ea typeface="Calibri"/>
                          <a:cs typeface="Times New Roman"/>
                        </a:rPr>
                        <a:t>negative</a:t>
                      </a:r>
                      <a:endParaRPr lang="en-GB" sz="2400" b="1"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spcAft>
                          <a:spcPts val="0"/>
                        </a:spcAft>
                      </a:pPr>
                      <a:r>
                        <a:rPr lang="en-GB" sz="2400" dirty="0">
                          <a:effectLst/>
                          <a:latin typeface="Cambria Math"/>
                          <a:ea typeface="Calibri"/>
                          <a:cs typeface="Times New Roman"/>
                        </a:rPr>
                        <a:t>T(</a:t>
                      </a:r>
                      <a:r>
                        <a:rPr lang="en-GB" sz="2400" dirty="0">
                          <a:solidFill>
                            <a:srgbClr val="FF0000"/>
                          </a:solidFill>
                          <a:effectLst/>
                          <a:latin typeface="Cambria Math"/>
                          <a:ea typeface="Calibri"/>
                          <a:cs typeface="Times New Roman"/>
                        </a:rPr>
                        <a:t>n</a:t>
                      </a:r>
                      <a:r>
                        <a:rPr lang="en-GB" sz="2400" dirty="0">
                          <a:effectLst/>
                          <a:latin typeface="Cambria Math"/>
                          <a:ea typeface="Calibri"/>
                          <a:cs typeface="Times New Roman"/>
                        </a:rPr>
                        <a:t>)&gt;t:  </a:t>
                      </a:r>
                    </a:p>
                    <a:p>
                      <a:pPr>
                        <a:spcAft>
                          <a:spcPts val="0"/>
                        </a:spcAft>
                      </a:pPr>
                      <a:r>
                        <a:rPr lang="en-GB" sz="2400" dirty="0">
                          <a:effectLst/>
                          <a:latin typeface="Cambria Math"/>
                          <a:ea typeface="Calibri"/>
                          <a:cs typeface="Times New Roman"/>
                        </a:rPr>
                        <a:t>reject </a:t>
                      </a:r>
                      <a:r>
                        <a:rPr lang="fr-FR" sz="2400" dirty="0">
                          <a:effectLst/>
                          <a:latin typeface="Cambria Math"/>
                          <a:ea typeface="Calibri"/>
                          <a:cs typeface="Times New Roman"/>
                        </a:rPr>
                        <a:t>H</a:t>
                      </a:r>
                      <a:r>
                        <a:rPr lang="fr-FR" sz="2400" baseline="-25000" dirty="0">
                          <a:effectLst/>
                          <a:latin typeface="Cambria Math"/>
                          <a:ea typeface="Calibri"/>
                          <a:cs typeface="Times New Roman"/>
                        </a:rPr>
                        <a:t>0</a:t>
                      </a:r>
                    </a:p>
                    <a:p>
                      <a:pPr marL="0" marR="0" indent="0" algn="l" defTabSz="914400" rtl="0" eaLnBrk="1" fontAlgn="auto" latinLnBrk="0" hangingPunct="1">
                        <a:lnSpc>
                          <a:spcPct val="100000"/>
                        </a:lnSpc>
                        <a:spcBef>
                          <a:spcPts val="0"/>
                        </a:spcBef>
                        <a:spcAft>
                          <a:spcPts val="0"/>
                        </a:spcAft>
                        <a:buClrTx/>
                        <a:buSzTx/>
                        <a:buFontTx/>
                        <a:buNone/>
                        <a:tabLst/>
                        <a:defRPr/>
                      </a:pPr>
                      <a:r>
                        <a:rPr lang="en-GB" sz="2400" b="1" dirty="0">
                          <a:effectLst/>
                          <a:latin typeface="Cambria Math"/>
                          <a:ea typeface="Calibri"/>
                          <a:cs typeface="Times New Roman"/>
                        </a:rPr>
                        <a:t>Positive </a:t>
                      </a:r>
                    </a:p>
                    <a:p>
                      <a:pPr marL="0" marR="0" indent="0" algn="l" defTabSz="914400" rtl="0" eaLnBrk="1" fontAlgn="auto" latinLnBrk="0" hangingPunct="1">
                        <a:lnSpc>
                          <a:spcPct val="100000"/>
                        </a:lnSpc>
                        <a:spcBef>
                          <a:spcPts val="0"/>
                        </a:spcBef>
                        <a:spcAft>
                          <a:spcPts val="0"/>
                        </a:spcAft>
                        <a:buClrTx/>
                        <a:buSzTx/>
                        <a:buFontTx/>
                        <a:buNone/>
                        <a:tabLst/>
                        <a:defRPr/>
                      </a:pPr>
                      <a:r>
                        <a:rPr lang="en-GB" sz="2400" b="1" dirty="0">
                          <a:effectLst/>
                          <a:latin typeface="Cambria Math"/>
                          <a:ea typeface="Calibri"/>
                          <a:cs typeface="Times New Roman"/>
                        </a:rPr>
                        <a:t>medical</a:t>
                      </a:r>
                      <a:r>
                        <a:rPr lang="en-GB" sz="2400" b="1" baseline="0" dirty="0">
                          <a:effectLst/>
                          <a:latin typeface="Cambria Math"/>
                          <a:ea typeface="Calibri"/>
                          <a:cs typeface="Times New Roman"/>
                        </a:rPr>
                        <a:t> </a:t>
                      </a:r>
                      <a:r>
                        <a:rPr lang="en-GB" sz="2400" b="1" dirty="0">
                          <a:effectLst/>
                          <a:latin typeface="Cambria Math"/>
                          <a:ea typeface="Calibri"/>
                          <a:cs typeface="Times New Roman"/>
                        </a:rPr>
                        <a:t>test</a:t>
                      </a:r>
                      <a:endParaRPr lang="fr-FR" sz="2400" b="1" dirty="0">
                        <a:effectLst/>
                        <a:latin typeface="Calibri"/>
                        <a:ea typeface="Calibri"/>
                        <a:cs typeface="Times New Roman"/>
                      </a:endParaRPr>
                    </a:p>
                    <a:p>
                      <a:pPr>
                        <a:spcAft>
                          <a:spcPts val="0"/>
                        </a:spcAft>
                      </a:pPr>
                      <a:endParaRPr lang="en-GB" sz="2400" dirty="0">
                        <a:effectLst/>
                        <a:latin typeface="Calibri"/>
                        <a:ea typeface="Calibri"/>
                        <a:cs typeface="Times New Roman"/>
                      </a:endParaRPr>
                    </a:p>
                  </a:txBody>
                  <a:tcPr marL="68580" marR="68580" marT="0" marB="0"/>
                </a:tc>
                <a:tc>
                  <a:txBody>
                    <a:bodyPr/>
                    <a:lstStyle/>
                    <a:p>
                      <a:pPr>
                        <a:spcAft>
                          <a:spcPts val="0"/>
                        </a:spcAft>
                      </a:pPr>
                      <a:r>
                        <a:rPr lang="fr-FR" sz="2400" dirty="0">
                          <a:effectLst/>
                          <a:latin typeface="Cambria Math"/>
                          <a:ea typeface="Calibri"/>
                          <a:cs typeface="Times New Roman"/>
                        </a:rPr>
                        <a:t>P(T&gt;t | H</a:t>
                      </a:r>
                      <a:r>
                        <a:rPr lang="fr-FR" sz="2400" baseline="-25000" dirty="0">
                          <a:effectLst/>
                          <a:latin typeface="Cambria Math"/>
                          <a:ea typeface="Calibri"/>
                          <a:cs typeface="Times New Roman"/>
                        </a:rPr>
                        <a:t>0  </a:t>
                      </a:r>
                      <a:r>
                        <a:rPr lang="fr-FR" sz="2400" dirty="0" err="1">
                          <a:effectLst/>
                          <a:latin typeface="Cambria Math"/>
                          <a:ea typeface="Calibri"/>
                          <a:cs typeface="Times New Roman"/>
                        </a:rPr>
                        <a:t>true</a:t>
                      </a:r>
                      <a:r>
                        <a:rPr lang="fr-FR" sz="2400" dirty="0">
                          <a:effectLst/>
                          <a:latin typeface="Cambria Math"/>
                          <a:ea typeface="Calibri"/>
                          <a:cs typeface="Times New Roman"/>
                        </a:rPr>
                        <a:t>)=</a:t>
                      </a:r>
                      <a:r>
                        <a:rPr lang="el-GR" sz="2400" dirty="0">
                          <a:effectLst/>
                          <a:latin typeface="Cambria Math"/>
                          <a:ea typeface="Calibri"/>
                          <a:cs typeface="Times New Roman"/>
                        </a:rPr>
                        <a:t>α</a:t>
                      </a:r>
                      <a:endParaRPr lang="en-GB" sz="2400" dirty="0">
                        <a:effectLst/>
                        <a:latin typeface="Calibri"/>
                        <a:ea typeface="Calibri"/>
                        <a:cs typeface="Times New Roman"/>
                      </a:endParaRPr>
                    </a:p>
                    <a:p>
                      <a:pPr>
                        <a:spcAft>
                          <a:spcPts val="0"/>
                        </a:spcAft>
                      </a:pPr>
                      <a:r>
                        <a:rPr lang="fr-FR" sz="2400" dirty="0">
                          <a:effectLst/>
                          <a:latin typeface="Cambria Math"/>
                          <a:ea typeface="Calibri"/>
                          <a:cs typeface="Times New Roman"/>
                        </a:rPr>
                        <a:t>= p-value&lt;</a:t>
                      </a:r>
                      <a:r>
                        <a:rPr lang="fr-FR" sz="2400" b="1" dirty="0">
                          <a:solidFill>
                            <a:srgbClr val="FF0000"/>
                          </a:solidFill>
                          <a:effectLst/>
                          <a:latin typeface="Cambria Math"/>
                          <a:ea typeface="Calibri"/>
                          <a:cs typeface="Times New Roman"/>
                        </a:rPr>
                        <a:t>5%</a:t>
                      </a:r>
                    </a:p>
                    <a:p>
                      <a:pPr>
                        <a:spcAft>
                          <a:spcPts val="0"/>
                        </a:spcAft>
                      </a:pPr>
                      <a:r>
                        <a:rPr lang="fr-FR" sz="2400" dirty="0">
                          <a:effectLst/>
                          <a:latin typeface="Cambria Math"/>
                          <a:ea typeface="Calibri"/>
                          <a:cs typeface="Times New Roman"/>
                        </a:rPr>
                        <a:t>Type 1 </a:t>
                      </a:r>
                      <a:r>
                        <a:rPr lang="fr-FR" sz="2400" dirty="0" err="1">
                          <a:effectLst/>
                          <a:latin typeface="Cambria Math"/>
                          <a:ea typeface="Calibri"/>
                          <a:cs typeface="Times New Roman"/>
                        </a:rPr>
                        <a:t>error</a:t>
                      </a:r>
                      <a:endParaRPr lang="fr-FR" sz="2400" dirty="0">
                        <a:effectLst/>
                        <a:latin typeface="Cambria Math"/>
                        <a:ea typeface="Calibri"/>
                        <a:cs typeface="Times New Roman"/>
                      </a:endParaRPr>
                    </a:p>
                    <a:p>
                      <a:pPr>
                        <a:spcAft>
                          <a:spcPts val="0"/>
                        </a:spcAft>
                      </a:pPr>
                      <a:r>
                        <a:rPr lang="fr-FR" sz="2400" b="1" dirty="0">
                          <a:effectLst/>
                          <a:latin typeface="Cambria Math"/>
                          <a:ea typeface="Calibri"/>
                          <a:cs typeface="Times New Roman"/>
                        </a:rPr>
                        <a:t>False positive</a:t>
                      </a:r>
                      <a:endParaRPr lang="en-GB" sz="2400" b="1" dirty="0">
                        <a:effectLst/>
                        <a:latin typeface="Calibri"/>
                        <a:ea typeface="Calibri"/>
                        <a:cs typeface="Times New Roman"/>
                      </a:endParaRPr>
                    </a:p>
                  </a:txBody>
                  <a:tcPr marL="68580" marR="68580" marT="0" marB="0"/>
                </a:tc>
                <a:tc>
                  <a:txBody>
                    <a:bodyPr/>
                    <a:lstStyle/>
                    <a:p>
                      <a:pPr>
                        <a:spcAft>
                          <a:spcPts val="0"/>
                        </a:spcAft>
                      </a:pPr>
                      <a:r>
                        <a:rPr lang="en-GB" sz="2400" dirty="0">
                          <a:effectLst/>
                          <a:latin typeface="Cambria Math"/>
                          <a:ea typeface="Calibri"/>
                          <a:cs typeface="Times New Roman"/>
                        </a:rPr>
                        <a:t>P(T&gt;t | H</a:t>
                      </a:r>
                      <a:r>
                        <a:rPr lang="en-GB" sz="2400" baseline="-25000" dirty="0">
                          <a:effectLst/>
                          <a:latin typeface="Cambria Math"/>
                          <a:ea typeface="Calibri"/>
                          <a:cs typeface="Times New Roman"/>
                        </a:rPr>
                        <a:t>1  </a:t>
                      </a:r>
                      <a:r>
                        <a:rPr lang="en-GB" sz="2400" dirty="0">
                          <a:effectLst/>
                          <a:latin typeface="Cambria Math"/>
                          <a:ea typeface="Calibri"/>
                          <a:cs typeface="Times New Roman"/>
                        </a:rPr>
                        <a:t>true)=1-</a:t>
                      </a:r>
                      <a:r>
                        <a:rPr lang="el-GR" sz="2400" dirty="0">
                          <a:effectLst/>
                          <a:latin typeface="Cambria Math"/>
                          <a:ea typeface="Calibri"/>
                          <a:cs typeface="Times New Roman"/>
                        </a:rPr>
                        <a:t>β</a:t>
                      </a:r>
                      <a:endParaRPr lang="en-GB" sz="2400" dirty="0">
                        <a:effectLst/>
                        <a:latin typeface="Calibri"/>
                        <a:ea typeface="Calibri"/>
                        <a:cs typeface="Times New Roman"/>
                      </a:endParaRPr>
                    </a:p>
                    <a:p>
                      <a:pPr>
                        <a:spcAft>
                          <a:spcPts val="0"/>
                        </a:spcAft>
                      </a:pPr>
                      <a:r>
                        <a:rPr lang="en-GB" sz="2400" b="0" dirty="0">
                          <a:effectLst/>
                          <a:latin typeface="Cambria Math"/>
                          <a:ea typeface="Calibri"/>
                          <a:cs typeface="Times New Roman"/>
                        </a:rPr>
                        <a:t>power </a:t>
                      </a:r>
                      <a:r>
                        <a:rPr lang="en-GB" sz="2400" dirty="0">
                          <a:effectLst/>
                          <a:latin typeface="Cambria Math"/>
                          <a:ea typeface="Calibri"/>
                          <a:cs typeface="Times New Roman"/>
                        </a:rPr>
                        <a:t> of the test</a:t>
                      </a:r>
                    </a:p>
                    <a:p>
                      <a:pPr>
                        <a:spcAft>
                          <a:spcPts val="0"/>
                        </a:spcAft>
                      </a:pPr>
                      <a:r>
                        <a:rPr lang="fr-FR" sz="2400" dirty="0">
                          <a:effectLst/>
                          <a:latin typeface="Cambria Math"/>
                          <a:ea typeface="Calibri"/>
                          <a:cs typeface="Times New Roman"/>
                        </a:rPr>
                        <a:t>E.g. power &gt; </a:t>
                      </a:r>
                      <a:r>
                        <a:rPr lang="fr-FR" sz="2400" b="1" dirty="0">
                          <a:solidFill>
                            <a:srgbClr val="FF0000"/>
                          </a:solidFill>
                          <a:effectLst/>
                          <a:latin typeface="Cambria Math"/>
                          <a:ea typeface="Calibri"/>
                          <a:cs typeface="Times New Roman"/>
                        </a:rPr>
                        <a:t>80% </a:t>
                      </a:r>
                      <a:r>
                        <a:rPr lang="fr-FR" sz="2400" b="1" dirty="0" err="1">
                          <a:solidFill>
                            <a:srgbClr val="FF0000"/>
                          </a:solidFill>
                          <a:effectLst/>
                          <a:latin typeface="Cambria Math"/>
                          <a:ea typeface="Calibri"/>
                          <a:cs typeface="Times New Roman"/>
                        </a:rPr>
                        <a:t>given</a:t>
                      </a:r>
                      <a:r>
                        <a:rPr lang="fr-FR" sz="2400" b="1" dirty="0">
                          <a:solidFill>
                            <a:srgbClr val="FF0000"/>
                          </a:solidFill>
                          <a:effectLst/>
                          <a:latin typeface="Cambria Math"/>
                          <a:ea typeface="Calibri"/>
                          <a:cs typeface="Times New Roman"/>
                        </a:rPr>
                        <a:t> p-value&lt;5%</a:t>
                      </a:r>
                    </a:p>
                    <a:p>
                      <a:pPr>
                        <a:spcAft>
                          <a:spcPts val="0"/>
                        </a:spcAft>
                      </a:pPr>
                      <a:r>
                        <a:rPr lang="fr-FR" sz="2400" b="1" dirty="0">
                          <a:effectLst/>
                          <a:latin typeface="Cambria Math"/>
                          <a:ea typeface="Calibri"/>
                          <a:cs typeface="Times New Roman"/>
                        </a:rPr>
                        <a:t>Cf. </a:t>
                      </a:r>
                      <a:r>
                        <a:rPr lang="fr-FR" sz="2400" b="1" dirty="0" err="1">
                          <a:effectLst/>
                          <a:latin typeface="Cambria Math"/>
                          <a:ea typeface="Calibri"/>
                          <a:cs typeface="Times New Roman"/>
                        </a:rPr>
                        <a:t>sensitivity</a:t>
                      </a:r>
                      <a:endParaRPr lang="fr-FR" sz="2400" b="1" dirty="0">
                        <a:effectLst/>
                        <a:latin typeface="Cambria Math"/>
                        <a:ea typeface="Calibri"/>
                        <a:cs typeface="Times New Roman"/>
                      </a:endParaRPr>
                    </a:p>
                    <a:p>
                      <a:pPr>
                        <a:spcAft>
                          <a:spcPts val="0"/>
                        </a:spcAft>
                      </a:pPr>
                      <a:r>
                        <a:rPr lang="fr-FR" sz="2400" b="1" dirty="0" err="1">
                          <a:effectLst/>
                          <a:latin typeface="Cambria Math"/>
                          <a:ea typeface="Calibri"/>
                          <a:cs typeface="Times New Roman"/>
                        </a:rPr>
                        <a:t>True</a:t>
                      </a:r>
                      <a:r>
                        <a:rPr lang="fr-FR" sz="2400" b="1" dirty="0">
                          <a:effectLst/>
                          <a:latin typeface="Cambria Math"/>
                          <a:ea typeface="Calibri"/>
                          <a:cs typeface="Times New Roman"/>
                        </a:rPr>
                        <a:t> positive</a:t>
                      </a:r>
                      <a:endParaRPr lang="en-GB" sz="2400" b="1"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spcAft>
                          <a:spcPts val="0"/>
                        </a:spcAft>
                      </a:pPr>
                      <a:r>
                        <a:rPr lang="en-GB" sz="2400" dirty="0">
                          <a:effectLst/>
                          <a:latin typeface="Cambria Math"/>
                          <a:ea typeface="Calibri"/>
                          <a:cs typeface="Times New Roman"/>
                        </a:rPr>
                        <a:t> Sum</a:t>
                      </a:r>
                      <a:r>
                        <a:rPr lang="en-GB" sz="2400" baseline="0" dirty="0">
                          <a:effectLst/>
                          <a:latin typeface="Cambria Math"/>
                          <a:ea typeface="Calibri"/>
                          <a:cs typeface="Times New Roman"/>
                        </a:rPr>
                        <a:t> of </a:t>
                      </a:r>
                      <a:r>
                        <a:rPr lang="en-GB" sz="2400" baseline="0" dirty="0" err="1">
                          <a:effectLst/>
                          <a:latin typeface="Cambria Math"/>
                          <a:ea typeface="Calibri"/>
                          <a:cs typeface="Times New Roman"/>
                        </a:rPr>
                        <a:t>proba</a:t>
                      </a:r>
                      <a:r>
                        <a:rPr lang="en-GB" sz="2400" baseline="0" dirty="0">
                          <a:effectLst/>
                          <a:latin typeface="Cambria Math"/>
                          <a:ea typeface="Calibri"/>
                          <a:cs typeface="Times New Roman"/>
                        </a:rPr>
                        <a:t>:</a:t>
                      </a:r>
                      <a:endParaRPr lang="en-GB" sz="2400" dirty="0">
                        <a:effectLst/>
                        <a:latin typeface="Calibri"/>
                        <a:ea typeface="Calibri"/>
                        <a:cs typeface="Times New Roman"/>
                      </a:endParaRPr>
                    </a:p>
                  </a:txBody>
                  <a:tcPr marL="68580" marR="68580" marT="0" marB="0"/>
                </a:tc>
                <a:tc>
                  <a:txBody>
                    <a:bodyPr/>
                    <a:lstStyle/>
                    <a:p>
                      <a:pPr>
                        <a:spcAft>
                          <a:spcPts val="0"/>
                        </a:spcAft>
                      </a:pPr>
                      <a:r>
                        <a:rPr lang="en-GB" sz="2400" dirty="0">
                          <a:effectLst/>
                          <a:latin typeface="Cambria Math"/>
                          <a:ea typeface="Calibri"/>
                          <a:cs typeface="Times New Roman"/>
                        </a:rPr>
                        <a:t>1 (sum of column)</a:t>
                      </a:r>
                      <a:endParaRPr lang="en-GB" sz="2400" dirty="0">
                        <a:effectLst/>
                        <a:latin typeface="Calibri"/>
                        <a:ea typeface="Calibri"/>
                        <a:cs typeface="Times New Roman"/>
                      </a:endParaRPr>
                    </a:p>
                  </a:txBody>
                  <a:tcPr marL="68580" marR="68580" marT="0" marB="0"/>
                </a:tc>
                <a:tc>
                  <a:txBody>
                    <a:bodyPr/>
                    <a:lstStyle/>
                    <a:p>
                      <a:pPr>
                        <a:spcAft>
                          <a:spcPts val="0"/>
                        </a:spcAft>
                      </a:pPr>
                      <a:r>
                        <a:rPr lang="en-GB" sz="2400" dirty="0">
                          <a:effectLst/>
                          <a:latin typeface="Cambria Math"/>
                          <a:ea typeface="Calibri"/>
                          <a:cs typeface="Times New Roman"/>
                        </a:rPr>
                        <a:t>1 (sum of column)</a:t>
                      </a:r>
                      <a:endParaRPr lang="en-GB"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962037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B3A2A1-28EB-42DC-B9F7-EADCDB2488C1}"/>
              </a:ext>
            </a:extLst>
          </p:cNvPr>
          <p:cNvSpPr>
            <a:spLocks noGrp="1"/>
          </p:cNvSpPr>
          <p:nvPr>
            <p:ph type="title"/>
          </p:nvPr>
        </p:nvSpPr>
        <p:spPr/>
        <p:txBody>
          <a:bodyPr/>
          <a:lstStyle/>
          <a:p>
            <a:r>
              <a:rPr lang="fr-FR" dirty="0" err="1"/>
              <a:t>Statistical</a:t>
            </a:r>
            <a:r>
              <a:rPr lang="fr-FR" dirty="0"/>
              <a:t> tests </a:t>
            </a:r>
            <a:r>
              <a:rPr lang="fr-FR" dirty="0" err="1"/>
              <a:t>theory</a:t>
            </a:r>
            <a:endParaRPr lang="fr-FR" dirty="0"/>
          </a:p>
        </p:txBody>
      </p:sp>
      <p:sp>
        <p:nvSpPr>
          <p:cNvPr id="3" name="Espace réservé du contenu 2">
            <a:extLst>
              <a:ext uri="{FF2B5EF4-FFF2-40B4-BE49-F238E27FC236}">
                <a16:creationId xmlns:a16="http://schemas.microsoft.com/office/drawing/2014/main" id="{1BBAC24B-BB29-4B7D-A672-55477E5165D0}"/>
              </a:ext>
            </a:extLst>
          </p:cNvPr>
          <p:cNvSpPr>
            <a:spLocks noGrp="1"/>
          </p:cNvSpPr>
          <p:nvPr>
            <p:ph idx="1"/>
          </p:nvPr>
        </p:nvSpPr>
        <p:spPr/>
        <p:txBody>
          <a:bodyPr>
            <a:normAutofit fontScale="70000" lnSpcReduction="20000"/>
          </a:bodyPr>
          <a:lstStyle/>
          <a:p>
            <a:pPr marL="0" indent="0">
              <a:buNone/>
            </a:pPr>
            <a:r>
              <a:rPr lang="en-US" dirty="0"/>
              <a:t>Student (1908). The probable error of a mean. </a:t>
            </a:r>
            <a:r>
              <a:rPr lang="en-US" i="1" dirty="0" err="1"/>
              <a:t>Biometrika</a:t>
            </a:r>
            <a:r>
              <a:rPr lang="en-US" dirty="0"/>
              <a:t>, 1-25. </a:t>
            </a:r>
            <a:r>
              <a:rPr lang="fr-FR" dirty="0"/>
              <a:t>(William Gosset (1876-1937) </a:t>
            </a:r>
            <a:r>
              <a:rPr lang="fr-FR" dirty="0" err="1"/>
              <a:t>working</a:t>
            </a:r>
            <a:r>
              <a:rPr lang="fr-FR" dirty="0"/>
              <a:t> in Guinness, Dublin).</a:t>
            </a:r>
          </a:p>
          <a:p>
            <a:pPr marL="0" indent="0">
              <a:buNone/>
            </a:pPr>
            <a:r>
              <a:rPr lang="fr-FR" dirty="0"/>
              <a:t>Ronald Fisher (1925) </a:t>
            </a:r>
            <a:r>
              <a:rPr lang="fr-FR" i="1" dirty="0" err="1"/>
              <a:t>Statistical</a:t>
            </a:r>
            <a:r>
              <a:rPr lang="fr-FR" i="1" dirty="0"/>
              <a:t> </a:t>
            </a:r>
            <a:r>
              <a:rPr lang="fr-FR" i="1" dirty="0" err="1"/>
              <a:t>methods</a:t>
            </a:r>
            <a:r>
              <a:rPr lang="fr-FR" i="1" dirty="0"/>
              <a:t> for the research </a:t>
            </a:r>
            <a:r>
              <a:rPr lang="fr-FR" i="1" dirty="0" err="1"/>
              <a:t>worker</a:t>
            </a:r>
            <a:r>
              <a:rPr lang="fr-FR" i="1" dirty="0"/>
              <a:t>. </a:t>
            </a:r>
            <a:r>
              <a:rPr lang="fr-FR" dirty="0" err="1"/>
              <a:t>Extend</a:t>
            </a:r>
            <a:r>
              <a:rPr lang="fr-FR" dirty="0"/>
              <a:t> </a:t>
            </a:r>
            <a:r>
              <a:rPr lang="fr-FR" dirty="0" err="1"/>
              <a:t>Student’s</a:t>
            </a:r>
            <a:r>
              <a:rPr lang="fr-FR" dirty="0"/>
              <a:t> t test and set the 5% </a:t>
            </a:r>
            <a:r>
              <a:rPr lang="fr-FR" dirty="0" err="1"/>
              <a:t>threshold</a:t>
            </a:r>
            <a:r>
              <a:rPr lang="fr-FR" dirty="0"/>
              <a:t>: p-value &lt; 5%.</a:t>
            </a:r>
          </a:p>
          <a:p>
            <a:pPr marL="0" indent="0">
              <a:buNone/>
            </a:pPr>
            <a:r>
              <a:rPr lang="en-US" dirty="0" err="1"/>
              <a:t>Neyman</a:t>
            </a:r>
            <a:r>
              <a:rPr lang="en-US" dirty="0"/>
              <a:t>, J., &amp; Pearson, E. S. (1933). IX. On the problem of the most efficient tests of statistical hypotheses. </a:t>
            </a:r>
            <a:r>
              <a:rPr lang="en-US" i="1" dirty="0"/>
              <a:t>Philosophical Transactions of the Royal Society of London. Series A, Containing Papers of a Mathematical or Physical Character</a:t>
            </a:r>
            <a:r>
              <a:rPr lang="en-US" dirty="0"/>
              <a:t>, </a:t>
            </a:r>
            <a:r>
              <a:rPr lang="en-US" i="1" dirty="0"/>
              <a:t>231</a:t>
            </a:r>
            <a:r>
              <a:rPr lang="en-US" dirty="0"/>
              <a:t>(694-706), 289-337.</a:t>
            </a:r>
          </a:p>
          <a:p>
            <a:pPr marL="0" indent="0" algn="just">
              <a:buNone/>
            </a:pPr>
            <a:r>
              <a:rPr lang="fr-FR" dirty="0"/>
              <a:t>Alternative </a:t>
            </a:r>
            <a:r>
              <a:rPr lang="fr-FR" dirty="0" err="1"/>
              <a:t>hypothesis</a:t>
            </a:r>
            <a:r>
              <a:rPr lang="fr-FR" dirty="0"/>
              <a:t> </a:t>
            </a:r>
            <a:r>
              <a:rPr lang="fr-FR" dirty="0" err="1"/>
              <a:t>with</a:t>
            </a:r>
            <a:r>
              <a:rPr lang="fr-FR" dirty="0"/>
              <a:t> type 2 </a:t>
            </a:r>
            <a:r>
              <a:rPr lang="fr-FR" dirty="0" err="1"/>
              <a:t>error</a:t>
            </a:r>
            <a:r>
              <a:rPr lang="fr-FR" dirty="0"/>
              <a:t> and power. A good test </a:t>
            </a:r>
            <a:r>
              <a:rPr lang="fr-FR" dirty="0" err="1"/>
              <a:t>minimize</a:t>
            </a:r>
            <a:r>
              <a:rPr lang="fr-FR" dirty="0"/>
              <a:t> type 2 </a:t>
            </a:r>
            <a:r>
              <a:rPr lang="fr-FR" dirty="0" err="1"/>
              <a:t>error</a:t>
            </a:r>
            <a:r>
              <a:rPr lang="fr-FR" dirty="0"/>
              <a:t> (1-Power) </a:t>
            </a:r>
            <a:r>
              <a:rPr lang="fr-FR" dirty="0" err="1"/>
              <a:t>subject</a:t>
            </a:r>
            <a:r>
              <a:rPr lang="fr-FR" dirty="0"/>
              <a:t> to a </a:t>
            </a:r>
            <a:r>
              <a:rPr lang="fr-FR" dirty="0" err="1"/>
              <a:t>given</a:t>
            </a:r>
            <a:r>
              <a:rPr lang="fr-FR" dirty="0"/>
              <a:t> minimal value of type 1 </a:t>
            </a:r>
            <a:r>
              <a:rPr lang="fr-FR" dirty="0" err="1"/>
              <a:t>error</a:t>
            </a:r>
            <a:r>
              <a:rPr lang="fr-FR" dirty="0"/>
              <a:t> (e.g. 5%). </a:t>
            </a:r>
          </a:p>
          <a:p>
            <a:pPr marL="0" indent="0">
              <a:buNone/>
            </a:pPr>
            <a:endParaRPr lang="fr-FR" i="1" dirty="0"/>
          </a:p>
        </p:txBody>
      </p:sp>
    </p:spTree>
    <p:extLst>
      <p:ext uri="{BB962C8B-B14F-4D97-AF65-F5344CB8AC3E}">
        <p14:creationId xmlns:p14="http://schemas.microsoft.com/office/powerpoint/2010/main" val="2223951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en-US" sz="2400" dirty="0"/>
              <a:t>Problem 1: p(</a:t>
            </a:r>
            <a:r>
              <a:rPr lang="fr-FR" sz="2400" dirty="0"/>
              <a:t>H</a:t>
            </a:r>
            <a:r>
              <a:rPr lang="fr-FR" sz="2400" baseline="-25000" dirty="0"/>
              <a:t>0</a:t>
            </a:r>
            <a:r>
              <a:rPr lang="fr-FR" sz="2400" dirty="0"/>
              <a:t> </a:t>
            </a:r>
            <a:r>
              <a:rPr lang="fr-FR" sz="2400" dirty="0" err="1"/>
              <a:t>true</a:t>
            </a:r>
            <a:r>
              <a:rPr lang="fr-FR" sz="2400" dirty="0"/>
              <a:t> </a:t>
            </a:r>
            <a:r>
              <a:rPr lang="en-US" sz="2400" dirty="0"/>
              <a:t>| </a:t>
            </a:r>
            <a:r>
              <a:rPr lang="fr-FR" sz="2400" dirty="0">
                <a:solidFill>
                  <a:srgbClr val="FF0000"/>
                </a:solidFill>
              </a:rPr>
              <a:t>test </a:t>
            </a:r>
            <a:r>
              <a:rPr lang="fr-FR" sz="2400" dirty="0" err="1">
                <a:solidFill>
                  <a:srgbClr val="FF0000"/>
                </a:solidFill>
              </a:rPr>
              <a:t>statistic</a:t>
            </a:r>
            <a:r>
              <a:rPr lang="fr-FR" sz="2400" dirty="0">
                <a:solidFill>
                  <a:srgbClr val="FF0000"/>
                </a:solidFill>
              </a:rPr>
              <a:t> |T|&gt; t</a:t>
            </a:r>
            <a:r>
              <a:rPr lang="el-GR" sz="2400" baseline="-25000" dirty="0">
                <a:solidFill>
                  <a:srgbClr val="FF0000"/>
                </a:solidFill>
              </a:rPr>
              <a:t>α</a:t>
            </a:r>
            <a:r>
              <a:rPr lang="el-GR" sz="2400" baseline="-25000" dirty="0"/>
              <a:t> </a:t>
            </a:r>
            <a:r>
              <a:rPr lang="fr-FR" sz="2400" dirty="0"/>
              <a:t> </a:t>
            </a:r>
            <a:r>
              <a:rPr lang="en-US" sz="2400" dirty="0"/>
              <a:t>) &lt; </a:t>
            </a:r>
            <a:r>
              <a:rPr lang="el-GR" sz="2400" dirty="0"/>
              <a:t>α</a:t>
            </a:r>
            <a:r>
              <a:rPr lang="fr-FR" sz="2400" dirty="0"/>
              <a:t>=</a:t>
            </a:r>
            <a:r>
              <a:rPr lang="en-US" sz="2400" dirty="0"/>
              <a:t>5% </a:t>
            </a:r>
            <a:r>
              <a:rPr lang="en-US" sz="2400" dirty="0">
                <a:solidFill>
                  <a:srgbClr val="FF0000"/>
                </a:solidFill>
              </a:rPr>
              <a:t>is WRONG.</a:t>
            </a:r>
            <a:br>
              <a:rPr lang="en-US" sz="2400" dirty="0"/>
            </a:br>
            <a:r>
              <a:rPr lang="fr-FR" sz="2400" dirty="0"/>
              <a:t>p(</a:t>
            </a:r>
            <a:r>
              <a:rPr lang="fr-FR" altLang="fr-FR" sz="2400" dirty="0" err="1"/>
              <a:t>rejecting</a:t>
            </a:r>
            <a:r>
              <a:rPr lang="fr-FR" altLang="fr-FR" sz="2400" dirty="0"/>
              <a:t> </a:t>
            </a:r>
            <a:r>
              <a:rPr lang="fr-FR" sz="2400" dirty="0"/>
              <a:t>H</a:t>
            </a:r>
            <a:r>
              <a:rPr lang="fr-FR" sz="2400" baseline="-25000" dirty="0"/>
              <a:t>0  </a:t>
            </a:r>
            <a:r>
              <a:rPr lang="fr-FR" sz="2400" dirty="0"/>
              <a:t>if test </a:t>
            </a:r>
            <a:r>
              <a:rPr lang="fr-FR" sz="2400" dirty="0" err="1"/>
              <a:t>statistic</a:t>
            </a:r>
            <a:r>
              <a:rPr lang="fr-FR" sz="2400" dirty="0"/>
              <a:t> |T|&gt;t</a:t>
            </a:r>
            <a:r>
              <a:rPr lang="el-GR" sz="2400" baseline="-25000" dirty="0"/>
              <a:t>α</a:t>
            </a:r>
            <a:r>
              <a:rPr lang="fr-FR" sz="2400" dirty="0"/>
              <a:t> |</a:t>
            </a:r>
            <a:r>
              <a:rPr lang="fr-FR" sz="2400" dirty="0">
                <a:solidFill>
                  <a:srgbClr val="FF0000"/>
                </a:solidFill>
              </a:rPr>
              <a:t>H</a:t>
            </a:r>
            <a:r>
              <a:rPr lang="fr-FR" sz="2400" baseline="-25000" dirty="0">
                <a:solidFill>
                  <a:srgbClr val="FF0000"/>
                </a:solidFill>
              </a:rPr>
              <a:t>0</a:t>
            </a:r>
            <a:r>
              <a:rPr lang="fr-FR" sz="2400" dirty="0">
                <a:solidFill>
                  <a:srgbClr val="FF0000"/>
                </a:solidFill>
              </a:rPr>
              <a:t> </a:t>
            </a:r>
            <a:r>
              <a:rPr lang="fr-FR" sz="2400" dirty="0" err="1">
                <a:solidFill>
                  <a:srgbClr val="FF0000"/>
                </a:solidFill>
              </a:rPr>
              <a:t>true</a:t>
            </a:r>
            <a:r>
              <a:rPr lang="fr-FR" sz="2400" dirty="0"/>
              <a:t>)&lt; </a:t>
            </a:r>
            <a:r>
              <a:rPr lang="el-GR" sz="2400" dirty="0"/>
              <a:t>α</a:t>
            </a:r>
            <a:r>
              <a:rPr lang="fr-FR" sz="2400" dirty="0"/>
              <a:t>=5</a:t>
            </a:r>
            <a:r>
              <a:rPr lang="fr-FR" sz="2400" b="1" dirty="0"/>
              <a:t>%</a:t>
            </a:r>
            <a:r>
              <a:rPr lang="fr-FR" altLang="fr-FR" sz="2400" dirty="0"/>
              <a:t>.</a:t>
            </a:r>
            <a:endParaRPr lang="fr-FR" sz="2400" dirty="0"/>
          </a:p>
        </p:txBody>
      </p:sp>
      <p:sp>
        <p:nvSpPr>
          <p:cNvPr id="3" name="Espace réservé du contenu 2"/>
          <p:cNvSpPr>
            <a:spLocks noGrp="1"/>
          </p:cNvSpPr>
          <p:nvPr>
            <p:ph idx="1"/>
          </p:nvPr>
        </p:nvSpPr>
        <p:spPr/>
        <p:txBody>
          <a:bodyPr>
            <a:normAutofit fontScale="85000" lnSpcReduction="10000"/>
          </a:bodyPr>
          <a:lstStyle/>
          <a:p>
            <a:pPr marL="0" indent="0" algn="just">
              <a:buNone/>
            </a:pPr>
            <a:r>
              <a:rPr lang="en-US" dirty="0">
                <a:solidFill>
                  <a:srgbClr val="FF0000"/>
                </a:solidFill>
              </a:rPr>
              <a:t>People only say “p-value” but p-value of what?</a:t>
            </a:r>
          </a:p>
          <a:p>
            <a:pPr marL="0" indent="0" algn="just">
              <a:buNone/>
            </a:pPr>
            <a:r>
              <a:rPr lang="en-US" dirty="0"/>
              <a:t>From some surveys, it could be more than 80% of researchers in a field of research outside statistics, who interpret the p-value of the Student’s test for </a:t>
            </a:r>
            <a:r>
              <a:rPr lang="fr-FR" dirty="0"/>
              <a:t>H</a:t>
            </a:r>
            <a:r>
              <a:rPr lang="fr-FR" baseline="-25000" dirty="0"/>
              <a:t>0 </a:t>
            </a:r>
            <a:r>
              <a:rPr lang="en-US" dirty="0"/>
              <a:t>: </a:t>
            </a:r>
            <a:r>
              <a:rPr lang="el-GR" dirty="0">
                <a:latin typeface="Cambria Math" panose="02040503050406030204" pitchFamily="18" charset="0"/>
                <a:ea typeface="Cambria Math" panose="02040503050406030204" pitchFamily="18" charset="0"/>
              </a:rPr>
              <a:t>β</a:t>
            </a:r>
            <a:r>
              <a:rPr lang="fr-FR" dirty="0">
                <a:latin typeface="Cambria Math" panose="02040503050406030204" pitchFamily="18" charset="0"/>
                <a:ea typeface="Cambria Math" panose="02040503050406030204" pitchFamily="18" charset="0"/>
              </a:rPr>
              <a:t>=0 (no </a:t>
            </a:r>
            <a:r>
              <a:rPr lang="fr-FR" dirty="0" err="1">
                <a:latin typeface="Cambria Math" panose="02040503050406030204" pitchFamily="18" charset="0"/>
                <a:ea typeface="Cambria Math" panose="02040503050406030204" pitchFamily="18" charset="0"/>
              </a:rPr>
              <a:t>effect</a:t>
            </a:r>
            <a:r>
              <a:rPr lang="fr-FR" dirty="0">
                <a:latin typeface="Cambria Math" panose="02040503050406030204" pitchFamily="18" charset="0"/>
                <a:ea typeface="Cambria Math" panose="02040503050406030204" pitchFamily="18" charset="0"/>
              </a:rPr>
              <a:t>) t</a:t>
            </a:r>
            <a:r>
              <a:rPr lang="en-US" dirty="0"/>
              <a:t>he other way round, because it sounds more “logical” :</a:t>
            </a:r>
            <a:endParaRPr lang="fr-FR" dirty="0"/>
          </a:p>
          <a:p>
            <a:pPr marL="0" indent="0" algn="just">
              <a:buFontTx/>
              <a:buNone/>
            </a:pPr>
            <a:r>
              <a:rPr lang="en-US" dirty="0"/>
              <a:t>p(</a:t>
            </a:r>
            <a:r>
              <a:rPr lang="fr-FR" dirty="0"/>
              <a:t>H</a:t>
            </a:r>
            <a:r>
              <a:rPr lang="fr-FR" baseline="-25000" dirty="0"/>
              <a:t>0</a:t>
            </a:r>
            <a:r>
              <a:rPr lang="fr-FR" dirty="0"/>
              <a:t> </a:t>
            </a:r>
            <a:r>
              <a:rPr lang="fr-FR" dirty="0" err="1"/>
              <a:t>true</a:t>
            </a:r>
            <a:r>
              <a:rPr lang="fr-FR" dirty="0"/>
              <a:t> (no </a:t>
            </a:r>
            <a:r>
              <a:rPr lang="fr-FR" dirty="0" err="1"/>
              <a:t>effect</a:t>
            </a:r>
            <a:r>
              <a:rPr lang="fr-FR" dirty="0"/>
              <a:t>) </a:t>
            </a:r>
            <a:r>
              <a:rPr lang="en-US" dirty="0"/>
              <a:t>| </a:t>
            </a:r>
            <a:r>
              <a:rPr lang="fr-FR" dirty="0"/>
              <a:t>test </a:t>
            </a:r>
            <a:r>
              <a:rPr lang="fr-FR" dirty="0" err="1"/>
              <a:t>statistic</a:t>
            </a:r>
            <a:r>
              <a:rPr lang="fr-FR" dirty="0"/>
              <a:t> |T|&gt; t</a:t>
            </a:r>
            <a:r>
              <a:rPr lang="el-GR" baseline="-25000" dirty="0"/>
              <a:t>α </a:t>
            </a:r>
            <a:r>
              <a:rPr lang="fr-FR" dirty="0"/>
              <a:t> </a:t>
            </a:r>
            <a:r>
              <a:rPr lang="en-US" dirty="0"/>
              <a:t>) &lt; </a:t>
            </a:r>
            <a:r>
              <a:rPr lang="el-GR" dirty="0"/>
              <a:t>α</a:t>
            </a:r>
            <a:r>
              <a:rPr lang="fr-FR" dirty="0"/>
              <a:t>=</a:t>
            </a:r>
            <a:r>
              <a:rPr lang="en-US" dirty="0"/>
              <a:t>5%</a:t>
            </a:r>
          </a:p>
          <a:p>
            <a:pPr marL="0" indent="0" algn="just">
              <a:buFontTx/>
              <a:buNone/>
            </a:pPr>
            <a:r>
              <a:rPr lang="fr-FR" dirty="0"/>
              <a:t>The </a:t>
            </a:r>
            <a:r>
              <a:rPr lang="fr-FR" dirty="0" err="1"/>
              <a:t>error</a:t>
            </a:r>
            <a:r>
              <a:rPr lang="fr-FR" dirty="0"/>
              <a:t> </a:t>
            </a:r>
            <a:r>
              <a:rPr lang="fr-FR" dirty="0" err="1"/>
              <a:t>is</a:t>
            </a:r>
            <a:r>
              <a:rPr lang="fr-FR" dirty="0"/>
              <a:t> p(A|B) </a:t>
            </a:r>
            <a:r>
              <a:rPr lang="fr-FR" dirty="0" err="1"/>
              <a:t>interpreted</a:t>
            </a:r>
            <a:r>
              <a:rPr lang="fr-FR" dirty="0"/>
              <a:t> as p(B|A) or </a:t>
            </a:r>
            <a:r>
              <a:rPr lang="fr-FR" dirty="0" err="1"/>
              <a:t>even</a:t>
            </a:r>
            <a:r>
              <a:rPr lang="fr-FR" dirty="0"/>
              <a:t> p(A).</a:t>
            </a:r>
            <a:endParaRPr lang="en-US" b="1" dirty="0"/>
          </a:p>
          <a:p>
            <a:pPr marL="0" indent="0" algn="just">
              <a:buNone/>
            </a:pPr>
            <a:r>
              <a:rPr lang="fr-FR" dirty="0"/>
              <a:t>You </a:t>
            </a:r>
            <a:r>
              <a:rPr lang="fr-FR" dirty="0" err="1"/>
              <a:t>may</a:t>
            </a:r>
            <a:r>
              <a:rPr lang="fr-FR" dirty="0"/>
              <a:t> use a </a:t>
            </a:r>
            <a:r>
              <a:rPr lang="fr-FR" b="1" dirty="0" err="1"/>
              <a:t>rule</a:t>
            </a:r>
            <a:r>
              <a:rPr lang="fr-FR" dirty="0"/>
              <a:t> p&lt;5% but </a:t>
            </a:r>
            <a:r>
              <a:rPr lang="fr-FR" dirty="0" err="1"/>
              <a:t>you</a:t>
            </a:r>
            <a:r>
              <a:rPr lang="fr-FR" dirty="0"/>
              <a:t> do not </a:t>
            </a:r>
            <a:r>
              <a:rPr lang="fr-FR" dirty="0" err="1"/>
              <a:t>understand</a:t>
            </a:r>
            <a:r>
              <a:rPr lang="fr-FR" dirty="0"/>
              <a:t> </a:t>
            </a:r>
            <a:r>
              <a:rPr lang="fr-FR" dirty="0" err="1"/>
              <a:t>it</a:t>
            </a:r>
            <a:r>
              <a:rPr lang="fr-FR" dirty="0"/>
              <a:t> </a:t>
            </a:r>
            <a:r>
              <a:rPr lang="fr-FR" b="1" dirty="0" err="1"/>
              <a:t>during</a:t>
            </a:r>
            <a:r>
              <a:rPr lang="fr-FR" b="1" dirty="0"/>
              <a:t> all </a:t>
            </a:r>
            <a:r>
              <a:rPr lang="fr-FR" b="1" dirty="0" err="1"/>
              <a:t>your</a:t>
            </a:r>
            <a:r>
              <a:rPr lang="fr-FR" b="1" dirty="0"/>
              <a:t> </a:t>
            </a:r>
            <a:r>
              <a:rPr lang="fr-FR" b="1" dirty="0" err="1"/>
              <a:t>professional</a:t>
            </a:r>
            <a:r>
              <a:rPr lang="fr-FR" b="1" dirty="0"/>
              <a:t> life</a:t>
            </a:r>
            <a:r>
              <a:rPr lang="fr-FR" dirty="0"/>
              <a:t> as a </a:t>
            </a:r>
            <a:r>
              <a:rPr lang="fr-FR" dirty="0" err="1"/>
              <a:t>researcher</a:t>
            </a:r>
            <a:r>
              <a:rPr lang="fr-FR" dirty="0"/>
              <a:t> in a </a:t>
            </a:r>
            <a:r>
              <a:rPr lang="fr-FR" dirty="0" err="1"/>
              <a:t>given</a:t>
            </a:r>
            <a:r>
              <a:rPr lang="fr-FR" dirty="0"/>
              <a:t> </a:t>
            </a:r>
            <a:r>
              <a:rPr lang="fr-FR" dirty="0" err="1"/>
              <a:t>field</a:t>
            </a:r>
            <a:r>
              <a:rPr lang="fr-FR" dirty="0"/>
              <a:t>. So </a:t>
            </a:r>
            <a:r>
              <a:rPr lang="fr-FR" dirty="0" err="1"/>
              <a:t>there</a:t>
            </a:r>
            <a:r>
              <a:rPr lang="fr-FR" dirty="0"/>
              <a:t> </a:t>
            </a:r>
            <a:r>
              <a:rPr lang="fr-FR" dirty="0" err="1"/>
              <a:t>is</a:t>
            </a:r>
            <a:r>
              <a:rPr lang="fr-FR" dirty="0"/>
              <a:t> </a:t>
            </a:r>
            <a:r>
              <a:rPr lang="fr-FR" dirty="0" err="1"/>
              <a:t>hope</a:t>
            </a:r>
            <a:r>
              <a:rPr lang="fr-FR" dirty="0"/>
              <a:t> for ignorance.</a:t>
            </a:r>
            <a:endParaRPr lang="en-US" dirty="0"/>
          </a:p>
        </p:txBody>
      </p:sp>
      <p:sp>
        <p:nvSpPr>
          <p:cNvPr id="4" name="Espace réservé du numéro de diapositive 3"/>
          <p:cNvSpPr>
            <a:spLocks noGrp="1"/>
          </p:cNvSpPr>
          <p:nvPr>
            <p:ph type="sldNum" sz="quarter" idx="12"/>
          </p:nvPr>
        </p:nvSpPr>
        <p:spPr/>
        <p:txBody>
          <a:bodyPr/>
          <a:lstStyle/>
          <a:p>
            <a:pPr>
              <a:defRPr/>
            </a:pPr>
            <a:fld id="{86DD4220-C733-4E5C-81C4-006614250366}" type="slidenum">
              <a:rPr lang="fr-FR" smtClean="0"/>
              <a:pPr>
                <a:defRPr/>
              </a:pPr>
              <a:t>34</a:t>
            </a:fld>
            <a:endParaRPr lang="fr-FR"/>
          </a:p>
        </p:txBody>
      </p:sp>
    </p:spTree>
    <p:extLst>
      <p:ext uri="{BB962C8B-B14F-4D97-AF65-F5344CB8AC3E}">
        <p14:creationId xmlns:p14="http://schemas.microsoft.com/office/powerpoint/2010/main" val="1891613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US" sz="3200" dirty="0"/>
              <a:t>A  prior of p(</a:t>
            </a:r>
            <a:r>
              <a:rPr lang="fr-FR" sz="3200" dirty="0"/>
              <a:t>H</a:t>
            </a:r>
            <a:r>
              <a:rPr lang="fr-FR" sz="3200" baseline="-25000" dirty="0"/>
              <a:t>0</a:t>
            </a:r>
            <a:r>
              <a:rPr lang="fr-FR" sz="3200" dirty="0"/>
              <a:t> </a:t>
            </a:r>
            <a:r>
              <a:rPr lang="fr-FR" sz="3200" dirty="0" err="1"/>
              <a:t>true</a:t>
            </a:r>
            <a:r>
              <a:rPr lang="fr-FR" sz="3200" dirty="0"/>
              <a:t>) </a:t>
            </a:r>
            <a:r>
              <a:rPr lang="fr-FR" sz="3200" dirty="0" err="1"/>
              <a:t>would</a:t>
            </a:r>
            <a:r>
              <a:rPr lang="fr-FR" sz="3200" dirty="0"/>
              <a:t> </a:t>
            </a:r>
            <a:r>
              <a:rPr lang="fr-FR" sz="3200" dirty="0" err="1"/>
              <a:t>be</a:t>
            </a:r>
            <a:r>
              <a:rPr lang="fr-FR" sz="3200" dirty="0"/>
              <a:t>  </a:t>
            </a:r>
            <a:r>
              <a:rPr lang="fr-FR" sz="3200" dirty="0" err="1"/>
              <a:t>necessary</a:t>
            </a:r>
            <a:r>
              <a:rPr lang="fr-FR" sz="3200" dirty="0"/>
              <a:t> for </a:t>
            </a:r>
            <a:r>
              <a:rPr lang="fr-FR" sz="3200" dirty="0" err="1"/>
              <a:t>computing</a:t>
            </a:r>
            <a:r>
              <a:rPr lang="fr-FR" sz="3200" dirty="0"/>
              <a:t> </a:t>
            </a:r>
            <a:r>
              <a:rPr lang="en-US" sz="3200" dirty="0"/>
              <a:t>p(</a:t>
            </a:r>
            <a:r>
              <a:rPr lang="fr-FR" sz="3200" dirty="0"/>
              <a:t>H</a:t>
            </a:r>
            <a:r>
              <a:rPr lang="fr-FR" sz="3200" baseline="-25000" dirty="0"/>
              <a:t>0</a:t>
            </a:r>
            <a:r>
              <a:rPr lang="fr-FR" sz="3200" dirty="0"/>
              <a:t> </a:t>
            </a:r>
            <a:r>
              <a:rPr lang="fr-FR" sz="3200" dirty="0" err="1"/>
              <a:t>true</a:t>
            </a:r>
            <a:r>
              <a:rPr lang="fr-FR" sz="3200" dirty="0"/>
              <a:t> </a:t>
            </a:r>
            <a:r>
              <a:rPr lang="en-US" sz="3200" dirty="0"/>
              <a:t>|</a:t>
            </a:r>
            <a:r>
              <a:rPr lang="fr-FR" sz="3200" dirty="0"/>
              <a:t>T&gt;t </a:t>
            </a:r>
            <a:r>
              <a:rPr lang="en-US" sz="3200" dirty="0"/>
              <a:t>)</a:t>
            </a:r>
            <a:endParaRPr lang="fr-FR" sz="3200" dirty="0"/>
          </a:p>
        </p:txBody>
      </p:sp>
      <p:sp>
        <p:nvSpPr>
          <p:cNvPr id="3" name="Espace réservé du contenu 2"/>
          <p:cNvSpPr>
            <a:spLocks noGrp="1"/>
          </p:cNvSpPr>
          <p:nvPr>
            <p:ph idx="1"/>
          </p:nvPr>
        </p:nvSpPr>
        <p:spPr/>
        <p:txBody>
          <a:bodyPr>
            <a:normAutofit/>
          </a:bodyPr>
          <a:lstStyle/>
          <a:p>
            <a:pPr marL="0" indent="0" algn="just">
              <a:buNone/>
            </a:pPr>
            <a:r>
              <a:rPr lang="en-US" sz="2800" dirty="0"/>
              <a:t>p(</a:t>
            </a:r>
            <a:r>
              <a:rPr lang="fr-FR" sz="2800" dirty="0"/>
              <a:t>H</a:t>
            </a:r>
            <a:r>
              <a:rPr lang="fr-FR" sz="2800" baseline="-25000" dirty="0"/>
              <a:t>0</a:t>
            </a:r>
            <a:r>
              <a:rPr lang="fr-FR" sz="2800" dirty="0"/>
              <a:t> </a:t>
            </a:r>
            <a:r>
              <a:rPr lang="fr-FR" sz="2800" dirty="0" err="1"/>
              <a:t>true</a:t>
            </a:r>
            <a:r>
              <a:rPr lang="fr-FR" sz="2800" dirty="0"/>
              <a:t> </a:t>
            </a:r>
            <a:r>
              <a:rPr lang="en-US" sz="2800" dirty="0"/>
              <a:t>|</a:t>
            </a:r>
            <a:r>
              <a:rPr lang="fr-FR" sz="2800" dirty="0"/>
              <a:t>T&gt;t </a:t>
            </a:r>
            <a:r>
              <a:rPr lang="en-US" sz="2800" dirty="0"/>
              <a:t>)=</a:t>
            </a:r>
            <a:r>
              <a:rPr lang="fr-FR" altLang="fr-FR" sz="2800" dirty="0"/>
              <a:t> p(</a:t>
            </a:r>
            <a:r>
              <a:rPr lang="fr-FR" sz="2800" dirty="0"/>
              <a:t>T&gt;t</a:t>
            </a:r>
            <a:r>
              <a:rPr lang="fr-FR" altLang="fr-FR" sz="2800" dirty="0"/>
              <a:t>|</a:t>
            </a:r>
            <a:r>
              <a:rPr lang="fr-FR" sz="2800" dirty="0"/>
              <a:t>H</a:t>
            </a:r>
            <a:r>
              <a:rPr lang="fr-FR" sz="2800" baseline="-25000" dirty="0"/>
              <a:t>0  </a:t>
            </a:r>
            <a:r>
              <a:rPr lang="fr-FR" altLang="fr-FR" sz="2800" dirty="0" err="1"/>
              <a:t>true</a:t>
            </a:r>
            <a:r>
              <a:rPr lang="fr-FR" altLang="fr-FR" sz="2800" dirty="0"/>
              <a:t>).</a:t>
            </a:r>
            <a:r>
              <a:rPr lang="en-US" altLang="fr-FR" sz="2800" dirty="0"/>
              <a:t>p</a:t>
            </a:r>
            <a:r>
              <a:rPr lang="en-US" sz="2800" dirty="0"/>
              <a:t>(</a:t>
            </a:r>
            <a:r>
              <a:rPr lang="fr-FR" sz="2800" dirty="0"/>
              <a:t>H</a:t>
            </a:r>
            <a:r>
              <a:rPr lang="fr-FR" sz="2800" baseline="-25000" dirty="0"/>
              <a:t>0</a:t>
            </a:r>
            <a:r>
              <a:rPr lang="fr-FR" sz="2800" dirty="0"/>
              <a:t> </a:t>
            </a:r>
            <a:r>
              <a:rPr lang="fr-FR" sz="2800" dirty="0" err="1"/>
              <a:t>true</a:t>
            </a:r>
            <a:r>
              <a:rPr lang="fr-FR" sz="2800" dirty="0"/>
              <a:t> )/p</a:t>
            </a:r>
            <a:r>
              <a:rPr lang="en-US" sz="2800" dirty="0"/>
              <a:t>(T&gt;t)</a:t>
            </a:r>
            <a:endParaRPr lang="fr-FR" sz="2800" dirty="0"/>
          </a:p>
          <a:p>
            <a:pPr marL="0" indent="0">
              <a:buNone/>
            </a:pPr>
            <a:r>
              <a:rPr lang="en-US" sz="2800" dirty="0"/>
              <a:t>With:</a:t>
            </a:r>
          </a:p>
          <a:p>
            <a:pPr marL="0" indent="0">
              <a:buNone/>
            </a:pPr>
            <a:r>
              <a:rPr lang="en-US" sz="2800" dirty="0"/>
              <a:t>p(T&gt;t) = </a:t>
            </a:r>
            <a:r>
              <a:rPr lang="fr-FR" sz="2800" dirty="0"/>
              <a:t>p(T&gt;t | H</a:t>
            </a:r>
            <a:r>
              <a:rPr lang="fr-FR" sz="2800" baseline="-25000" dirty="0"/>
              <a:t>0</a:t>
            </a:r>
            <a:r>
              <a:rPr lang="fr-FR" sz="2800" dirty="0"/>
              <a:t> </a:t>
            </a:r>
            <a:r>
              <a:rPr lang="fr-FR" sz="2800" dirty="0" err="1"/>
              <a:t>true</a:t>
            </a:r>
            <a:r>
              <a:rPr lang="fr-FR" sz="2800" dirty="0"/>
              <a:t>).</a:t>
            </a:r>
            <a:r>
              <a:rPr lang="en-US" sz="2800" dirty="0"/>
              <a:t> p(</a:t>
            </a:r>
            <a:r>
              <a:rPr lang="fr-FR" sz="2800" dirty="0"/>
              <a:t>H</a:t>
            </a:r>
            <a:r>
              <a:rPr lang="fr-FR" sz="2800" baseline="-25000" dirty="0"/>
              <a:t>0</a:t>
            </a:r>
            <a:r>
              <a:rPr lang="fr-FR" sz="2800" dirty="0"/>
              <a:t> </a:t>
            </a:r>
            <a:r>
              <a:rPr lang="fr-FR" sz="2800" dirty="0" err="1"/>
              <a:t>true</a:t>
            </a:r>
            <a:r>
              <a:rPr lang="fr-FR" sz="2800" dirty="0"/>
              <a:t> )</a:t>
            </a:r>
          </a:p>
          <a:p>
            <a:pPr marL="0" indent="0">
              <a:buNone/>
            </a:pPr>
            <a:r>
              <a:rPr lang="fr-FR" sz="2800" dirty="0"/>
              <a:t>              + p(T&gt;t | H</a:t>
            </a:r>
            <a:r>
              <a:rPr lang="fr-FR" sz="2800" baseline="-25000" dirty="0"/>
              <a:t>0</a:t>
            </a:r>
            <a:r>
              <a:rPr lang="fr-FR" sz="2800" dirty="0"/>
              <a:t> false).</a:t>
            </a:r>
            <a:r>
              <a:rPr lang="en-US" sz="2800" dirty="0"/>
              <a:t> (1-p(</a:t>
            </a:r>
            <a:r>
              <a:rPr lang="fr-FR" sz="2800" dirty="0"/>
              <a:t>H</a:t>
            </a:r>
            <a:r>
              <a:rPr lang="fr-FR" sz="2800" baseline="-25000" dirty="0"/>
              <a:t>0</a:t>
            </a:r>
            <a:r>
              <a:rPr lang="fr-FR" sz="2800" dirty="0"/>
              <a:t> </a:t>
            </a:r>
            <a:r>
              <a:rPr lang="fr-FR" sz="2800" dirty="0" err="1"/>
              <a:t>true</a:t>
            </a:r>
            <a:r>
              <a:rPr lang="fr-FR" sz="2800" dirty="0"/>
              <a:t> ))</a:t>
            </a:r>
          </a:p>
          <a:p>
            <a:pPr marL="0" indent="0" algn="just">
              <a:buNone/>
            </a:pPr>
            <a:r>
              <a:rPr lang="en-US" sz="2800" dirty="0"/>
              <a:t>We may have a subjective probability measuring the “prevalence” of the true hypothesis P(</a:t>
            </a:r>
            <a:r>
              <a:rPr lang="fr-FR" sz="2800" dirty="0"/>
              <a:t>H</a:t>
            </a:r>
            <a:r>
              <a:rPr lang="fr-FR" sz="2800" baseline="-25000" dirty="0"/>
              <a:t>0</a:t>
            </a:r>
            <a:r>
              <a:rPr lang="fr-FR" sz="2800" dirty="0"/>
              <a:t> </a:t>
            </a:r>
            <a:r>
              <a:rPr lang="fr-FR" sz="2800" dirty="0" err="1"/>
              <a:t>true</a:t>
            </a:r>
            <a:r>
              <a:rPr lang="fr-FR" sz="2800" dirty="0"/>
              <a:t>) </a:t>
            </a:r>
            <a:r>
              <a:rPr lang="en-US" sz="2800" dirty="0"/>
              <a:t>for particular cases. A general value for </a:t>
            </a:r>
            <a:r>
              <a:rPr lang="fr-FR" sz="2800" dirty="0"/>
              <a:t>all </a:t>
            </a:r>
            <a:r>
              <a:rPr lang="fr-FR" sz="2800" dirty="0" err="1"/>
              <a:t>scientific</a:t>
            </a:r>
            <a:r>
              <a:rPr lang="fr-FR" sz="2800" dirty="0"/>
              <a:t> </a:t>
            </a:r>
            <a:r>
              <a:rPr lang="fr-FR" sz="2800" dirty="0" err="1"/>
              <a:t>hypothesis</a:t>
            </a:r>
            <a:r>
              <a:rPr lang="fr-FR" sz="2800" dirty="0"/>
              <a:t> in </a:t>
            </a:r>
            <a:r>
              <a:rPr lang="fr-FR" sz="2800" dirty="0" err="1"/>
              <a:t>economics</a:t>
            </a:r>
            <a:r>
              <a:rPr lang="fr-FR" sz="2800" dirty="0"/>
              <a:t> </a:t>
            </a:r>
            <a:r>
              <a:rPr lang="fr-FR" sz="2800" dirty="0" err="1"/>
              <a:t>is</a:t>
            </a:r>
            <a:r>
              <a:rPr lang="fr-FR" sz="2800" dirty="0"/>
              <a:t> </a:t>
            </a:r>
            <a:r>
              <a:rPr lang="fr-FR" sz="2800" dirty="0" err="1"/>
              <a:t>unknown</a:t>
            </a:r>
            <a:r>
              <a:rPr lang="fr-FR" sz="2800" dirty="0"/>
              <a:t>.</a:t>
            </a:r>
          </a:p>
        </p:txBody>
      </p:sp>
      <p:sp>
        <p:nvSpPr>
          <p:cNvPr id="4" name="Espace réservé du numéro de diapositive 3"/>
          <p:cNvSpPr>
            <a:spLocks noGrp="1"/>
          </p:cNvSpPr>
          <p:nvPr>
            <p:ph type="sldNum" sz="quarter" idx="12"/>
          </p:nvPr>
        </p:nvSpPr>
        <p:spPr/>
        <p:txBody>
          <a:bodyPr/>
          <a:lstStyle/>
          <a:p>
            <a:pPr>
              <a:defRPr/>
            </a:pPr>
            <a:fld id="{86DD4220-C733-4E5C-81C4-006614250366}" type="slidenum">
              <a:rPr lang="fr-FR" smtClean="0"/>
              <a:pPr>
                <a:defRPr/>
              </a:pPr>
              <a:t>35</a:t>
            </a:fld>
            <a:endParaRPr lang="fr-FR"/>
          </a:p>
        </p:txBody>
      </p:sp>
    </p:spTree>
    <p:extLst>
      <p:ext uri="{BB962C8B-B14F-4D97-AF65-F5344CB8AC3E}">
        <p14:creationId xmlns:p14="http://schemas.microsoft.com/office/powerpoint/2010/main" val="40674087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err="1"/>
              <a:t>Problem</a:t>
            </a:r>
            <a:r>
              <a:rPr lang="fr-FR" sz="3200" dirty="0"/>
              <a:t> 2: </a:t>
            </a:r>
            <a:r>
              <a:rPr lang="fr-FR" sz="3200" dirty="0" err="1"/>
              <a:t>Fishing</a:t>
            </a:r>
            <a:r>
              <a:rPr lang="fr-FR" sz="3200" dirty="0"/>
              <a:t> </a:t>
            </a:r>
            <a:r>
              <a:rPr lang="fr-FR" sz="3200" dirty="0" err="1"/>
              <a:t>hypothesis</a:t>
            </a:r>
            <a:r>
              <a:rPr lang="fr-FR" sz="3200" dirty="0"/>
              <a:t> to </a:t>
            </a:r>
            <a:r>
              <a:rPr lang="fr-FR" sz="3200" dirty="0" err="1"/>
              <a:t>be</a:t>
            </a:r>
            <a:r>
              <a:rPr lang="fr-FR" sz="3200" dirty="0"/>
              <a:t> </a:t>
            </a:r>
            <a:r>
              <a:rPr lang="fr-FR" sz="3200" dirty="0" err="1"/>
              <a:t>tested</a:t>
            </a:r>
            <a:r>
              <a:rPr lang="fr-FR" sz="3200" dirty="0"/>
              <a:t> in the pond of </a:t>
            </a:r>
            <a:r>
              <a:rPr lang="fr-FR" sz="3200" dirty="0" err="1"/>
              <a:t>low</a:t>
            </a:r>
            <a:r>
              <a:rPr lang="fr-FR" sz="3200" dirty="0"/>
              <a:t> </a:t>
            </a:r>
            <a:r>
              <a:rPr lang="fr-FR" sz="3200" dirty="0" err="1"/>
              <a:t>prior</a:t>
            </a:r>
            <a:r>
              <a:rPr lang="fr-FR" sz="3200" dirty="0"/>
              <a:t> </a:t>
            </a:r>
            <a:r>
              <a:rPr lang="en-US" sz="3200" dirty="0"/>
              <a:t>p(</a:t>
            </a:r>
            <a:r>
              <a:rPr lang="fr-FR" sz="3200" dirty="0"/>
              <a:t>H</a:t>
            </a:r>
            <a:r>
              <a:rPr lang="fr-FR" sz="3200" baseline="-25000" dirty="0"/>
              <a:t>0</a:t>
            </a:r>
            <a:r>
              <a:rPr lang="fr-FR" sz="3200" dirty="0"/>
              <a:t> </a:t>
            </a:r>
            <a:r>
              <a:rPr lang="fr-FR" sz="3200" dirty="0" err="1"/>
              <a:t>true</a:t>
            </a:r>
            <a:r>
              <a:rPr lang="fr-FR" sz="3200" dirty="0"/>
              <a:t>) for </a:t>
            </a:r>
            <a:r>
              <a:rPr lang="fr-FR" sz="3200" dirty="0" err="1"/>
              <a:t>fame</a:t>
            </a:r>
            <a:r>
              <a:rPr lang="fr-FR" sz="3200" dirty="0"/>
              <a:t>.</a:t>
            </a:r>
            <a:endParaRPr lang="en-GB" sz="3200" dirty="0"/>
          </a:p>
        </p:txBody>
      </p:sp>
      <p:sp>
        <p:nvSpPr>
          <p:cNvPr id="3" name="Espace réservé du contenu 2"/>
          <p:cNvSpPr>
            <a:spLocks noGrp="1"/>
          </p:cNvSpPr>
          <p:nvPr>
            <p:ph idx="1"/>
          </p:nvPr>
        </p:nvSpPr>
        <p:spPr/>
        <p:txBody>
          <a:bodyPr>
            <a:normAutofit lnSpcReduction="10000"/>
          </a:bodyPr>
          <a:lstStyle/>
          <a:p>
            <a:pPr marL="0" indent="0" algn="just">
              <a:buNone/>
            </a:pPr>
            <a:r>
              <a:rPr lang="fr-FR" dirty="0" err="1"/>
              <a:t>Some</a:t>
            </a:r>
            <a:r>
              <a:rPr lang="fr-FR" dirty="0"/>
              <a:t> top </a:t>
            </a:r>
            <a:r>
              <a:rPr lang="fr-FR" dirty="0" err="1"/>
              <a:t>journals</a:t>
            </a:r>
            <a:r>
              <a:rPr lang="fr-FR" dirty="0"/>
              <a:t> </a:t>
            </a:r>
            <a:r>
              <a:rPr lang="fr-FR" dirty="0" err="1"/>
              <a:t>may</a:t>
            </a:r>
            <a:r>
              <a:rPr lang="fr-FR" dirty="0"/>
              <a:t> </a:t>
            </a:r>
            <a:r>
              <a:rPr lang="fr-FR" dirty="0" err="1"/>
              <a:t>favour</a:t>
            </a:r>
            <a:r>
              <a:rPr lang="fr-FR" dirty="0"/>
              <a:t> to </a:t>
            </a:r>
            <a:r>
              <a:rPr lang="fr-FR" dirty="0" err="1"/>
              <a:t>publish</a:t>
            </a:r>
            <a:r>
              <a:rPr lang="fr-FR" dirty="0"/>
              <a:t> </a:t>
            </a:r>
            <a:r>
              <a:rPr lang="fr-FR" dirty="0" err="1"/>
              <a:t>very</a:t>
            </a:r>
            <a:r>
              <a:rPr lang="fr-FR" dirty="0"/>
              <a:t> </a:t>
            </a:r>
            <a:r>
              <a:rPr lang="fr-FR" b="1" dirty="0" err="1"/>
              <a:t>unexpected</a:t>
            </a:r>
            <a:r>
              <a:rPr lang="fr-FR" dirty="0"/>
              <a:t> </a:t>
            </a:r>
            <a:r>
              <a:rPr lang="fr-FR" dirty="0" err="1"/>
              <a:t>hypothesis</a:t>
            </a:r>
            <a:r>
              <a:rPr lang="fr-FR" dirty="0"/>
              <a:t> </a:t>
            </a:r>
            <a:r>
              <a:rPr lang="fr-FR" dirty="0" err="1"/>
              <a:t>with</a:t>
            </a:r>
            <a:r>
              <a:rPr lang="fr-FR" dirty="0"/>
              <a:t> </a:t>
            </a:r>
            <a:r>
              <a:rPr lang="fr-FR" dirty="0" err="1"/>
              <a:t>very</a:t>
            </a:r>
            <a:r>
              <a:rPr lang="fr-FR" dirty="0"/>
              <a:t> </a:t>
            </a:r>
            <a:r>
              <a:rPr lang="fr-FR" dirty="0" err="1"/>
              <a:t>low</a:t>
            </a:r>
            <a:r>
              <a:rPr lang="fr-FR" dirty="0"/>
              <a:t> </a:t>
            </a:r>
            <a:r>
              <a:rPr lang="fr-FR" dirty="0" err="1"/>
              <a:t>prior</a:t>
            </a:r>
            <a:r>
              <a:rPr lang="fr-FR" dirty="0"/>
              <a:t> </a:t>
            </a:r>
            <a:r>
              <a:rPr lang="en-US" dirty="0"/>
              <a:t>P(</a:t>
            </a:r>
            <a:r>
              <a:rPr lang="fr-FR" dirty="0"/>
              <a:t>H</a:t>
            </a:r>
            <a:r>
              <a:rPr lang="fr-FR" baseline="-25000" dirty="0"/>
              <a:t>0</a:t>
            </a:r>
            <a:r>
              <a:rPr lang="fr-FR" dirty="0"/>
              <a:t> </a:t>
            </a:r>
            <a:r>
              <a:rPr lang="fr-FR" dirty="0" err="1"/>
              <a:t>true</a:t>
            </a:r>
            <a:r>
              <a:rPr lang="fr-FR" dirty="0"/>
              <a:t>) </a:t>
            </a:r>
            <a:r>
              <a:rPr lang="fr-FR" dirty="0" err="1"/>
              <a:t>just</a:t>
            </a:r>
            <a:r>
              <a:rPr lang="fr-FR" dirty="0"/>
              <a:t> </a:t>
            </a:r>
            <a:r>
              <a:rPr lang="fr-FR" dirty="0" err="1"/>
              <a:t>because</a:t>
            </a:r>
            <a:r>
              <a:rPr lang="fr-FR" dirty="0"/>
              <a:t> </a:t>
            </a:r>
            <a:r>
              <a:rPr lang="fr-FR" dirty="0" err="1"/>
              <a:t>it</a:t>
            </a:r>
            <a:r>
              <a:rPr lang="fr-FR" dirty="0"/>
              <a:t> </a:t>
            </a:r>
            <a:r>
              <a:rPr lang="fr-FR" dirty="0" err="1"/>
              <a:t>is</a:t>
            </a:r>
            <a:r>
              <a:rPr lang="fr-FR" dirty="0"/>
              <a:t> </a:t>
            </a:r>
            <a:r>
              <a:rPr lang="fr-FR" b="1" dirty="0" err="1"/>
              <a:t>unexpected</a:t>
            </a:r>
            <a:r>
              <a:rPr lang="fr-FR" dirty="0"/>
              <a:t>. </a:t>
            </a:r>
          </a:p>
          <a:p>
            <a:pPr marL="0" indent="0" algn="just">
              <a:buNone/>
            </a:pPr>
            <a:r>
              <a:rPr lang="fr-FR" dirty="0"/>
              <a:t>But </a:t>
            </a:r>
            <a:r>
              <a:rPr lang="fr-FR" dirty="0" err="1"/>
              <a:t>these</a:t>
            </a:r>
            <a:r>
              <a:rPr lang="fr-FR" dirty="0"/>
              <a:t> are more </a:t>
            </a:r>
            <a:r>
              <a:rPr lang="fr-FR" dirty="0" err="1"/>
              <a:t>likely</a:t>
            </a:r>
            <a:r>
              <a:rPr lang="fr-FR" dirty="0"/>
              <a:t> to </a:t>
            </a:r>
            <a:r>
              <a:rPr lang="fr-FR" dirty="0" err="1"/>
              <a:t>be</a:t>
            </a:r>
            <a:r>
              <a:rPr lang="fr-FR" dirty="0"/>
              <a:t> </a:t>
            </a:r>
            <a:r>
              <a:rPr lang="fr-FR" dirty="0" err="1"/>
              <a:t>sample</a:t>
            </a:r>
            <a:r>
              <a:rPr lang="fr-FR" dirty="0"/>
              <a:t> </a:t>
            </a:r>
            <a:r>
              <a:rPr lang="fr-FR" dirty="0" err="1"/>
              <a:t>specific</a:t>
            </a:r>
            <a:r>
              <a:rPr lang="fr-FR" dirty="0"/>
              <a:t> </a:t>
            </a:r>
            <a:r>
              <a:rPr lang="fr-FR" dirty="0" err="1"/>
              <a:t>outcomes</a:t>
            </a:r>
            <a:r>
              <a:rPr lang="fr-FR" dirty="0"/>
              <a:t> </a:t>
            </a:r>
            <a:r>
              <a:rPr lang="fr-FR" dirty="0" err="1"/>
              <a:t>followed</a:t>
            </a:r>
            <a:r>
              <a:rPr lang="fr-FR" dirty="0"/>
              <a:t> by </a:t>
            </a:r>
            <a:r>
              <a:rPr lang="fr-FR" dirty="0" err="1"/>
              <a:t>failed</a:t>
            </a:r>
            <a:r>
              <a:rPr lang="fr-FR" dirty="0"/>
              <a:t> </a:t>
            </a:r>
            <a:r>
              <a:rPr lang="fr-FR" dirty="0" err="1"/>
              <a:t>replications</a:t>
            </a:r>
            <a:r>
              <a:rPr lang="fr-FR" dirty="0"/>
              <a:t>. </a:t>
            </a:r>
          </a:p>
          <a:p>
            <a:pPr marL="0" indent="0" algn="just">
              <a:buNone/>
            </a:pPr>
            <a:r>
              <a:rPr lang="fr-FR" dirty="0"/>
              <a:t>A </a:t>
            </a:r>
            <a:r>
              <a:rPr lang="fr-FR" dirty="0" err="1"/>
              <a:t>controversy</a:t>
            </a:r>
            <a:r>
              <a:rPr lang="fr-FR" dirty="0"/>
              <a:t> </a:t>
            </a:r>
            <a:r>
              <a:rPr lang="fr-FR" dirty="0" err="1"/>
              <a:t>following</a:t>
            </a:r>
            <a:r>
              <a:rPr lang="fr-FR" dirty="0"/>
              <a:t> an </a:t>
            </a:r>
            <a:r>
              <a:rPr lang="fr-FR" dirty="0" err="1"/>
              <a:t>unexpected</a:t>
            </a:r>
            <a:r>
              <a:rPr lang="fr-FR" dirty="0"/>
              <a:t> </a:t>
            </a:r>
            <a:r>
              <a:rPr lang="fr-FR" dirty="0" err="1"/>
              <a:t>result</a:t>
            </a:r>
            <a:r>
              <a:rPr lang="fr-FR" dirty="0"/>
              <a:t> </a:t>
            </a:r>
            <a:r>
              <a:rPr lang="fr-FR" dirty="0" err="1"/>
              <a:t>driven</a:t>
            </a:r>
            <a:r>
              <a:rPr lang="fr-FR" dirty="0"/>
              <a:t> by </a:t>
            </a:r>
            <a:r>
              <a:rPr lang="fr-FR" dirty="0" err="1"/>
              <a:t>sample</a:t>
            </a:r>
            <a:r>
              <a:rPr lang="fr-FR" dirty="0"/>
              <a:t> </a:t>
            </a:r>
            <a:r>
              <a:rPr lang="fr-FR" dirty="0" err="1"/>
              <a:t>specific</a:t>
            </a:r>
            <a:r>
              <a:rPr lang="fr-FR" dirty="0"/>
              <a:t> noise but </a:t>
            </a:r>
            <a:r>
              <a:rPr lang="fr-FR" dirty="0" err="1"/>
              <a:t>published</a:t>
            </a:r>
            <a:r>
              <a:rPr lang="fr-FR" dirty="0"/>
              <a:t> in a top journal </a:t>
            </a:r>
            <a:r>
              <a:rPr lang="fr-FR" dirty="0" err="1"/>
              <a:t>implies</a:t>
            </a:r>
            <a:r>
              <a:rPr lang="fr-FR" dirty="0"/>
              <a:t> a lot of citations, </a:t>
            </a:r>
            <a:r>
              <a:rPr lang="fr-FR" dirty="0" err="1"/>
              <a:t>which</a:t>
            </a:r>
            <a:r>
              <a:rPr lang="fr-FR" dirty="0"/>
              <a:t> </a:t>
            </a:r>
            <a:r>
              <a:rPr lang="fr-FR" dirty="0" err="1"/>
              <a:t>is</a:t>
            </a:r>
            <a:r>
              <a:rPr lang="fr-FR" dirty="0"/>
              <a:t> good for a </a:t>
            </a:r>
            <a:r>
              <a:rPr lang="fr-FR" dirty="0" err="1"/>
              <a:t>researcher</a:t>
            </a:r>
            <a:r>
              <a:rPr lang="fr-FR" dirty="0"/>
              <a:t>.</a:t>
            </a:r>
          </a:p>
          <a:p>
            <a:pPr marL="0" indent="0">
              <a:buNone/>
            </a:pPr>
            <a:endParaRPr lang="en-GB" dirty="0"/>
          </a:p>
        </p:txBody>
      </p:sp>
    </p:spTree>
    <p:extLst>
      <p:ext uri="{BB962C8B-B14F-4D97-AF65-F5344CB8AC3E}">
        <p14:creationId xmlns:p14="http://schemas.microsoft.com/office/powerpoint/2010/main" val="991309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ormAutofit fontScale="90000"/>
          </a:bodyPr>
          <a:lstStyle/>
          <a:p>
            <a:r>
              <a:rPr lang="en-US" dirty="0"/>
              <a:t>Pbm3. Statistical significance for tests of parameters vs</a:t>
            </a:r>
            <a:br>
              <a:rPr lang="en-US" dirty="0"/>
            </a:br>
            <a:r>
              <a:rPr lang="en-US" dirty="0"/>
              <a:t>substantive significance:</a:t>
            </a:r>
            <a:br>
              <a:rPr lang="en-US" dirty="0"/>
            </a:br>
            <a:r>
              <a:rPr lang="en-US" dirty="0"/>
              <a:t>Answer: composite hypothesis versus point hypothesis</a:t>
            </a:r>
          </a:p>
        </p:txBody>
      </p:sp>
    </p:spTree>
    <p:extLst>
      <p:ext uri="{BB962C8B-B14F-4D97-AF65-F5344CB8AC3E}">
        <p14:creationId xmlns:p14="http://schemas.microsoft.com/office/powerpoint/2010/main" val="4038978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Standardized</a:t>
            </a:r>
            <a:r>
              <a:rPr lang="fr-FR" dirty="0"/>
              <a:t> variables</a:t>
            </a:r>
          </a:p>
        </p:txBody>
      </p:sp>
      <p:sp>
        <p:nvSpPr>
          <p:cNvPr id="3" name="Espace réservé du contenu 2"/>
          <p:cNvSpPr>
            <a:spLocks noGrp="1"/>
          </p:cNvSpPr>
          <p:nvPr>
            <p:ph idx="1"/>
          </p:nvPr>
        </p:nvSpPr>
        <p:spPr/>
        <p:txBody>
          <a:bodyPr/>
          <a:lstStyle/>
          <a:p>
            <a:pPr marL="0" indent="0">
              <a:buNone/>
            </a:pPr>
            <a:r>
              <a:rPr lang="fr-FR" dirty="0"/>
              <a:t>The instruction </a:t>
            </a:r>
            <a:r>
              <a:rPr lang="fr-FR" dirty="0" err="1"/>
              <a:t>std</a:t>
            </a:r>
            <a:r>
              <a:rPr lang="fr-FR" dirty="0"/>
              <a:t> for STATA </a:t>
            </a:r>
            <a:r>
              <a:rPr lang="fr-FR" dirty="0" err="1"/>
              <a:t>transforms</a:t>
            </a:r>
            <a:r>
              <a:rPr lang="fr-FR" dirty="0"/>
              <a:t> the observations of a variable x </a:t>
            </a:r>
            <a:r>
              <a:rPr lang="fr-FR" dirty="0" err="1"/>
              <a:t>into</a:t>
            </a:r>
            <a:r>
              <a:rPr lang="fr-FR" dirty="0"/>
              <a:t> the one of the </a:t>
            </a:r>
            <a:r>
              <a:rPr lang="fr-FR" dirty="0" err="1"/>
              <a:t>standardized</a:t>
            </a:r>
            <a:r>
              <a:rPr lang="fr-FR" dirty="0"/>
              <a:t> variable:</a:t>
            </a:r>
          </a:p>
          <a:p>
            <a:pPr marL="0" indent="0">
              <a:buNone/>
            </a:pPr>
            <a:endParaRPr lang="fr-FR" dirty="0"/>
          </a:p>
          <a:p>
            <a:pPr marL="0" indent="0">
              <a:buNone/>
            </a:pPr>
            <a:r>
              <a:rPr lang="fr-FR" dirty="0"/>
              <a:t>(x – </a:t>
            </a:r>
            <a:r>
              <a:rPr lang="fr-FR" dirty="0" err="1"/>
              <a:t>mean</a:t>
            </a:r>
            <a:r>
              <a:rPr lang="fr-FR" dirty="0"/>
              <a:t>(x)) / standard </a:t>
            </a:r>
            <a:r>
              <a:rPr lang="fr-FR" dirty="0" err="1"/>
              <a:t>error</a:t>
            </a:r>
            <a:r>
              <a:rPr lang="fr-FR" dirty="0"/>
              <a:t> (x)</a:t>
            </a:r>
          </a:p>
        </p:txBody>
      </p:sp>
    </p:spTree>
    <p:extLst>
      <p:ext uri="{BB962C8B-B14F-4D97-AF65-F5344CB8AC3E}">
        <p14:creationId xmlns:p14="http://schemas.microsoft.com/office/powerpoint/2010/main" val="629344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The </a:t>
            </a:r>
            <a:r>
              <a:rPr lang="fr-FR" dirty="0" err="1"/>
              <a:t>standardized</a:t>
            </a:r>
            <a:r>
              <a:rPr lang="fr-FR" dirty="0"/>
              <a:t> </a:t>
            </a:r>
            <a:r>
              <a:rPr lang="fr-FR" dirty="0" err="1"/>
              <a:t>parameters</a:t>
            </a:r>
            <a:r>
              <a:rPr lang="fr-FR" dirty="0"/>
              <a:t> of a </a:t>
            </a:r>
            <a:r>
              <a:rPr lang="fr-FR" dirty="0" err="1"/>
              <a:t>standardized</a:t>
            </a:r>
            <a:r>
              <a:rPr lang="fr-FR" dirty="0"/>
              <a:t> </a:t>
            </a:r>
            <a:r>
              <a:rPr lang="fr-FR" dirty="0" err="1"/>
              <a:t>regression</a:t>
            </a:r>
            <a:r>
              <a:rPr lang="fr-FR" dirty="0"/>
              <a:t> </a:t>
            </a:r>
          </a:p>
        </p:txBody>
      </p:sp>
      <p:sp>
        <p:nvSpPr>
          <p:cNvPr id="3" name="Espace réservé du contenu 2"/>
          <p:cNvSpPr>
            <a:spLocks noGrp="1"/>
          </p:cNvSpPr>
          <p:nvPr>
            <p:ph idx="1"/>
          </p:nvPr>
        </p:nvSpPr>
        <p:spPr/>
        <p:txBody>
          <a:bodyPr>
            <a:normAutofit fontScale="92500" lnSpcReduction="20000"/>
          </a:bodyPr>
          <a:lstStyle/>
          <a:p>
            <a:pPr marL="0" indent="0" algn="just">
              <a:buNone/>
            </a:pPr>
            <a:r>
              <a:rPr lang="en-US" dirty="0"/>
              <a:t>In Stata: </a:t>
            </a:r>
            <a:r>
              <a:rPr lang="en-US" dirty="0" err="1"/>
              <a:t>Reg</a:t>
            </a:r>
            <a:r>
              <a:rPr lang="en-US" dirty="0"/>
              <a:t>, instruction STB « standardized betas » shows the parameters obtained when all (dependent and explanatory) variables are standardized.</a:t>
            </a:r>
          </a:p>
          <a:p>
            <a:pPr marL="0" indent="0" algn="just">
              <a:buNone/>
            </a:pPr>
            <a:r>
              <a:rPr lang="en-US" dirty="0"/>
              <a:t>Then, we can compare the magnitude of parameters from one explanatory variable to the next one. </a:t>
            </a:r>
          </a:p>
          <a:p>
            <a:pPr marL="0" indent="0" algn="just">
              <a:buNone/>
            </a:pPr>
            <a:r>
              <a:rPr lang="en-US" dirty="0"/>
              <a:t>With the usual non-standardized parameters, the different standard errors of each explanatory variables implies that their magnitude are not comparable.</a:t>
            </a:r>
          </a:p>
          <a:p>
            <a:pPr marL="0" indent="0">
              <a:buNone/>
            </a:pPr>
            <a:endParaRPr lang="en-US" dirty="0"/>
          </a:p>
        </p:txBody>
      </p:sp>
    </p:spTree>
    <p:extLst>
      <p:ext uri="{BB962C8B-B14F-4D97-AF65-F5344CB8AC3E}">
        <p14:creationId xmlns:p14="http://schemas.microsoft.com/office/powerpoint/2010/main" val="20275652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re 1"/>
          <p:cNvSpPr>
            <a:spLocks noGrp="1"/>
          </p:cNvSpPr>
          <p:nvPr>
            <p:ph type="title"/>
          </p:nvPr>
        </p:nvSpPr>
        <p:spPr/>
        <p:txBody>
          <a:bodyPr>
            <a:normAutofit fontScale="90000"/>
          </a:bodyPr>
          <a:lstStyle/>
          <a:p>
            <a:r>
              <a:rPr lang="fr-FR" altLang="fr-FR" dirty="0" err="1"/>
              <a:t>Standardized</a:t>
            </a:r>
            <a:r>
              <a:rPr lang="fr-FR" altLang="fr-FR" dirty="0"/>
              <a:t> </a:t>
            </a:r>
            <a:r>
              <a:rPr lang="fr-FR" altLang="fr-FR" dirty="0" err="1"/>
              <a:t>parameters</a:t>
            </a:r>
            <a:r>
              <a:rPr lang="fr-FR" altLang="fr-FR" dirty="0"/>
              <a:t> do not </a:t>
            </a:r>
            <a:r>
              <a:rPr lang="fr-FR" altLang="fr-FR" dirty="0" err="1"/>
              <a:t>depend</a:t>
            </a:r>
            <a:r>
              <a:rPr lang="fr-FR" altLang="fr-FR" dirty="0"/>
              <a:t> on </a:t>
            </a:r>
            <a:r>
              <a:rPr lang="fr-FR" altLang="fr-FR" dirty="0" err="1"/>
              <a:t>sample</a:t>
            </a:r>
            <a:r>
              <a:rPr lang="fr-FR" altLang="fr-FR" dirty="0"/>
              <a:t> </a:t>
            </a:r>
            <a:r>
              <a:rPr lang="en-US" dirty="0">
                <a:latin typeface="Cambria Math" panose="02040503050406030204" pitchFamily="18" charset="0"/>
                <a:ea typeface="Cambria Math" panose="02040503050406030204" pitchFamily="18" charset="0"/>
                <a:cs typeface="Calibri"/>
              </a:rPr>
              <a:t>σ(y) and  σ(x)</a:t>
            </a:r>
            <a:r>
              <a:rPr lang="fr-FR" altLang="fr-FR" dirty="0"/>
              <a:t> </a:t>
            </a:r>
          </a:p>
        </p:txBody>
      </p:sp>
      <p:sp>
        <p:nvSpPr>
          <p:cNvPr id="4099" name="Espace réservé du contenu 2"/>
          <p:cNvSpPr>
            <a:spLocks noGrp="1"/>
          </p:cNvSpPr>
          <p:nvPr>
            <p:ph idx="1"/>
          </p:nvPr>
        </p:nvSpPr>
        <p:spPr/>
        <p:txBody>
          <a:bodyPr>
            <a:normAutofit fontScale="92500" lnSpcReduction="20000"/>
          </a:bodyPr>
          <a:lstStyle/>
          <a:p>
            <a:pPr marL="0" indent="0">
              <a:buFontTx/>
              <a:buNone/>
            </a:pPr>
            <a:r>
              <a:rPr lang="en-US" altLang="fr-FR" b="1" dirty="0"/>
              <a:t>Simple regression</a:t>
            </a:r>
            <a:r>
              <a:rPr lang="en-US" altLang="fr-FR" dirty="0"/>
              <a:t> (1 explanatory variable):</a:t>
            </a:r>
          </a:p>
          <a:p>
            <a:pPr marL="0" indent="0">
              <a:buNone/>
            </a:pPr>
            <a:r>
              <a:rPr lang="en-US" dirty="0">
                <a:latin typeface="Cambria Math" panose="02040503050406030204" pitchFamily="18" charset="0"/>
                <a:ea typeface="Cambria Math" panose="02040503050406030204" pitchFamily="18" charset="0"/>
              </a:rPr>
              <a:t>β</a:t>
            </a:r>
            <a:r>
              <a:rPr lang="en-US" altLang="fr-FR" dirty="0"/>
              <a:t>(x)= r(</a:t>
            </a:r>
            <a:r>
              <a:rPr lang="en-US" altLang="fr-FR" dirty="0" err="1"/>
              <a:t>x,y</a:t>
            </a:r>
            <a:r>
              <a:rPr lang="en-US" altLang="fr-FR" dirty="0"/>
              <a:t>)*</a:t>
            </a:r>
            <a:r>
              <a:rPr lang="en-US" dirty="0">
                <a:latin typeface="Cambria Math" panose="02040503050406030204" pitchFamily="18" charset="0"/>
                <a:ea typeface="Cambria Math" panose="02040503050406030204" pitchFamily="18" charset="0"/>
                <a:cs typeface="Calibri"/>
              </a:rPr>
              <a:t>σ(y)/ σ(x).</a:t>
            </a:r>
            <a:endParaRPr lang="en-US" altLang="fr-FR" dirty="0"/>
          </a:p>
          <a:p>
            <a:pPr marL="0" indent="0">
              <a:buFontTx/>
              <a:buNone/>
            </a:pPr>
            <a:r>
              <a:rPr lang="en-US" dirty="0">
                <a:latin typeface="Cambria Math" panose="02040503050406030204" pitchFamily="18" charset="0"/>
                <a:ea typeface="Cambria Math" panose="02040503050406030204" pitchFamily="18" charset="0"/>
              </a:rPr>
              <a:t>β</a:t>
            </a:r>
            <a:r>
              <a:rPr lang="en-US" altLang="fr-FR" dirty="0"/>
              <a:t>(standardized)=r(</a:t>
            </a:r>
            <a:r>
              <a:rPr lang="en-US" altLang="fr-FR" dirty="0" err="1"/>
              <a:t>x,y</a:t>
            </a:r>
            <a:r>
              <a:rPr lang="en-US" altLang="fr-FR" dirty="0"/>
              <a:t>) simple correlation coefficient with </a:t>
            </a:r>
            <a:r>
              <a:rPr lang="en-US" dirty="0">
                <a:latin typeface="Cambria Math" panose="02040503050406030204" pitchFamily="18" charset="0"/>
                <a:ea typeface="Cambria Math" panose="02040503050406030204" pitchFamily="18" charset="0"/>
              </a:rPr>
              <a:t>| </a:t>
            </a:r>
            <a:r>
              <a:rPr lang="en-US" altLang="fr-FR" dirty="0"/>
              <a:t>r(</a:t>
            </a:r>
            <a:r>
              <a:rPr lang="en-US" altLang="fr-FR" dirty="0" err="1"/>
              <a:t>x,y</a:t>
            </a:r>
            <a:r>
              <a:rPr lang="en-US" altLang="fr-FR" dirty="0"/>
              <a:t>) | &lt; </a:t>
            </a:r>
            <a:r>
              <a:rPr lang="en-US" altLang="fr-FR" dirty="0">
                <a:solidFill>
                  <a:srgbClr val="FF0000"/>
                </a:solidFill>
              </a:rPr>
              <a:t>1</a:t>
            </a:r>
          </a:p>
          <a:p>
            <a:pPr marL="0" indent="0">
              <a:buFontTx/>
              <a:buNone/>
            </a:pPr>
            <a:r>
              <a:rPr lang="en-US" altLang="fr-FR" b="1" dirty="0"/>
              <a:t>Multiple regression</a:t>
            </a:r>
            <a:r>
              <a:rPr lang="en-US" altLang="fr-FR" dirty="0"/>
              <a:t>: Non standardized estimated parameter (beta) of variable x:</a:t>
            </a:r>
          </a:p>
          <a:p>
            <a:pPr marL="0" indent="0">
              <a:buFontTx/>
              <a:buNone/>
            </a:pPr>
            <a:r>
              <a:rPr lang="en-US" dirty="0">
                <a:latin typeface="Cambria Math" panose="02040503050406030204" pitchFamily="18" charset="0"/>
                <a:ea typeface="Cambria Math" panose="02040503050406030204" pitchFamily="18" charset="0"/>
              </a:rPr>
              <a:t>β</a:t>
            </a:r>
            <a:r>
              <a:rPr lang="en-US" altLang="fr-FR" dirty="0"/>
              <a:t>(x)= </a:t>
            </a:r>
            <a:r>
              <a:rPr lang="en-US" dirty="0">
                <a:latin typeface="Cambria Math" panose="02040503050406030204" pitchFamily="18" charset="0"/>
                <a:ea typeface="Cambria Math" panose="02040503050406030204" pitchFamily="18" charset="0"/>
              </a:rPr>
              <a:t>β</a:t>
            </a:r>
            <a:r>
              <a:rPr lang="en-US" altLang="fr-FR" dirty="0"/>
              <a:t>(standardized)*</a:t>
            </a:r>
            <a:r>
              <a:rPr lang="en-US" dirty="0">
                <a:latin typeface="Cambria Math" panose="02040503050406030204" pitchFamily="18" charset="0"/>
                <a:ea typeface="Cambria Math" panose="02040503050406030204" pitchFamily="18" charset="0"/>
                <a:cs typeface="Calibri"/>
              </a:rPr>
              <a:t> σ(y)/ σ(x).</a:t>
            </a:r>
            <a:endParaRPr lang="en-US" altLang="fr-FR" dirty="0"/>
          </a:p>
          <a:p>
            <a:pPr marL="0" indent="0">
              <a:buNone/>
            </a:pPr>
            <a:r>
              <a:rPr lang="en-US" altLang="fr-FR" dirty="0"/>
              <a:t>A sufficiently high correlation between explanatory variables.</a:t>
            </a:r>
          </a:p>
          <a:p>
            <a:pPr marL="0" indent="0">
              <a:buNone/>
            </a:pPr>
            <a:r>
              <a:rPr lang="pt-BR"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 β</a:t>
            </a:r>
            <a:r>
              <a:rPr lang="en-US" altLang="fr-FR" dirty="0"/>
              <a:t>(standardized) | &lt; </a:t>
            </a:r>
            <a:r>
              <a:rPr lang="en-US" altLang="fr-FR" dirty="0">
                <a:solidFill>
                  <a:srgbClr val="FF0000"/>
                </a:solidFill>
              </a:rPr>
              <a:t>8</a:t>
            </a:r>
          </a:p>
        </p:txBody>
      </p:sp>
    </p:spTree>
    <p:extLst>
      <p:ext uri="{BB962C8B-B14F-4D97-AF65-F5344CB8AC3E}">
        <p14:creationId xmlns:p14="http://schemas.microsoft.com/office/powerpoint/2010/main" val="32993885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en-US" dirty="0"/>
              <a:t>The standardized forecast of a standardized simple regression</a:t>
            </a:r>
          </a:p>
        </p:txBody>
      </p:sp>
      <p:pic>
        <p:nvPicPr>
          <p:cNvPr id="1013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852936"/>
            <a:ext cx="7830870" cy="136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13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4437112"/>
            <a:ext cx="5049729" cy="1450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1290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dirty="0"/>
              <a:t>The marginal effect interpretation of a standardized simple regression</a:t>
            </a:r>
          </a:p>
        </p:txBody>
      </p:sp>
      <p:sp>
        <p:nvSpPr>
          <p:cNvPr id="3" name="Espace réservé du contenu 2"/>
          <p:cNvSpPr>
            <a:spLocks noGrp="1"/>
          </p:cNvSpPr>
          <p:nvPr>
            <p:ph idx="1"/>
          </p:nvPr>
        </p:nvSpPr>
        <p:spPr/>
        <p:txBody>
          <a:bodyPr>
            <a:normAutofit/>
          </a:bodyPr>
          <a:lstStyle/>
          <a:p>
            <a:pPr marL="0" indent="0">
              <a:buNone/>
            </a:pPr>
            <a:r>
              <a:rPr lang="en-US" dirty="0"/>
              <a:t>If (x – mean(x)) / standard error (x)</a:t>
            </a:r>
            <a:r>
              <a:rPr lang="el-GR" dirty="0">
                <a:latin typeface="Cambria Math" panose="02040503050406030204" pitchFamily="18" charset="0"/>
                <a:ea typeface="Cambria Math" panose="02040503050406030204" pitchFamily="18" charset="0"/>
                <a:cs typeface="Calibri"/>
              </a:rPr>
              <a:t> ≤</a:t>
            </a:r>
            <a:r>
              <a:rPr lang="fr-FR" dirty="0">
                <a:latin typeface="Cambria Math" panose="02040503050406030204" pitchFamily="18" charset="0"/>
                <a:ea typeface="Cambria Math" panose="02040503050406030204" pitchFamily="18" charset="0"/>
                <a:cs typeface="Calibri"/>
              </a:rPr>
              <a:t>1</a:t>
            </a:r>
            <a:endParaRPr lang="en-US" dirty="0"/>
          </a:p>
          <a:p>
            <a:pPr marL="0" indent="0">
              <a:buNone/>
            </a:pPr>
            <a:r>
              <a:rPr lang="en-US" dirty="0">
                <a:latin typeface="Cambria Math" panose="02040503050406030204" pitchFamily="18" charset="0"/>
                <a:ea typeface="Cambria Math" panose="02040503050406030204" pitchFamily="18" charset="0"/>
              </a:rPr>
              <a:t>⇔ If x deviates from its mean by at most one standard error (of X) (66% of the cases for a normal law)</a:t>
            </a:r>
          </a:p>
          <a:p>
            <a:pPr marL="0" indent="0">
              <a:buNone/>
            </a:pPr>
            <a:r>
              <a:rPr lang="en-US" dirty="0">
                <a:latin typeface="Cambria Math" panose="02040503050406030204" pitchFamily="18" charset="0"/>
                <a:ea typeface="Cambria Math" panose="02040503050406030204" pitchFamily="18" charset="0"/>
              </a:rPr>
              <a:t>⇒ </a:t>
            </a:r>
            <a:r>
              <a:rPr lang="en-US" dirty="0"/>
              <a:t>(</a:t>
            </a:r>
            <a:r>
              <a:rPr lang="en-US" dirty="0" err="1"/>
              <a:t>yhat</a:t>
            </a:r>
            <a:r>
              <a:rPr lang="en-US" dirty="0"/>
              <a:t> – mean(y))/standard error (y)</a:t>
            </a:r>
            <a:r>
              <a:rPr lang="el-GR" dirty="0">
                <a:latin typeface="Cambria Math" panose="02040503050406030204" pitchFamily="18" charset="0"/>
                <a:ea typeface="Cambria Math" panose="02040503050406030204" pitchFamily="18" charset="0"/>
                <a:cs typeface="Calibri"/>
              </a:rPr>
              <a:t>≤</a:t>
            </a:r>
            <a:r>
              <a:rPr lang="en-US" dirty="0">
                <a:latin typeface="Cambria Math" panose="02040503050406030204" pitchFamily="18" charset="0"/>
                <a:ea typeface="Cambria Math" panose="02040503050406030204" pitchFamily="18" charset="0"/>
              </a:rPr>
              <a:t>r(</a:t>
            </a:r>
            <a:r>
              <a:rPr lang="en-US" dirty="0" err="1">
                <a:latin typeface="Cambria Math" panose="02040503050406030204" pitchFamily="18" charset="0"/>
                <a:ea typeface="Cambria Math" panose="02040503050406030204" pitchFamily="18" charset="0"/>
              </a:rPr>
              <a:t>y,x</a:t>
            </a:r>
            <a:r>
              <a:rPr lang="en-US" dirty="0">
                <a:latin typeface="Cambria Math" panose="02040503050406030204" pitchFamily="18" charset="0"/>
                <a:ea typeface="Cambria Math" panose="02040503050406030204" pitchFamily="18" charset="0"/>
              </a:rPr>
              <a:t>)</a:t>
            </a:r>
            <a:endParaRPr lang="en-US" dirty="0"/>
          </a:p>
          <a:p>
            <a:pPr marL="0" indent="0">
              <a:buNone/>
            </a:pPr>
            <a:r>
              <a:rPr lang="en-US" dirty="0"/>
              <a:t>The forecast of y deviates from its mean by at most the simple correlation coefficient of y and x times the standard error of Y.</a:t>
            </a:r>
          </a:p>
        </p:txBody>
      </p:sp>
    </p:spTree>
    <p:extLst>
      <p:ext uri="{BB962C8B-B14F-4D97-AF65-F5344CB8AC3E}">
        <p14:creationId xmlns:p14="http://schemas.microsoft.com/office/powerpoint/2010/main" val="28585274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Large </a:t>
            </a:r>
            <a:r>
              <a:rPr lang="fr-FR" dirty="0" err="1"/>
              <a:t>standardized</a:t>
            </a:r>
            <a:r>
              <a:rPr lang="fr-FR" dirty="0"/>
              <a:t> </a:t>
            </a:r>
            <a:r>
              <a:rPr lang="fr-FR" dirty="0" err="1"/>
              <a:t>effect</a:t>
            </a:r>
            <a:r>
              <a:rPr lang="fr-FR" dirty="0"/>
              <a:t> versus large t-</a:t>
            </a:r>
            <a:r>
              <a:rPr lang="fr-FR" dirty="0" err="1"/>
              <a:t>statistic</a:t>
            </a:r>
            <a:endParaRPr lang="fr-FR" dirty="0"/>
          </a:p>
        </p:txBody>
      </p:sp>
      <p:sp>
        <p:nvSpPr>
          <p:cNvPr id="3" name="Espace réservé du contenu 2"/>
          <p:cNvSpPr>
            <a:spLocks noGrp="1"/>
          </p:cNvSpPr>
          <p:nvPr>
            <p:ph idx="1"/>
          </p:nvPr>
        </p:nvSpPr>
        <p:spPr/>
        <p:txBody>
          <a:bodyPr>
            <a:normAutofit fontScale="92500"/>
          </a:bodyPr>
          <a:lstStyle/>
          <a:p>
            <a:pPr marL="0" indent="0" algn="just">
              <a:buNone/>
            </a:pPr>
            <a:r>
              <a:rPr lang="en-US" dirty="0"/>
              <a:t>(1) The standardized parameter r(</a:t>
            </a:r>
            <a:r>
              <a:rPr lang="en-US" dirty="0" err="1"/>
              <a:t>y,x</a:t>
            </a:r>
            <a:r>
              <a:rPr lang="en-US" dirty="0"/>
              <a:t>) is large, (but not due to near-multicollinearity in multiple regression for the partial correlation coefficient)</a:t>
            </a:r>
          </a:p>
          <a:p>
            <a:pPr marL="0" indent="0" algn="just">
              <a:buNone/>
            </a:pPr>
            <a:r>
              <a:rPr lang="en-US" dirty="0"/>
              <a:t>= « substantive significance », </a:t>
            </a:r>
            <a:r>
              <a:rPr lang="en-US" b="1" dirty="0"/>
              <a:t>Large effect of X on Y</a:t>
            </a:r>
            <a:r>
              <a:rPr lang="en-US" dirty="0"/>
              <a:t>.</a:t>
            </a:r>
          </a:p>
          <a:p>
            <a:pPr marL="0" indent="0" algn="just">
              <a:buNone/>
            </a:pPr>
            <a:r>
              <a:rPr lang="en-US" dirty="0"/>
              <a:t>(2) Large t-stat &gt;2, parameter statistically different from zero at the 5% level, 0 does not belong to the 95% confidence interval</a:t>
            </a:r>
          </a:p>
          <a:p>
            <a:pPr marL="0" indent="0" algn="just">
              <a:buNone/>
            </a:pPr>
            <a:r>
              <a:rPr lang="en-US" dirty="0"/>
              <a:t>= « statistical significance ».</a:t>
            </a:r>
          </a:p>
        </p:txBody>
      </p:sp>
    </p:spTree>
    <p:extLst>
      <p:ext uri="{BB962C8B-B14F-4D97-AF65-F5344CB8AC3E}">
        <p14:creationId xmlns:p14="http://schemas.microsoft.com/office/powerpoint/2010/main" val="953094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Substantive </a:t>
            </a:r>
            <a:r>
              <a:rPr lang="fr-FR" dirty="0" err="1"/>
              <a:t>significance</a:t>
            </a:r>
            <a:endParaRPr lang="fr-FR" dirty="0"/>
          </a:p>
        </p:txBody>
      </p:sp>
      <p:sp>
        <p:nvSpPr>
          <p:cNvPr id="3" name="Espace réservé du contenu 2"/>
          <p:cNvSpPr>
            <a:spLocks noGrp="1"/>
          </p:cNvSpPr>
          <p:nvPr>
            <p:ph idx="1"/>
          </p:nvPr>
        </p:nvSpPr>
        <p:spPr/>
        <p:txBody>
          <a:bodyPr/>
          <a:lstStyle/>
          <a:p>
            <a:pPr marL="0" indent="0">
              <a:buNone/>
            </a:pPr>
            <a:r>
              <a:rPr lang="fr-FR" b="1" dirty="0"/>
              <a:t>Magnitude of </a:t>
            </a:r>
            <a:r>
              <a:rPr lang="fr-FR" b="1" dirty="0" err="1"/>
              <a:t>standardized</a:t>
            </a:r>
            <a:r>
              <a:rPr lang="fr-FR" b="1" dirty="0"/>
              <a:t> coefficient:</a:t>
            </a:r>
          </a:p>
          <a:p>
            <a:pPr marL="0" indent="0">
              <a:buNone/>
            </a:pPr>
            <a:r>
              <a:rPr lang="fr-FR" dirty="0"/>
              <a:t>A non-</a:t>
            </a:r>
            <a:r>
              <a:rPr lang="fr-FR" dirty="0" err="1"/>
              <a:t>significant</a:t>
            </a:r>
            <a:r>
              <a:rPr lang="fr-FR" dirty="0"/>
              <a:t> </a:t>
            </a:r>
            <a:r>
              <a:rPr lang="fr-FR" dirty="0" err="1"/>
              <a:t>effect</a:t>
            </a:r>
            <a:r>
              <a:rPr lang="fr-FR" dirty="0"/>
              <a:t> of X on Y:</a:t>
            </a:r>
          </a:p>
          <a:p>
            <a:pPr marL="0" indent="0">
              <a:buNone/>
            </a:pPr>
            <a:r>
              <a:rPr lang="fr-FR" dirty="0"/>
              <a:t>If the variable X moves </a:t>
            </a:r>
            <a:r>
              <a:rPr lang="fr-FR" dirty="0" err="1"/>
              <a:t>from</a:t>
            </a:r>
            <a:r>
              <a:rPr lang="fr-FR" dirty="0"/>
              <a:t> 1 standard </a:t>
            </a:r>
            <a:r>
              <a:rPr lang="fr-FR" dirty="0" err="1"/>
              <a:t>error</a:t>
            </a:r>
            <a:r>
              <a:rPr lang="fr-FR" dirty="0"/>
              <a:t> </a:t>
            </a:r>
            <a:r>
              <a:rPr lang="fr-FR" dirty="0" err="1"/>
              <a:t>from</a:t>
            </a:r>
            <a:r>
              <a:rPr lang="fr-FR" dirty="0"/>
              <a:t> </a:t>
            </a:r>
            <a:r>
              <a:rPr lang="fr-FR" dirty="0" err="1"/>
              <a:t>its</a:t>
            </a:r>
            <a:r>
              <a:rPr lang="fr-FR" dirty="0"/>
              <a:t> </a:t>
            </a:r>
            <a:r>
              <a:rPr lang="fr-FR" dirty="0" err="1"/>
              <a:t>mean</a:t>
            </a:r>
            <a:r>
              <a:rPr lang="fr-FR" dirty="0"/>
              <a:t>,</a:t>
            </a:r>
          </a:p>
          <a:p>
            <a:pPr marL="0" indent="0">
              <a:buNone/>
            </a:pPr>
            <a:r>
              <a:rPr lang="fr-FR" dirty="0" err="1"/>
              <a:t>Does</a:t>
            </a:r>
            <a:r>
              <a:rPr lang="fr-FR" dirty="0"/>
              <a:t> the </a:t>
            </a:r>
            <a:r>
              <a:rPr lang="fr-FR" dirty="0" err="1"/>
              <a:t>dependent</a:t>
            </a:r>
            <a:r>
              <a:rPr lang="fr-FR" dirty="0"/>
              <a:t> variable Y moves </a:t>
            </a:r>
            <a:r>
              <a:rPr lang="fr-FR" dirty="0" err="1"/>
              <a:t>from</a:t>
            </a:r>
            <a:r>
              <a:rPr lang="fr-FR" dirty="0"/>
              <a:t> a </a:t>
            </a:r>
            <a:r>
              <a:rPr lang="fr-FR" b="1" dirty="0" err="1"/>
              <a:t>tiny</a:t>
            </a:r>
            <a:r>
              <a:rPr lang="fr-FR" dirty="0"/>
              <a:t> proportion of </a:t>
            </a:r>
            <a:r>
              <a:rPr lang="fr-FR" dirty="0" err="1"/>
              <a:t>its</a:t>
            </a:r>
            <a:r>
              <a:rPr lang="fr-FR" dirty="0"/>
              <a:t> </a:t>
            </a:r>
            <a:r>
              <a:rPr lang="fr-FR" dirty="0" err="1"/>
              <a:t>own</a:t>
            </a:r>
            <a:r>
              <a:rPr lang="fr-FR" dirty="0"/>
              <a:t> standard </a:t>
            </a:r>
            <a:r>
              <a:rPr lang="fr-FR" dirty="0" err="1"/>
              <a:t>error</a:t>
            </a:r>
            <a:r>
              <a:rPr lang="fr-FR" dirty="0"/>
              <a:t> </a:t>
            </a:r>
            <a:r>
              <a:rPr lang="fr-FR" dirty="0" err="1"/>
              <a:t>from</a:t>
            </a:r>
            <a:r>
              <a:rPr lang="fr-FR" dirty="0"/>
              <a:t> </a:t>
            </a:r>
            <a:r>
              <a:rPr lang="fr-FR" dirty="0" err="1"/>
              <a:t>its</a:t>
            </a:r>
            <a:r>
              <a:rPr lang="fr-FR" dirty="0"/>
              <a:t> </a:t>
            </a:r>
            <a:r>
              <a:rPr lang="fr-FR" dirty="0" err="1"/>
              <a:t>own</a:t>
            </a:r>
            <a:r>
              <a:rPr lang="fr-FR" dirty="0"/>
              <a:t> </a:t>
            </a:r>
            <a:r>
              <a:rPr lang="fr-FR" dirty="0" err="1"/>
              <a:t>mean</a:t>
            </a:r>
            <a:r>
              <a:rPr lang="fr-FR" dirty="0"/>
              <a:t>.</a:t>
            </a:r>
          </a:p>
        </p:txBody>
      </p:sp>
    </p:spTree>
    <p:extLst>
      <p:ext uri="{BB962C8B-B14F-4D97-AF65-F5344CB8AC3E}">
        <p14:creationId xmlns:p14="http://schemas.microsoft.com/office/powerpoint/2010/main" val="5879530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fr-FR" dirty="0"/>
              <a:t>T-stat </a:t>
            </a:r>
            <a:r>
              <a:rPr lang="fr-FR" dirty="0" err="1"/>
              <a:t>depends</a:t>
            </a:r>
            <a:r>
              <a:rPr lang="fr-FR" dirty="0"/>
              <a:t> on partial </a:t>
            </a:r>
            <a:r>
              <a:rPr lang="fr-FR" dirty="0" err="1"/>
              <a:t>correlation</a:t>
            </a:r>
            <a:r>
              <a:rPr lang="fr-FR" dirty="0"/>
              <a:t> and </a:t>
            </a:r>
            <a:r>
              <a:rPr lang="fr-FR" dirty="0" err="1"/>
              <a:t>degrees</a:t>
            </a:r>
            <a:r>
              <a:rPr lang="fr-FR" dirty="0"/>
              <a:t> of </a:t>
            </a:r>
            <a:r>
              <a:rPr lang="fr-FR" dirty="0" err="1"/>
              <a:t>freedom</a:t>
            </a:r>
            <a:endParaRPr lang="fr-FR" dirty="0"/>
          </a:p>
        </p:txBody>
      </p:sp>
      <p:sp>
        <p:nvSpPr>
          <p:cNvPr id="5" name="Espace réservé du contenu 4"/>
          <p:cNvSpPr>
            <a:spLocks noGrp="1"/>
          </p:cNvSpPr>
          <p:nvPr>
            <p:ph idx="1"/>
          </p:nvPr>
        </p:nvSpPr>
        <p:spPr/>
        <p:txBody>
          <a:bodyPr>
            <a:normAutofit fontScale="92500"/>
          </a:bodyPr>
          <a:lstStyle/>
          <a:p>
            <a:pPr marL="0" indent="0" algn="just">
              <a:buNone/>
            </a:pPr>
            <a:r>
              <a:rPr lang="en-US" dirty="0"/>
              <a:t>For multiple regression (k&gt;1 explanatory variables, including x and other (k-1) explanatory variables stacked in Z) : </a:t>
            </a:r>
          </a:p>
          <a:p>
            <a:pPr marL="0" indent="0" algn="just">
              <a:buNone/>
            </a:pPr>
            <a:r>
              <a:rPr lang="en-US" b="1" dirty="0"/>
              <a:t>r(</a:t>
            </a:r>
            <a:r>
              <a:rPr lang="en-US" b="1" dirty="0" err="1"/>
              <a:t>y,x|Z</a:t>
            </a:r>
            <a:r>
              <a:rPr lang="en-US" b="1" dirty="0"/>
              <a:t>)=r(y-Z</a:t>
            </a:r>
            <a:r>
              <a:rPr lang="el-GR" b="1" dirty="0">
                <a:latin typeface="Cambria Math" panose="02040503050406030204" pitchFamily="18" charset="0"/>
                <a:ea typeface="Cambria Math" panose="02040503050406030204" pitchFamily="18" charset="0"/>
              </a:rPr>
              <a:t>β</a:t>
            </a:r>
            <a:r>
              <a:rPr lang="fr-FR" b="1" dirty="0">
                <a:latin typeface="Cambria Math" panose="02040503050406030204" pitchFamily="18" charset="0"/>
                <a:ea typeface="Cambria Math" panose="02040503050406030204" pitchFamily="18" charset="0"/>
              </a:rPr>
              <a:t>, x-Z</a:t>
            </a:r>
            <a:r>
              <a:rPr lang="el-GR" b="1" dirty="0">
                <a:latin typeface="Cambria Math" panose="02040503050406030204" pitchFamily="18" charset="0"/>
                <a:ea typeface="Cambria Math" panose="02040503050406030204" pitchFamily="18" charset="0"/>
              </a:rPr>
              <a:t>β</a:t>
            </a:r>
            <a:r>
              <a:rPr lang="fr-FR" b="1" dirty="0">
                <a:latin typeface="Cambria Math" panose="02040503050406030204" pitchFamily="18" charset="0"/>
                <a:ea typeface="Cambria Math" panose="02040503050406030204" pitchFamily="18" charset="0"/>
              </a:rPr>
              <a:t>’ )</a:t>
            </a:r>
            <a:endParaRPr lang="en-US" b="1" dirty="0"/>
          </a:p>
          <a:p>
            <a:pPr marL="0" indent="0" algn="just">
              <a:buNone/>
            </a:pPr>
            <a:r>
              <a:rPr lang="en-US" dirty="0"/>
              <a:t>Partial (conditional) correlation coefficient. Degrees of freedom are </a:t>
            </a:r>
            <a:r>
              <a:rPr lang="en-US" b="1" dirty="0"/>
              <a:t>N-k-1</a:t>
            </a:r>
            <a:r>
              <a:rPr lang="en-US" dirty="0"/>
              <a:t>.</a:t>
            </a:r>
          </a:p>
          <a:p>
            <a:pPr marL="0" indent="0" algn="just">
              <a:buNone/>
            </a:pPr>
            <a:r>
              <a:rPr lang="pt-BR" dirty="0">
                <a:latin typeface="Cambria Math" panose="02040503050406030204" pitchFamily="18" charset="0"/>
                <a:ea typeface="Cambria Math" panose="02040503050406030204" pitchFamily="18" charset="0"/>
              </a:rPr>
              <a:t>⇒ </a:t>
            </a:r>
            <a:r>
              <a:rPr lang="en-US" dirty="0"/>
              <a:t>For simple regression (k=1, only one explanatory variable x, Z=0): simple correlation coefficient </a:t>
            </a:r>
            <a:r>
              <a:rPr lang="en-US" b="1" dirty="0"/>
              <a:t>r(</a:t>
            </a:r>
            <a:r>
              <a:rPr lang="en-US" b="1" dirty="0" err="1"/>
              <a:t>x,y</a:t>
            </a:r>
            <a:r>
              <a:rPr lang="en-US" b="1" dirty="0"/>
              <a:t>)</a:t>
            </a:r>
            <a:r>
              <a:rPr lang="en-US" dirty="0"/>
              <a:t>, degrees of freedom </a:t>
            </a:r>
            <a:r>
              <a:rPr lang="en-US" b="1" dirty="0"/>
              <a:t>N-k-1=N-2.</a:t>
            </a:r>
          </a:p>
          <a:p>
            <a:pPr marL="0" indent="0" algn="just">
              <a:buNone/>
            </a:pPr>
            <a:endParaRPr lang="fr-FR" dirty="0"/>
          </a:p>
        </p:txBody>
      </p:sp>
    </p:spTree>
    <p:extLst>
      <p:ext uri="{BB962C8B-B14F-4D97-AF65-F5344CB8AC3E}">
        <p14:creationId xmlns:p14="http://schemas.microsoft.com/office/powerpoint/2010/main" val="18095901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dirty="0"/>
              <a:t>Partial correlation coefficients</a:t>
            </a:r>
          </a:p>
        </p:txBody>
      </p:sp>
      <p:sp>
        <p:nvSpPr>
          <p:cNvPr id="3" name="Espace réservé du contenu 2"/>
          <p:cNvSpPr>
            <a:spLocks noGrp="1"/>
          </p:cNvSpPr>
          <p:nvPr>
            <p:ph idx="1"/>
          </p:nvPr>
        </p:nvSpPr>
        <p:spPr/>
        <p:txBody>
          <a:bodyPr>
            <a:normAutofit/>
          </a:bodyPr>
          <a:lstStyle/>
          <a:p>
            <a:pPr marL="0" indent="0" algn="just">
              <a:buNone/>
            </a:pPr>
            <a:r>
              <a:rPr lang="en-US" dirty="0"/>
              <a:t>r( y , x | Z)=r(y-Z</a:t>
            </a:r>
            <a:r>
              <a:rPr lang="en-US" dirty="0">
                <a:latin typeface="Cambria Math" panose="02040503050406030204" pitchFamily="18" charset="0"/>
                <a:ea typeface="Cambria Math" panose="02040503050406030204" pitchFamily="18" charset="0"/>
              </a:rPr>
              <a:t>β, x-Zβ’)</a:t>
            </a:r>
            <a:endParaRPr lang="en-US" dirty="0"/>
          </a:p>
          <a:p>
            <a:pPr marL="0" indent="0" algn="just">
              <a:buNone/>
            </a:pPr>
            <a:r>
              <a:rPr lang="en-US" dirty="0"/>
              <a:t>y-Z</a:t>
            </a:r>
            <a:r>
              <a:rPr lang="en-US" dirty="0">
                <a:latin typeface="Cambria Math" panose="02040503050406030204" pitchFamily="18" charset="0"/>
                <a:ea typeface="Cambria Math" panose="02040503050406030204" pitchFamily="18" charset="0"/>
              </a:rPr>
              <a:t>β are the residuals of the auxiliary regression of the dependent variable y on the (k-1) other explanatory variables stacked in Z.</a:t>
            </a:r>
          </a:p>
          <a:p>
            <a:pPr marL="0" indent="0" algn="just">
              <a:buNone/>
            </a:pPr>
            <a:r>
              <a:rPr lang="en-US" dirty="0">
                <a:latin typeface="Cambria Math" panose="02040503050406030204" pitchFamily="18" charset="0"/>
                <a:ea typeface="Cambria Math" panose="02040503050406030204" pitchFamily="18" charset="0"/>
              </a:rPr>
              <a:t>x-Zβ’ are the residuals of the auxiliary  regression of the explanatory variable x on the (k-1) other explanatory variables stacked in Z.</a:t>
            </a:r>
            <a:endParaRPr lang="en-US" dirty="0"/>
          </a:p>
        </p:txBody>
      </p:sp>
    </p:spTree>
    <p:extLst>
      <p:ext uri="{BB962C8B-B14F-4D97-AF65-F5344CB8AC3E}">
        <p14:creationId xmlns:p14="http://schemas.microsoft.com/office/powerpoint/2010/main" val="2741484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dirty="0"/>
              <a:t>Particular case: Partial auto-correlation function for an AR(3)</a:t>
            </a:r>
          </a:p>
        </p:txBody>
      </p:sp>
      <p:sp>
        <p:nvSpPr>
          <p:cNvPr id="3" name="Espace réservé du contenu 2"/>
          <p:cNvSpPr>
            <a:spLocks noGrp="1"/>
          </p:cNvSpPr>
          <p:nvPr>
            <p:ph idx="1"/>
          </p:nvPr>
        </p:nvSpPr>
        <p:spPr>
          <a:xfrm>
            <a:off x="662880" y="1600200"/>
            <a:ext cx="8229600" cy="4525963"/>
          </a:xfrm>
        </p:spPr>
        <p:txBody>
          <a:bodyPr>
            <a:normAutofit fontScale="92500" lnSpcReduction="10000"/>
          </a:bodyPr>
          <a:lstStyle/>
          <a:p>
            <a:pPr marL="0" indent="0">
              <a:buNone/>
            </a:pPr>
            <a:r>
              <a:rPr lang="en-US" dirty="0" err="1"/>
              <a:t>x</a:t>
            </a:r>
            <a:r>
              <a:rPr lang="en-US" baseline="-25000" dirty="0" err="1"/>
              <a:t>t</a:t>
            </a:r>
            <a:r>
              <a:rPr lang="en-US" baseline="-25000" dirty="0"/>
              <a:t>    </a:t>
            </a:r>
            <a:r>
              <a:rPr lang="en-US" dirty="0"/>
              <a:t>= b</a:t>
            </a:r>
            <a:r>
              <a:rPr lang="en-US" baseline="-25000" dirty="0"/>
              <a:t>1</a:t>
            </a:r>
            <a:r>
              <a:rPr lang="en-US" b="1" dirty="0"/>
              <a:t>.</a:t>
            </a:r>
            <a:r>
              <a:rPr lang="en-US" dirty="0"/>
              <a:t>x</a:t>
            </a:r>
            <a:r>
              <a:rPr lang="en-US" baseline="-25000" dirty="0"/>
              <a:t>t-1 </a:t>
            </a:r>
            <a:r>
              <a:rPr lang="en-US" dirty="0"/>
              <a:t>+ b</a:t>
            </a:r>
            <a:r>
              <a:rPr lang="en-US" baseline="-25000" dirty="0"/>
              <a:t>2</a:t>
            </a:r>
            <a:r>
              <a:rPr lang="en-US" dirty="0"/>
              <a:t>. x</a:t>
            </a:r>
            <a:r>
              <a:rPr lang="en-US" baseline="-25000" dirty="0"/>
              <a:t>t-2 </a:t>
            </a:r>
            <a:r>
              <a:rPr lang="en-US" dirty="0"/>
              <a:t>+b</a:t>
            </a:r>
            <a:r>
              <a:rPr lang="en-US" baseline="-25000" dirty="0"/>
              <a:t>3</a:t>
            </a:r>
            <a:r>
              <a:rPr lang="en-US" dirty="0"/>
              <a:t>. x</a:t>
            </a:r>
            <a:r>
              <a:rPr lang="en-US" baseline="-25000" dirty="0"/>
              <a:t>t-3 </a:t>
            </a:r>
            <a:r>
              <a:rPr lang="en-US" dirty="0"/>
              <a:t>+</a:t>
            </a:r>
            <a:r>
              <a:rPr lang="el-GR" dirty="0">
                <a:latin typeface="Cambria Math" panose="02040503050406030204" pitchFamily="18" charset="0"/>
                <a:ea typeface="Cambria Math" panose="02040503050406030204" pitchFamily="18" charset="0"/>
              </a:rPr>
              <a:t> ε</a:t>
            </a:r>
            <a:r>
              <a:rPr lang="fr-FR" baseline="-25000" dirty="0">
                <a:latin typeface="Cambria Math" panose="02040503050406030204" pitchFamily="18" charset="0"/>
                <a:ea typeface="Cambria Math" panose="02040503050406030204" pitchFamily="18" charset="0"/>
              </a:rPr>
              <a:t>t,123</a:t>
            </a:r>
          </a:p>
          <a:p>
            <a:pPr marL="0" indent="0">
              <a:buNone/>
            </a:pPr>
            <a:r>
              <a:rPr lang="en-US" dirty="0" err="1"/>
              <a:t>x</a:t>
            </a:r>
            <a:r>
              <a:rPr lang="en-US" baseline="-25000" dirty="0" err="1"/>
              <a:t>t</a:t>
            </a:r>
            <a:r>
              <a:rPr lang="en-US" baseline="-25000" dirty="0"/>
              <a:t>    </a:t>
            </a:r>
            <a:r>
              <a:rPr lang="en-US" dirty="0"/>
              <a:t>= b</a:t>
            </a:r>
            <a:r>
              <a:rPr lang="en-US" baseline="-25000" dirty="0"/>
              <a:t>4</a:t>
            </a:r>
            <a:r>
              <a:rPr lang="en-US" b="1" dirty="0"/>
              <a:t>.</a:t>
            </a:r>
            <a:r>
              <a:rPr lang="en-US" dirty="0"/>
              <a:t>x</a:t>
            </a:r>
            <a:r>
              <a:rPr lang="en-US" baseline="-25000" dirty="0"/>
              <a:t>t-1 </a:t>
            </a:r>
            <a:r>
              <a:rPr lang="en-US" dirty="0"/>
              <a:t>+ b</a:t>
            </a:r>
            <a:r>
              <a:rPr lang="en-US" baseline="-25000" dirty="0"/>
              <a:t>5</a:t>
            </a:r>
            <a:r>
              <a:rPr lang="en-US" dirty="0"/>
              <a:t>. x</a:t>
            </a:r>
            <a:r>
              <a:rPr lang="en-US" baseline="-25000" dirty="0"/>
              <a:t>t-2 </a:t>
            </a:r>
            <a:r>
              <a:rPr lang="en-US" dirty="0"/>
              <a:t>+</a:t>
            </a:r>
            <a:r>
              <a:rPr lang="el-GR" dirty="0">
                <a:latin typeface="Cambria Math" panose="02040503050406030204" pitchFamily="18" charset="0"/>
                <a:ea typeface="Cambria Math" panose="02040503050406030204" pitchFamily="18" charset="0"/>
              </a:rPr>
              <a:t> ε</a:t>
            </a:r>
            <a:r>
              <a:rPr lang="fr-FR" baseline="-25000" dirty="0">
                <a:latin typeface="Cambria Math" panose="02040503050406030204" pitchFamily="18" charset="0"/>
                <a:ea typeface="Cambria Math" panose="02040503050406030204" pitchFamily="18" charset="0"/>
              </a:rPr>
              <a:t>t,12</a:t>
            </a:r>
          </a:p>
          <a:p>
            <a:pPr marL="0" indent="0">
              <a:buNone/>
            </a:pPr>
            <a:r>
              <a:rPr lang="en-US" dirty="0"/>
              <a:t>x</a:t>
            </a:r>
            <a:r>
              <a:rPr lang="en-US" baseline="-25000" dirty="0"/>
              <a:t>t-3</a:t>
            </a:r>
            <a:r>
              <a:rPr lang="en-US" dirty="0"/>
              <a:t>= b</a:t>
            </a:r>
            <a:r>
              <a:rPr lang="en-US" baseline="-25000" dirty="0"/>
              <a:t>6</a:t>
            </a:r>
            <a:r>
              <a:rPr lang="en-US" b="1" dirty="0"/>
              <a:t>.</a:t>
            </a:r>
            <a:r>
              <a:rPr lang="en-US" dirty="0"/>
              <a:t>x</a:t>
            </a:r>
            <a:r>
              <a:rPr lang="en-US" baseline="-25000" dirty="0"/>
              <a:t>t-1 </a:t>
            </a:r>
            <a:r>
              <a:rPr lang="en-US" dirty="0"/>
              <a:t>+ b</a:t>
            </a:r>
            <a:r>
              <a:rPr lang="en-US" baseline="-25000" dirty="0"/>
              <a:t>7</a:t>
            </a:r>
            <a:r>
              <a:rPr lang="en-US" dirty="0"/>
              <a:t>. x</a:t>
            </a:r>
            <a:r>
              <a:rPr lang="en-US" baseline="-25000" dirty="0"/>
              <a:t>t-2 </a:t>
            </a:r>
            <a:r>
              <a:rPr lang="fr-FR" dirty="0">
                <a:latin typeface="Cambria Math" panose="02040503050406030204" pitchFamily="18" charset="0"/>
                <a:ea typeface="Cambria Math" panose="02040503050406030204" pitchFamily="18" charset="0"/>
              </a:rPr>
              <a:t>+</a:t>
            </a:r>
            <a:r>
              <a:rPr lang="el-GR" dirty="0">
                <a:latin typeface="Cambria Math" panose="02040503050406030204" pitchFamily="18" charset="0"/>
                <a:ea typeface="Cambria Math" panose="02040503050406030204" pitchFamily="18" charset="0"/>
              </a:rPr>
              <a:t> ε</a:t>
            </a:r>
            <a:r>
              <a:rPr lang="fr-FR" baseline="-25000" dirty="0">
                <a:latin typeface="Cambria Math" panose="02040503050406030204" pitchFamily="18" charset="0"/>
                <a:ea typeface="Cambria Math" panose="02040503050406030204" pitchFamily="18" charset="0"/>
              </a:rPr>
              <a:t>t,3.12</a:t>
            </a:r>
          </a:p>
          <a:p>
            <a:pPr marL="0" indent="0">
              <a:buNone/>
            </a:pPr>
            <a:r>
              <a:rPr lang="en-US" dirty="0" err="1"/>
              <a:t>Corr</a:t>
            </a:r>
            <a:r>
              <a:rPr lang="en-US" dirty="0"/>
              <a:t>(</a:t>
            </a:r>
            <a:r>
              <a:rPr lang="el-GR" dirty="0">
                <a:latin typeface="Cambria Math" panose="02040503050406030204" pitchFamily="18" charset="0"/>
                <a:ea typeface="Cambria Math" panose="02040503050406030204" pitchFamily="18" charset="0"/>
              </a:rPr>
              <a:t>ε</a:t>
            </a:r>
            <a:r>
              <a:rPr lang="fr-FR" baseline="-25000" dirty="0">
                <a:latin typeface="Cambria Math" panose="02040503050406030204" pitchFamily="18" charset="0"/>
                <a:ea typeface="Cambria Math" panose="02040503050406030204" pitchFamily="18" charset="0"/>
              </a:rPr>
              <a:t>t,12 </a:t>
            </a:r>
            <a:r>
              <a:rPr lang="en-US" dirty="0"/>
              <a:t> , </a:t>
            </a:r>
          </a:p>
          <a:p>
            <a:pPr marL="0" indent="0">
              <a:buNone/>
            </a:pPr>
            <a:r>
              <a:rPr lang="en-US" dirty="0"/>
              <a:t>residuals of the regression of the dependent on the two first lags</a:t>
            </a:r>
          </a:p>
          <a:p>
            <a:pPr marL="0" indent="0">
              <a:buNone/>
            </a:pPr>
            <a:r>
              <a:rPr lang="en-US" dirty="0"/>
              <a:t> </a:t>
            </a:r>
            <a:r>
              <a:rPr lang="el-GR" dirty="0">
                <a:latin typeface="Cambria Math" panose="02040503050406030204" pitchFamily="18" charset="0"/>
                <a:ea typeface="Cambria Math" panose="02040503050406030204" pitchFamily="18" charset="0"/>
              </a:rPr>
              <a:t>ε</a:t>
            </a:r>
            <a:r>
              <a:rPr lang="fr-FR" baseline="-25000" dirty="0">
                <a:latin typeface="Cambria Math" panose="02040503050406030204" pitchFamily="18" charset="0"/>
                <a:ea typeface="Cambria Math" panose="02040503050406030204" pitchFamily="18" charset="0"/>
              </a:rPr>
              <a:t>t,3.12 </a:t>
            </a:r>
            <a:r>
              <a:rPr lang="en-US" dirty="0"/>
              <a:t>  )</a:t>
            </a:r>
          </a:p>
          <a:p>
            <a:pPr marL="0" indent="0">
              <a:buNone/>
            </a:pPr>
            <a:r>
              <a:rPr lang="en-US" dirty="0"/>
              <a:t>residuals of the regression of the 3</a:t>
            </a:r>
            <a:r>
              <a:rPr lang="en-US" baseline="30000" dirty="0"/>
              <a:t>rd</a:t>
            </a:r>
            <a:r>
              <a:rPr lang="en-US" dirty="0"/>
              <a:t> lag on the two first lags</a:t>
            </a:r>
          </a:p>
          <a:p>
            <a:pPr marL="0" indent="0">
              <a:buNone/>
            </a:pPr>
            <a:endParaRPr lang="fr-FR" baseline="-25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3340948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dirty="0"/>
              <a:t>Particular case:</a:t>
            </a:r>
            <a:br>
              <a:rPr lang="en-US" dirty="0"/>
            </a:br>
            <a:r>
              <a:rPr lang="en-US" dirty="0"/>
              <a:t>Partial auto-correlation AR(2)</a:t>
            </a:r>
          </a:p>
        </p:txBody>
      </p:sp>
      <p:sp>
        <p:nvSpPr>
          <p:cNvPr id="3" name="Espace réservé du contenu 2"/>
          <p:cNvSpPr>
            <a:spLocks noGrp="1"/>
          </p:cNvSpPr>
          <p:nvPr>
            <p:ph idx="1"/>
          </p:nvPr>
        </p:nvSpPr>
        <p:spPr/>
        <p:txBody>
          <a:bodyPr>
            <a:normAutofit fontScale="92500" lnSpcReduction="10000"/>
          </a:bodyPr>
          <a:lstStyle/>
          <a:p>
            <a:pPr marL="0" indent="0">
              <a:buNone/>
            </a:pPr>
            <a:r>
              <a:rPr lang="en-US" dirty="0"/>
              <a:t>If AR(2): x(t)=b1</a:t>
            </a:r>
            <a:r>
              <a:rPr lang="en-US" b="1" dirty="0"/>
              <a:t>.</a:t>
            </a:r>
            <a:r>
              <a:rPr lang="en-US" dirty="0"/>
              <a:t>x(t-1)+b2.x(t-2)+</a:t>
            </a:r>
            <a:r>
              <a:rPr lang="el-GR" dirty="0">
                <a:latin typeface="Cambria Math" panose="02040503050406030204" pitchFamily="18" charset="0"/>
                <a:ea typeface="Cambria Math" panose="02040503050406030204" pitchFamily="18" charset="0"/>
              </a:rPr>
              <a:t> ε</a:t>
            </a:r>
            <a:r>
              <a:rPr lang="fr-FR" baseline="-25000" dirty="0" err="1">
                <a:latin typeface="Cambria Math" panose="02040503050406030204" pitchFamily="18" charset="0"/>
                <a:ea typeface="Cambria Math" panose="02040503050406030204" pitchFamily="18" charset="0"/>
              </a:rPr>
              <a:t>it</a:t>
            </a:r>
            <a:endParaRPr lang="fr-FR" baseline="-25000" dirty="0">
              <a:latin typeface="Cambria Math" panose="02040503050406030204" pitchFamily="18" charset="0"/>
              <a:ea typeface="Cambria Math" panose="02040503050406030204" pitchFamily="18" charset="0"/>
            </a:endParaRPr>
          </a:p>
          <a:p>
            <a:pPr marL="0" indent="0">
              <a:buNone/>
            </a:pPr>
            <a:r>
              <a:rPr lang="en-US" dirty="0" err="1"/>
              <a:t>Corr</a:t>
            </a:r>
            <a:r>
              <a:rPr lang="en-US" dirty="0"/>
              <a:t>( x(t)-b1.x(t-1)-b2.x(t-2) , </a:t>
            </a:r>
          </a:p>
          <a:p>
            <a:pPr marL="0" indent="0">
              <a:buNone/>
            </a:pPr>
            <a:r>
              <a:rPr lang="en-US" dirty="0"/>
              <a:t>residuals of the regression of the dependent on the two first lags=</a:t>
            </a:r>
            <a:r>
              <a:rPr lang="el-GR" dirty="0">
                <a:latin typeface="Cambria Math" panose="02040503050406030204" pitchFamily="18" charset="0"/>
                <a:ea typeface="Cambria Math" panose="02040503050406030204" pitchFamily="18" charset="0"/>
              </a:rPr>
              <a:t> ε</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en-US" dirty="0"/>
              <a:t>white noise </a:t>
            </a:r>
          </a:p>
          <a:p>
            <a:pPr marL="0" indent="0">
              <a:buNone/>
            </a:pPr>
            <a:r>
              <a:rPr lang="en-US" dirty="0"/>
              <a:t>x(t-3)-b6.x(t-1)-b7x(t-2)   )  </a:t>
            </a:r>
          </a:p>
          <a:p>
            <a:pPr marL="0" indent="0">
              <a:buNone/>
            </a:pPr>
            <a:r>
              <a:rPr lang="en-US" dirty="0"/>
              <a:t>residuals of the regression of the 3</a:t>
            </a:r>
            <a:r>
              <a:rPr lang="en-US" baseline="30000" dirty="0"/>
              <a:t>rd</a:t>
            </a:r>
            <a:r>
              <a:rPr lang="en-US" dirty="0"/>
              <a:t> lag on the two first lags</a:t>
            </a:r>
          </a:p>
          <a:p>
            <a:pPr marL="0" indent="0">
              <a:buNone/>
            </a:pPr>
            <a:r>
              <a:rPr lang="en-US" dirty="0" err="1"/>
              <a:t>Corr</a:t>
            </a:r>
            <a:r>
              <a:rPr lang="en-US" dirty="0"/>
              <a:t>(</a:t>
            </a:r>
            <a:r>
              <a:rPr lang="el-GR" dirty="0">
                <a:latin typeface="Cambria Math" panose="02040503050406030204" pitchFamily="18" charset="0"/>
                <a:ea typeface="Cambria Math" panose="02040503050406030204" pitchFamily="18" charset="0"/>
              </a:rPr>
              <a:t>ε</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en-US" dirty="0"/>
              <a:t>, x(t-k))=0.  When PAC(t-(k+1))=0 not rejected, order k of the AR(k).</a:t>
            </a:r>
          </a:p>
          <a:p>
            <a:pPr marL="0" indent="0">
              <a:buNone/>
            </a:pPr>
            <a:endParaRPr lang="fr-FR" baseline="-25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0527300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18491"/>
            <a:ext cx="6342811" cy="3218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986" y="3436764"/>
            <a:ext cx="8281359" cy="27285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910804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323528" y="274638"/>
            <a:ext cx="8363272" cy="1642194"/>
          </a:xfrm>
        </p:spPr>
        <p:txBody>
          <a:bodyPr/>
          <a:lstStyle/>
          <a:p>
            <a:r>
              <a:rPr lang="fr-FR" dirty="0"/>
              <a:t>Critical </a:t>
            </a:r>
            <a:r>
              <a:rPr lang="fr-FR" dirty="0" err="1"/>
              <a:t>region</a:t>
            </a:r>
            <a:r>
              <a:rPr lang="fr-FR" dirty="0"/>
              <a:t> H</a:t>
            </a:r>
            <a:r>
              <a:rPr lang="fr-FR" baseline="-25000" dirty="0"/>
              <a:t>0</a:t>
            </a:r>
            <a:r>
              <a:rPr lang="fr-FR" dirty="0"/>
              <a:t>: r=0 of the t test for n observations.</a:t>
            </a:r>
          </a:p>
        </p:txBody>
      </p:sp>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992" y="2132856"/>
            <a:ext cx="7704856" cy="12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468558"/>
            <a:ext cx="4464546" cy="12933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9652" y="4931881"/>
            <a:ext cx="6192688" cy="1923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388416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Pooling</a:t>
            </a:r>
            <a:r>
              <a:rPr lang="fr-FR" dirty="0"/>
              <a:t> </a:t>
            </a:r>
            <a:r>
              <a:rPr lang="fr-FR" dirty="0" err="1"/>
              <a:t>increases</a:t>
            </a:r>
            <a:r>
              <a:rPr lang="fr-FR" dirty="0"/>
              <a:t> </a:t>
            </a:r>
            <a:br>
              <a:rPr lang="fr-FR" dirty="0"/>
            </a:br>
            <a:r>
              <a:rPr lang="fr-FR" dirty="0" err="1"/>
              <a:t>degrees</a:t>
            </a:r>
            <a:r>
              <a:rPr lang="fr-FR" dirty="0"/>
              <a:t> of </a:t>
            </a:r>
            <a:r>
              <a:rPr lang="fr-FR" dirty="0" err="1"/>
              <a:t>freedom</a:t>
            </a:r>
            <a:endParaRPr lang="fr-FR" dirty="0"/>
          </a:p>
        </p:txBody>
      </p:sp>
      <p:sp>
        <p:nvSpPr>
          <p:cNvPr id="3" name="Espace réservé du contenu 2"/>
          <p:cNvSpPr>
            <a:spLocks noGrp="1"/>
          </p:cNvSpPr>
          <p:nvPr>
            <p:ph idx="1"/>
          </p:nvPr>
        </p:nvSpPr>
        <p:spPr/>
        <p:txBody>
          <a:bodyPr/>
          <a:lstStyle/>
          <a:p>
            <a:pPr marL="0" indent="0">
              <a:buNone/>
            </a:pPr>
            <a:r>
              <a:rPr lang="en-US" dirty="0"/>
              <a:t>N=25 or T=25 versus NT = 25 x 25.</a:t>
            </a:r>
          </a:p>
          <a:p>
            <a:pPr marL="0" indent="0">
              <a:buNone/>
            </a:pPr>
            <a:r>
              <a:rPr lang="en-US" dirty="0"/>
              <a:t>(1) </a:t>
            </a:r>
            <a:r>
              <a:rPr lang="en-US" dirty="0">
                <a:solidFill>
                  <a:srgbClr val="FF0000"/>
                </a:solidFill>
              </a:rPr>
              <a:t>Multiplies observations by 25:</a:t>
            </a:r>
            <a:r>
              <a:rPr lang="en-US" dirty="0"/>
              <a:t> </a:t>
            </a:r>
          </a:p>
          <a:p>
            <a:pPr marL="0" indent="0">
              <a:buNone/>
            </a:pPr>
            <a:r>
              <a:rPr lang="en-US" dirty="0"/>
              <a:t>(2) It divides the estimated  standard error of estimated parameters by around 5:</a:t>
            </a:r>
          </a:p>
          <a:p>
            <a:pPr marL="0" indent="0">
              <a:buNone/>
            </a:pPr>
            <a:r>
              <a:rPr lang="en-US" dirty="0"/>
              <a:t>1/</a:t>
            </a:r>
            <a:r>
              <a:rPr lang="en-US" dirty="0" err="1"/>
              <a:t>square.root</a:t>
            </a:r>
            <a:r>
              <a:rPr lang="en-US" dirty="0"/>
              <a:t>(25-k-1) = 1/5</a:t>
            </a:r>
          </a:p>
          <a:p>
            <a:pPr marL="0" indent="0">
              <a:buNone/>
            </a:pPr>
            <a:r>
              <a:rPr lang="en-US" dirty="0"/>
              <a:t>Number of explanatory variables: k</a:t>
            </a:r>
          </a:p>
          <a:p>
            <a:pPr marL="0" indent="0">
              <a:buNone/>
            </a:pPr>
            <a:r>
              <a:rPr lang="en-US" dirty="0">
                <a:solidFill>
                  <a:srgbClr val="FF0000"/>
                </a:solidFill>
              </a:rPr>
              <a:t>(3) It multiplies the t-stats by around 5</a:t>
            </a:r>
            <a:r>
              <a:rPr lang="en-US" dirty="0"/>
              <a:t>  </a:t>
            </a:r>
          </a:p>
        </p:txBody>
      </p:sp>
    </p:spTree>
    <p:extLst>
      <p:ext uri="{BB962C8B-B14F-4D97-AF65-F5344CB8AC3E}">
        <p14:creationId xmlns:p14="http://schemas.microsoft.com/office/powerpoint/2010/main" val="2334141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52388"/>
            <a:ext cx="4800600" cy="675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97475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 y="885825"/>
            <a:ext cx="7581900" cy="5086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4927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962393" y="1279456"/>
            <a:ext cx="6284598" cy="4246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31641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Espace réservé du contenu 2"/>
          <p:cNvSpPr>
            <a:spLocks noGrp="1"/>
          </p:cNvSpPr>
          <p:nvPr>
            <p:ph idx="4294967295"/>
          </p:nvPr>
        </p:nvSpPr>
        <p:spPr>
          <a:xfrm>
            <a:off x="0" y="1600200"/>
            <a:ext cx="8229600" cy="4525963"/>
          </a:xfrm>
        </p:spPr>
        <p:txBody>
          <a:bodyPr/>
          <a:lstStyle/>
          <a:p>
            <a:pPr marL="0" indent="0">
              <a:buFontTx/>
              <a:buNone/>
            </a:pPr>
            <a:endParaRPr lang="fr-FR" altLang="fr-FR"/>
          </a:p>
          <a:p>
            <a:pPr marL="0" indent="0">
              <a:buFontTx/>
              <a:buNone/>
            </a:pPr>
            <a:endParaRPr lang="fr-FR" altLang="fr-FR"/>
          </a:p>
        </p:txBody>
      </p:sp>
      <p:pic>
        <p:nvPicPr>
          <p:cNvPr id="1024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 y="0"/>
            <a:ext cx="934243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9996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077325" cy="645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65287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Theoretical</a:t>
            </a:r>
            <a:r>
              <a:rPr lang="fr-FR" dirty="0"/>
              <a:t> </a:t>
            </a:r>
            <a:r>
              <a:rPr lang="fr-FR" dirty="0" err="1"/>
              <a:t>answer</a:t>
            </a:r>
            <a:r>
              <a:rPr lang="fr-FR" dirty="0"/>
              <a:t>: </a:t>
            </a:r>
            <a:br>
              <a:rPr lang="fr-FR" dirty="0"/>
            </a:br>
            <a:r>
              <a:rPr lang="fr-FR" dirty="0"/>
              <a:t>Change </a:t>
            </a:r>
            <a:r>
              <a:rPr lang="en-US" dirty="0">
                <a:latin typeface="Cambria Math" panose="02040503050406030204" pitchFamily="18" charset="0"/>
                <a:ea typeface="Cambria Math" panose="02040503050406030204" pitchFamily="18" charset="0"/>
              </a:rPr>
              <a:t>H0: β = 0 for H0: β &lt; β</a:t>
            </a:r>
            <a:r>
              <a:rPr lang="en-US" baseline="-25000" dirty="0">
                <a:latin typeface="Cambria Math" panose="02040503050406030204" pitchFamily="18" charset="0"/>
                <a:ea typeface="Cambria Math" panose="02040503050406030204" pitchFamily="18" charset="0"/>
              </a:rPr>
              <a:t>min</a:t>
            </a:r>
            <a:endParaRPr lang="fr-FR" dirty="0"/>
          </a:p>
        </p:txBody>
      </p:sp>
      <p:sp>
        <p:nvSpPr>
          <p:cNvPr id="3" name="Espace réservé du contenu 2"/>
          <p:cNvSpPr>
            <a:spLocks noGrp="1"/>
          </p:cNvSpPr>
          <p:nvPr>
            <p:ph idx="1"/>
          </p:nvPr>
        </p:nvSpPr>
        <p:spPr/>
        <p:txBody>
          <a:bodyPr/>
          <a:lstStyle/>
          <a:p>
            <a:pPr marL="0" indent="0" algn="just">
              <a:buNone/>
            </a:pPr>
            <a:r>
              <a:rPr lang="en-US" sz="2800" dirty="0">
                <a:latin typeface="Cambria Math" panose="02040503050406030204" pitchFamily="18" charset="0"/>
                <a:ea typeface="Cambria Math" panose="02040503050406030204" pitchFamily="18" charset="0"/>
              </a:rPr>
              <a:t>Change the </a:t>
            </a:r>
            <a:r>
              <a:rPr lang="en-US" sz="2800" b="1" dirty="0">
                <a:latin typeface="Cambria Math" panose="02040503050406030204" pitchFamily="18" charset="0"/>
                <a:ea typeface="Cambria Math" panose="02040503050406030204" pitchFamily="18" charset="0"/>
              </a:rPr>
              <a:t>single</a:t>
            </a:r>
            <a:r>
              <a:rPr lang="en-US" sz="2800" dirty="0">
                <a:latin typeface="Cambria Math" panose="02040503050406030204" pitchFamily="18" charset="0"/>
                <a:ea typeface="Cambria Math" panose="02040503050406030204" pitchFamily="18" charset="0"/>
              </a:rPr>
              <a:t> (on a point) null hypothesis: </a:t>
            </a:r>
          </a:p>
          <a:p>
            <a:pPr marL="0" indent="0" algn="just">
              <a:buNone/>
            </a:pPr>
            <a:r>
              <a:rPr lang="en-US" sz="2800" dirty="0">
                <a:latin typeface="Cambria Math" panose="02040503050406030204" pitchFamily="18" charset="0"/>
                <a:ea typeface="Cambria Math" panose="02040503050406030204" pitchFamily="18" charset="0"/>
              </a:rPr>
              <a:t>H0: β = 0 </a:t>
            </a:r>
          </a:p>
          <a:p>
            <a:pPr marL="0" indent="0" algn="just">
              <a:buNone/>
            </a:pPr>
            <a:r>
              <a:rPr lang="en-US" sz="2800" dirty="0">
                <a:latin typeface="Cambria Math" panose="02040503050406030204" pitchFamily="18" charset="0"/>
                <a:ea typeface="Cambria Math" panose="02040503050406030204" pitchFamily="18" charset="0"/>
              </a:rPr>
              <a:t>Which may be infinitely precise: You consider that it matters if:</a:t>
            </a:r>
          </a:p>
          <a:p>
            <a:pPr marL="0" indent="0" algn="just">
              <a:buNone/>
            </a:pPr>
            <a:r>
              <a:rPr lang="en-US" sz="2800" dirty="0">
                <a:latin typeface="Cambria Math" panose="02040503050406030204" pitchFamily="18" charset="0"/>
                <a:ea typeface="Cambria Math" panose="02040503050406030204" pitchFamily="18" charset="0"/>
              </a:rPr>
              <a:t>β = 0 </a:t>
            </a:r>
            <a:r>
              <a:rPr lang="en-US" sz="2800" dirty="0">
                <a:latin typeface="Cambria Math" panose="02040503050406030204" pitchFamily="18" charset="0"/>
                <a:ea typeface="Cambria Math" panose="02040503050406030204" pitchFamily="18" charset="0"/>
                <a:cs typeface="Times New Roman"/>
                <a:sym typeface="Symbol"/>
              </a:rPr>
              <a:t>≠</a:t>
            </a:r>
            <a:r>
              <a:rPr lang="en-US" sz="2800" dirty="0">
                <a:latin typeface="Cambria Math" panose="02040503050406030204" pitchFamily="18" charset="0"/>
                <a:ea typeface="Cambria Math" panose="02040503050406030204" pitchFamily="18" charset="0"/>
              </a:rPr>
              <a:t> 0.0000000000001</a:t>
            </a:r>
          </a:p>
          <a:p>
            <a:pPr marL="0" indent="0" algn="just">
              <a:buNone/>
            </a:pPr>
            <a:r>
              <a:rPr lang="en-US" sz="2800" dirty="0">
                <a:latin typeface="Cambria Math" panose="02040503050406030204" pitchFamily="18" charset="0"/>
                <a:ea typeface="Cambria Math" panose="02040503050406030204" pitchFamily="18" charset="0"/>
              </a:rPr>
              <a:t>To a </a:t>
            </a:r>
            <a:r>
              <a:rPr lang="en-US" sz="2800" b="1" dirty="0">
                <a:latin typeface="Cambria Math" panose="02040503050406030204" pitchFamily="18" charset="0"/>
                <a:ea typeface="Cambria Math" panose="02040503050406030204" pitchFamily="18" charset="0"/>
              </a:rPr>
              <a:t>composite</a:t>
            </a:r>
            <a:r>
              <a:rPr lang="en-US" sz="2800" dirty="0">
                <a:latin typeface="Cambria Math" panose="02040503050406030204" pitchFamily="18" charset="0"/>
                <a:ea typeface="Cambria Math" panose="02040503050406030204" pitchFamily="18" charset="0"/>
              </a:rPr>
              <a:t> null hypothesis, below a </a:t>
            </a:r>
            <a:r>
              <a:rPr lang="en-US" sz="2800" dirty="0" err="1">
                <a:latin typeface="Cambria Math" panose="02040503050406030204" pitchFamily="18" charset="0"/>
                <a:ea typeface="Cambria Math" panose="02040503050406030204" pitchFamily="18" charset="0"/>
              </a:rPr>
              <a:t>treshold</a:t>
            </a:r>
            <a:r>
              <a:rPr lang="en-US" sz="2800" dirty="0">
                <a:latin typeface="Cambria Math" panose="02040503050406030204" pitchFamily="18" charset="0"/>
                <a:ea typeface="Cambria Math" panose="02040503050406030204" pitchFamily="18" charset="0"/>
              </a:rPr>
              <a:t> corresponding to the « minimal » substantive effect β</a:t>
            </a:r>
            <a:r>
              <a:rPr lang="en-US" sz="2800" baseline="-25000" dirty="0">
                <a:latin typeface="Cambria Math" panose="02040503050406030204" pitchFamily="18" charset="0"/>
                <a:ea typeface="Cambria Math" panose="02040503050406030204" pitchFamily="18" charset="0"/>
              </a:rPr>
              <a:t>min  </a:t>
            </a:r>
            <a:r>
              <a:rPr lang="en-US" sz="2800" dirty="0">
                <a:latin typeface="Cambria Math" panose="02040503050406030204" pitchFamily="18" charset="0"/>
                <a:ea typeface="Cambria Math" panose="02040503050406030204" pitchFamily="18" charset="0"/>
              </a:rPr>
              <a:t>with its value derived from a loss function:</a:t>
            </a:r>
          </a:p>
          <a:p>
            <a:pPr marL="0" indent="0" algn="just">
              <a:buNone/>
            </a:pPr>
            <a:r>
              <a:rPr lang="en-US" sz="2800" dirty="0">
                <a:latin typeface="Cambria Math" panose="02040503050406030204" pitchFamily="18" charset="0"/>
                <a:ea typeface="Cambria Math" panose="02040503050406030204" pitchFamily="18" charset="0"/>
              </a:rPr>
              <a:t>H0: β &lt; β</a:t>
            </a:r>
            <a:r>
              <a:rPr lang="en-US" sz="2800" baseline="-25000" dirty="0">
                <a:latin typeface="Cambria Math" panose="02040503050406030204" pitchFamily="18" charset="0"/>
                <a:ea typeface="Cambria Math" panose="02040503050406030204" pitchFamily="18" charset="0"/>
              </a:rPr>
              <a:t>min</a:t>
            </a:r>
            <a:endParaRPr lang="en-US" sz="2800" dirty="0">
              <a:latin typeface="Cambria Math" panose="02040503050406030204" pitchFamily="18" charset="0"/>
              <a:ea typeface="Cambria Math" panose="02040503050406030204" pitchFamily="18" charset="0"/>
            </a:endParaRPr>
          </a:p>
          <a:p>
            <a:pPr marL="0" indent="0" algn="just">
              <a:buNone/>
            </a:pP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5350074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How to check « substantive </a:t>
            </a:r>
            <a:r>
              <a:rPr lang="fr-FR" dirty="0" err="1"/>
              <a:t>significance</a:t>
            </a:r>
            <a:r>
              <a:rPr lang="fr-FR" dirty="0"/>
              <a:t> » for N large?</a:t>
            </a:r>
          </a:p>
        </p:txBody>
      </p:sp>
      <p:sp>
        <p:nvSpPr>
          <p:cNvPr id="3" name="Espace réservé du contenu 2"/>
          <p:cNvSpPr>
            <a:spLocks noGrp="1"/>
          </p:cNvSpPr>
          <p:nvPr>
            <p:ph idx="1"/>
          </p:nvPr>
        </p:nvSpPr>
        <p:spPr/>
        <p:txBody>
          <a:bodyPr/>
          <a:lstStyle/>
          <a:p>
            <a:pPr marL="0" indent="0">
              <a:buNone/>
            </a:pPr>
            <a:r>
              <a:rPr lang="fr-FR" dirty="0"/>
              <a:t>I have </a:t>
            </a:r>
            <a:r>
              <a:rPr lang="fr-FR" dirty="0" err="1"/>
              <a:t>statistical</a:t>
            </a:r>
            <a:r>
              <a:rPr lang="fr-FR" dirty="0"/>
              <a:t> </a:t>
            </a:r>
            <a:r>
              <a:rPr lang="fr-FR" dirty="0" err="1"/>
              <a:t>significance</a:t>
            </a:r>
            <a:r>
              <a:rPr lang="fr-FR" dirty="0"/>
              <a:t> at 5% </a:t>
            </a:r>
            <a:r>
              <a:rPr lang="fr-FR" dirty="0" err="1"/>
              <a:t>level</a:t>
            </a:r>
            <a:r>
              <a:rPr lang="fr-FR" dirty="0"/>
              <a:t> of one </a:t>
            </a:r>
            <a:r>
              <a:rPr lang="fr-FR" dirty="0" err="1"/>
              <a:t>parameter</a:t>
            </a:r>
            <a:r>
              <a:rPr lang="fr-FR" dirty="0"/>
              <a:t> for variable X for N&gt;800.</a:t>
            </a:r>
          </a:p>
          <a:p>
            <a:pPr marL="0" indent="0">
              <a:buNone/>
            </a:pPr>
            <a:r>
              <a:rPr lang="fr-FR" dirty="0"/>
              <a:t>R2 of the </a:t>
            </a:r>
            <a:r>
              <a:rPr lang="fr-FR" dirty="0" err="1"/>
              <a:t>regression</a:t>
            </a:r>
            <a:r>
              <a:rPr lang="fr-FR" dirty="0"/>
              <a:t> </a:t>
            </a:r>
            <a:r>
              <a:rPr lang="fr-FR" dirty="0" err="1"/>
              <a:t>excluding</a:t>
            </a:r>
            <a:r>
              <a:rPr lang="fr-FR" dirty="0"/>
              <a:t> the variable X: R2 = 62,51%</a:t>
            </a:r>
          </a:p>
          <a:p>
            <a:pPr marL="0" indent="0">
              <a:buNone/>
            </a:pPr>
            <a:r>
              <a:rPr lang="fr-FR" dirty="0"/>
              <a:t>R2 of the </a:t>
            </a:r>
            <a:r>
              <a:rPr lang="fr-FR" dirty="0" err="1"/>
              <a:t>regression</a:t>
            </a:r>
            <a:r>
              <a:rPr lang="fr-FR" dirty="0"/>
              <a:t> </a:t>
            </a:r>
            <a:r>
              <a:rPr lang="fr-FR" dirty="0" err="1"/>
              <a:t>including</a:t>
            </a:r>
            <a:r>
              <a:rPr lang="fr-FR" dirty="0"/>
              <a:t> the variable X: R2 = 62,52%</a:t>
            </a:r>
          </a:p>
          <a:p>
            <a:pPr marL="0" indent="0">
              <a:buNone/>
            </a:pPr>
            <a:r>
              <a:rPr lang="fr-FR" b="1" dirty="0">
                <a:solidFill>
                  <a:srgbClr val="FF0000"/>
                </a:solidFill>
              </a:rPr>
              <a:t>Gain of R2 </a:t>
            </a:r>
            <a:r>
              <a:rPr lang="fr-FR" b="1" dirty="0" err="1">
                <a:solidFill>
                  <a:srgbClr val="FF0000"/>
                </a:solidFill>
              </a:rPr>
              <a:t>including</a:t>
            </a:r>
            <a:r>
              <a:rPr lang="fr-FR" b="1" dirty="0">
                <a:solidFill>
                  <a:srgbClr val="FF0000"/>
                </a:solidFill>
              </a:rPr>
              <a:t> X:</a:t>
            </a:r>
            <a:r>
              <a:rPr lang="fr-FR" dirty="0"/>
              <a:t> +0.01% = </a:t>
            </a:r>
            <a:r>
              <a:rPr lang="fr-FR" b="1" dirty="0" err="1"/>
              <a:t>too</a:t>
            </a:r>
            <a:r>
              <a:rPr lang="fr-FR" b="1" dirty="0"/>
              <a:t> </a:t>
            </a:r>
            <a:r>
              <a:rPr lang="fr-FR" b="1" dirty="0" err="1"/>
              <a:t>small</a:t>
            </a:r>
            <a:r>
              <a:rPr lang="fr-FR" b="1" dirty="0"/>
              <a:t> for substantive </a:t>
            </a:r>
            <a:r>
              <a:rPr lang="fr-FR" b="1" dirty="0" err="1"/>
              <a:t>significance</a:t>
            </a:r>
            <a:r>
              <a:rPr lang="fr-FR" b="1" dirty="0"/>
              <a:t>.</a:t>
            </a:r>
          </a:p>
          <a:p>
            <a:pPr marL="0" indent="0">
              <a:buNone/>
            </a:pPr>
            <a:endParaRPr lang="fr-FR" dirty="0"/>
          </a:p>
        </p:txBody>
      </p:sp>
    </p:spTree>
    <p:extLst>
      <p:ext uri="{BB962C8B-B14F-4D97-AF65-F5344CB8AC3E}">
        <p14:creationId xmlns:p14="http://schemas.microsoft.com/office/powerpoint/2010/main" val="33221347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Difference</a:t>
            </a:r>
            <a:r>
              <a:rPr lang="fr-FR" dirty="0"/>
              <a:t> of R2 vs </a:t>
            </a:r>
            <a:br>
              <a:rPr lang="fr-FR" dirty="0"/>
            </a:br>
            <a:r>
              <a:rPr lang="fr-FR" dirty="0" err="1"/>
              <a:t>degrees</a:t>
            </a:r>
            <a:r>
              <a:rPr lang="fr-FR" dirty="0"/>
              <a:t> of </a:t>
            </a:r>
            <a:r>
              <a:rPr lang="fr-FR" dirty="0" err="1"/>
              <a:t>freedom</a:t>
            </a:r>
            <a:endParaRPr lang="fr-FR" dirty="0"/>
          </a:p>
        </p:txBody>
      </p:sp>
      <p:sp>
        <p:nvSpPr>
          <p:cNvPr id="3" name="Espace réservé du contenu 2"/>
          <p:cNvSpPr>
            <a:spLocks noGrp="1"/>
          </p:cNvSpPr>
          <p:nvPr>
            <p:ph idx="1"/>
          </p:nvPr>
        </p:nvSpPr>
        <p:spPr/>
        <p:txBody>
          <a:bodyPr/>
          <a:lstStyle/>
          <a:p>
            <a:pPr marL="0" indent="0" algn="just">
              <a:buNone/>
            </a:pPr>
            <a:r>
              <a:rPr lang="fr-FR" dirty="0"/>
              <a:t>The </a:t>
            </a:r>
            <a:r>
              <a:rPr lang="fr-FR" dirty="0" err="1"/>
              <a:t>difference</a:t>
            </a:r>
            <a:r>
              <a:rPr lang="fr-FR" dirty="0"/>
              <a:t> of R2 </a:t>
            </a:r>
            <a:r>
              <a:rPr lang="fr-FR" dirty="0" err="1"/>
              <a:t>appears</a:t>
            </a:r>
            <a:r>
              <a:rPr lang="fr-FR" dirty="0"/>
              <a:t> as the </a:t>
            </a:r>
            <a:r>
              <a:rPr lang="fr-FR" dirty="0" err="1"/>
              <a:t>difference</a:t>
            </a:r>
            <a:r>
              <a:rPr lang="fr-FR" dirty="0"/>
              <a:t> of </a:t>
            </a:r>
            <a:r>
              <a:rPr lang="fr-FR" dirty="0" err="1"/>
              <a:t>residuals</a:t>
            </a:r>
            <a:r>
              <a:rPr lang="fr-FR" dirty="0"/>
              <a:t> in Fisher test of the </a:t>
            </a:r>
            <a:r>
              <a:rPr lang="fr-FR" dirty="0" err="1"/>
              <a:t>regression</a:t>
            </a:r>
            <a:r>
              <a:rPr lang="fr-FR" dirty="0"/>
              <a:t>.</a:t>
            </a:r>
          </a:p>
          <a:p>
            <a:pPr marL="0" indent="0" algn="just">
              <a:buNone/>
            </a:pPr>
            <a:r>
              <a:rPr lang="fr-FR" dirty="0"/>
              <a:t>Along </a:t>
            </a:r>
            <a:r>
              <a:rPr lang="fr-FR" dirty="0" err="1"/>
              <a:t>with</a:t>
            </a:r>
            <a:r>
              <a:rPr lang="fr-FR" dirty="0"/>
              <a:t> </a:t>
            </a:r>
            <a:r>
              <a:rPr lang="fr-FR" dirty="0" err="1"/>
              <a:t>degrees</a:t>
            </a:r>
            <a:r>
              <a:rPr lang="fr-FR" dirty="0"/>
              <a:t> of </a:t>
            </a:r>
            <a:r>
              <a:rPr lang="fr-FR" dirty="0" err="1"/>
              <a:t>freedom</a:t>
            </a:r>
            <a:r>
              <a:rPr lang="fr-FR" dirty="0"/>
              <a:t>.</a:t>
            </a:r>
          </a:p>
          <a:p>
            <a:pPr marL="0" indent="0" algn="just">
              <a:buNone/>
            </a:pPr>
            <a:endParaRPr lang="fr-FR" dirty="0"/>
          </a:p>
          <a:p>
            <a:pPr marL="0" indent="0" algn="just">
              <a:buNone/>
            </a:pPr>
            <a:r>
              <a:rPr lang="fr-FR" dirty="0"/>
              <a:t>But if N </a:t>
            </a:r>
            <a:r>
              <a:rPr lang="fr-FR" dirty="0" err="1"/>
              <a:t>is</a:t>
            </a:r>
            <a:r>
              <a:rPr lang="fr-FR" dirty="0"/>
              <a:t> large, </a:t>
            </a:r>
            <a:r>
              <a:rPr lang="fr-FR" dirty="0" err="1"/>
              <a:t>it</a:t>
            </a:r>
            <a:r>
              <a:rPr lang="fr-FR" dirty="0"/>
              <a:t> </a:t>
            </a:r>
            <a:r>
              <a:rPr lang="fr-FR" dirty="0" err="1"/>
              <a:t>turns</a:t>
            </a:r>
            <a:r>
              <a:rPr lang="fr-FR" dirty="0"/>
              <a:t> to </a:t>
            </a:r>
            <a:r>
              <a:rPr lang="fr-FR" dirty="0" err="1"/>
              <a:t>be</a:t>
            </a:r>
            <a:r>
              <a:rPr lang="fr-FR" dirty="0"/>
              <a:t> </a:t>
            </a:r>
            <a:r>
              <a:rPr lang="fr-FR" dirty="0" err="1"/>
              <a:t>negligible</a:t>
            </a:r>
            <a:r>
              <a:rPr lang="fr-FR" dirty="0"/>
              <a:t> in the </a:t>
            </a:r>
            <a:r>
              <a:rPr lang="fr-FR" dirty="0" err="1"/>
              <a:t>overall</a:t>
            </a:r>
            <a:r>
              <a:rPr lang="fr-FR" dirty="0"/>
              <a:t> value of the Fisher test </a:t>
            </a:r>
            <a:r>
              <a:rPr lang="fr-FR" dirty="0" err="1"/>
              <a:t>where</a:t>
            </a:r>
            <a:r>
              <a:rPr lang="fr-FR" dirty="0"/>
              <a:t> </a:t>
            </a:r>
            <a:r>
              <a:rPr lang="fr-FR" dirty="0" err="1"/>
              <a:t>nearly</a:t>
            </a:r>
            <a:r>
              <a:rPr lang="fr-FR" dirty="0"/>
              <a:t> all the value </a:t>
            </a:r>
            <a:r>
              <a:rPr lang="fr-FR" dirty="0" err="1"/>
              <a:t>is</a:t>
            </a:r>
            <a:r>
              <a:rPr lang="fr-FR" dirty="0"/>
              <a:t> </a:t>
            </a:r>
            <a:r>
              <a:rPr lang="fr-FR" dirty="0" err="1"/>
              <a:t>driven</a:t>
            </a:r>
            <a:r>
              <a:rPr lang="fr-FR" dirty="0"/>
              <a:t> by N.</a:t>
            </a:r>
          </a:p>
        </p:txBody>
      </p:sp>
    </p:spTree>
    <p:extLst>
      <p:ext uri="{BB962C8B-B14F-4D97-AF65-F5344CB8AC3E}">
        <p14:creationId xmlns:p14="http://schemas.microsoft.com/office/powerpoint/2010/main" val="20121095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400" dirty="0" err="1"/>
              <a:t>Why</a:t>
            </a:r>
            <a:r>
              <a:rPr lang="fr-FR" sz="2400" dirty="0"/>
              <a:t> </a:t>
            </a:r>
            <a:r>
              <a:rPr lang="fr-FR" sz="2400" dirty="0" err="1"/>
              <a:t>should</a:t>
            </a:r>
            <a:r>
              <a:rPr lang="fr-FR" sz="2400" dirty="0"/>
              <a:t> I </a:t>
            </a:r>
            <a:r>
              <a:rPr lang="fr-FR" sz="2400" dirty="0" err="1"/>
              <a:t>include</a:t>
            </a:r>
            <a:r>
              <a:rPr lang="fr-FR" sz="2400" dirty="0"/>
              <a:t> R</a:t>
            </a:r>
            <a:r>
              <a:rPr lang="fr-FR" sz="2400" baseline="30000" dirty="0"/>
              <a:t>2</a:t>
            </a:r>
            <a:r>
              <a:rPr lang="fr-FR" sz="2400" dirty="0"/>
              <a:t> and the </a:t>
            </a:r>
            <a:r>
              <a:rPr lang="fr-FR" sz="2400" b="1" dirty="0" err="1"/>
              <a:t>number</a:t>
            </a:r>
            <a:r>
              <a:rPr lang="fr-FR" sz="2400" b="1" dirty="0"/>
              <a:t> N of observations</a:t>
            </a:r>
            <a:r>
              <a:rPr lang="fr-FR" sz="2400" dirty="0"/>
              <a:t> for </a:t>
            </a:r>
            <a:r>
              <a:rPr lang="fr-FR" sz="2400" dirty="0" err="1"/>
              <a:t>each</a:t>
            </a:r>
            <a:r>
              <a:rPr lang="fr-FR" sz="2400" dirty="0"/>
              <a:t> </a:t>
            </a:r>
            <a:r>
              <a:rPr lang="fr-FR" sz="2400" dirty="0" err="1"/>
              <a:t>regression</a:t>
            </a:r>
            <a:r>
              <a:rPr lang="fr-FR" sz="2400" dirty="0"/>
              <a:t> at the </a:t>
            </a:r>
            <a:r>
              <a:rPr lang="fr-FR" sz="2400" dirty="0" err="1"/>
              <a:t>bottom</a:t>
            </a:r>
            <a:r>
              <a:rPr lang="fr-FR" sz="2400" dirty="0"/>
              <a:t> of a </a:t>
            </a:r>
            <a:r>
              <a:rPr lang="fr-FR" sz="2400" dirty="0" err="1"/>
              <a:t>column</a:t>
            </a:r>
            <a:r>
              <a:rPr lang="fr-FR" sz="2400" dirty="0"/>
              <a:t> in a table of </a:t>
            </a:r>
            <a:r>
              <a:rPr lang="fr-FR" sz="2400" dirty="0" err="1"/>
              <a:t>my</a:t>
            </a:r>
            <a:r>
              <a:rPr lang="fr-FR" sz="2400" dirty="0"/>
              <a:t> </a:t>
            </a:r>
            <a:r>
              <a:rPr lang="fr-FR" sz="2400" dirty="0" err="1"/>
              <a:t>results</a:t>
            </a:r>
            <a:r>
              <a:rPr lang="fr-FR" sz="2400" dirty="0"/>
              <a:t> in </a:t>
            </a:r>
            <a:r>
              <a:rPr lang="fr-FR" sz="2400" dirty="0" err="1"/>
              <a:t>my</a:t>
            </a:r>
            <a:r>
              <a:rPr lang="fr-FR" sz="2400" dirty="0"/>
              <a:t> master </a:t>
            </a:r>
            <a:r>
              <a:rPr lang="fr-FR" sz="2400" dirty="0" err="1"/>
              <a:t>thesis</a:t>
            </a:r>
            <a:r>
              <a:rPr lang="fr-FR" sz="2400" dirty="0"/>
              <a:t>?</a:t>
            </a:r>
            <a:endParaRPr lang="en-GB" sz="2400" dirty="0"/>
          </a:p>
        </p:txBody>
      </p:sp>
      <p:sp>
        <p:nvSpPr>
          <p:cNvPr id="3" name="Espace réservé du contenu 2"/>
          <p:cNvSpPr>
            <a:spLocks noGrp="1"/>
          </p:cNvSpPr>
          <p:nvPr>
            <p:ph idx="1"/>
          </p:nvPr>
        </p:nvSpPr>
        <p:spPr/>
        <p:txBody>
          <a:bodyPr>
            <a:normAutofit fontScale="85000" lnSpcReduction="20000"/>
          </a:bodyPr>
          <a:lstStyle/>
          <a:p>
            <a:pPr marL="0" indent="0" algn="just">
              <a:buNone/>
            </a:pPr>
            <a:r>
              <a:rPr lang="fr-FR" dirty="0"/>
              <a:t>The t-stat &gt; 2 and p-value&lt;5% </a:t>
            </a:r>
            <a:r>
              <a:rPr lang="fr-FR" dirty="0" err="1"/>
              <a:t>depends</a:t>
            </a:r>
            <a:r>
              <a:rPr lang="fr-FR" dirty="0"/>
              <a:t> on the square </a:t>
            </a:r>
            <a:r>
              <a:rPr lang="fr-FR" dirty="0" err="1"/>
              <a:t>root</a:t>
            </a:r>
            <a:r>
              <a:rPr lang="fr-FR" dirty="0"/>
              <a:t> of the </a:t>
            </a:r>
            <a:r>
              <a:rPr lang="fr-FR" dirty="0" err="1"/>
              <a:t>degrees</a:t>
            </a:r>
            <a:r>
              <a:rPr lang="fr-FR" dirty="0"/>
              <a:t> of </a:t>
            </a:r>
            <a:r>
              <a:rPr lang="fr-FR" dirty="0" err="1"/>
              <a:t>freedom</a:t>
            </a:r>
            <a:r>
              <a:rPr lang="fr-FR" dirty="0"/>
              <a:t> (</a:t>
            </a:r>
            <a:r>
              <a:rPr lang="fr-FR" b="1" dirty="0"/>
              <a:t>N</a:t>
            </a:r>
            <a:r>
              <a:rPr lang="fr-FR" dirty="0"/>
              <a:t>-k-1). </a:t>
            </a:r>
          </a:p>
          <a:p>
            <a:pPr marL="0" indent="0" algn="just">
              <a:buNone/>
            </a:pPr>
            <a:r>
              <a:rPr lang="fr-FR" dirty="0"/>
              <a:t>It </a:t>
            </a:r>
            <a:r>
              <a:rPr lang="fr-FR" dirty="0" err="1"/>
              <a:t>is</a:t>
            </a:r>
            <a:r>
              <a:rPr lang="fr-FR" dirty="0"/>
              <a:t> not the </a:t>
            </a:r>
            <a:r>
              <a:rPr lang="fr-FR" dirty="0" err="1"/>
              <a:t>same</a:t>
            </a:r>
            <a:r>
              <a:rPr lang="fr-FR" dirty="0"/>
              <a:t> to have t&gt;2 for N=1000, N=400 or N=100, </a:t>
            </a:r>
            <a:r>
              <a:rPr lang="fr-FR" dirty="0" err="1"/>
              <a:t>because</a:t>
            </a:r>
            <a:r>
              <a:rPr lang="fr-FR" dirty="0"/>
              <a:t> </a:t>
            </a:r>
            <a:r>
              <a:rPr lang="fr-FR" dirty="0" err="1"/>
              <a:t>this</a:t>
            </a:r>
            <a:r>
              <a:rPr lang="fr-FR" dirty="0"/>
              <a:t> </a:t>
            </a:r>
            <a:r>
              <a:rPr lang="fr-FR" dirty="0" err="1"/>
              <a:t>implies</a:t>
            </a:r>
            <a:r>
              <a:rPr lang="fr-FR" dirty="0"/>
              <a:t>: </a:t>
            </a:r>
          </a:p>
          <a:p>
            <a:pPr marL="0" indent="0" algn="just">
              <a:buNone/>
            </a:pPr>
            <a:r>
              <a:rPr lang="pt-BR" dirty="0">
                <a:latin typeface="Cambria Math" panose="02040503050406030204" pitchFamily="18" charset="0"/>
                <a:ea typeface="Cambria Math" panose="02040503050406030204" pitchFamily="18" charset="0"/>
              </a:rPr>
              <a:t>⇒ A</a:t>
            </a:r>
            <a:r>
              <a:rPr lang="fr-FR" dirty="0"/>
              <a:t> </a:t>
            </a:r>
            <a:r>
              <a:rPr lang="fr-FR" dirty="0" err="1"/>
              <a:t>larger</a:t>
            </a:r>
            <a:r>
              <a:rPr lang="fr-FR" dirty="0"/>
              <a:t> </a:t>
            </a:r>
            <a:r>
              <a:rPr lang="fr-FR" dirty="0" err="1"/>
              <a:t>threshold</a:t>
            </a:r>
            <a:r>
              <a:rPr lang="fr-FR" dirty="0"/>
              <a:t> on the partial </a:t>
            </a:r>
            <a:r>
              <a:rPr lang="fr-FR" dirty="0" err="1"/>
              <a:t>correlation</a:t>
            </a:r>
            <a:r>
              <a:rPr lang="fr-FR" dirty="0"/>
              <a:t>  coefficient (a </a:t>
            </a:r>
            <a:r>
              <a:rPr lang="fr-FR" dirty="0" err="1"/>
              <a:t>stronger</a:t>
            </a:r>
            <a:r>
              <a:rPr lang="fr-FR" dirty="0"/>
              <a:t> substantive </a:t>
            </a:r>
            <a:r>
              <a:rPr lang="fr-FR" dirty="0" err="1"/>
              <a:t>significance</a:t>
            </a:r>
            <a:r>
              <a:rPr lang="fr-FR" dirty="0"/>
              <a:t>) for N=100 </a:t>
            </a:r>
            <a:r>
              <a:rPr lang="fr-FR" dirty="0" err="1"/>
              <a:t>than</a:t>
            </a:r>
            <a:r>
              <a:rPr lang="fr-FR" dirty="0"/>
              <a:t> 400 and </a:t>
            </a:r>
            <a:r>
              <a:rPr lang="fr-FR" dirty="0" err="1"/>
              <a:t>than</a:t>
            </a:r>
            <a:r>
              <a:rPr lang="fr-FR" dirty="0"/>
              <a:t> 1000. </a:t>
            </a:r>
          </a:p>
          <a:p>
            <a:pPr marL="0" indent="0" algn="just">
              <a:buNone/>
            </a:pPr>
            <a:r>
              <a:rPr lang="pt-BR" dirty="0">
                <a:latin typeface="Cambria Math" panose="02040503050406030204" pitchFamily="18" charset="0"/>
                <a:ea typeface="Cambria Math" panose="02040503050406030204" pitchFamily="18" charset="0"/>
              </a:rPr>
              <a:t>⇒ </a:t>
            </a:r>
            <a:r>
              <a:rPr lang="pt-BR" b="1" dirty="0">
                <a:latin typeface="Cambria Math" panose="02040503050406030204" pitchFamily="18" charset="0"/>
                <a:ea typeface="Cambria Math" panose="02040503050406030204" pitchFamily="18" charset="0"/>
              </a:rPr>
              <a:t>I SHOULD always report N the number of observations used for each regression at the bottom of the table.</a:t>
            </a:r>
          </a:p>
          <a:p>
            <a:pPr marL="0" indent="0" algn="just">
              <a:buNone/>
            </a:pPr>
            <a:r>
              <a:rPr lang="fr-FR" dirty="0"/>
              <a:t>R</a:t>
            </a:r>
            <a:r>
              <a:rPr lang="fr-FR" baseline="30000" dirty="0"/>
              <a:t>2</a:t>
            </a:r>
            <a:r>
              <a:rPr lang="fr-FR" dirty="0"/>
              <a:t>  </a:t>
            </a:r>
            <a:r>
              <a:rPr lang="fr-FR" dirty="0" err="1"/>
              <a:t>helps</a:t>
            </a:r>
            <a:r>
              <a:rPr lang="fr-FR" dirty="0"/>
              <a:t> me to </a:t>
            </a:r>
            <a:r>
              <a:rPr lang="fr-FR" dirty="0" err="1"/>
              <a:t>gather</a:t>
            </a:r>
            <a:r>
              <a:rPr lang="fr-FR" dirty="0"/>
              <a:t> more information on substantive </a:t>
            </a:r>
            <a:r>
              <a:rPr lang="fr-FR" dirty="0" err="1"/>
              <a:t>significance</a:t>
            </a:r>
            <a:r>
              <a:rPr lang="fr-FR" dirty="0"/>
              <a:t> (</a:t>
            </a:r>
            <a:r>
              <a:rPr lang="fr-FR" dirty="0" err="1"/>
              <a:t>next</a:t>
            </a:r>
            <a:r>
              <a:rPr lang="fr-FR" dirty="0"/>
              <a:t> slides).</a:t>
            </a:r>
            <a:endParaRPr lang="pt-BR" dirty="0">
              <a:latin typeface="Cambria Math" panose="02040503050406030204" pitchFamily="18" charset="0"/>
              <a:ea typeface="Cambria Math" panose="02040503050406030204" pitchFamily="18" charset="0"/>
            </a:endParaRPr>
          </a:p>
          <a:p>
            <a:pPr marL="0" indent="0" algn="just">
              <a:buNone/>
            </a:pPr>
            <a:endParaRPr lang="pt-BR" dirty="0">
              <a:latin typeface="Cambria Math" panose="02040503050406030204" pitchFamily="18" charset="0"/>
              <a:ea typeface="Cambria Math" panose="02040503050406030204" pitchFamily="18" charset="0"/>
            </a:endParaRPr>
          </a:p>
          <a:p>
            <a:pPr marL="0" indent="0" algn="just">
              <a:buNone/>
            </a:pPr>
            <a:endParaRPr lang="en-GB" dirty="0"/>
          </a:p>
        </p:txBody>
      </p:sp>
    </p:spTree>
    <p:extLst>
      <p:ext uri="{BB962C8B-B14F-4D97-AF65-F5344CB8AC3E}">
        <p14:creationId xmlns:p14="http://schemas.microsoft.com/office/powerpoint/2010/main" val="20053803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3"/>
          <p:cNvSpPr>
            <a:spLocks noGrp="1"/>
          </p:cNvSpPr>
          <p:nvPr>
            <p:ph type="ctrTitle"/>
          </p:nvPr>
        </p:nvSpPr>
        <p:spPr/>
        <p:txBody>
          <a:bodyPr>
            <a:normAutofit fontScale="90000"/>
          </a:bodyPr>
          <a:lstStyle/>
          <a:p>
            <a:r>
              <a:rPr lang="fr-FR" altLang="fr-FR" dirty="0"/>
              <a:t>Intermezzo: </a:t>
            </a:r>
            <a:r>
              <a:rPr lang="fr-FR" altLang="fr-FR" dirty="0" err="1"/>
              <a:t>What</a:t>
            </a:r>
            <a:r>
              <a:rPr lang="fr-FR" altLang="fr-FR" dirty="0"/>
              <a:t> </a:t>
            </a:r>
            <a:r>
              <a:rPr lang="fr-FR" altLang="fr-FR" dirty="0" err="1"/>
              <a:t>is</a:t>
            </a:r>
            <a:r>
              <a:rPr lang="fr-FR" altLang="fr-FR" dirty="0"/>
              <a:t> a good « R</a:t>
            </a:r>
            <a:r>
              <a:rPr lang="fr-FR" altLang="fr-FR" baseline="30000" dirty="0"/>
              <a:t>2</a:t>
            </a:r>
            <a:r>
              <a:rPr lang="fr-FR" altLang="fr-FR" dirty="0"/>
              <a:t> » for substantive </a:t>
            </a:r>
            <a:r>
              <a:rPr lang="fr-FR" altLang="fr-FR" dirty="0" err="1"/>
              <a:t>significance</a:t>
            </a:r>
            <a:r>
              <a:rPr lang="fr-FR" altLang="fr-FR" dirty="0"/>
              <a:t>?</a:t>
            </a:r>
          </a:p>
        </p:txBody>
      </p:sp>
      <p:sp>
        <p:nvSpPr>
          <p:cNvPr id="6147" name="Sous-titre 4"/>
          <p:cNvSpPr>
            <a:spLocks noGrp="1"/>
          </p:cNvSpPr>
          <p:nvPr>
            <p:ph type="subTitle" idx="1"/>
          </p:nvPr>
        </p:nvSpPr>
        <p:spPr/>
        <p:txBody>
          <a:bodyPr/>
          <a:lstStyle/>
          <a:p>
            <a:r>
              <a:rPr lang="fr-FR" altLang="fr-FR"/>
              <a:t> </a:t>
            </a:r>
          </a:p>
        </p:txBody>
      </p:sp>
    </p:spTree>
    <p:extLst>
      <p:ext uri="{BB962C8B-B14F-4D97-AF65-F5344CB8AC3E}">
        <p14:creationId xmlns:p14="http://schemas.microsoft.com/office/powerpoint/2010/main" val="20298123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err="1"/>
              <a:t>Three</a:t>
            </a:r>
            <a:r>
              <a:rPr lang="fr-FR" sz="3200" dirty="0"/>
              <a:t> cases for </a:t>
            </a:r>
            <a:r>
              <a:rPr lang="fr-FR" sz="3200" dirty="0" err="1"/>
              <a:t>changing</a:t>
            </a:r>
            <a:r>
              <a:rPr lang="fr-FR" sz="3200" dirty="0"/>
              <a:t> </a:t>
            </a:r>
            <a:r>
              <a:rPr lang="fr-FR" sz="3200" dirty="0" err="1"/>
              <a:t>specification</a:t>
            </a:r>
            <a:r>
              <a:rPr lang="fr-FR" sz="3200" dirty="0"/>
              <a:t>, and/or </a:t>
            </a:r>
            <a:r>
              <a:rPr lang="fr-FR" sz="3200" dirty="0" err="1"/>
              <a:t>transform</a:t>
            </a:r>
            <a:r>
              <a:rPr lang="fr-FR" sz="3200" dirty="0"/>
              <a:t> variables</a:t>
            </a:r>
          </a:p>
        </p:txBody>
      </p:sp>
      <p:sp>
        <p:nvSpPr>
          <p:cNvPr id="3" name="Espace réservé du contenu 2"/>
          <p:cNvSpPr>
            <a:spLocks noGrp="1"/>
          </p:cNvSpPr>
          <p:nvPr>
            <p:ph idx="1"/>
          </p:nvPr>
        </p:nvSpPr>
        <p:spPr/>
        <p:txBody>
          <a:bodyPr/>
          <a:lstStyle/>
          <a:p>
            <a:pPr marL="0" indent="0">
              <a:buNone/>
            </a:pPr>
            <a:r>
              <a:rPr lang="fr-FR" altLang="fr-FR" dirty="0"/>
              <a:t>First case: </a:t>
            </a:r>
            <a:r>
              <a:rPr lang="fr-FR" altLang="fr-FR" b="1" dirty="0"/>
              <a:t>R</a:t>
            </a:r>
            <a:r>
              <a:rPr lang="fr-FR" altLang="fr-FR" b="1" baseline="30000" dirty="0"/>
              <a:t>2 </a:t>
            </a:r>
            <a:r>
              <a:rPr lang="fr-FR" b="1" dirty="0"/>
              <a:t>&gt;98%:</a:t>
            </a:r>
            <a:r>
              <a:rPr lang="fr-FR" dirty="0"/>
              <a:t> </a:t>
            </a:r>
          </a:p>
          <a:p>
            <a:pPr marL="0" indent="0">
              <a:buNone/>
            </a:pPr>
            <a:r>
              <a:rPr lang="fr-FR" dirty="0" err="1"/>
              <a:t>Dependent</a:t>
            </a:r>
            <a:r>
              <a:rPr lang="fr-FR" dirty="0"/>
              <a:t> = </a:t>
            </a:r>
            <a:r>
              <a:rPr lang="fr-FR" dirty="0" err="1"/>
              <a:t>explanatory</a:t>
            </a:r>
            <a:r>
              <a:rPr lang="fr-FR" dirty="0"/>
              <a:t> </a:t>
            </a:r>
          </a:p>
          <a:p>
            <a:pPr marL="0" indent="0">
              <a:buNone/>
            </a:pPr>
            <a:r>
              <a:rPr lang="fr-FR" dirty="0"/>
              <a:t>variables: </a:t>
            </a:r>
          </a:p>
          <a:p>
            <a:pPr>
              <a:buFontTx/>
              <a:buChar char="-"/>
            </a:pPr>
            <a:r>
              <a:rPr lang="fr-FR" dirty="0"/>
              <a:t>Unit </a:t>
            </a:r>
            <a:r>
              <a:rPr lang="fr-FR" dirty="0" err="1"/>
              <a:t>root</a:t>
            </a:r>
            <a:r>
              <a:rPr lang="fr-FR" dirty="0"/>
              <a:t> (use first </a:t>
            </a:r>
            <a:r>
              <a:rPr lang="fr-FR" dirty="0" err="1"/>
              <a:t>differences</a:t>
            </a:r>
            <a:r>
              <a:rPr lang="fr-FR" dirty="0"/>
              <a:t> as </a:t>
            </a:r>
            <a:r>
              <a:rPr lang="fr-FR" dirty="0" err="1"/>
              <a:t>robustness</a:t>
            </a:r>
            <a:r>
              <a:rPr lang="fr-FR" dirty="0"/>
              <a:t> check); </a:t>
            </a:r>
          </a:p>
          <a:p>
            <a:pPr>
              <a:buFontTx/>
              <a:buChar char="-"/>
            </a:pPr>
            <a:r>
              <a:rPr lang="fr-FR" dirty="0" err="1"/>
              <a:t>Same</a:t>
            </a:r>
            <a:r>
              <a:rPr lang="fr-FR" dirty="0"/>
              <a:t> item </a:t>
            </a:r>
            <a:r>
              <a:rPr lang="fr-FR" dirty="0" err="1"/>
              <a:t>measured</a:t>
            </a:r>
            <a:r>
              <a:rPr lang="fr-FR" dirty="0"/>
              <a:t> on the </a:t>
            </a:r>
            <a:r>
              <a:rPr lang="fr-FR" dirty="0" err="1"/>
              <a:t>left</a:t>
            </a:r>
            <a:r>
              <a:rPr lang="fr-FR" dirty="0"/>
              <a:t> hand </a:t>
            </a:r>
            <a:r>
              <a:rPr lang="fr-FR" dirty="0" err="1"/>
              <a:t>side</a:t>
            </a:r>
            <a:r>
              <a:rPr lang="fr-FR" dirty="0"/>
              <a:t> and right hand </a:t>
            </a:r>
            <a:r>
              <a:rPr lang="fr-FR" dirty="0" err="1"/>
              <a:t>side</a:t>
            </a:r>
            <a:r>
              <a:rPr lang="fr-FR" dirty="0"/>
              <a:t> = </a:t>
            </a:r>
            <a:r>
              <a:rPr lang="fr-FR" dirty="0" err="1"/>
              <a:t>think</a:t>
            </a:r>
            <a:r>
              <a:rPr lang="fr-FR" dirty="0"/>
              <a:t> </a:t>
            </a:r>
            <a:r>
              <a:rPr lang="fr-FR" dirty="0" err="1"/>
              <a:t>again</a:t>
            </a:r>
            <a:r>
              <a:rPr lang="fr-FR" dirty="0"/>
              <a:t>. </a:t>
            </a:r>
            <a:r>
              <a:rPr lang="fr-FR" dirty="0" err="1"/>
              <a:t>Decorrelate</a:t>
            </a:r>
            <a:r>
              <a:rPr lang="fr-FR" dirty="0"/>
              <a:t> </a:t>
            </a:r>
            <a:r>
              <a:rPr lang="fr-FR" dirty="0" err="1"/>
              <a:t>them</a:t>
            </a:r>
            <a:r>
              <a:rPr lang="fr-FR" dirty="0"/>
              <a:t>.</a:t>
            </a:r>
          </a:p>
        </p:txBody>
      </p:sp>
    </p:spTree>
    <p:extLst>
      <p:ext uri="{BB962C8B-B14F-4D97-AF65-F5344CB8AC3E}">
        <p14:creationId xmlns:p14="http://schemas.microsoft.com/office/powerpoint/2010/main" val="20288567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2nd: marginal </a:t>
            </a:r>
            <a:r>
              <a:rPr lang="fr-FR" dirty="0" err="1"/>
              <a:t>increase</a:t>
            </a:r>
            <a:r>
              <a:rPr lang="fr-FR" dirty="0"/>
              <a:t> of </a:t>
            </a:r>
            <a:r>
              <a:rPr lang="fr-FR" altLang="fr-FR" dirty="0"/>
              <a:t>R</a:t>
            </a:r>
            <a:r>
              <a:rPr lang="fr-FR" altLang="fr-FR" baseline="30000" dirty="0"/>
              <a:t>2 </a:t>
            </a:r>
            <a:r>
              <a:rPr lang="fr-FR" altLang="fr-FR" dirty="0" err="1"/>
              <a:t>too</a:t>
            </a:r>
            <a:r>
              <a:rPr lang="fr-FR" altLang="fr-FR" dirty="0"/>
              <a:t> </a:t>
            </a:r>
            <a:r>
              <a:rPr lang="fr-FR" altLang="fr-FR" dirty="0" err="1"/>
              <a:t>small</a:t>
            </a:r>
            <a:r>
              <a:rPr lang="fr-FR" altLang="fr-FR" dirty="0"/>
              <a:t>: R</a:t>
            </a:r>
            <a:r>
              <a:rPr lang="fr-FR" altLang="fr-FR" baseline="30000" dirty="0"/>
              <a:t>2</a:t>
            </a:r>
            <a:r>
              <a:rPr lang="fr-FR" dirty="0"/>
              <a:t>(</a:t>
            </a:r>
            <a:r>
              <a:rPr lang="fr-FR" dirty="0" err="1"/>
              <a:t>y,x,z</a:t>
            </a:r>
            <a:r>
              <a:rPr lang="fr-FR" dirty="0"/>
              <a:t>)-</a:t>
            </a:r>
            <a:r>
              <a:rPr lang="fr-FR" altLang="fr-FR" dirty="0"/>
              <a:t>R</a:t>
            </a:r>
            <a:r>
              <a:rPr lang="fr-FR" altLang="fr-FR" baseline="30000" dirty="0"/>
              <a:t>2</a:t>
            </a:r>
            <a:r>
              <a:rPr lang="fr-FR" dirty="0"/>
              <a:t>(</a:t>
            </a:r>
            <a:r>
              <a:rPr lang="fr-FR" dirty="0" err="1"/>
              <a:t>y,z</a:t>
            </a:r>
            <a:r>
              <a:rPr lang="fr-FR" dirty="0"/>
              <a:t>) &lt;1%</a:t>
            </a:r>
          </a:p>
        </p:txBody>
      </p:sp>
      <p:sp>
        <p:nvSpPr>
          <p:cNvPr id="3" name="Espace réservé du contenu 2"/>
          <p:cNvSpPr>
            <a:spLocks noGrp="1"/>
          </p:cNvSpPr>
          <p:nvPr>
            <p:ph idx="1"/>
          </p:nvPr>
        </p:nvSpPr>
        <p:spPr/>
        <p:txBody>
          <a:bodyPr>
            <a:normAutofit lnSpcReduction="10000"/>
          </a:bodyPr>
          <a:lstStyle/>
          <a:p>
            <a:pPr marL="0" indent="0">
              <a:buNone/>
            </a:pPr>
            <a:r>
              <a:rPr lang="fr-FR" dirty="0"/>
              <a:t>First </a:t>
            </a:r>
            <a:r>
              <a:rPr lang="fr-FR" dirty="0" err="1"/>
              <a:t>regression</a:t>
            </a:r>
            <a:r>
              <a:rPr lang="fr-FR" dirty="0"/>
              <a:t> </a:t>
            </a:r>
            <a:r>
              <a:rPr lang="fr-FR" dirty="0" err="1"/>
              <a:t>includes</a:t>
            </a:r>
            <a:r>
              <a:rPr lang="fr-FR" dirty="0"/>
              <a:t> x and z (« </a:t>
            </a:r>
            <a:r>
              <a:rPr lang="fr-FR" dirty="0" err="1"/>
              <a:t>controls</a:t>
            </a:r>
            <a:r>
              <a:rPr lang="fr-FR" dirty="0"/>
              <a:t> ») as </a:t>
            </a:r>
            <a:r>
              <a:rPr lang="fr-FR" dirty="0" err="1"/>
              <a:t>regressors</a:t>
            </a:r>
            <a:r>
              <a:rPr lang="fr-FR" dirty="0"/>
              <a:t>.</a:t>
            </a:r>
          </a:p>
          <a:p>
            <a:pPr marL="0" indent="0">
              <a:buNone/>
            </a:pPr>
            <a:r>
              <a:rPr lang="fr-FR" dirty="0"/>
              <a:t>First </a:t>
            </a:r>
            <a:r>
              <a:rPr lang="fr-FR" dirty="0" err="1"/>
              <a:t>regression</a:t>
            </a:r>
            <a:r>
              <a:rPr lang="fr-FR" dirty="0"/>
              <a:t> </a:t>
            </a:r>
            <a:r>
              <a:rPr lang="fr-FR" dirty="0" err="1"/>
              <a:t>excludes</a:t>
            </a:r>
            <a:r>
              <a:rPr lang="fr-FR" dirty="0"/>
              <a:t> x and </a:t>
            </a:r>
            <a:r>
              <a:rPr lang="fr-FR" dirty="0" err="1"/>
              <a:t>includes</a:t>
            </a:r>
            <a:r>
              <a:rPr lang="fr-FR" dirty="0"/>
              <a:t> z (« </a:t>
            </a:r>
            <a:r>
              <a:rPr lang="fr-FR" dirty="0" err="1"/>
              <a:t>controls</a:t>
            </a:r>
            <a:r>
              <a:rPr lang="fr-FR" dirty="0"/>
              <a:t> ») as </a:t>
            </a:r>
            <a:r>
              <a:rPr lang="fr-FR" dirty="0" err="1"/>
              <a:t>regressors</a:t>
            </a:r>
            <a:endParaRPr lang="fr-FR" dirty="0"/>
          </a:p>
          <a:p>
            <a:pPr marL="0" indent="0">
              <a:buNone/>
            </a:pPr>
            <a:r>
              <a:rPr lang="fr-FR" dirty="0"/>
              <a:t>This </a:t>
            </a:r>
            <a:r>
              <a:rPr lang="fr-FR" dirty="0" err="1"/>
              <a:t>is</a:t>
            </a:r>
            <a:r>
              <a:rPr lang="fr-FR" dirty="0"/>
              <a:t> </a:t>
            </a:r>
            <a:r>
              <a:rPr lang="fr-FR" dirty="0" err="1"/>
              <a:t>likely</a:t>
            </a:r>
            <a:r>
              <a:rPr lang="fr-FR" dirty="0"/>
              <a:t> to lead to a partial </a:t>
            </a:r>
            <a:r>
              <a:rPr lang="fr-FR" dirty="0" err="1"/>
              <a:t>correlation</a:t>
            </a:r>
            <a:r>
              <a:rPr lang="fr-FR" dirty="0"/>
              <a:t> coefficient (</a:t>
            </a:r>
            <a:r>
              <a:rPr lang="fr-FR" dirty="0" err="1"/>
              <a:t>that</a:t>
            </a:r>
            <a:r>
              <a:rPr lang="fr-FR" dirty="0"/>
              <a:t> </a:t>
            </a:r>
            <a:r>
              <a:rPr lang="fr-FR" dirty="0" err="1"/>
              <a:t>you</a:t>
            </a:r>
            <a:r>
              <a:rPr lang="fr-FR" dirty="0"/>
              <a:t> </a:t>
            </a:r>
            <a:r>
              <a:rPr lang="fr-FR" dirty="0" err="1"/>
              <a:t>can</a:t>
            </a:r>
            <a:r>
              <a:rPr lang="fr-FR" dirty="0"/>
              <a:t> </a:t>
            </a:r>
            <a:r>
              <a:rPr lang="fr-FR" dirty="0" err="1"/>
              <a:t>compute</a:t>
            </a:r>
            <a:r>
              <a:rPr lang="fr-FR" dirty="0"/>
              <a:t> </a:t>
            </a:r>
            <a:r>
              <a:rPr lang="fr-FR" dirty="0" err="1"/>
              <a:t>with</a:t>
            </a:r>
            <a:r>
              <a:rPr lang="fr-FR" dirty="0"/>
              <a:t> t-stat and </a:t>
            </a:r>
            <a:r>
              <a:rPr lang="fr-FR" dirty="0" err="1"/>
              <a:t>degrees</a:t>
            </a:r>
            <a:r>
              <a:rPr lang="fr-FR" dirty="0"/>
              <a:t> of </a:t>
            </a:r>
            <a:r>
              <a:rPr lang="fr-FR" dirty="0" err="1"/>
              <a:t>freedom</a:t>
            </a:r>
            <a:r>
              <a:rPr lang="fr-FR" dirty="0"/>
              <a:t>) </a:t>
            </a:r>
            <a:r>
              <a:rPr lang="fr-FR" dirty="0" err="1"/>
              <a:t>below</a:t>
            </a:r>
            <a:r>
              <a:rPr lang="fr-FR" dirty="0"/>
              <a:t> </a:t>
            </a:r>
            <a:r>
              <a:rPr lang="fr-FR" b="1" dirty="0"/>
              <a:t>0.1</a:t>
            </a:r>
            <a:r>
              <a:rPr lang="fr-FR" dirty="0"/>
              <a:t>.</a:t>
            </a:r>
          </a:p>
          <a:p>
            <a:pPr marL="0" indent="0">
              <a:buNone/>
            </a:pPr>
            <a:r>
              <a:rPr lang="fr-FR" dirty="0"/>
              <a:t>This </a:t>
            </a:r>
            <a:r>
              <a:rPr lang="fr-FR" dirty="0" err="1"/>
              <a:t>explanatory</a:t>
            </a:r>
            <a:r>
              <a:rPr lang="fr-FR" dirty="0"/>
              <a:t> variable </a:t>
            </a:r>
            <a:r>
              <a:rPr lang="fr-FR" dirty="0" err="1"/>
              <a:t>may</a:t>
            </a:r>
            <a:r>
              <a:rPr lang="fr-FR" dirty="0"/>
              <a:t> have a </a:t>
            </a:r>
            <a:r>
              <a:rPr lang="fr-FR" b="1" dirty="0" err="1"/>
              <a:t>too</a:t>
            </a:r>
            <a:r>
              <a:rPr lang="fr-FR" b="1" dirty="0"/>
              <a:t> </a:t>
            </a:r>
            <a:r>
              <a:rPr lang="fr-FR" b="1" dirty="0" err="1"/>
              <a:t>low</a:t>
            </a:r>
            <a:r>
              <a:rPr lang="fr-FR" dirty="0"/>
              <a:t> </a:t>
            </a:r>
            <a:r>
              <a:rPr lang="fr-FR" dirty="0" err="1"/>
              <a:t>standardized</a:t>
            </a:r>
            <a:r>
              <a:rPr lang="fr-FR" dirty="0"/>
              <a:t> coefficient </a:t>
            </a:r>
            <a:r>
              <a:rPr lang="fr-FR" dirty="0" err="1"/>
              <a:t>effect</a:t>
            </a:r>
            <a:r>
              <a:rPr lang="fr-FR" dirty="0"/>
              <a:t>.</a:t>
            </a:r>
          </a:p>
          <a:p>
            <a:pPr marL="0" indent="0">
              <a:buNone/>
            </a:pPr>
            <a:endParaRPr lang="fr-FR" dirty="0"/>
          </a:p>
        </p:txBody>
      </p:sp>
    </p:spTree>
    <p:extLst>
      <p:ext uri="{BB962C8B-B14F-4D97-AF65-F5344CB8AC3E}">
        <p14:creationId xmlns:p14="http://schemas.microsoft.com/office/powerpoint/2010/main" val="18339665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dirty="0">
                <a:latin typeface="Cambria Math" panose="02040503050406030204" pitchFamily="18" charset="0"/>
                <a:ea typeface="Cambria Math" panose="02040503050406030204" pitchFamily="18" charset="0"/>
              </a:rPr>
              <a:t>|r(</a:t>
            </a:r>
            <a:r>
              <a:rPr lang="en-US" dirty="0" err="1">
                <a:latin typeface="Cambria Math" panose="02040503050406030204" pitchFamily="18" charset="0"/>
                <a:ea typeface="Cambria Math" panose="02040503050406030204" pitchFamily="18" charset="0"/>
              </a:rPr>
              <a:t>y,x</a:t>
            </a:r>
            <a:r>
              <a:rPr lang="en-US" dirty="0">
                <a:latin typeface="Cambria Math" panose="02040503050406030204" pitchFamily="18" charset="0"/>
                <a:ea typeface="Cambria Math" panose="02040503050406030204" pitchFamily="18" charset="0"/>
              </a:rPr>
              <a:t>)|&lt;0.1 and R</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=r(</a:t>
            </a:r>
            <a:r>
              <a:rPr lang="en-US" dirty="0" err="1">
                <a:latin typeface="Cambria Math" panose="02040503050406030204" pitchFamily="18" charset="0"/>
                <a:ea typeface="Cambria Math" panose="02040503050406030204" pitchFamily="18" charset="0"/>
              </a:rPr>
              <a:t>y,x</a:t>
            </a:r>
            <a:r>
              <a:rPr lang="en-US" dirty="0">
                <a:latin typeface="Cambria Math" panose="02040503050406030204" pitchFamily="18" charset="0"/>
                <a:ea typeface="Cambria Math" panose="02040503050406030204" pitchFamily="18" charset="0"/>
              </a:rPr>
              <a:t>)</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&lt;0.01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is a small effect</a:t>
            </a:r>
            <a:endParaRPr lang="en-GB" dirty="0"/>
          </a:p>
        </p:txBody>
      </p:sp>
      <p:sp>
        <p:nvSpPr>
          <p:cNvPr id="3" name="Espace réservé du contenu 2"/>
          <p:cNvSpPr>
            <a:spLocks noGrp="1"/>
          </p:cNvSpPr>
          <p:nvPr>
            <p:ph idx="1"/>
          </p:nvPr>
        </p:nvSpPr>
        <p:spPr/>
        <p:txBody>
          <a:bodyPr>
            <a:normAutofit/>
          </a:bodyPr>
          <a:lstStyle/>
          <a:p>
            <a:pPr marL="0" indent="0">
              <a:buNone/>
            </a:pPr>
            <a:r>
              <a:rPr lang="en-US" dirty="0"/>
              <a:t>If (x – mean(x)) / standard error (x)</a:t>
            </a:r>
            <a:r>
              <a:rPr lang="el-GR" dirty="0">
                <a:latin typeface="Cambria Math" panose="02040503050406030204" pitchFamily="18" charset="0"/>
                <a:ea typeface="Cambria Math" panose="02040503050406030204" pitchFamily="18" charset="0"/>
                <a:cs typeface="Calibri"/>
              </a:rPr>
              <a:t> ≤</a:t>
            </a:r>
            <a:r>
              <a:rPr lang="fr-FR" dirty="0">
                <a:latin typeface="Cambria Math" panose="02040503050406030204" pitchFamily="18" charset="0"/>
                <a:ea typeface="Cambria Math" panose="02040503050406030204" pitchFamily="18" charset="0"/>
                <a:cs typeface="Calibri"/>
              </a:rPr>
              <a:t>1</a:t>
            </a:r>
            <a:endParaRPr lang="en-US" dirty="0"/>
          </a:p>
          <a:p>
            <a:pPr marL="0" indent="0">
              <a:buNone/>
            </a:pPr>
            <a:r>
              <a:rPr lang="en-US" dirty="0">
                <a:latin typeface="Cambria Math" panose="02040503050406030204" pitchFamily="18" charset="0"/>
                <a:ea typeface="Cambria Math" panose="02040503050406030204" pitchFamily="18" charset="0"/>
              </a:rPr>
              <a:t>⇔ If x deviates from its mean by at most one standard error (of X) (66% of the cases for a normal law)</a:t>
            </a:r>
          </a:p>
          <a:p>
            <a:pPr marL="0" indent="0">
              <a:buNone/>
            </a:pPr>
            <a:r>
              <a:rPr lang="en-US" dirty="0">
                <a:latin typeface="Cambria Math" panose="02040503050406030204" pitchFamily="18" charset="0"/>
                <a:ea typeface="Cambria Math" panose="02040503050406030204" pitchFamily="18" charset="0"/>
              </a:rPr>
              <a:t>⇒ </a:t>
            </a:r>
            <a:r>
              <a:rPr lang="en-US" dirty="0"/>
              <a:t>(</a:t>
            </a:r>
            <a:r>
              <a:rPr lang="en-US" dirty="0" err="1"/>
              <a:t>yhat</a:t>
            </a:r>
            <a:r>
              <a:rPr lang="en-US" dirty="0"/>
              <a:t> – mean(y))/standard error (y)</a:t>
            </a:r>
            <a:r>
              <a:rPr lang="el-GR" dirty="0">
                <a:latin typeface="Cambria Math" panose="02040503050406030204" pitchFamily="18" charset="0"/>
                <a:ea typeface="Cambria Math" panose="02040503050406030204" pitchFamily="18" charset="0"/>
                <a:cs typeface="Calibri"/>
              </a:rPr>
              <a:t>≤</a:t>
            </a:r>
            <a:r>
              <a:rPr lang="en-US" dirty="0">
                <a:latin typeface="Cambria Math" panose="02040503050406030204" pitchFamily="18" charset="0"/>
                <a:ea typeface="Cambria Math" panose="02040503050406030204" pitchFamily="18" charset="0"/>
              </a:rPr>
              <a:t>r(</a:t>
            </a:r>
            <a:r>
              <a:rPr lang="en-US" dirty="0" err="1">
                <a:latin typeface="Cambria Math" panose="02040503050406030204" pitchFamily="18" charset="0"/>
                <a:ea typeface="Cambria Math" panose="02040503050406030204" pitchFamily="18" charset="0"/>
              </a:rPr>
              <a:t>y,x</a:t>
            </a:r>
            <a:r>
              <a:rPr lang="en-US" dirty="0">
                <a:latin typeface="Cambria Math" panose="02040503050406030204" pitchFamily="18" charset="0"/>
                <a:ea typeface="Cambria Math" panose="02040503050406030204" pitchFamily="18" charset="0"/>
              </a:rPr>
              <a:t>)</a:t>
            </a:r>
            <a:endParaRPr lang="en-US" dirty="0"/>
          </a:p>
          <a:p>
            <a:pPr marL="0" indent="0">
              <a:buNone/>
            </a:pPr>
            <a:r>
              <a:rPr lang="en-US" dirty="0"/>
              <a:t>The forecast of y deviates from its mean by at most the </a:t>
            </a:r>
            <a:r>
              <a:rPr lang="en-US" dirty="0">
                <a:solidFill>
                  <a:srgbClr val="FF0000"/>
                </a:solidFill>
              </a:rPr>
              <a:t>0.1</a:t>
            </a:r>
            <a:r>
              <a:rPr lang="en-US" dirty="0"/>
              <a:t> simple correlation coefficient of y and x times the standard error of Y.</a:t>
            </a:r>
          </a:p>
        </p:txBody>
      </p:sp>
    </p:spTree>
    <p:extLst>
      <p:ext uri="{BB962C8B-B14F-4D97-AF65-F5344CB8AC3E}">
        <p14:creationId xmlns:p14="http://schemas.microsoft.com/office/powerpoint/2010/main" val="19958850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altLang="fr-FR" dirty="0"/>
              <a:t>3rd case: </a:t>
            </a:r>
            <a:r>
              <a:rPr lang="fr-FR" altLang="fr-FR" b="1" dirty="0"/>
              <a:t>R</a:t>
            </a:r>
            <a:r>
              <a:rPr lang="fr-FR" altLang="fr-FR" b="1" baseline="30000" dirty="0"/>
              <a:t>2 </a:t>
            </a:r>
            <a:r>
              <a:rPr lang="fr-FR" b="1" dirty="0"/>
              <a:t>&lt;2%</a:t>
            </a:r>
            <a:r>
              <a:rPr lang="fr-FR" dirty="0"/>
              <a:t> (and NT&gt;400)</a:t>
            </a:r>
            <a:br>
              <a:rPr lang="fr-FR" dirty="0"/>
            </a:br>
            <a:r>
              <a:rPr lang="fr-FR" dirty="0" err="1"/>
              <a:t>often</a:t>
            </a:r>
            <a:r>
              <a:rPr lang="fr-FR" dirty="0"/>
              <a:t> </a:t>
            </a:r>
            <a:r>
              <a:rPr lang="fr-FR" dirty="0" err="1"/>
              <a:t>with</a:t>
            </a:r>
            <a:r>
              <a:rPr lang="fr-FR" dirty="0"/>
              <a:t> panel data</a:t>
            </a:r>
          </a:p>
        </p:txBody>
      </p:sp>
      <p:sp>
        <p:nvSpPr>
          <p:cNvPr id="3" name="Espace réservé du contenu 2"/>
          <p:cNvSpPr>
            <a:spLocks noGrp="1"/>
          </p:cNvSpPr>
          <p:nvPr>
            <p:ph idx="1"/>
          </p:nvPr>
        </p:nvSpPr>
        <p:spPr/>
        <p:txBody>
          <a:bodyPr/>
          <a:lstStyle/>
          <a:p>
            <a:pPr marL="0" indent="0">
              <a:buNone/>
            </a:pPr>
            <a:r>
              <a:rPr lang="fr-FR" dirty="0" err="1"/>
              <a:t>Several</a:t>
            </a:r>
            <a:r>
              <a:rPr lang="fr-FR" dirty="0"/>
              <a:t> </a:t>
            </a:r>
            <a:r>
              <a:rPr lang="fr-FR" dirty="0" err="1"/>
              <a:t>statistically</a:t>
            </a:r>
            <a:r>
              <a:rPr lang="fr-FR" dirty="0"/>
              <a:t> </a:t>
            </a:r>
            <a:r>
              <a:rPr lang="fr-FR" dirty="0" err="1"/>
              <a:t>significant</a:t>
            </a:r>
            <a:r>
              <a:rPr lang="fr-FR" dirty="0"/>
              <a:t> </a:t>
            </a:r>
            <a:r>
              <a:rPr lang="fr-FR" dirty="0" err="1"/>
              <a:t>explanatory</a:t>
            </a:r>
            <a:r>
              <a:rPr lang="fr-FR" dirty="0"/>
              <a:t> variables (x) are </a:t>
            </a:r>
            <a:r>
              <a:rPr lang="fr-FR" dirty="0" err="1"/>
              <a:t>likely</a:t>
            </a:r>
            <a:r>
              <a:rPr lang="fr-FR" dirty="0"/>
              <a:t> to have a partial </a:t>
            </a:r>
            <a:r>
              <a:rPr lang="fr-FR" dirty="0" err="1"/>
              <a:t>correlation</a:t>
            </a:r>
            <a:r>
              <a:rPr lang="fr-FR" dirty="0"/>
              <a:t> coefficient </a:t>
            </a:r>
            <a:r>
              <a:rPr lang="fr-FR" dirty="0" err="1"/>
              <a:t>below</a:t>
            </a:r>
            <a:r>
              <a:rPr lang="fr-FR" dirty="0"/>
              <a:t> 0.1, </a:t>
            </a:r>
            <a:r>
              <a:rPr lang="fr-FR" dirty="0" err="1"/>
              <a:t>corresponding</a:t>
            </a:r>
            <a:r>
              <a:rPr lang="fr-FR" dirty="0"/>
              <a:t> to </a:t>
            </a:r>
          </a:p>
          <a:p>
            <a:pPr marL="0" indent="0">
              <a:buNone/>
            </a:pPr>
            <a:r>
              <a:rPr lang="fr-FR" altLang="fr-FR" dirty="0"/>
              <a:t>R</a:t>
            </a:r>
            <a:r>
              <a:rPr lang="fr-FR" altLang="fr-FR" baseline="30000" dirty="0"/>
              <a:t>2</a:t>
            </a:r>
            <a:r>
              <a:rPr lang="fr-FR" dirty="0"/>
              <a:t>(</a:t>
            </a:r>
            <a:r>
              <a:rPr lang="fr-FR" dirty="0" err="1"/>
              <a:t>y,x|z</a:t>
            </a:r>
            <a:r>
              <a:rPr lang="fr-FR" dirty="0"/>
              <a:t>)-</a:t>
            </a:r>
            <a:r>
              <a:rPr lang="fr-FR" altLang="fr-FR" dirty="0"/>
              <a:t>R</a:t>
            </a:r>
            <a:r>
              <a:rPr lang="fr-FR" altLang="fr-FR" baseline="30000" dirty="0"/>
              <a:t>2</a:t>
            </a:r>
            <a:r>
              <a:rPr lang="fr-FR" dirty="0"/>
              <a:t>(</a:t>
            </a:r>
            <a:r>
              <a:rPr lang="fr-FR" dirty="0" err="1"/>
              <a:t>y,z</a:t>
            </a:r>
            <a:r>
              <a:rPr lang="fr-FR" dirty="0"/>
              <a:t>) &lt;1%.</a:t>
            </a:r>
          </a:p>
          <a:p>
            <a:pPr marL="0" indent="0">
              <a:buNone/>
            </a:pPr>
            <a:endParaRPr lang="fr-FR" dirty="0"/>
          </a:p>
        </p:txBody>
      </p:sp>
    </p:spTree>
    <p:extLst>
      <p:ext uri="{BB962C8B-B14F-4D97-AF65-F5344CB8AC3E}">
        <p14:creationId xmlns:p14="http://schemas.microsoft.com/office/powerpoint/2010/main" val="30915255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Too</a:t>
            </a:r>
            <a:r>
              <a:rPr lang="fr-FR" dirty="0"/>
              <a:t> </a:t>
            </a:r>
            <a:r>
              <a:rPr lang="fr-FR" dirty="0" err="1"/>
              <a:t>much</a:t>
            </a:r>
            <a:r>
              <a:rPr lang="fr-FR" dirty="0"/>
              <a:t> variance of the </a:t>
            </a:r>
            <a:r>
              <a:rPr lang="fr-FR" dirty="0" err="1"/>
              <a:t>dependent</a:t>
            </a:r>
            <a:r>
              <a:rPr lang="fr-FR" dirty="0"/>
              <a:t>?</a:t>
            </a:r>
          </a:p>
        </p:txBody>
      </p:sp>
      <p:sp>
        <p:nvSpPr>
          <p:cNvPr id="3" name="Espace réservé du contenu 2"/>
          <p:cNvSpPr>
            <a:spLocks noGrp="1"/>
          </p:cNvSpPr>
          <p:nvPr>
            <p:ph idx="1"/>
          </p:nvPr>
        </p:nvSpPr>
        <p:spPr/>
        <p:txBody>
          <a:bodyPr/>
          <a:lstStyle/>
          <a:p>
            <a:pPr marL="0" indent="0" algn="just">
              <a:buNone/>
            </a:pPr>
            <a:r>
              <a:rPr lang="fr-FR" dirty="0"/>
              <a:t>You have </a:t>
            </a:r>
            <a:r>
              <a:rPr lang="fr-FR" b="1" dirty="0"/>
              <a:t>TOO MUCH</a:t>
            </a:r>
            <a:r>
              <a:rPr lang="fr-FR" dirty="0"/>
              <a:t> variance of the </a:t>
            </a:r>
            <a:r>
              <a:rPr lang="fr-FR" dirty="0" err="1"/>
              <a:t>dependent</a:t>
            </a:r>
            <a:r>
              <a:rPr lang="fr-FR" dirty="0"/>
              <a:t> variable = do </a:t>
            </a:r>
            <a:r>
              <a:rPr lang="fr-FR" dirty="0" err="1"/>
              <a:t>you</a:t>
            </a:r>
            <a:r>
              <a:rPr lang="fr-FR" dirty="0"/>
              <a:t> </a:t>
            </a:r>
            <a:r>
              <a:rPr lang="fr-FR" dirty="0" err="1"/>
              <a:t>really</a:t>
            </a:r>
            <a:r>
              <a:rPr lang="fr-FR" dirty="0"/>
              <a:t> </a:t>
            </a:r>
            <a:r>
              <a:rPr lang="fr-FR" dirty="0" err="1"/>
              <a:t>need</a:t>
            </a:r>
            <a:r>
              <a:rPr lang="fr-FR" dirty="0"/>
              <a:t> to </a:t>
            </a:r>
            <a:r>
              <a:rPr lang="fr-FR" dirty="0" err="1"/>
              <a:t>explain</a:t>
            </a:r>
            <a:r>
              <a:rPr lang="fr-FR" dirty="0"/>
              <a:t> </a:t>
            </a:r>
            <a:r>
              <a:rPr lang="fr-FR" b="1" dirty="0"/>
              <a:t>ALL</a:t>
            </a:r>
            <a:r>
              <a:rPr lang="fr-FR" dirty="0"/>
              <a:t> </a:t>
            </a:r>
            <a:r>
              <a:rPr lang="fr-FR" dirty="0" err="1"/>
              <a:t>this</a:t>
            </a:r>
            <a:r>
              <a:rPr lang="fr-FR" dirty="0"/>
              <a:t> variance but </a:t>
            </a:r>
            <a:r>
              <a:rPr lang="fr-FR" dirty="0" err="1"/>
              <a:t>only</a:t>
            </a:r>
            <a:r>
              <a:rPr lang="fr-FR" dirty="0"/>
              <a:t> a « relevant » proportion of </a:t>
            </a:r>
            <a:r>
              <a:rPr lang="fr-FR" dirty="0" err="1"/>
              <a:t>this</a:t>
            </a:r>
            <a:r>
              <a:rPr lang="fr-FR" dirty="0"/>
              <a:t> variance?</a:t>
            </a:r>
          </a:p>
          <a:p>
            <a:pPr marL="0" indent="0" algn="just">
              <a:buNone/>
            </a:pPr>
            <a:r>
              <a:rPr lang="fr-FR" dirty="0" err="1"/>
              <a:t>Some</a:t>
            </a:r>
            <a:r>
              <a:rPr lang="fr-FR" dirty="0"/>
              <a:t> of </a:t>
            </a:r>
            <a:r>
              <a:rPr lang="fr-FR" dirty="0" err="1"/>
              <a:t>this</a:t>
            </a:r>
            <a:r>
              <a:rPr lang="fr-FR" dirty="0"/>
              <a:t> variance </a:t>
            </a:r>
            <a:r>
              <a:rPr lang="fr-FR" dirty="0" err="1"/>
              <a:t>may</a:t>
            </a:r>
            <a:r>
              <a:rPr lang="fr-FR" dirty="0"/>
              <a:t> </a:t>
            </a:r>
            <a:r>
              <a:rPr lang="fr-FR" dirty="0" err="1"/>
              <a:t>be</a:t>
            </a:r>
            <a:r>
              <a:rPr lang="fr-FR" dirty="0"/>
              <a:t> « noise » or « short </a:t>
            </a:r>
            <a:r>
              <a:rPr lang="fr-FR" dirty="0" err="1"/>
              <a:t>term</a:t>
            </a:r>
            <a:r>
              <a:rPr lang="fr-FR" dirty="0"/>
              <a:t> »  </a:t>
            </a:r>
            <a:r>
              <a:rPr lang="fr-FR" dirty="0" err="1"/>
              <a:t>irrelevant</a:t>
            </a:r>
            <a:r>
              <a:rPr lang="fr-FR" dirty="0"/>
              <a:t> variance </a:t>
            </a:r>
            <a:r>
              <a:rPr lang="fr-FR" dirty="0" err="1"/>
              <a:t>with</a:t>
            </a:r>
            <a:r>
              <a:rPr lang="fr-FR" dirty="0"/>
              <a:t> respect to the </a:t>
            </a:r>
            <a:r>
              <a:rPr lang="fr-FR" dirty="0" err="1"/>
              <a:t>correlation</a:t>
            </a:r>
            <a:r>
              <a:rPr lang="fr-FR" dirty="0"/>
              <a:t> </a:t>
            </a:r>
            <a:r>
              <a:rPr lang="fr-FR" dirty="0" err="1"/>
              <a:t>you</a:t>
            </a:r>
            <a:r>
              <a:rPr lang="fr-FR" dirty="0"/>
              <a:t> </a:t>
            </a:r>
            <a:r>
              <a:rPr lang="fr-FR" dirty="0" err="1"/>
              <a:t>seek</a:t>
            </a:r>
            <a:r>
              <a:rPr lang="fr-FR" dirty="0"/>
              <a:t>. </a:t>
            </a:r>
          </a:p>
          <a:p>
            <a:pPr marL="0" indent="0">
              <a:buNone/>
            </a:pPr>
            <a:endParaRPr lang="fr-FR" dirty="0"/>
          </a:p>
        </p:txBody>
      </p:sp>
    </p:spTree>
    <p:extLst>
      <p:ext uri="{BB962C8B-B14F-4D97-AF65-F5344CB8AC3E}">
        <p14:creationId xmlns:p14="http://schemas.microsoft.com/office/powerpoint/2010/main" val="20775419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Reduce</a:t>
            </a:r>
            <a:r>
              <a:rPr lang="fr-FR" dirty="0"/>
              <a:t> the variance </a:t>
            </a:r>
            <a:r>
              <a:rPr lang="fr-FR" dirty="0" err="1"/>
              <a:t>with</a:t>
            </a:r>
            <a:r>
              <a:rPr lang="fr-FR" dirty="0"/>
              <a:t> a transformation of the </a:t>
            </a:r>
            <a:r>
              <a:rPr lang="fr-FR" dirty="0" err="1"/>
              <a:t>dependent</a:t>
            </a:r>
            <a:r>
              <a:rPr lang="fr-FR" dirty="0"/>
              <a:t> f(Y)</a:t>
            </a:r>
          </a:p>
        </p:txBody>
      </p:sp>
      <p:sp>
        <p:nvSpPr>
          <p:cNvPr id="3" name="Espace réservé du contenu 2"/>
          <p:cNvSpPr>
            <a:spLocks noGrp="1"/>
          </p:cNvSpPr>
          <p:nvPr>
            <p:ph idx="1"/>
          </p:nvPr>
        </p:nvSpPr>
        <p:spPr/>
        <p:txBody>
          <a:bodyPr>
            <a:normAutofit lnSpcReduction="10000"/>
          </a:bodyPr>
          <a:lstStyle/>
          <a:p>
            <a:pPr marL="0" indent="0">
              <a:buNone/>
            </a:pPr>
            <a:r>
              <a:rPr lang="fr-FR" dirty="0" err="1"/>
              <a:t>Reduce</a:t>
            </a:r>
            <a:r>
              <a:rPr lang="fr-FR" dirty="0"/>
              <a:t> the variance of the </a:t>
            </a:r>
            <a:r>
              <a:rPr lang="fr-FR" dirty="0" err="1"/>
              <a:t>dependent</a:t>
            </a:r>
            <a:r>
              <a:rPr lang="fr-FR" dirty="0"/>
              <a:t>:</a:t>
            </a:r>
          </a:p>
          <a:p>
            <a:pPr marL="0" indent="0">
              <a:buNone/>
            </a:pPr>
            <a:r>
              <a:rPr lang="fr-FR" dirty="0"/>
              <a:t>- </a:t>
            </a:r>
            <a:r>
              <a:rPr lang="fr-FR" dirty="0" err="1"/>
              <a:t>Sum</a:t>
            </a:r>
            <a:r>
              <a:rPr lang="fr-FR" dirty="0"/>
              <a:t> </a:t>
            </a:r>
            <a:r>
              <a:rPr lang="fr-FR" dirty="0" err="1"/>
              <a:t>with</a:t>
            </a:r>
            <a:r>
              <a:rPr lang="fr-FR" dirty="0"/>
              <a:t> respect to one index </a:t>
            </a:r>
            <a:r>
              <a:rPr lang="fr-FR" dirty="0" err="1"/>
              <a:t>which</a:t>
            </a:r>
            <a:r>
              <a:rPr lang="fr-FR" dirty="0"/>
              <a:t> </a:t>
            </a:r>
            <a:r>
              <a:rPr lang="fr-FR" dirty="0" err="1"/>
              <a:t>is</a:t>
            </a:r>
            <a:r>
              <a:rPr lang="fr-FR" dirty="0"/>
              <a:t> </a:t>
            </a:r>
            <a:r>
              <a:rPr lang="fr-FR" dirty="0" err="1"/>
              <a:t>mostly</a:t>
            </a:r>
            <a:r>
              <a:rPr lang="fr-FR" dirty="0"/>
              <a:t> </a:t>
            </a:r>
            <a:r>
              <a:rPr lang="fr-FR" dirty="0" err="1"/>
              <a:t>missing</a:t>
            </a:r>
            <a:r>
              <a:rPr lang="fr-FR" dirty="0"/>
              <a:t> </a:t>
            </a:r>
            <a:r>
              <a:rPr lang="fr-FR" dirty="0" err="1"/>
              <a:t>with</a:t>
            </a:r>
            <a:r>
              <a:rPr lang="fr-FR" dirty="0"/>
              <a:t> </a:t>
            </a:r>
            <a:r>
              <a:rPr lang="fr-FR" dirty="0" err="1"/>
              <a:t>explanatory</a:t>
            </a:r>
            <a:r>
              <a:rPr lang="fr-FR" dirty="0"/>
              <a:t> variables.</a:t>
            </a:r>
          </a:p>
          <a:p>
            <a:pPr>
              <a:buFontTx/>
              <a:buChar char="-"/>
            </a:pPr>
            <a:r>
              <a:rPr lang="fr-FR" dirty="0" err="1"/>
              <a:t>Extreme</a:t>
            </a:r>
            <a:r>
              <a:rPr lang="fr-FR" dirty="0"/>
              <a:t> observations: </a:t>
            </a:r>
            <a:r>
              <a:rPr lang="fr-FR" dirty="0" err="1"/>
              <a:t>winsorize</a:t>
            </a:r>
            <a:r>
              <a:rPr lang="fr-FR" dirty="0"/>
              <a:t> or </a:t>
            </a:r>
            <a:r>
              <a:rPr lang="fr-FR" dirty="0" err="1"/>
              <a:t>exclude</a:t>
            </a:r>
            <a:r>
              <a:rPr lang="fr-FR" dirty="0"/>
              <a:t>, </a:t>
            </a:r>
            <a:r>
              <a:rPr lang="fr-FR" dirty="0" err="1"/>
              <a:t>discretize</a:t>
            </a:r>
            <a:r>
              <a:rPr lang="fr-FR" dirty="0"/>
              <a:t> the </a:t>
            </a:r>
            <a:r>
              <a:rPr lang="fr-FR" dirty="0" err="1"/>
              <a:t>dependent</a:t>
            </a:r>
            <a:r>
              <a:rPr lang="fr-FR" dirty="0"/>
              <a:t> </a:t>
            </a:r>
            <a:r>
              <a:rPr lang="fr-FR" dirty="0" err="1"/>
              <a:t>into</a:t>
            </a:r>
            <a:r>
              <a:rPr lang="fr-FR" dirty="0"/>
              <a:t> a </a:t>
            </a:r>
            <a:r>
              <a:rPr lang="fr-FR" dirty="0" err="1"/>
              <a:t>finite</a:t>
            </a:r>
            <a:r>
              <a:rPr lang="fr-FR" dirty="0"/>
              <a:t> </a:t>
            </a:r>
            <a:r>
              <a:rPr lang="fr-FR" dirty="0" err="1"/>
              <a:t>number</a:t>
            </a:r>
            <a:r>
              <a:rPr lang="fr-FR" dirty="0"/>
              <a:t> of </a:t>
            </a:r>
            <a:r>
              <a:rPr lang="fr-FR" dirty="0" err="1"/>
              <a:t>categories</a:t>
            </a:r>
            <a:r>
              <a:rPr lang="fr-FR" dirty="0"/>
              <a:t>, </a:t>
            </a:r>
            <a:r>
              <a:rPr lang="fr-FR" dirty="0" err="1"/>
              <a:t>smooth</a:t>
            </a:r>
            <a:r>
              <a:rPr lang="fr-FR" dirty="0"/>
              <a:t> or </a:t>
            </a:r>
            <a:r>
              <a:rPr lang="fr-FR" dirty="0" err="1"/>
              <a:t>average</a:t>
            </a:r>
            <a:r>
              <a:rPr lang="fr-FR" dirty="0"/>
              <a:t> over time</a:t>
            </a:r>
          </a:p>
          <a:p>
            <a:pPr>
              <a:buFontTx/>
              <a:buChar char="-"/>
            </a:pPr>
            <a:r>
              <a:rPr lang="fr-FR" dirty="0"/>
              <a:t>Use Log, use </a:t>
            </a:r>
            <a:r>
              <a:rPr lang="fr-FR" dirty="0" err="1"/>
              <a:t>another</a:t>
            </a:r>
            <a:r>
              <a:rPr lang="fr-FR" dirty="0"/>
              <a:t> </a:t>
            </a:r>
            <a:r>
              <a:rPr lang="fr-FR" dirty="0" err="1"/>
              <a:t>denominator</a:t>
            </a:r>
            <a:r>
              <a:rPr lang="fr-FR" dirty="0"/>
              <a:t> for </a:t>
            </a:r>
            <a:r>
              <a:rPr lang="fr-FR" dirty="0" err="1"/>
              <a:t>scaling</a:t>
            </a:r>
            <a:r>
              <a:rPr lang="fr-FR" dirty="0"/>
              <a:t> in </a:t>
            </a:r>
            <a:r>
              <a:rPr lang="fr-FR" dirty="0" err="1"/>
              <a:t>order</a:t>
            </a:r>
            <a:r>
              <a:rPr lang="fr-FR" dirty="0"/>
              <a:t> to </a:t>
            </a:r>
            <a:r>
              <a:rPr lang="fr-FR" dirty="0" err="1"/>
              <a:t>reduce</a:t>
            </a:r>
            <a:r>
              <a:rPr lang="fr-FR" dirty="0"/>
              <a:t> </a:t>
            </a:r>
            <a:r>
              <a:rPr lang="fr-FR" dirty="0" err="1"/>
              <a:t>skewness</a:t>
            </a:r>
            <a:r>
              <a:rPr lang="fr-FR" dirty="0"/>
              <a:t>.</a:t>
            </a:r>
          </a:p>
          <a:p>
            <a:pPr>
              <a:buFontTx/>
              <a:buChar char="-"/>
            </a:pPr>
            <a:endParaRPr lang="fr-FR" dirty="0"/>
          </a:p>
        </p:txBody>
      </p:sp>
    </p:spTree>
    <p:extLst>
      <p:ext uri="{BB962C8B-B14F-4D97-AF65-F5344CB8AC3E}">
        <p14:creationId xmlns:p14="http://schemas.microsoft.com/office/powerpoint/2010/main" val="7196005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FR" dirty="0" err="1"/>
              <a:t>Problem</a:t>
            </a:r>
            <a:r>
              <a:rPr lang="fr-FR" dirty="0"/>
              <a:t> 5: Publication </a:t>
            </a:r>
            <a:r>
              <a:rPr lang="fr-FR" dirty="0" err="1"/>
              <a:t>Bias</a:t>
            </a:r>
            <a:r>
              <a:rPr lang="fr-FR" dirty="0"/>
              <a:t> </a:t>
            </a:r>
            <a:r>
              <a:rPr lang="fr-FR" dirty="0" err="1"/>
              <a:t>with</a:t>
            </a:r>
            <a:r>
              <a:rPr lang="fr-FR" dirty="0"/>
              <a:t> p-hacking</a:t>
            </a:r>
            <a:br>
              <a:rPr lang="fr-FR" dirty="0"/>
            </a:br>
            <a:r>
              <a:rPr lang="fr-FR" dirty="0" err="1"/>
              <a:t>Answer</a:t>
            </a:r>
            <a:r>
              <a:rPr lang="fr-FR" dirty="0"/>
              <a:t>: </a:t>
            </a:r>
            <a:r>
              <a:rPr lang="fr-FR" dirty="0" err="1"/>
              <a:t>Publish</a:t>
            </a:r>
            <a:r>
              <a:rPr lang="fr-FR" dirty="0"/>
              <a:t> </a:t>
            </a:r>
            <a:r>
              <a:rPr lang="fr-FR" dirty="0" err="1"/>
              <a:t>papers</a:t>
            </a:r>
            <a:r>
              <a:rPr lang="fr-FR" dirty="0"/>
              <a:t> </a:t>
            </a:r>
            <a:r>
              <a:rPr lang="fr-FR" dirty="0" err="1"/>
              <a:t>who</a:t>
            </a:r>
            <a:r>
              <a:rPr lang="fr-FR" dirty="0"/>
              <a:t> do not </a:t>
            </a:r>
            <a:r>
              <a:rPr lang="fr-FR" dirty="0" err="1"/>
              <a:t>reject</a:t>
            </a:r>
            <a:r>
              <a:rPr lang="fr-FR" dirty="0"/>
              <a:t> the </a:t>
            </a:r>
            <a:r>
              <a:rPr lang="fr-FR" dirty="0" err="1"/>
              <a:t>null</a:t>
            </a:r>
            <a:r>
              <a:rPr lang="fr-FR" dirty="0"/>
              <a:t> </a:t>
            </a:r>
            <a:r>
              <a:rPr lang="fr-FR" dirty="0" err="1"/>
              <a:t>hypothesis</a:t>
            </a:r>
            <a:r>
              <a:rPr lang="fr-FR" dirty="0"/>
              <a:t> of no </a:t>
            </a:r>
            <a:r>
              <a:rPr lang="fr-FR" dirty="0" err="1"/>
              <a:t>effect</a:t>
            </a:r>
            <a:r>
              <a:rPr lang="fr-FR" dirty="0"/>
              <a:t>.</a:t>
            </a:r>
          </a:p>
        </p:txBody>
      </p:sp>
    </p:spTree>
    <p:extLst>
      <p:ext uri="{BB962C8B-B14F-4D97-AF65-F5344CB8AC3E}">
        <p14:creationId xmlns:p14="http://schemas.microsoft.com/office/powerpoint/2010/main" val="9353706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Publication </a:t>
            </a:r>
            <a:r>
              <a:rPr lang="fr-FR" dirty="0" err="1"/>
              <a:t>Bias</a:t>
            </a:r>
            <a:br>
              <a:rPr lang="fr-FR" dirty="0"/>
            </a:br>
            <a:r>
              <a:rPr lang="fr-FR" dirty="0"/>
              <a:t>p-value hacking</a:t>
            </a:r>
          </a:p>
        </p:txBody>
      </p:sp>
      <p:sp>
        <p:nvSpPr>
          <p:cNvPr id="3" name="Espace réservé du contenu 2"/>
          <p:cNvSpPr>
            <a:spLocks noGrp="1"/>
          </p:cNvSpPr>
          <p:nvPr>
            <p:ph idx="1"/>
          </p:nvPr>
        </p:nvSpPr>
        <p:spPr/>
        <p:txBody>
          <a:bodyPr>
            <a:normAutofit/>
          </a:bodyPr>
          <a:lstStyle/>
          <a:p>
            <a:pPr marL="0" indent="0">
              <a:buNone/>
            </a:pPr>
            <a:r>
              <a:rPr lang="fr-FR" dirty="0"/>
              <a:t>It </a:t>
            </a:r>
            <a:r>
              <a:rPr lang="fr-FR" dirty="0" err="1"/>
              <a:t>was</a:t>
            </a:r>
            <a:r>
              <a:rPr lang="fr-FR" dirty="0"/>
              <a:t> not </a:t>
            </a:r>
            <a:r>
              <a:rPr lang="fr-FR" dirty="0" err="1"/>
              <a:t>originally</a:t>
            </a:r>
            <a:r>
              <a:rPr lang="fr-FR" dirty="0"/>
              <a:t> </a:t>
            </a:r>
            <a:r>
              <a:rPr lang="fr-FR" dirty="0" err="1"/>
              <a:t>designed</a:t>
            </a:r>
            <a:r>
              <a:rPr lang="fr-FR" dirty="0"/>
              <a:t> by Ronald Fisher for </a:t>
            </a:r>
            <a:r>
              <a:rPr lang="fr-FR" dirty="0" err="1"/>
              <a:t>his</a:t>
            </a:r>
            <a:r>
              <a:rPr lang="fr-FR" dirty="0"/>
              <a:t> p&lt;5% and t&gt;1.96 </a:t>
            </a:r>
            <a:r>
              <a:rPr lang="fr-FR" dirty="0" err="1"/>
              <a:t>rule</a:t>
            </a:r>
            <a:r>
              <a:rPr lang="fr-FR" dirty="0"/>
              <a:t> in the 1930s.</a:t>
            </a:r>
          </a:p>
          <a:p>
            <a:pPr marL="0" indent="0" algn="just">
              <a:buNone/>
            </a:pPr>
            <a:endParaRPr lang="fr-FR" dirty="0"/>
          </a:p>
          <a:p>
            <a:pPr marL="0" indent="0" algn="just">
              <a:buNone/>
            </a:pPr>
            <a:r>
              <a:rPr lang="fr-FR" dirty="0"/>
              <a:t>But </a:t>
            </a:r>
            <a:r>
              <a:rPr lang="fr-FR" dirty="0" err="1"/>
              <a:t>starting</a:t>
            </a:r>
            <a:r>
              <a:rPr lang="fr-FR" dirty="0"/>
              <a:t> in the 1960s </a:t>
            </a:r>
            <a:r>
              <a:rPr lang="fr-FR" dirty="0" err="1"/>
              <a:t>onwards</a:t>
            </a:r>
            <a:r>
              <a:rPr lang="fr-FR" dirty="0"/>
              <a:t>, in </a:t>
            </a:r>
            <a:r>
              <a:rPr lang="fr-FR" dirty="0" err="1"/>
              <a:t>several</a:t>
            </a:r>
            <a:r>
              <a:rPr lang="fr-FR" dirty="0"/>
              <a:t> </a:t>
            </a:r>
            <a:r>
              <a:rPr lang="fr-FR" dirty="0" err="1"/>
              <a:t>fields</a:t>
            </a:r>
            <a:r>
              <a:rPr lang="fr-FR" dirty="0"/>
              <a:t> of </a:t>
            </a:r>
            <a:r>
              <a:rPr lang="fr-FR" dirty="0" err="1"/>
              <a:t>research</a:t>
            </a:r>
            <a:r>
              <a:rPr lang="fr-FR" dirty="0"/>
              <a:t>, in </a:t>
            </a:r>
            <a:r>
              <a:rPr lang="fr-FR" dirty="0" err="1"/>
              <a:t>nearly</a:t>
            </a:r>
            <a:r>
              <a:rPr lang="fr-FR" dirty="0"/>
              <a:t> all </a:t>
            </a:r>
            <a:r>
              <a:rPr lang="fr-FR" dirty="0" err="1"/>
              <a:t>academic</a:t>
            </a:r>
            <a:r>
              <a:rPr lang="fr-FR" dirty="0"/>
              <a:t> journal, editors </a:t>
            </a:r>
            <a:r>
              <a:rPr lang="fr-FR" dirty="0" err="1"/>
              <a:t>reject</a:t>
            </a:r>
            <a:r>
              <a:rPr lang="fr-FR" dirty="0"/>
              <a:t> </a:t>
            </a:r>
            <a:r>
              <a:rPr lang="fr-FR" dirty="0" err="1"/>
              <a:t>papers</a:t>
            </a:r>
            <a:r>
              <a:rPr lang="fr-FR" dirty="0"/>
              <a:t> </a:t>
            </a:r>
            <a:r>
              <a:rPr lang="fr-FR" dirty="0" err="1"/>
              <a:t>who</a:t>
            </a:r>
            <a:r>
              <a:rPr lang="fr-FR" dirty="0"/>
              <a:t> do not </a:t>
            </a:r>
            <a:r>
              <a:rPr lang="fr-FR" dirty="0" err="1"/>
              <a:t>reject</a:t>
            </a:r>
            <a:r>
              <a:rPr lang="fr-FR" dirty="0"/>
              <a:t> the </a:t>
            </a:r>
            <a:r>
              <a:rPr lang="fr-FR" dirty="0" err="1"/>
              <a:t>null</a:t>
            </a:r>
            <a:r>
              <a:rPr lang="fr-FR" dirty="0"/>
              <a:t> of an </a:t>
            </a:r>
            <a:r>
              <a:rPr lang="fr-FR" dirty="0" err="1"/>
              <a:t>effect</a:t>
            </a:r>
            <a:r>
              <a:rPr lang="fr-FR" dirty="0"/>
              <a:t>.</a:t>
            </a:r>
          </a:p>
        </p:txBody>
      </p:sp>
    </p:spTree>
    <p:extLst>
      <p:ext uri="{BB962C8B-B14F-4D97-AF65-F5344CB8AC3E}">
        <p14:creationId xmlns:p14="http://schemas.microsoft.com/office/powerpoint/2010/main" val="7921807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Wrong</a:t>
            </a:r>
            <a:r>
              <a:rPr lang="fr-FR" dirty="0"/>
              <a:t> </a:t>
            </a:r>
            <a:r>
              <a:rPr lang="fr-FR" dirty="0" err="1"/>
              <a:t>incentives</a:t>
            </a:r>
            <a:endParaRPr lang="fr-FR" dirty="0"/>
          </a:p>
        </p:txBody>
      </p:sp>
      <p:sp>
        <p:nvSpPr>
          <p:cNvPr id="3" name="Espace réservé du contenu 2"/>
          <p:cNvSpPr>
            <a:spLocks noGrp="1"/>
          </p:cNvSpPr>
          <p:nvPr>
            <p:ph idx="1"/>
          </p:nvPr>
        </p:nvSpPr>
        <p:spPr/>
        <p:txBody>
          <a:bodyPr/>
          <a:lstStyle/>
          <a:p>
            <a:pPr marL="0" indent="0" algn="just">
              <a:buNone/>
            </a:pPr>
            <a:r>
              <a:rPr lang="fr-FR" sz="3000" dirty="0"/>
              <a:t>This </a:t>
            </a:r>
            <a:r>
              <a:rPr lang="fr-FR" sz="3000" dirty="0" err="1"/>
              <a:t>led</a:t>
            </a:r>
            <a:r>
              <a:rPr lang="fr-FR" sz="3000" dirty="0"/>
              <a:t> to a </a:t>
            </a:r>
            <a:r>
              <a:rPr lang="fr-FR" sz="3000" dirty="0" err="1"/>
              <a:t>strong</a:t>
            </a:r>
            <a:r>
              <a:rPr lang="fr-FR" sz="3000" dirty="0"/>
              <a:t> </a:t>
            </a:r>
            <a:r>
              <a:rPr lang="fr-FR" sz="3000" dirty="0" err="1"/>
              <a:t>incentive</a:t>
            </a:r>
            <a:r>
              <a:rPr lang="fr-FR" sz="3000" dirty="0"/>
              <a:t> by </a:t>
            </a:r>
            <a:r>
              <a:rPr lang="fr-FR" sz="3000" dirty="0" err="1"/>
              <a:t>researchers</a:t>
            </a:r>
            <a:r>
              <a:rPr lang="fr-FR" sz="3000" dirty="0"/>
              <a:t> to </a:t>
            </a:r>
            <a:r>
              <a:rPr lang="fr-FR" sz="3000" dirty="0" err="1"/>
              <a:t>manipulate</a:t>
            </a:r>
            <a:r>
              <a:rPr lang="fr-FR" sz="3000" dirty="0"/>
              <a:t> p-values and </a:t>
            </a:r>
            <a:r>
              <a:rPr lang="fr-FR" sz="3000" dirty="0" err="1"/>
              <a:t>inflate</a:t>
            </a:r>
            <a:r>
              <a:rPr lang="fr-FR" sz="3000" dirty="0"/>
              <a:t> t </a:t>
            </a:r>
            <a:r>
              <a:rPr lang="fr-FR" sz="3000" dirty="0" err="1"/>
              <a:t>statistics</a:t>
            </a:r>
            <a:r>
              <a:rPr lang="fr-FR" sz="3000" dirty="0"/>
              <a:t> </a:t>
            </a:r>
          </a:p>
          <a:p>
            <a:pPr marL="0" indent="0" algn="just">
              <a:buNone/>
            </a:pPr>
            <a:r>
              <a:rPr lang="fr-FR" sz="3000" dirty="0"/>
              <a:t>to </a:t>
            </a:r>
            <a:r>
              <a:rPr lang="fr-FR" sz="3000" dirty="0" err="1"/>
              <a:t>advance</a:t>
            </a:r>
            <a:r>
              <a:rPr lang="fr-FR" sz="3000" dirty="0"/>
              <a:t> </a:t>
            </a:r>
            <a:r>
              <a:rPr lang="fr-FR" sz="3000" dirty="0" err="1"/>
              <a:t>their</a:t>
            </a:r>
            <a:r>
              <a:rPr lang="fr-FR" sz="3000" dirty="0"/>
              <a:t> </a:t>
            </a:r>
            <a:r>
              <a:rPr lang="fr-FR" sz="3000" dirty="0" err="1"/>
              <a:t>carreers</a:t>
            </a:r>
            <a:r>
              <a:rPr lang="fr-FR" sz="3000" dirty="0"/>
              <a:t>, </a:t>
            </a:r>
          </a:p>
          <a:p>
            <a:pPr marL="0" indent="0" algn="just">
              <a:buNone/>
            </a:pPr>
            <a:r>
              <a:rPr lang="fr-FR" sz="3000" dirty="0" err="1"/>
              <a:t>using</a:t>
            </a:r>
            <a:r>
              <a:rPr lang="fr-FR" sz="3000" dirty="0"/>
              <a:t> </a:t>
            </a:r>
            <a:r>
              <a:rPr lang="fr-FR" sz="3000" dirty="0" err="1"/>
              <a:t>ingenuity</a:t>
            </a:r>
            <a:r>
              <a:rPr lang="fr-FR" sz="3000" dirty="0"/>
              <a:t> and the </a:t>
            </a:r>
            <a:r>
              <a:rPr lang="fr-FR" sz="3000" dirty="0" err="1"/>
              <a:t>versatility</a:t>
            </a:r>
            <a:r>
              <a:rPr lang="fr-FR" sz="3000" dirty="0"/>
              <a:t> of </a:t>
            </a:r>
            <a:r>
              <a:rPr lang="fr-FR" sz="3000" dirty="0" err="1"/>
              <a:t>statistical</a:t>
            </a:r>
            <a:r>
              <a:rPr lang="fr-FR" sz="3000" dirty="0"/>
              <a:t> </a:t>
            </a:r>
            <a:r>
              <a:rPr lang="fr-FR" sz="3000" dirty="0" err="1"/>
              <a:t>methods</a:t>
            </a:r>
            <a:r>
              <a:rPr lang="fr-FR" sz="3000" dirty="0"/>
              <a:t>, </a:t>
            </a:r>
          </a:p>
          <a:p>
            <a:pPr marL="0" indent="0" algn="just">
              <a:buNone/>
            </a:pPr>
            <a:r>
              <a:rPr lang="fr-FR" sz="3000" dirty="0" err="1"/>
              <a:t>with</a:t>
            </a:r>
            <a:r>
              <a:rPr lang="fr-FR" sz="3000" dirty="0"/>
              <a:t> the agreement of </a:t>
            </a:r>
            <a:r>
              <a:rPr lang="fr-FR" sz="3000" dirty="0" err="1"/>
              <a:t>their</a:t>
            </a:r>
            <a:r>
              <a:rPr lang="fr-FR" sz="3000" dirty="0"/>
              <a:t> pairs.</a:t>
            </a:r>
          </a:p>
        </p:txBody>
      </p:sp>
    </p:spTree>
    <p:extLst>
      <p:ext uri="{BB962C8B-B14F-4D97-AF65-F5344CB8AC3E}">
        <p14:creationId xmlns:p14="http://schemas.microsoft.com/office/powerpoint/2010/main" val="14556940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Theoretical</a:t>
            </a:r>
            <a:r>
              <a:rPr lang="fr-FR" dirty="0"/>
              <a:t> </a:t>
            </a:r>
            <a:r>
              <a:rPr lang="fr-FR" dirty="0" err="1"/>
              <a:t>Answer</a:t>
            </a:r>
            <a:r>
              <a:rPr lang="fr-FR" dirty="0"/>
              <a:t> </a:t>
            </a:r>
            <a:br>
              <a:rPr lang="fr-FR" dirty="0"/>
            </a:br>
            <a:r>
              <a:rPr lang="fr-FR" dirty="0"/>
              <a:t>to p-value Hacking</a:t>
            </a:r>
          </a:p>
        </p:txBody>
      </p:sp>
      <p:sp>
        <p:nvSpPr>
          <p:cNvPr id="3" name="Espace réservé du contenu 2"/>
          <p:cNvSpPr>
            <a:spLocks noGrp="1"/>
          </p:cNvSpPr>
          <p:nvPr>
            <p:ph idx="1"/>
          </p:nvPr>
        </p:nvSpPr>
        <p:spPr/>
        <p:txBody>
          <a:bodyPr/>
          <a:lstStyle/>
          <a:p>
            <a:pPr marL="0" indent="0">
              <a:buNone/>
            </a:pPr>
            <a:endParaRPr lang="fr-FR" dirty="0"/>
          </a:p>
          <a:p>
            <a:pPr marL="0" indent="0" algn="ctr">
              <a:buNone/>
            </a:pPr>
            <a:r>
              <a:rPr lang="fr-FR" dirty="0" err="1"/>
              <a:t>We</a:t>
            </a:r>
            <a:r>
              <a:rPr lang="fr-FR" dirty="0"/>
              <a:t> </a:t>
            </a:r>
            <a:r>
              <a:rPr lang="fr-FR" dirty="0" err="1"/>
              <a:t>should</a:t>
            </a:r>
            <a:r>
              <a:rPr lang="fr-FR" dirty="0"/>
              <a:t> </a:t>
            </a:r>
            <a:r>
              <a:rPr lang="fr-FR" dirty="0" err="1"/>
              <a:t>publish</a:t>
            </a:r>
            <a:r>
              <a:rPr lang="fr-FR" dirty="0"/>
              <a:t> all the </a:t>
            </a:r>
            <a:r>
              <a:rPr lang="fr-FR" dirty="0" err="1"/>
              <a:t>papers</a:t>
            </a:r>
            <a:r>
              <a:rPr lang="fr-FR" dirty="0"/>
              <a:t>, in the best </a:t>
            </a:r>
            <a:r>
              <a:rPr lang="fr-FR" dirty="0" err="1"/>
              <a:t>academic</a:t>
            </a:r>
            <a:r>
              <a:rPr lang="fr-FR" dirty="0"/>
              <a:t> </a:t>
            </a:r>
            <a:r>
              <a:rPr lang="fr-FR" dirty="0" err="1"/>
              <a:t>journals</a:t>
            </a:r>
            <a:r>
              <a:rPr lang="fr-FR" dirty="0"/>
              <a:t>, </a:t>
            </a:r>
            <a:r>
              <a:rPr lang="fr-FR" dirty="0" err="1"/>
              <a:t>which</a:t>
            </a:r>
            <a:r>
              <a:rPr lang="fr-FR" dirty="0"/>
              <a:t> do not </a:t>
            </a:r>
            <a:r>
              <a:rPr lang="fr-FR" dirty="0" err="1"/>
              <a:t>reject</a:t>
            </a:r>
            <a:r>
              <a:rPr lang="fr-FR" dirty="0"/>
              <a:t> the </a:t>
            </a:r>
            <a:r>
              <a:rPr lang="fr-FR" dirty="0" err="1"/>
              <a:t>null</a:t>
            </a:r>
            <a:r>
              <a:rPr lang="fr-FR" dirty="0"/>
              <a:t> </a:t>
            </a:r>
            <a:r>
              <a:rPr lang="fr-FR" dirty="0" err="1"/>
              <a:t>hypothesis</a:t>
            </a:r>
            <a:r>
              <a:rPr lang="fr-FR" dirty="0"/>
              <a:t> of no </a:t>
            </a:r>
            <a:r>
              <a:rPr lang="fr-FR" dirty="0" err="1"/>
              <a:t>effect</a:t>
            </a:r>
            <a:r>
              <a:rPr lang="fr-FR" dirty="0"/>
              <a:t> of X on Y</a:t>
            </a:r>
          </a:p>
          <a:p>
            <a:pPr marL="0" indent="0" algn="ctr">
              <a:buNone/>
            </a:pPr>
            <a:r>
              <a:rPr lang="fr-FR" dirty="0"/>
              <a:t> </a:t>
            </a:r>
            <a:r>
              <a:rPr lang="fr-FR" b="1" dirty="0"/>
              <a:t>BECAUSE IT IS INFORMATIVE</a:t>
            </a:r>
            <a:r>
              <a:rPr lang="fr-FR" dirty="0"/>
              <a:t>. </a:t>
            </a:r>
          </a:p>
        </p:txBody>
      </p:sp>
    </p:spTree>
    <p:extLst>
      <p:ext uri="{BB962C8B-B14F-4D97-AF65-F5344CB8AC3E}">
        <p14:creationId xmlns:p14="http://schemas.microsoft.com/office/powerpoint/2010/main" val="12263975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Meta-</a:t>
            </a:r>
            <a:r>
              <a:rPr lang="fr-FR" dirty="0" err="1"/>
              <a:t>Analysis</a:t>
            </a:r>
            <a:endParaRPr lang="fr-FR" dirty="0"/>
          </a:p>
        </p:txBody>
      </p:sp>
      <p:sp>
        <p:nvSpPr>
          <p:cNvPr id="3" name="Espace réservé du contenu 2"/>
          <p:cNvSpPr>
            <a:spLocks noGrp="1"/>
          </p:cNvSpPr>
          <p:nvPr>
            <p:ph idx="1"/>
          </p:nvPr>
        </p:nvSpPr>
        <p:spPr/>
        <p:txBody>
          <a:bodyPr/>
          <a:lstStyle/>
          <a:p>
            <a:pPr marL="0" indent="0" algn="just">
              <a:buNone/>
            </a:pPr>
            <a:r>
              <a:rPr lang="fr-FR" sz="2800" dirty="0"/>
              <a:t>In the 1960s </a:t>
            </a:r>
            <a:r>
              <a:rPr lang="fr-FR" sz="2800" dirty="0" err="1"/>
              <a:t>onwards</a:t>
            </a:r>
            <a:r>
              <a:rPr lang="fr-FR" sz="2800" dirty="0"/>
              <a:t>, </a:t>
            </a:r>
            <a:r>
              <a:rPr lang="fr-FR" sz="2800" dirty="0" err="1"/>
              <a:t>medecine</a:t>
            </a:r>
            <a:r>
              <a:rPr lang="fr-FR" sz="2800" dirty="0"/>
              <a:t> </a:t>
            </a:r>
            <a:r>
              <a:rPr lang="fr-FR" sz="2800" dirty="0" err="1"/>
              <a:t>developed</a:t>
            </a:r>
            <a:r>
              <a:rPr lang="fr-FR" sz="2800" dirty="0"/>
              <a:t> </a:t>
            </a:r>
            <a:r>
              <a:rPr lang="fr-FR" sz="2800" dirty="0" err="1"/>
              <a:t>meta-analysis</a:t>
            </a:r>
            <a:r>
              <a:rPr lang="fr-FR" sz="2800" dirty="0"/>
              <a:t>.</a:t>
            </a:r>
          </a:p>
          <a:p>
            <a:pPr marL="0" indent="0" algn="just">
              <a:buNone/>
            </a:pPr>
            <a:r>
              <a:rPr lang="fr-FR" sz="2800" dirty="0"/>
              <a:t>It </a:t>
            </a:r>
            <a:r>
              <a:rPr lang="fr-FR" sz="2800" dirty="0" err="1"/>
              <a:t>collects</a:t>
            </a:r>
            <a:r>
              <a:rPr lang="fr-FR" sz="2800" dirty="0"/>
              <a:t> </a:t>
            </a:r>
            <a:r>
              <a:rPr lang="fr-FR" sz="2800" dirty="0" err="1"/>
              <a:t>effects</a:t>
            </a:r>
            <a:r>
              <a:rPr lang="fr-FR" sz="2800" dirty="0"/>
              <a:t> on </a:t>
            </a:r>
            <a:r>
              <a:rPr lang="fr-FR" sz="2800" dirty="0" err="1"/>
              <a:t>different</a:t>
            </a:r>
            <a:r>
              <a:rPr lang="fr-FR" sz="2800" dirty="0"/>
              <a:t> population on one variable on </a:t>
            </a:r>
            <a:r>
              <a:rPr lang="fr-FR" sz="2800" dirty="0" err="1"/>
              <a:t>another</a:t>
            </a:r>
            <a:r>
              <a:rPr lang="fr-FR" sz="2800" dirty="0"/>
              <a:t>, </a:t>
            </a:r>
            <a:r>
              <a:rPr lang="fr-FR" sz="2800" dirty="0" err="1"/>
              <a:t>done</a:t>
            </a:r>
            <a:r>
              <a:rPr lang="fr-FR" sz="2800" dirty="0"/>
              <a:t> in </a:t>
            </a:r>
            <a:r>
              <a:rPr lang="fr-FR" sz="2800" dirty="0" err="1"/>
              <a:t>different</a:t>
            </a:r>
            <a:r>
              <a:rPr lang="fr-FR" sz="2800" dirty="0"/>
              <a:t> </a:t>
            </a:r>
            <a:r>
              <a:rPr lang="fr-FR" sz="2800" dirty="0" err="1"/>
              <a:t>studies</a:t>
            </a:r>
            <a:r>
              <a:rPr lang="fr-FR" sz="2800" dirty="0"/>
              <a:t>.</a:t>
            </a:r>
          </a:p>
          <a:p>
            <a:pPr marL="0" indent="0" algn="just">
              <a:buNone/>
            </a:pPr>
            <a:r>
              <a:rPr lang="fr-FR" sz="2800" dirty="0"/>
              <a:t>It </a:t>
            </a:r>
            <a:r>
              <a:rPr lang="fr-FR" sz="2800" dirty="0" err="1"/>
              <a:t>averages</a:t>
            </a:r>
            <a:r>
              <a:rPr lang="fr-FR" sz="2800" dirty="0"/>
              <a:t> the </a:t>
            </a:r>
            <a:r>
              <a:rPr lang="fr-FR" sz="2800" dirty="0" err="1"/>
              <a:t>effect</a:t>
            </a:r>
            <a:r>
              <a:rPr lang="fr-FR" sz="2800" dirty="0"/>
              <a:t> </a:t>
            </a:r>
            <a:r>
              <a:rPr lang="fr-FR" sz="2800" dirty="0" err="1"/>
              <a:t>across</a:t>
            </a:r>
            <a:r>
              <a:rPr lang="fr-FR" sz="2800" dirty="0"/>
              <a:t> </a:t>
            </a:r>
            <a:r>
              <a:rPr lang="fr-FR" sz="2800" dirty="0" err="1"/>
              <a:t>studies</a:t>
            </a:r>
            <a:r>
              <a:rPr lang="fr-FR" sz="2800" dirty="0"/>
              <a:t> (</a:t>
            </a:r>
            <a:r>
              <a:rPr lang="fr-FR" sz="2800" dirty="0" err="1"/>
              <a:t>often</a:t>
            </a:r>
            <a:r>
              <a:rPr lang="fr-FR" sz="2800" dirty="0"/>
              <a:t> a </a:t>
            </a:r>
            <a:r>
              <a:rPr lang="fr-FR" sz="2800" dirty="0" err="1"/>
              <a:t>boring</a:t>
            </a:r>
            <a:r>
              <a:rPr lang="fr-FR" sz="2800" dirty="0"/>
              <a:t> medium size </a:t>
            </a:r>
            <a:r>
              <a:rPr lang="fr-FR" sz="2800" dirty="0" err="1"/>
              <a:t>average</a:t>
            </a:r>
            <a:r>
              <a:rPr lang="fr-FR" sz="2800" dirty="0"/>
              <a:t>, </a:t>
            </a:r>
            <a:r>
              <a:rPr lang="fr-FR" sz="2800" dirty="0" err="1"/>
              <a:t>sometimes</a:t>
            </a:r>
            <a:r>
              <a:rPr lang="fr-FR" sz="2800" dirty="0"/>
              <a:t> </a:t>
            </a:r>
            <a:r>
              <a:rPr lang="fr-FR" sz="2800" dirty="0" err="1"/>
              <a:t>tending</a:t>
            </a:r>
            <a:r>
              <a:rPr lang="fr-FR" sz="2800" dirty="0"/>
              <a:t> to </a:t>
            </a:r>
            <a:r>
              <a:rPr lang="fr-FR" sz="2800" dirty="0" err="1"/>
              <a:t>zero</a:t>
            </a:r>
            <a:r>
              <a:rPr lang="fr-FR" sz="2800" dirty="0"/>
              <a:t> over time). </a:t>
            </a:r>
          </a:p>
          <a:p>
            <a:pPr marL="0" indent="0" algn="just">
              <a:buNone/>
            </a:pPr>
            <a:r>
              <a:rPr lang="fr-FR" sz="2800" dirty="0"/>
              <a:t>It </a:t>
            </a:r>
            <a:r>
              <a:rPr lang="fr-FR" sz="2800" dirty="0" err="1"/>
              <a:t>sometimes</a:t>
            </a:r>
            <a:r>
              <a:rPr lang="fr-FR" sz="2800" dirty="0"/>
              <a:t> </a:t>
            </a:r>
            <a:r>
              <a:rPr lang="fr-FR" sz="2800" dirty="0" err="1"/>
              <a:t>separate</a:t>
            </a:r>
            <a:r>
              <a:rPr lang="fr-FR" sz="2800" dirty="0"/>
              <a:t> </a:t>
            </a:r>
            <a:r>
              <a:rPr lang="fr-FR" sz="2800" dirty="0" err="1"/>
              <a:t>effects</a:t>
            </a:r>
            <a:r>
              <a:rPr lang="fr-FR" sz="2800" dirty="0"/>
              <a:t> </a:t>
            </a:r>
            <a:r>
              <a:rPr lang="fr-FR" sz="2800" dirty="0" err="1"/>
              <a:t>depending</a:t>
            </a:r>
            <a:r>
              <a:rPr lang="fr-FR" sz="2800" dirty="0"/>
              <a:t> on </a:t>
            </a:r>
            <a:r>
              <a:rPr lang="fr-FR" sz="2800" dirty="0" err="1"/>
              <a:t>papers</a:t>
            </a:r>
            <a:r>
              <a:rPr lang="fr-FR" sz="2800" dirty="0"/>
              <a:t> </a:t>
            </a:r>
            <a:r>
              <a:rPr lang="fr-FR" sz="2800" dirty="0" err="1"/>
              <a:t>caracteristics</a:t>
            </a:r>
            <a:r>
              <a:rPr lang="fr-FR" sz="2800" dirty="0"/>
              <a:t>.</a:t>
            </a:r>
          </a:p>
        </p:txBody>
      </p:sp>
    </p:spTree>
    <p:extLst>
      <p:ext uri="{BB962C8B-B14F-4D97-AF65-F5344CB8AC3E}">
        <p14:creationId xmlns:p14="http://schemas.microsoft.com/office/powerpoint/2010/main" val="26422735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Funnel</a:t>
            </a:r>
            <a:r>
              <a:rPr lang="fr-FR" dirty="0"/>
              <a:t> plots</a:t>
            </a:r>
          </a:p>
        </p:txBody>
      </p:sp>
      <p:sp>
        <p:nvSpPr>
          <p:cNvPr id="3" name="Espace réservé du contenu 2"/>
          <p:cNvSpPr>
            <a:spLocks noGrp="1"/>
          </p:cNvSpPr>
          <p:nvPr>
            <p:ph idx="1"/>
          </p:nvPr>
        </p:nvSpPr>
        <p:spPr/>
        <p:txBody>
          <a:bodyPr/>
          <a:lstStyle/>
          <a:p>
            <a:pPr marL="0" indent="0">
              <a:buNone/>
            </a:pPr>
            <a:r>
              <a:rPr lang="fr-FR" dirty="0"/>
              <a:t>One </a:t>
            </a:r>
            <a:r>
              <a:rPr lang="fr-FR" dirty="0" err="1"/>
              <a:t>can</a:t>
            </a:r>
            <a:r>
              <a:rPr lang="fr-FR" dirty="0"/>
              <a:t> </a:t>
            </a:r>
            <a:r>
              <a:rPr lang="fr-FR" dirty="0" err="1"/>
              <a:t>measure</a:t>
            </a:r>
            <a:r>
              <a:rPr lang="fr-FR" dirty="0"/>
              <a:t> and correct the magnitude of publication </a:t>
            </a:r>
            <a:r>
              <a:rPr lang="fr-FR" dirty="0" err="1"/>
              <a:t>bias</a:t>
            </a:r>
            <a:r>
              <a:rPr lang="fr-FR" dirty="0"/>
              <a:t>.</a:t>
            </a:r>
          </a:p>
          <a:p>
            <a:pPr marL="0" indent="0">
              <a:buNone/>
            </a:pPr>
            <a:r>
              <a:rPr lang="fr-FR" dirty="0" err="1"/>
              <a:t>Collecting</a:t>
            </a:r>
            <a:r>
              <a:rPr lang="fr-FR" dirty="0"/>
              <a:t> </a:t>
            </a:r>
            <a:r>
              <a:rPr lang="fr-FR" dirty="0" err="1"/>
              <a:t>estimates</a:t>
            </a:r>
            <a:r>
              <a:rPr lang="fr-FR" dirty="0"/>
              <a:t> </a:t>
            </a:r>
            <a:r>
              <a:rPr lang="fr-FR" dirty="0" err="1"/>
              <a:t>among</a:t>
            </a:r>
            <a:r>
              <a:rPr lang="fr-FR" dirty="0"/>
              <a:t> </a:t>
            </a:r>
            <a:r>
              <a:rPr lang="fr-FR" dirty="0" err="1"/>
              <a:t>different</a:t>
            </a:r>
            <a:r>
              <a:rPr lang="fr-FR" dirty="0"/>
              <a:t> </a:t>
            </a:r>
            <a:r>
              <a:rPr lang="fr-FR" dirty="0" err="1"/>
              <a:t>studies</a:t>
            </a:r>
            <a:r>
              <a:rPr lang="fr-FR" dirty="0"/>
              <a:t> and plot </a:t>
            </a:r>
            <a:r>
              <a:rPr lang="fr-FR" dirty="0" err="1"/>
              <a:t>their</a:t>
            </a:r>
            <a:r>
              <a:rPr lang="fr-FR" dirty="0"/>
              <a:t> partial </a:t>
            </a:r>
            <a:r>
              <a:rPr lang="fr-FR" dirty="0" err="1"/>
              <a:t>correlation</a:t>
            </a:r>
            <a:r>
              <a:rPr lang="fr-FR" dirty="0"/>
              <a:t> values </a:t>
            </a:r>
            <a:r>
              <a:rPr lang="fr-FR" dirty="0" err="1"/>
              <a:t>with</a:t>
            </a:r>
            <a:r>
              <a:rPr lang="fr-FR" dirty="0"/>
              <a:t> </a:t>
            </a:r>
            <a:r>
              <a:rPr lang="fr-FR" dirty="0" err="1"/>
              <a:t>increasing</a:t>
            </a:r>
            <a:r>
              <a:rPr lang="fr-FR" dirty="0"/>
              <a:t> </a:t>
            </a:r>
            <a:r>
              <a:rPr lang="fr-FR" dirty="0" err="1"/>
              <a:t>sample</a:t>
            </a:r>
            <a:r>
              <a:rPr lang="fr-FR" dirty="0"/>
              <a:t>.</a:t>
            </a:r>
          </a:p>
          <a:p>
            <a:pPr marL="0" indent="0">
              <a:buNone/>
            </a:pPr>
            <a:r>
              <a:rPr lang="fr-FR" dirty="0" err="1"/>
              <a:t>With</a:t>
            </a:r>
            <a:r>
              <a:rPr lang="fr-FR" dirty="0"/>
              <a:t> large </a:t>
            </a:r>
            <a:r>
              <a:rPr lang="fr-FR" dirty="0" err="1"/>
              <a:t>sample</a:t>
            </a:r>
            <a:r>
              <a:rPr lang="fr-FR" dirty="0"/>
              <a:t>, </a:t>
            </a:r>
            <a:r>
              <a:rPr lang="fr-FR" dirty="0" err="1"/>
              <a:t>it</a:t>
            </a:r>
            <a:r>
              <a:rPr lang="fr-FR" dirty="0"/>
              <a:t> </a:t>
            </a:r>
            <a:r>
              <a:rPr lang="fr-FR" dirty="0" err="1"/>
              <a:t>is</a:t>
            </a:r>
            <a:r>
              <a:rPr lang="fr-FR" dirty="0"/>
              <a:t> </a:t>
            </a:r>
            <a:r>
              <a:rPr lang="fr-FR" dirty="0" err="1"/>
              <a:t>easier</a:t>
            </a:r>
            <a:r>
              <a:rPr lang="fr-FR" dirty="0"/>
              <a:t> to </a:t>
            </a:r>
            <a:r>
              <a:rPr lang="fr-FR" dirty="0" err="1"/>
              <a:t>be</a:t>
            </a:r>
            <a:r>
              <a:rPr lang="fr-FR" dirty="0"/>
              <a:t> </a:t>
            </a:r>
            <a:r>
              <a:rPr lang="fr-FR" dirty="0" err="1"/>
              <a:t>outside</a:t>
            </a:r>
            <a:r>
              <a:rPr lang="fr-FR" dirty="0"/>
              <a:t> the </a:t>
            </a:r>
            <a:r>
              <a:rPr lang="fr-FR" dirty="0" err="1"/>
              <a:t>critical</a:t>
            </a:r>
            <a:r>
              <a:rPr lang="fr-FR" dirty="0"/>
              <a:t> </a:t>
            </a:r>
            <a:r>
              <a:rPr lang="fr-FR" dirty="0" err="1"/>
              <a:t>region</a:t>
            </a:r>
            <a:r>
              <a:rPr lang="fr-FR" dirty="0"/>
              <a:t> of the t-stat </a:t>
            </a:r>
            <a:r>
              <a:rPr lang="fr-FR" dirty="0" err="1"/>
              <a:t>with</a:t>
            </a:r>
            <a:r>
              <a:rPr lang="fr-FR" dirty="0"/>
              <a:t> </a:t>
            </a:r>
            <a:r>
              <a:rPr lang="fr-FR" dirty="0" err="1"/>
              <a:t>lower</a:t>
            </a:r>
            <a:r>
              <a:rPr lang="fr-FR" dirty="0"/>
              <a:t> partial </a:t>
            </a:r>
            <a:r>
              <a:rPr lang="fr-FR" dirty="0" err="1"/>
              <a:t>correlation</a:t>
            </a:r>
            <a:r>
              <a:rPr lang="fr-FR" dirty="0"/>
              <a:t> </a:t>
            </a:r>
            <a:r>
              <a:rPr lang="fr-FR" dirty="0" err="1"/>
              <a:t>parameter</a:t>
            </a:r>
            <a:r>
              <a:rPr lang="fr-FR" dirty="0"/>
              <a:t>.</a:t>
            </a:r>
          </a:p>
        </p:txBody>
      </p:sp>
    </p:spTree>
    <p:extLst>
      <p:ext uri="{BB962C8B-B14F-4D97-AF65-F5344CB8AC3E}">
        <p14:creationId xmlns:p14="http://schemas.microsoft.com/office/powerpoint/2010/main" val="21817931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Monte-Carlo simulation</a:t>
            </a:r>
          </a:p>
        </p:txBody>
      </p:sp>
      <p:sp>
        <p:nvSpPr>
          <p:cNvPr id="3" name="Espace réservé du contenu 2"/>
          <p:cNvSpPr>
            <a:spLocks noGrp="1"/>
          </p:cNvSpPr>
          <p:nvPr>
            <p:ph idx="1"/>
          </p:nvPr>
        </p:nvSpPr>
        <p:spPr/>
        <p:txBody>
          <a:bodyPr/>
          <a:lstStyle/>
          <a:p>
            <a:pPr marL="0" indent="0" algn="just">
              <a:buNone/>
            </a:pPr>
            <a:r>
              <a:rPr lang="fr-FR" sz="2800" dirty="0"/>
              <a:t>One </a:t>
            </a:r>
            <a:r>
              <a:rPr lang="fr-FR" sz="2800" dirty="0" err="1"/>
              <a:t>runs</a:t>
            </a:r>
            <a:r>
              <a:rPr lang="fr-FR" sz="2800" dirty="0"/>
              <a:t> a simple </a:t>
            </a:r>
            <a:r>
              <a:rPr lang="fr-FR" sz="2800" dirty="0" err="1"/>
              <a:t>regression</a:t>
            </a:r>
            <a:r>
              <a:rPr lang="fr-FR" sz="2800" dirty="0"/>
              <a:t> </a:t>
            </a:r>
            <a:r>
              <a:rPr lang="fr-FR" sz="2800" dirty="0" err="1"/>
              <a:t>with</a:t>
            </a:r>
            <a:r>
              <a:rPr lang="fr-FR" sz="2800" dirty="0"/>
              <a:t> </a:t>
            </a:r>
            <a:r>
              <a:rPr lang="fr-FR" sz="2800" dirty="0" err="1"/>
              <a:t>standardized</a:t>
            </a:r>
            <a:r>
              <a:rPr lang="fr-FR" sz="2800" dirty="0"/>
              <a:t> </a:t>
            </a:r>
            <a:r>
              <a:rPr lang="fr-FR" sz="2800" dirty="0" err="1"/>
              <a:t>bivariate</a:t>
            </a:r>
            <a:r>
              <a:rPr lang="fr-FR" sz="2800" dirty="0"/>
              <a:t> normal distribution variables </a:t>
            </a:r>
            <a:r>
              <a:rPr lang="fr-FR" sz="2800" dirty="0" err="1"/>
              <a:t>with</a:t>
            </a:r>
            <a:r>
              <a:rPr lang="fr-FR" sz="2800" dirty="0"/>
              <a:t> a simple </a:t>
            </a:r>
            <a:r>
              <a:rPr lang="fr-FR" sz="2800" dirty="0" err="1"/>
              <a:t>correlation</a:t>
            </a:r>
            <a:r>
              <a:rPr lang="fr-FR" sz="2800" dirty="0"/>
              <a:t> of r=0.5 </a:t>
            </a:r>
            <a:r>
              <a:rPr lang="fr-FR" sz="2800" dirty="0" err="1"/>
              <a:t>with</a:t>
            </a:r>
            <a:r>
              <a:rPr lang="fr-FR" sz="2800" dirty="0"/>
              <a:t> Monte-Carlo simulations of 100 </a:t>
            </a:r>
            <a:r>
              <a:rPr lang="fr-FR" sz="2800" dirty="0" err="1"/>
              <a:t>random</a:t>
            </a:r>
            <a:r>
              <a:rPr lang="fr-FR" sz="2800" dirty="0"/>
              <a:t> </a:t>
            </a:r>
            <a:r>
              <a:rPr lang="fr-FR" sz="2800" dirty="0" err="1"/>
              <a:t>draws</a:t>
            </a:r>
            <a:r>
              <a:rPr lang="fr-FR" sz="2800" dirty="0"/>
              <a:t> for </a:t>
            </a:r>
            <a:r>
              <a:rPr lang="fr-FR" sz="2800" dirty="0" err="1"/>
              <a:t>each</a:t>
            </a:r>
            <a:r>
              <a:rPr lang="fr-FR" sz="2800" dirty="0"/>
              <a:t> of </a:t>
            </a:r>
            <a:r>
              <a:rPr lang="fr-FR" sz="2800" dirty="0" err="1"/>
              <a:t>these</a:t>
            </a:r>
            <a:r>
              <a:rPr lang="fr-FR" sz="2800" dirty="0"/>
              <a:t> four cases: N=50, 100, 150 and 200, </a:t>
            </a:r>
          </a:p>
          <a:p>
            <a:pPr marL="0" indent="0" algn="just">
              <a:buNone/>
            </a:pPr>
            <a:r>
              <a:rPr lang="fr-FR" sz="2800" dirty="0" err="1"/>
              <a:t>Draw</a:t>
            </a:r>
            <a:r>
              <a:rPr lang="fr-FR" sz="2800" dirty="0"/>
              <a:t> </a:t>
            </a:r>
            <a:r>
              <a:rPr lang="fr-FR" sz="2800" dirty="0" err="1"/>
              <a:t>qualitatively</a:t>
            </a:r>
            <a:r>
              <a:rPr lang="fr-FR" sz="2800" dirty="0"/>
              <a:t> </a:t>
            </a:r>
            <a:r>
              <a:rPr lang="fr-FR" sz="2800" dirty="0" err="1"/>
              <a:t>what</a:t>
            </a:r>
            <a:r>
              <a:rPr lang="fr-FR" sz="2800" dirty="0"/>
              <a:t> </a:t>
            </a:r>
            <a:r>
              <a:rPr lang="fr-FR" sz="2800" dirty="0" err="1"/>
              <a:t>you</a:t>
            </a:r>
            <a:r>
              <a:rPr lang="fr-FR" sz="2800" dirty="0"/>
              <a:t> </a:t>
            </a:r>
            <a:r>
              <a:rPr lang="fr-FR" sz="2800" dirty="0" err="1"/>
              <a:t>expect</a:t>
            </a:r>
            <a:r>
              <a:rPr lang="fr-FR" sz="2800" dirty="0"/>
              <a:t> </a:t>
            </a:r>
            <a:r>
              <a:rPr lang="fr-FR" sz="2800" dirty="0" err="1"/>
              <a:t>with</a:t>
            </a:r>
            <a:r>
              <a:rPr lang="fr-FR" sz="2800" dirty="0"/>
              <a:t> N on horizontal axis and </a:t>
            </a:r>
            <a:r>
              <a:rPr lang="fr-FR" sz="2800" b="1" dirty="0"/>
              <a:t>r</a:t>
            </a:r>
            <a:r>
              <a:rPr lang="fr-FR" sz="2800" dirty="0"/>
              <a:t> on the vertical axis? You </a:t>
            </a:r>
            <a:r>
              <a:rPr lang="fr-FR" sz="2800" dirty="0" err="1"/>
              <a:t>may</a:t>
            </a:r>
            <a:r>
              <a:rPr lang="fr-FR" sz="2800" dirty="0"/>
              <a:t> </a:t>
            </a:r>
            <a:r>
              <a:rPr lang="fr-FR" sz="2800" dirty="0" err="1"/>
              <a:t>represent</a:t>
            </a:r>
            <a:r>
              <a:rPr lang="fr-FR" sz="2800" dirty="0"/>
              <a:t> normal </a:t>
            </a:r>
            <a:r>
              <a:rPr lang="fr-FR" sz="2800" dirty="0" err="1"/>
              <a:t>laws</a:t>
            </a:r>
            <a:r>
              <a:rPr lang="fr-FR" sz="2800" dirty="0"/>
              <a:t> distributions in perspective for four cases: N=50, 100, 150 and 200.</a:t>
            </a:r>
          </a:p>
        </p:txBody>
      </p:sp>
    </p:spTree>
    <p:extLst>
      <p:ext uri="{BB962C8B-B14F-4D97-AF65-F5344CB8AC3E}">
        <p14:creationId xmlns:p14="http://schemas.microsoft.com/office/powerpoint/2010/main" val="41330238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lexa\Documents\Capture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8209" y="1844824"/>
            <a:ext cx="5426075"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re 2"/>
          <p:cNvSpPr>
            <a:spLocks noGrp="1"/>
          </p:cNvSpPr>
          <p:nvPr>
            <p:ph type="title"/>
          </p:nvPr>
        </p:nvSpPr>
        <p:spPr/>
        <p:txBody>
          <a:bodyPr>
            <a:normAutofit fontScale="90000"/>
          </a:bodyPr>
          <a:lstStyle/>
          <a:p>
            <a:r>
              <a:rPr lang="fr-FR" dirty="0" err="1"/>
              <a:t>Explain</a:t>
            </a:r>
            <a:r>
              <a:rPr lang="fr-FR" dirty="0"/>
              <a:t> the </a:t>
            </a:r>
            <a:r>
              <a:rPr lang="fr-FR" dirty="0" err="1"/>
              <a:t>results</a:t>
            </a:r>
            <a:r>
              <a:rPr lang="fr-FR" dirty="0"/>
              <a:t> </a:t>
            </a:r>
            <a:br>
              <a:rPr lang="fr-FR" dirty="0"/>
            </a:br>
            <a:r>
              <a:rPr lang="fr-FR" dirty="0"/>
              <a:t>of </a:t>
            </a:r>
            <a:r>
              <a:rPr lang="fr-FR" dirty="0" err="1"/>
              <a:t>this</a:t>
            </a:r>
            <a:r>
              <a:rPr lang="fr-FR" dirty="0"/>
              <a:t> </a:t>
            </a:r>
            <a:r>
              <a:rPr lang="fr-FR" dirty="0" err="1"/>
              <a:t>funnel</a:t>
            </a:r>
            <a:r>
              <a:rPr lang="fr-FR" dirty="0"/>
              <a:t> plot?</a:t>
            </a:r>
          </a:p>
        </p:txBody>
      </p:sp>
    </p:spTree>
    <p:extLst>
      <p:ext uri="{BB962C8B-B14F-4D97-AF65-F5344CB8AC3E}">
        <p14:creationId xmlns:p14="http://schemas.microsoft.com/office/powerpoint/2010/main" val="3648924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775" y="1628800"/>
            <a:ext cx="664845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re 3"/>
          <p:cNvSpPr>
            <a:spLocks noGrp="1"/>
          </p:cNvSpPr>
          <p:nvPr>
            <p:ph type="title"/>
          </p:nvPr>
        </p:nvSpPr>
        <p:spPr/>
        <p:txBody>
          <a:bodyPr>
            <a:noAutofit/>
          </a:bodyPr>
          <a:lstStyle/>
          <a:p>
            <a:r>
              <a:rPr lang="en-US" sz="2400" dirty="0"/>
              <a:t>For a true </a:t>
            </a:r>
            <a:r>
              <a:rPr lang="en-US" sz="2400" b="1" dirty="0"/>
              <a:t>large</a:t>
            </a:r>
            <a:r>
              <a:rPr lang="en-US" sz="2400" dirty="0"/>
              <a:t> r=0.5 with 95% of samples in the dark funnel, it is only for N&gt;55 that statistical significance (rejecting r=0 at 5% threshold) is obtained in more than 95% of the samples.</a:t>
            </a:r>
          </a:p>
        </p:txBody>
      </p:sp>
    </p:spTree>
    <p:extLst>
      <p:ext uri="{BB962C8B-B14F-4D97-AF65-F5344CB8AC3E}">
        <p14:creationId xmlns:p14="http://schemas.microsoft.com/office/powerpoint/2010/main" val="26824870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464559" y="1343149"/>
            <a:ext cx="6291631" cy="42207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contenu 5"/>
          <p:cNvSpPr>
            <a:spLocks noGrp="1"/>
          </p:cNvSpPr>
          <p:nvPr>
            <p:ph idx="1"/>
          </p:nvPr>
        </p:nvSpPr>
        <p:spPr>
          <a:xfrm>
            <a:off x="395536" y="476672"/>
            <a:ext cx="3960440" cy="5649491"/>
          </a:xfrm>
        </p:spPr>
        <p:txBody>
          <a:bodyPr>
            <a:normAutofit fontScale="77500" lnSpcReduction="20000"/>
          </a:bodyPr>
          <a:lstStyle/>
          <a:p>
            <a:pPr marL="0" indent="0" algn="just">
              <a:buNone/>
            </a:pPr>
            <a:r>
              <a:rPr lang="fr-FR" dirty="0"/>
              <a:t>For N=20, the </a:t>
            </a:r>
            <a:r>
              <a:rPr lang="fr-FR" dirty="0" err="1"/>
              <a:t>average</a:t>
            </a:r>
            <a:r>
              <a:rPr lang="fr-FR" dirty="0"/>
              <a:t> r=0.4 </a:t>
            </a:r>
            <a:r>
              <a:rPr lang="fr-FR" dirty="0" err="1"/>
              <a:t>is</a:t>
            </a:r>
            <a:r>
              <a:rPr lang="fr-FR" dirty="0"/>
              <a:t> </a:t>
            </a:r>
            <a:r>
              <a:rPr lang="fr-FR" dirty="0" err="1"/>
              <a:t>necessary</a:t>
            </a:r>
            <a:r>
              <a:rPr lang="fr-FR" dirty="0"/>
              <a:t> </a:t>
            </a:r>
            <a:r>
              <a:rPr lang="fr-FR" dirty="0" err="1"/>
              <a:t>so</a:t>
            </a:r>
            <a:r>
              <a:rPr lang="fr-FR" dirty="0"/>
              <a:t> </a:t>
            </a:r>
            <a:r>
              <a:rPr lang="fr-FR" dirty="0" err="1"/>
              <a:t>that</a:t>
            </a:r>
            <a:r>
              <a:rPr lang="fr-FR" dirty="0"/>
              <a:t> t=2.</a:t>
            </a:r>
          </a:p>
          <a:p>
            <a:pPr marL="0" indent="0" algn="just">
              <a:buNone/>
            </a:pPr>
            <a:r>
              <a:rPr lang="fr-FR" dirty="0"/>
              <a:t>For N=100, the </a:t>
            </a:r>
            <a:r>
              <a:rPr lang="fr-FR" dirty="0" err="1"/>
              <a:t>average</a:t>
            </a:r>
            <a:r>
              <a:rPr lang="fr-FR" dirty="0"/>
              <a:t> r=0.2 </a:t>
            </a:r>
            <a:r>
              <a:rPr lang="fr-FR" dirty="0" err="1"/>
              <a:t>is</a:t>
            </a:r>
            <a:r>
              <a:rPr lang="fr-FR" dirty="0"/>
              <a:t> </a:t>
            </a:r>
            <a:r>
              <a:rPr lang="fr-FR" dirty="0" err="1"/>
              <a:t>necessary</a:t>
            </a:r>
            <a:r>
              <a:rPr lang="fr-FR" dirty="0"/>
              <a:t> </a:t>
            </a:r>
            <a:r>
              <a:rPr lang="fr-FR" dirty="0" err="1"/>
              <a:t>so</a:t>
            </a:r>
            <a:r>
              <a:rPr lang="fr-FR" dirty="0"/>
              <a:t> </a:t>
            </a:r>
            <a:r>
              <a:rPr lang="fr-FR" dirty="0" err="1"/>
              <a:t>that</a:t>
            </a:r>
            <a:r>
              <a:rPr lang="fr-FR" dirty="0"/>
              <a:t> t=2.</a:t>
            </a:r>
          </a:p>
          <a:p>
            <a:pPr marL="0" indent="0" algn="just">
              <a:buNone/>
            </a:pPr>
            <a:r>
              <a:rPr lang="fr-FR" dirty="0"/>
              <a:t>If publication </a:t>
            </a:r>
            <a:r>
              <a:rPr lang="fr-FR" dirty="0" err="1"/>
              <a:t>only</a:t>
            </a:r>
            <a:r>
              <a:rPr lang="fr-FR" dirty="0"/>
              <a:t> if t&gt;=2,</a:t>
            </a:r>
          </a:p>
          <a:p>
            <a:pPr marL="0" indent="0" algn="just">
              <a:buNone/>
            </a:pPr>
            <a:r>
              <a:rPr lang="fr-FR" dirty="0" err="1"/>
              <a:t>this</a:t>
            </a:r>
            <a:r>
              <a:rPr lang="fr-FR" dirty="0"/>
              <a:t> </a:t>
            </a:r>
            <a:r>
              <a:rPr lang="fr-FR" dirty="0" err="1"/>
              <a:t>implies</a:t>
            </a:r>
            <a:r>
              <a:rPr lang="fr-FR" dirty="0"/>
              <a:t> </a:t>
            </a:r>
            <a:r>
              <a:rPr lang="fr-FR" dirty="0" err="1"/>
              <a:t>researchers</a:t>
            </a:r>
            <a:r>
              <a:rPr lang="fr-FR" dirty="0"/>
              <a:t>’ </a:t>
            </a:r>
            <a:r>
              <a:rPr lang="fr-FR" dirty="0" err="1"/>
              <a:t>incentive</a:t>
            </a:r>
            <a:r>
              <a:rPr lang="fr-FR" dirty="0"/>
              <a:t> to </a:t>
            </a:r>
            <a:r>
              <a:rPr lang="fr-FR" dirty="0" err="1"/>
              <a:t>bias</a:t>
            </a:r>
            <a:r>
              <a:rPr lang="fr-FR" dirty="0"/>
              <a:t> </a:t>
            </a:r>
            <a:r>
              <a:rPr lang="fr-FR" dirty="0" err="1"/>
              <a:t>their</a:t>
            </a:r>
            <a:r>
              <a:rPr lang="fr-FR" dirty="0"/>
              <a:t> </a:t>
            </a:r>
            <a:r>
              <a:rPr lang="fr-FR" dirty="0" err="1"/>
              <a:t>selection</a:t>
            </a:r>
            <a:r>
              <a:rPr lang="fr-FR" dirty="0"/>
              <a:t> of </a:t>
            </a:r>
            <a:r>
              <a:rPr lang="fr-FR" dirty="0" err="1"/>
              <a:t>samples</a:t>
            </a:r>
            <a:r>
              <a:rPr lang="fr-FR" dirty="0"/>
              <a:t> </a:t>
            </a:r>
            <a:r>
              <a:rPr lang="fr-FR" dirty="0" err="1"/>
              <a:t>with</a:t>
            </a:r>
            <a:r>
              <a:rPr lang="fr-FR" dirty="0"/>
              <a:t> multiple </a:t>
            </a:r>
            <a:r>
              <a:rPr lang="fr-FR" dirty="0" err="1"/>
              <a:t>testing</a:t>
            </a:r>
            <a:r>
              <a:rPr lang="fr-FR" dirty="0"/>
              <a:t> </a:t>
            </a:r>
            <a:r>
              <a:rPr lang="fr-FR" dirty="0" err="1"/>
              <a:t>with</a:t>
            </a:r>
            <a:r>
              <a:rPr lang="fr-FR" dirty="0"/>
              <a:t> trial and </a:t>
            </a:r>
            <a:r>
              <a:rPr lang="fr-FR" dirty="0" err="1"/>
              <a:t>errors</a:t>
            </a:r>
            <a:r>
              <a:rPr lang="fr-FR" dirty="0"/>
              <a:t> (</a:t>
            </a:r>
            <a:r>
              <a:rPr lang="fr-FR" dirty="0" err="1"/>
              <a:t>see</a:t>
            </a:r>
            <a:r>
              <a:rPr lang="fr-FR" dirty="0"/>
              <a:t> pbm2) </a:t>
            </a:r>
            <a:r>
              <a:rPr lang="fr-FR" dirty="0" err="1"/>
              <a:t>outside</a:t>
            </a:r>
            <a:r>
              <a:rPr lang="fr-FR" dirty="0"/>
              <a:t> the </a:t>
            </a:r>
            <a:r>
              <a:rPr lang="fr-FR" dirty="0" err="1"/>
              <a:t>red</a:t>
            </a:r>
            <a:r>
              <a:rPr lang="fr-FR" dirty="0"/>
              <a:t> </a:t>
            </a:r>
            <a:r>
              <a:rPr lang="fr-FR" dirty="0" err="1"/>
              <a:t>funnel</a:t>
            </a:r>
            <a:r>
              <a:rPr lang="fr-FR" dirty="0"/>
              <a:t>. </a:t>
            </a:r>
          </a:p>
          <a:p>
            <a:pPr marL="0" indent="0" algn="just">
              <a:buNone/>
            </a:pPr>
            <a:r>
              <a:rPr lang="fr-FR" dirty="0"/>
              <a:t>This  </a:t>
            </a:r>
            <a:r>
              <a:rPr lang="fr-FR" dirty="0" err="1"/>
              <a:t>implies</a:t>
            </a:r>
            <a:r>
              <a:rPr lang="fr-FR" dirty="0"/>
              <a:t> the point </a:t>
            </a:r>
            <a:r>
              <a:rPr lang="fr-FR" dirty="0" err="1"/>
              <a:t>estimate</a:t>
            </a:r>
            <a:r>
              <a:rPr lang="fr-FR" dirty="0"/>
              <a:t> of the </a:t>
            </a:r>
            <a:r>
              <a:rPr lang="fr-FR" dirty="0" err="1"/>
              <a:t>parameter</a:t>
            </a:r>
            <a:r>
              <a:rPr lang="fr-FR" dirty="0"/>
              <a:t> </a:t>
            </a:r>
            <a:r>
              <a:rPr lang="fr-FR" dirty="0" err="1"/>
              <a:t>declines</a:t>
            </a:r>
            <a:r>
              <a:rPr lang="fr-FR" dirty="0"/>
              <a:t> </a:t>
            </a:r>
            <a:r>
              <a:rPr lang="fr-FR" dirty="0" err="1"/>
              <a:t>with</a:t>
            </a:r>
            <a:r>
              <a:rPr lang="fr-FR" dirty="0"/>
              <a:t> N in </a:t>
            </a:r>
            <a:r>
              <a:rPr lang="fr-FR" dirty="0" err="1"/>
              <a:t>meta-analysis</a:t>
            </a:r>
            <a:r>
              <a:rPr lang="fr-FR" dirty="0"/>
              <a:t>. </a:t>
            </a:r>
          </a:p>
        </p:txBody>
      </p:sp>
    </p:spTree>
    <p:extLst>
      <p:ext uri="{BB962C8B-B14F-4D97-AF65-F5344CB8AC3E}">
        <p14:creationId xmlns:p14="http://schemas.microsoft.com/office/powerpoint/2010/main" val="30923089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554242" y="1516147"/>
            <a:ext cx="6178042" cy="4174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45322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dirty="0" err="1"/>
              <a:t>Estimated</a:t>
            </a:r>
            <a:r>
              <a:rPr lang="fr-FR" dirty="0"/>
              <a:t> standard </a:t>
            </a:r>
            <a:r>
              <a:rPr lang="fr-FR" dirty="0" err="1"/>
              <a:t>error</a:t>
            </a:r>
            <a:r>
              <a:rPr lang="fr-FR" dirty="0"/>
              <a:t> of </a:t>
            </a:r>
            <a:r>
              <a:rPr lang="fr-FR" dirty="0" err="1"/>
              <a:t>estimated</a:t>
            </a:r>
            <a:r>
              <a:rPr lang="fr-FR" dirty="0"/>
              <a:t> </a:t>
            </a:r>
            <a:r>
              <a:rPr lang="fr-FR" dirty="0" err="1"/>
              <a:t>parameter</a:t>
            </a:r>
            <a:r>
              <a:rPr lang="fr-FR" dirty="0"/>
              <a:t> and N-k-1</a:t>
            </a:r>
          </a:p>
        </p:txBody>
      </p:sp>
      <p:sp>
        <p:nvSpPr>
          <p:cNvPr id="4" name="Espace réservé du contenu 3"/>
          <p:cNvSpPr>
            <a:spLocks noGrp="1"/>
          </p:cNvSpPr>
          <p:nvPr>
            <p:ph idx="1"/>
          </p:nvPr>
        </p:nvSpPr>
        <p:spPr/>
        <p:txBody>
          <a:bodyPr/>
          <a:lstStyle/>
          <a:p>
            <a:pPr marL="0" indent="0">
              <a:buNone/>
            </a:pPr>
            <a:r>
              <a:rPr lang="fr-FR" dirty="0"/>
              <a:t>For a </a:t>
            </a:r>
            <a:r>
              <a:rPr lang="fr-FR" dirty="0" err="1"/>
              <a:t>given</a:t>
            </a:r>
            <a:r>
              <a:rPr lang="fr-FR" dirty="0"/>
              <a:t> </a:t>
            </a:r>
            <a:r>
              <a:rPr lang="fr-FR" dirty="0" err="1"/>
              <a:t>number</a:t>
            </a:r>
            <a:r>
              <a:rPr lang="fr-FR" dirty="0"/>
              <a:t> of observations N (vertical line), one </a:t>
            </a:r>
            <a:r>
              <a:rPr lang="fr-FR" dirty="0" err="1"/>
              <a:t>can</a:t>
            </a:r>
            <a:r>
              <a:rPr lang="fr-FR" dirty="0"/>
              <a:t> </a:t>
            </a:r>
            <a:r>
              <a:rPr lang="fr-FR" dirty="0" err="1"/>
              <a:t>visualize</a:t>
            </a:r>
            <a:r>
              <a:rPr lang="fr-FR" dirty="0"/>
              <a:t> the </a:t>
            </a:r>
            <a:r>
              <a:rPr lang="fr-FR" dirty="0" err="1"/>
              <a:t>estimated</a:t>
            </a:r>
            <a:r>
              <a:rPr lang="fr-FR" dirty="0"/>
              <a:t> the standard </a:t>
            </a:r>
            <a:r>
              <a:rPr lang="fr-FR" dirty="0" err="1"/>
              <a:t>error</a:t>
            </a:r>
            <a:r>
              <a:rPr lang="fr-FR" dirty="0"/>
              <a:t> of </a:t>
            </a:r>
            <a:r>
              <a:rPr lang="fr-FR" dirty="0" err="1"/>
              <a:t>estimated</a:t>
            </a:r>
            <a:r>
              <a:rPr lang="fr-FR" dirty="0"/>
              <a:t> </a:t>
            </a:r>
            <a:r>
              <a:rPr lang="fr-FR" dirty="0" err="1"/>
              <a:t>parameter</a:t>
            </a:r>
            <a:r>
              <a:rPr lang="fr-FR" dirty="0"/>
              <a:t>.</a:t>
            </a:r>
          </a:p>
          <a:p>
            <a:pPr marL="0" indent="0">
              <a:buNone/>
            </a:pPr>
            <a:endParaRPr lang="fr-FR" dirty="0"/>
          </a:p>
          <a:p>
            <a:pPr marL="0" indent="0">
              <a:buNone/>
            </a:pPr>
            <a:r>
              <a:rPr lang="fr-FR" dirty="0" err="1"/>
              <a:t>When</a:t>
            </a:r>
            <a:r>
              <a:rPr lang="fr-FR" dirty="0"/>
              <a:t> N </a:t>
            </a:r>
            <a:r>
              <a:rPr lang="fr-FR" dirty="0" err="1"/>
              <a:t>increases</a:t>
            </a:r>
            <a:r>
              <a:rPr lang="fr-FR" dirty="0"/>
              <a:t>, </a:t>
            </a:r>
            <a:r>
              <a:rPr lang="fr-FR" dirty="0" err="1"/>
              <a:t>does</a:t>
            </a:r>
            <a:r>
              <a:rPr lang="fr-FR" dirty="0"/>
              <a:t> </a:t>
            </a:r>
            <a:r>
              <a:rPr lang="fr-FR" dirty="0" err="1"/>
              <a:t>this</a:t>
            </a:r>
            <a:r>
              <a:rPr lang="fr-FR" dirty="0"/>
              <a:t> </a:t>
            </a:r>
            <a:r>
              <a:rPr lang="fr-FR" dirty="0" err="1"/>
              <a:t>estimated</a:t>
            </a:r>
            <a:r>
              <a:rPr lang="fr-FR" dirty="0"/>
              <a:t> standard </a:t>
            </a:r>
            <a:r>
              <a:rPr lang="fr-FR" dirty="0" err="1"/>
              <a:t>error</a:t>
            </a:r>
            <a:r>
              <a:rPr lang="fr-FR" dirty="0"/>
              <a:t> of </a:t>
            </a:r>
            <a:r>
              <a:rPr lang="fr-FR" dirty="0" err="1"/>
              <a:t>estimated</a:t>
            </a:r>
            <a:r>
              <a:rPr lang="fr-FR" dirty="0"/>
              <a:t> </a:t>
            </a:r>
            <a:r>
              <a:rPr lang="fr-FR" dirty="0" err="1"/>
              <a:t>parameter</a:t>
            </a:r>
            <a:r>
              <a:rPr lang="fr-FR" dirty="0"/>
              <a:t> </a:t>
            </a:r>
            <a:r>
              <a:rPr lang="fr-FR" dirty="0" err="1"/>
              <a:t>increases</a:t>
            </a:r>
            <a:r>
              <a:rPr lang="fr-FR" dirty="0"/>
              <a:t> or </a:t>
            </a:r>
            <a:r>
              <a:rPr lang="fr-FR" dirty="0" err="1"/>
              <a:t>decreases</a:t>
            </a:r>
            <a:r>
              <a:rPr lang="fr-FR" dirty="0"/>
              <a:t>? </a:t>
            </a:r>
          </a:p>
        </p:txBody>
      </p:sp>
    </p:spTree>
    <p:extLst>
      <p:ext uri="{BB962C8B-B14F-4D97-AF65-F5344CB8AC3E}">
        <p14:creationId xmlns:p14="http://schemas.microsoft.com/office/powerpoint/2010/main" val="20735113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Estimated</a:t>
            </a:r>
            <a:r>
              <a:rPr lang="fr-FR" dirty="0"/>
              <a:t> </a:t>
            </a:r>
            <a:r>
              <a:rPr lang="fr-FR" dirty="0" err="1"/>
              <a:t>parameter</a:t>
            </a:r>
            <a:r>
              <a:rPr lang="fr-FR" dirty="0"/>
              <a:t> </a:t>
            </a:r>
            <a:br>
              <a:rPr lang="fr-FR" dirty="0"/>
            </a:br>
            <a:r>
              <a:rPr lang="fr-FR" dirty="0"/>
              <a:t>and N-k-1 ?</a:t>
            </a:r>
          </a:p>
        </p:txBody>
      </p:sp>
      <p:sp>
        <p:nvSpPr>
          <p:cNvPr id="3" name="Espace réservé du contenu 2"/>
          <p:cNvSpPr>
            <a:spLocks noGrp="1"/>
          </p:cNvSpPr>
          <p:nvPr>
            <p:ph idx="1"/>
          </p:nvPr>
        </p:nvSpPr>
        <p:spPr/>
        <p:txBody>
          <a:bodyPr/>
          <a:lstStyle/>
          <a:p>
            <a:pPr marL="0" indent="0" algn="just">
              <a:buNone/>
            </a:pPr>
            <a:r>
              <a:rPr lang="fr-FR" dirty="0" err="1"/>
              <a:t>Econometrics</a:t>
            </a:r>
            <a:r>
              <a:rPr lang="fr-FR" dirty="0"/>
              <a:t> </a:t>
            </a:r>
            <a:r>
              <a:rPr lang="fr-FR" dirty="0" err="1"/>
              <a:t>chapter</a:t>
            </a:r>
            <a:r>
              <a:rPr lang="fr-FR" dirty="0"/>
              <a:t> 1 states </a:t>
            </a:r>
            <a:r>
              <a:rPr lang="fr-FR" dirty="0" err="1"/>
              <a:t>that</a:t>
            </a:r>
            <a:r>
              <a:rPr lang="fr-FR" dirty="0"/>
              <a:t>:</a:t>
            </a:r>
          </a:p>
          <a:p>
            <a:pPr marL="514350" indent="-514350" algn="just">
              <a:buFont typeface="+mj-lt"/>
              <a:buAutoNum type="arabicPeriod"/>
            </a:pPr>
            <a:r>
              <a:rPr lang="fr-FR" dirty="0"/>
              <a:t>The </a:t>
            </a:r>
            <a:r>
              <a:rPr lang="fr-FR" dirty="0" err="1"/>
              <a:t>expected</a:t>
            </a:r>
            <a:r>
              <a:rPr lang="fr-FR" dirty="0"/>
              <a:t> </a:t>
            </a:r>
            <a:r>
              <a:rPr lang="fr-FR" dirty="0" err="1"/>
              <a:t>estimated</a:t>
            </a:r>
            <a:r>
              <a:rPr lang="fr-FR" dirty="0"/>
              <a:t> </a:t>
            </a:r>
            <a:r>
              <a:rPr lang="fr-FR" dirty="0" err="1"/>
              <a:t>parameter</a:t>
            </a:r>
            <a:r>
              <a:rPr lang="fr-FR" dirty="0"/>
              <a:t> DOES NOT </a:t>
            </a:r>
            <a:r>
              <a:rPr lang="fr-FR" dirty="0" err="1"/>
              <a:t>depend</a:t>
            </a:r>
            <a:r>
              <a:rPr lang="fr-FR" dirty="0"/>
              <a:t> on the </a:t>
            </a:r>
            <a:r>
              <a:rPr lang="fr-FR" dirty="0" err="1"/>
              <a:t>number</a:t>
            </a:r>
            <a:r>
              <a:rPr lang="fr-FR" dirty="0"/>
              <a:t> of observations.</a:t>
            </a:r>
          </a:p>
          <a:p>
            <a:pPr marL="514350" indent="-514350" algn="just">
              <a:buFont typeface="+mj-lt"/>
              <a:buAutoNum type="arabicPeriod"/>
            </a:pPr>
            <a:r>
              <a:rPr lang="fr-FR" dirty="0"/>
              <a:t>The </a:t>
            </a:r>
            <a:r>
              <a:rPr lang="fr-FR" dirty="0" err="1"/>
              <a:t>estimated</a:t>
            </a:r>
            <a:r>
              <a:rPr lang="fr-FR" dirty="0"/>
              <a:t> standard </a:t>
            </a:r>
            <a:r>
              <a:rPr lang="fr-FR" dirty="0" err="1"/>
              <a:t>error</a:t>
            </a:r>
            <a:r>
              <a:rPr lang="fr-FR" dirty="0"/>
              <a:t> of the </a:t>
            </a:r>
            <a:r>
              <a:rPr lang="fr-FR" dirty="0" err="1"/>
              <a:t>estimated</a:t>
            </a:r>
            <a:r>
              <a:rPr lang="fr-FR" dirty="0"/>
              <a:t> </a:t>
            </a:r>
            <a:r>
              <a:rPr lang="fr-FR" dirty="0" err="1"/>
              <a:t>parameters</a:t>
            </a:r>
            <a:r>
              <a:rPr lang="fr-FR" dirty="0"/>
              <a:t> </a:t>
            </a:r>
            <a:r>
              <a:rPr lang="fr-FR" dirty="0" err="1"/>
              <a:t>should</a:t>
            </a:r>
            <a:r>
              <a:rPr lang="fr-FR" dirty="0"/>
              <a:t> </a:t>
            </a:r>
            <a:r>
              <a:rPr lang="fr-FR" dirty="0" err="1"/>
              <a:t>be</a:t>
            </a:r>
            <a:r>
              <a:rPr lang="fr-FR" dirty="0"/>
              <a:t> </a:t>
            </a:r>
            <a:r>
              <a:rPr lang="fr-FR" dirty="0" err="1"/>
              <a:t>smaller</a:t>
            </a:r>
            <a:r>
              <a:rPr lang="fr-FR" dirty="0"/>
              <a:t> </a:t>
            </a:r>
            <a:r>
              <a:rPr lang="fr-FR" dirty="0" err="1"/>
              <a:t>when</a:t>
            </a:r>
            <a:r>
              <a:rPr lang="fr-FR" dirty="0"/>
              <a:t> the </a:t>
            </a:r>
            <a:r>
              <a:rPr lang="fr-FR" dirty="0" err="1"/>
              <a:t>number</a:t>
            </a:r>
            <a:r>
              <a:rPr lang="fr-FR" dirty="0"/>
              <a:t> of observations </a:t>
            </a:r>
            <a:r>
              <a:rPr lang="fr-FR" dirty="0" err="1"/>
              <a:t>increases</a:t>
            </a:r>
            <a:r>
              <a:rPr lang="fr-FR" dirty="0"/>
              <a:t>.</a:t>
            </a:r>
          </a:p>
        </p:txBody>
      </p:sp>
    </p:spTree>
    <p:extLst>
      <p:ext uri="{BB962C8B-B14F-4D97-AF65-F5344CB8AC3E}">
        <p14:creationId xmlns:p14="http://schemas.microsoft.com/office/powerpoint/2010/main" val="21274828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American </a:t>
            </a:r>
            <a:r>
              <a:rPr lang="fr-FR" dirty="0" err="1"/>
              <a:t>Statistical</a:t>
            </a:r>
            <a:r>
              <a:rPr lang="fr-FR" dirty="0"/>
              <a:t> Association </a:t>
            </a:r>
            <a:r>
              <a:rPr lang="fr-FR" dirty="0" err="1"/>
              <a:t>Statement</a:t>
            </a:r>
            <a:r>
              <a:rPr lang="fr-FR" dirty="0"/>
              <a:t> on </a:t>
            </a:r>
            <a:r>
              <a:rPr lang="fr-FR" i="1" dirty="0"/>
              <a:t>p</a:t>
            </a:r>
            <a:r>
              <a:rPr lang="fr-FR" dirty="0"/>
              <a:t>-values (2016).</a:t>
            </a:r>
          </a:p>
        </p:txBody>
      </p:sp>
      <p:pic>
        <p:nvPicPr>
          <p:cNvPr id="10137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1487" y="2529681"/>
            <a:ext cx="820102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2366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FR" dirty="0" err="1"/>
              <a:t>Problem</a:t>
            </a:r>
            <a:r>
              <a:rPr lang="fr-FR" dirty="0"/>
              <a:t> 4. Multiple </a:t>
            </a:r>
            <a:r>
              <a:rPr lang="fr-FR" dirty="0" err="1"/>
              <a:t>testing</a:t>
            </a:r>
            <a:r>
              <a:rPr lang="fr-FR" dirty="0"/>
              <a:t> (multiple </a:t>
            </a:r>
            <a:r>
              <a:rPr lang="fr-FR" dirty="0" err="1"/>
              <a:t>comparisons</a:t>
            </a:r>
            <a:r>
              <a:rPr lang="fr-FR" dirty="0"/>
              <a:t>) versus </a:t>
            </a:r>
            <a:r>
              <a:rPr lang="fr-FR" dirty="0" err="1"/>
              <a:t>Exploratory</a:t>
            </a:r>
            <a:r>
              <a:rPr lang="fr-FR" dirty="0"/>
              <a:t> data </a:t>
            </a:r>
            <a:r>
              <a:rPr lang="fr-FR" dirty="0" err="1"/>
              <a:t>analysis</a:t>
            </a:r>
            <a:br>
              <a:rPr lang="fr-FR" dirty="0"/>
            </a:br>
            <a:r>
              <a:rPr lang="fr-FR" dirty="0" err="1"/>
              <a:t>Answer</a:t>
            </a:r>
            <a:r>
              <a:rPr lang="fr-FR" dirty="0"/>
              <a:t>: </a:t>
            </a:r>
            <a:r>
              <a:rPr lang="fr-FR" dirty="0" err="1"/>
              <a:t>Bonferroni</a:t>
            </a:r>
            <a:r>
              <a:rPr lang="fr-FR" dirty="0"/>
              <a:t> type correction on the </a:t>
            </a:r>
            <a:r>
              <a:rPr lang="fr-FR" dirty="0" err="1"/>
              <a:t>threshold</a:t>
            </a:r>
            <a:r>
              <a:rPr lang="fr-FR" dirty="0"/>
              <a:t>: 5%/</a:t>
            </a:r>
            <a:r>
              <a:rPr lang="fr-FR" dirty="0" err="1"/>
              <a:t>number</a:t>
            </a:r>
            <a:r>
              <a:rPr lang="fr-FR" dirty="0"/>
              <a:t> of trials.</a:t>
            </a:r>
          </a:p>
        </p:txBody>
      </p:sp>
    </p:spTree>
    <p:extLst>
      <p:ext uri="{BB962C8B-B14F-4D97-AF65-F5344CB8AC3E}">
        <p14:creationId xmlns:p14="http://schemas.microsoft.com/office/powerpoint/2010/main" val="28196561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477F32-3CA5-4A26-9BC7-CCA55186DF27}"/>
              </a:ext>
            </a:extLst>
          </p:cNvPr>
          <p:cNvSpPr>
            <a:spLocks noGrp="1"/>
          </p:cNvSpPr>
          <p:nvPr>
            <p:ph type="title"/>
          </p:nvPr>
        </p:nvSpPr>
        <p:spPr/>
        <p:txBody>
          <a:bodyPr>
            <a:noAutofit/>
          </a:bodyPr>
          <a:lstStyle/>
          <a:p>
            <a:r>
              <a:rPr lang="fr-FR" sz="3600" dirty="0"/>
              <a:t>30 </a:t>
            </a:r>
            <a:r>
              <a:rPr lang="fr-FR" sz="3600" dirty="0" err="1"/>
              <a:t>independent</a:t>
            </a:r>
            <a:r>
              <a:rPr lang="fr-FR" sz="3600" dirty="0"/>
              <a:t> trials, </a:t>
            </a:r>
            <a:r>
              <a:rPr lang="fr-FR" sz="3600" dirty="0" err="1"/>
              <a:t>you</a:t>
            </a:r>
            <a:r>
              <a:rPr lang="fr-FR" sz="3600" dirty="0"/>
              <a:t> </a:t>
            </a:r>
            <a:r>
              <a:rPr lang="fr-FR" sz="3600" dirty="0" err="1"/>
              <a:t>may</a:t>
            </a:r>
            <a:r>
              <a:rPr lang="fr-FR" sz="3600" dirty="0"/>
              <a:t> have </a:t>
            </a:r>
            <a:r>
              <a:rPr lang="fr-FR" sz="3600" dirty="0" err="1"/>
              <a:t>luck</a:t>
            </a:r>
            <a:r>
              <a:rPr lang="fr-FR" sz="3600" dirty="0"/>
              <a:t> once, « on a </a:t>
            </a:r>
            <a:r>
              <a:rPr lang="fr-FR" sz="3600" dirty="0" err="1"/>
              <a:t>misunderstaning</a:t>
            </a:r>
            <a:r>
              <a:rPr lang="fr-FR" sz="3600" dirty="0"/>
              <a:t> »</a:t>
            </a:r>
          </a:p>
        </p:txBody>
      </p:sp>
      <p:pic>
        <p:nvPicPr>
          <p:cNvPr id="5" name="Espace réservé du contenu 4">
            <a:extLst>
              <a:ext uri="{FF2B5EF4-FFF2-40B4-BE49-F238E27FC236}">
                <a16:creationId xmlns:a16="http://schemas.microsoft.com/office/drawing/2014/main" id="{2B8D157D-0700-4F31-A42C-76EB7DBEE2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09018" y="1600200"/>
            <a:ext cx="4525963" cy="4525963"/>
          </a:xfrm>
        </p:spPr>
      </p:pic>
    </p:spTree>
    <p:extLst>
      <p:ext uri="{BB962C8B-B14F-4D97-AF65-F5344CB8AC3E}">
        <p14:creationId xmlns:p14="http://schemas.microsoft.com/office/powerpoint/2010/main" val="26560175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dirty="0">
                <a:latin typeface="Cambria Math" panose="02040503050406030204" pitchFamily="18" charset="0"/>
                <a:ea typeface="Cambria Math" panose="02040503050406030204" pitchFamily="18" charset="0"/>
              </a:rPr>
              <a:t>20 tests = 1 </a:t>
            </a:r>
            <a:r>
              <a:rPr lang="fr-FR" sz="3200" dirty="0" err="1">
                <a:latin typeface="Cambria Math" panose="02040503050406030204" pitchFamily="18" charset="0"/>
                <a:ea typeface="Cambria Math" panose="02040503050406030204" pitchFamily="18" charset="0"/>
              </a:rPr>
              <a:t>outcome</a:t>
            </a:r>
            <a:r>
              <a:rPr lang="fr-FR" sz="3200" dirty="0">
                <a:latin typeface="Cambria Math" panose="02040503050406030204" pitchFamily="18" charset="0"/>
                <a:ea typeface="Cambria Math" panose="02040503050406030204" pitchFamily="18" charset="0"/>
              </a:rPr>
              <a:t> </a:t>
            </a:r>
            <a:r>
              <a:rPr lang="fr-FR" sz="3200" dirty="0" err="1">
                <a:latin typeface="Cambria Math" panose="02040503050406030204" pitchFamily="18" charset="0"/>
                <a:ea typeface="Cambria Math" panose="02040503050406030204" pitchFamily="18" charset="0"/>
              </a:rPr>
              <a:t>should</a:t>
            </a:r>
            <a:r>
              <a:rPr lang="fr-FR" sz="3200" dirty="0">
                <a:latin typeface="Cambria Math" panose="02040503050406030204" pitchFamily="18" charset="0"/>
                <a:ea typeface="Cambria Math" panose="02040503050406030204" pitchFamily="18" charset="0"/>
              </a:rPr>
              <a:t> </a:t>
            </a:r>
            <a:r>
              <a:rPr lang="fr-FR" sz="3200" dirty="0" err="1">
                <a:latin typeface="Cambria Math" panose="02040503050406030204" pitchFamily="18" charset="0"/>
                <a:ea typeface="Cambria Math" panose="02040503050406030204" pitchFamily="18" charset="0"/>
              </a:rPr>
              <a:t>reject</a:t>
            </a:r>
            <a:r>
              <a:rPr lang="fr-FR" sz="3200" dirty="0">
                <a:latin typeface="Cambria Math" panose="02040503050406030204" pitchFamily="18" charset="0"/>
                <a:ea typeface="Cambria Math" panose="02040503050406030204" pitchFamily="18" charset="0"/>
              </a:rPr>
              <a:t> the </a:t>
            </a:r>
            <a:r>
              <a:rPr lang="fr-FR" sz="3200" dirty="0" err="1">
                <a:latin typeface="Cambria Math" panose="02040503050406030204" pitchFamily="18" charset="0"/>
                <a:ea typeface="Cambria Math" panose="02040503050406030204" pitchFamily="18" charset="0"/>
              </a:rPr>
              <a:t>null</a:t>
            </a:r>
            <a:r>
              <a:rPr lang="fr-FR" sz="3200" dirty="0">
                <a:latin typeface="Cambria Math" panose="02040503050406030204" pitchFamily="18" charset="0"/>
                <a:ea typeface="Cambria Math" panose="02040503050406030204" pitchFamily="18" charset="0"/>
              </a:rPr>
              <a:t> </a:t>
            </a:r>
            <a:br>
              <a:rPr lang="fr-FR" sz="3200" dirty="0">
                <a:latin typeface="Cambria Math" panose="02040503050406030204" pitchFamily="18" charset="0"/>
                <a:ea typeface="Cambria Math" panose="02040503050406030204" pitchFamily="18" charset="0"/>
              </a:rPr>
            </a:br>
            <a:r>
              <a:rPr lang="fr-FR" sz="3200" dirty="0" err="1">
                <a:latin typeface="Cambria Math" panose="02040503050406030204" pitchFamily="18" charset="0"/>
                <a:ea typeface="Cambria Math" panose="02040503050406030204" pitchFamily="18" charset="0"/>
              </a:rPr>
              <a:t>whereas</a:t>
            </a:r>
            <a:r>
              <a:rPr lang="fr-FR" sz="3200" dirty="0">
                <a:latin typeface="Cambria Math" panose="02040503050406030204" pitchFamily="18" charset="0"/>
                <a:ea typeface="Cambria Math" panose="02040503050406030204" pitchFamily="18" charset="0"/>
              </a:rPr>
              <a:t> the </a:t>
            </a:r>
            <a:r>
              <a:rPr lang="fr-FR" sz="3200" dirty="0" err="1">
                <a:latin typeface="Cambria Math" panose="02040503050406030204" pitchFamily="18" charset="0"/>
                <a:ea typeface="Cambria Math" panose="02040503050406030204" pitchFamily="18" charset="0"/>
              </a:rPr>
              <a:t>null</a:t>
            </a:r>
            <a:r>
              <a:rPr lang="fr-FR" sz="3200" dirty="0">
                <a:latin typeface="Cambria Math" panose="02040503050406030204" pitchFamily="18" charset="0"/>
                <a:ea typeface="Cambria Math" panose="02040503050406030204" pitchFamily="18" charset="0"/>
              </a:rPr>
              <a:t> </a:t>
            </a:r>
            <a:r>
              <a:rPr lang="fr-FR" sz="3200" dirty="0" err="1">
                <a:latin typeface="Cambria Math" panose="02040503050406030204" pitchFamily="18" charset="0"/>
                <a:ea typeface="Cambria Math" panose="02040503050406030204" pitchFamily="18" charset="0"/>
              </a:rPr>
              <a:t>is</a:t>
            </a:r>
            <a:r>
              <a:rPr lang="fr-FR" sz="3200" dirty="0">
                <a:latin typeface="Cambria Math" panose="02040503050406030204" pitchFamily="18" charset="0"/>
                <a:ea typeface="Cambria Math" panose="02040503050406030204" pitchFamily="18" charset="0"/>
              </a:rPr>
              <a:t> not </a:t>
            </a:r>
            <a:r>
              <a:rPr lang="fr-FR" sz="3200" dirty="0" err="1">
                <a:latin typeface="Cambria Math" panose="02040503050406030204" pitchFamily="18" charset="0"/>
                <a:ea typeface="Cambria Math" panose="02040503050406030204" pitchFamily="18" charset="0"/>
              </a:rPr>
              <a:t>true</a:t>
            </a:r>
            <a:r>
              <a:rPr lang="fr-FR" sz="3200" dirty="0">
                <a:latin typeface="Cambria Math" panose="02040503050406030204" pitchFamily="18" charset="0"/>
                <a:ea typeface="Cambria Math" panose="02040503050406030204" pitchFamily="18" charset="0"/>
              </a:rPr>
              <a:t> (5%=1/20).</a:t>
            </a:r>
            <a:endParaRPr lang="en-GB" sz="3200" dirty="0">
              <a:latin typeface="Cambria Math" panose="02040503050406030204" pitchFamily="18" charset="0"/>
              <a:ea typeface="Cambria Math" panose="02040503050406030204" pitchFamily="18" charset="0"/>
            </a:endParaRPr>
          </a:p>
        </p:txBody>
      </p:sp>
      <p:sp>
        <p:nvSpPr>
          <p:cNvPr id="3" name="Espace réservé du contenu 2"/>
          <p:cNvSpPr>
            <a:spLocks noGrp="1"/>
          </p:cNvSpPr>
          <p:nvPr>
            <p:ph idx="1"/>
          </p:nvPr>
        </p:nvSpPr>
        <p:spPr/>
        <p:txBody>
          <a:bodyPr>
            <a:normAutofit fontScale="92500" lnSpcReduction="10000"/>
          </a:bodyPr>
          <a:lstStyle/>
          <a:p>
            <a:pPr marL="0" indent="0" algn="just">
              <a:buNone/>
            </a:pPr>
            <a:r>
              <a:rPr lang="en-GB" sz="2800" dirty="0">
                <a:latin typeface="Cambria Math" panose="02040503050406030204" pitchFamily="18" charset="0"/>
                <a:ea typeface="Cambria Math" panose="02040503050406030204" pitchFamily="18" charset="0"/>
              </a:rPr>
              <a:t>If one test is performed at the 5% level and the corresponding null hypothesis is true, there is only a 5% risk of incorrectly rejecting the null hypothesis when it is true. This is due to random additive (white noise) disturbances.</a:t>
            </a:r>
          </a:p>
          <a:p>
            <a:pPr marL="0" indent="0" algn="just">
              <a:buNone/>
            </a:pPr>
            <a:r>
              <a:rPr lang="en-GB" sz="2800" dirty="0">
                <a:latin typeface="Cambria Math" panose="02040503050406030204" pitchFamily="18" charset="0"/>
                <a:ea typeface="Cambria Math" panose="02040503050406030204" pitchFamily="18" charset="0"/>
              </a:rPr>
              <a:t>However, if </a:t>
            </a:r>
            <a:r>
              <a:rPr lang="en-GB" sz="2800" b="1" dirty="0">
                <a:latin typeface="Cambria Math" panose="02040503050406030204" pitchFamily="18" charset="0"/>
                <a:ea typeface="Cambria Math" panose="02040503050406030204" pitchFamily="18" charset="0"/>
              </a:rPr>
              <a:t>20 independent tests</a:t>
            </a:r>
            <a:r>
              <a:rPr lang="en-GB" sz="2800" dirty="0">
                <a:latin typeface="Cambria Math" panose="02040503050406030204" pitchFamily="18" charset="0"/>
                <a:ea typeface="Cambria Math" panose="02040503050406030204" pitchFamily="18" charset="0"/>
              </a:rPr>
              <a:t> are each conducted at the 5% level and all corresponding null hypotheses are true, the expected number of incorrect rejections (also known as false positives or type I errors) is </a:t>
            </a:r>
            <a:r>
              <a:rPr lang="en-GB" sz="2800" b="1" dirty="0">
                <a:solidFill>
                  <a:srgbClr val="FF0000"/>
                </a:solidFill>
                <a:latin typeface="Cambria Math" panose="02040503050406030204" pitchFamily="18" charset="0"/>
                <a:ea typeface="Cambria Math" panose="02040503050406030204" pitchFamily="18" charset="0"/>
              </a:rPr>
              <a:t>1</a:t>
            </a:r>
            <a:r>
              <a:rPr lang="en-GB" sz="2800" dirty="0">
                <a:latin typeface="Cambria Math" panose="02040503050406030204" pitchFamily="18" charset="0"/>
                <a:ea typeface="Cambria Math" panose="02040503050406030204" pitchFamily="18" charset="0"/>
              </a:rPr>
              <a:t> (</a:t>
            </a:r>
            <a:r>
              <a:rPr lang="en-GB" sz="2800" b="1" dirty="0">
                <a:latin typeface="Cambria Math" panose="02040503050406030204" pitchFamily="18" charset="0"/>
                <a:ea typeface="Cambria Math" panose="02040503050406030204" pitchFamily="18" charset="0"/>
              </a:rPr>
              <a:t>1/20=5% threshold</a:t>
            </a:r>
            <a:r>
              <a:rPr lang="en-GB" sz="2800" dirty="0">
                <a:latin typeface="Cambria Math" panose="02040503050406030204" pitchFamily="18" charset="0"/>
                <a:ea typeface="Cambria Math" panose="02040503050406030204" pitchFamily="18" charset="0"/>
              </a:rPr>
              <a:t>) if the tests are statistically independent from each other. If </a:t>
            </a:r>
            <a:r>
              <a:rPr lang="en-GB" sz="2800" b="1" dirty="0">
                <a:latin typeface="Cambria Math" panose="02040503050406030204" pitchFamily="18" charset="0"/>
                <a:ea typeface="Cambria Math" panose="02040503050406030204" pitchFamily="18" charset="0"/>
              </a:rPr>
              <a:t>100</a:t>
            </a:r>
            <a:r>
              <a:rPr lang="en-GB" sz="2800" dirty="0">
                <a:latin typeface="Cambria Math" panose="02040503050406030204" pitchFamily="18" charset="0"/>
                <a:ea typeface="Cambria Math" panose="02040503050406030204" pitchFamily="18" charset="0"/>
              </a:rPr>
              <a:t> tests, </a:t>
            </a:r>
            <a:r>
              <a:rPr lang="en-GB" sz="2800" b="1" dirty="0">
                <a:latin typeface="Cambria Math" panose="02040503050406030204" pitchFamily="18" charset="0"/>
                <a:ea typeface="Cambria Math" panose="02040503050406030204" pitchFamily="18" charset="0"/>
              </a:rPr>
              <a:t>5</a:t>
            </a:r>
            <a:r>
              <a:rPr lang="en-GB" sz="2800" dirty="0">
                <a:latin typeface="Cambria Math" panose="02040503050406030204" pitchFamily="18" charset="0"/>
                <a:ea typeface="Cambria Math" panose="02040503050406030204" pitchFamily="18" charset="0"/>
              </a:rPr>
              <a:t> false positive expected. </a:t>
            </a:r>
          </a:p>
        </p:txBody>
      </p:sp>
    </p:spTree>
    <p:extLst>
      <p:ext uri="{BB962C8B-B14F-4D97-AF65-F5344CB8AC3E}">
        <p14:creationId xmlns:p14="http://schemas.microsoft.com/office/powerpoint/2010/main" val="16328300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sz="3200" dirty="0"/>
              <a:t>m=20 different and substitutable explanatory variables measuring “corruption” = m = 20 tests</a:t>
            </a:r>
          </a:p>
        </p:txBody>
      </p:sp>
      <p:sp>
        <p:nvSpPr>
          <p:cNvPr id="3" name="Espace réservé du contenu 2"/>
          <p:cNvSpPr>
            <a:spLocks noGrp="1"/>
          </p:cNvSpPr>
          <p:nvPr>
            <p:ph idx="1"/>
          </p:nvPr>
        </p:nvSpPr>
        <p:spPr/>
        <p:txBody>
          <a:bodyPr>
            <a:normAutofit fontScale="70000" lnSpcReduction="20000"/>
          </a:bodyPr>
          <a:lstStyle/>
          <a:p>
            <a:pPr marL="0" indent="0">
              <a:buNone/>
            </a:pPr>
            <a:r>
              <a:rPr lang="fr-FR" dirty="0" err="1"/>
              <a:t>Proba</a:t>
            </a:r>
            <a:r>
              <a:rPr lang="fr-FR" dirty="0"/>
              <a:t> of type I </a:t>
            </a:r>
            <a:r>
              <a:rPr lang="fr-FR" dirty="0" err="1"/>
              <a:t>error</a:t>
            </a:r>
            <a:r>
              <a:rPr lang="fr-FR" dirty="0"/>
              <a:t>: </a:t>
            </a:r>
          </a:p>
          <a:p>
            <a:pPr marL="0" indent="0">
              <a:buNone/>
            </a:pPr>
            <a:r>
              <a:rPr lang="fr-FR" dirty="0"/>
              <a:t>p(</a:t>
            </a:r>
            <a:r>
              <a:rPr lang="fr-FR" altLang="fr-FR" dirty="0" err="1"/>
              <a:t>rejecting</a:t>
            </a:r>
            <a:r>
              <a:rPr lang="fr-FR" altLang="fr-FR" dirty="0"/>
              <a:t> </a:t>
            </a:r>
            <a:r>
              <a:rPr lang="fr-FR" dirty="0"/>
              <a:t>H</a:t>
            </a:r>
            <a:r>
              <a:rPr lang="fr-FR" baseline="-25000" dirty="0"/>
              <a:t>0  </a:t>
            </a:r>
            <a:r>
              <a:rPr lang="fr-FR" dirty="0" err="1"/>
              <a:t>with</a:t>
            </a:r>
            <a:r>
              <a:rPr lang="fr-FR" dirty="0"/>
              <a:t> test </a:t>
            </a:r>
            <a:r>
              <a:rPr lang="fr-FR" dirty="0" err="1"/>
              <a:t>statistic</a:t>
            </a:r>
            <a:r>
              <a:rPr lang="fr-FR" dirty="0"/>
              <a:t> |T|&gt;t</a:t>
            </a:r>
            <a:r>
              <a:rPr lang="el-GR" baseline="-25000" dirty="0"/>
              <a:t>α</a:t>
            </a:r>
            <a:r>
              <a:rPr lang="fr-FR" dirty="0"/>
              <a:t> |</a:t>
            </a:r>
            <a:r>
              <a:rPr lang="fr-FR" dirty="0">
                <a:solidFill>
                  <a:srgbClr val="FF0000"/>
                </a:solidFill>
              </a:rPr>
              <a:t>H</a:t>
            </a:r>
            <a:r>
              <a:rPr lang="fr-FR" baseline="-25000" dirty="0">
                <a:solidFill>
                  <a:srgbClr val="FF0000"/>
                </a:solidFill>
              </a:rPr>
              <a:t>0</a:t>
            </a:r>
            <a:r>
              <a:rPr lang="fr-FR" dirty="0">
                <a:solidFill>
                  <a:srgbClr val="FF0000"/>
                </a:solidFill>
              </a:rPr>
              <a:t> </a:t>
            </a:r>
            <a:r>
              <a:rPr lang="fr-FR" dirty="0" err="1">
                <a:solidFill>
                  <a:srgbClr val="FF0000"/>
                </a:solidFill>
              </a:rPr>
              <a:t>true</a:t>
            </a:r>
            <a:r>
              <a:rPr lang="fr-FR" dirty="0"/>
              <a:t>) = </a:t>
            </a:r>
            <a:r>
              <a:rPr lang="el-GR" dirty="0"/>
              <a:t>α</a:t>
            </a:r>
            <a:endParaRPr lang="fr-FR" altLang="fr-FR" dirty="0"/>
          </a:p>
          <a:p>
            <a:pPr marL="0" indent="0">
              <a:buNone/>
            </a:pPr>
            <a:r>
              <a:rPr lang="fr-FR" dirty="0"/>
              <a:t>No </a:t>
            </a:r>
            <a:r>
              <a:rPr lang="fr-FR" dirty="0" err="1"/>
              <a:t>error</a:t>
            </a:r>
            <a:r>
              <a:rPr lang="fr-FR" dirty="0"/>
              <a:t>: p(not </a:t>
            </a:r>
            <a:r>
              <a:rPr lang="fr-FR" altLang="fr-FR" dirty="0" err="1"/>
              <a:t>rejecting</a:t>
            </a:r>
            <a:r>
              <a:rPr lang="fr-FR" altLang="fr-FR" dirty="0"/>
              <a:t> </a:t>
            </a:r>
            <a:r>
              <a:rPr lang="fr-FR" dirty="0"/>
              <a:t>H</a:t>
            </a:r>
            <a:r>
              <a:rPr lang="fr-FR" baseline="-25000" dirty="0"/>
              <a:t>0  </a:t>
            </a:r>
            <a:r>
              <a:rPr lang="fr-FR" dirty="0" err="1"/>
              <a:t>with</a:t>
            </a:r>
            <a:r>
              <a:rPr lang="fr-FR" dirty="0"/>
              <a:t> test </a:t>
            </a:r>
            <a:r>
              <a:rPr lang="fr-FR" dirty="0" err="1"/>
              <a:t>statistic</a:t>
            </a:r>
            <a:r>
              <a:rPr lang="fr-FR" dirty="0"/>
              <a:t> |T|&gt;t</a:t>
            </a:r>
            <a:r>
              <a:rPr lang="el-GR" baseline="-25000" dirty="0"/>
              <a:t>α</a:t>
            </a:r>
            <a:r>
              <a:rPr lang="fr-FR" dirty="0"/>
              <a:t> |</a:t>
            </a:r>
            <a:r>
              <a:rPr lang="fr-FR" dirty="0">
                <a:solidFill>
                  <a:srgbClr val="FF0000"/>
                </a:solidFill>
              </a:rPr>
              <a:t>H</a:t>
            </a:r>
            <a:r>
              <a:rPr lang="fr-FR" baseline="-25000" dirty="0">
                <a:solidFill>
                  <a:srgbClr val="FF0000"/>
                </a:solidFill>
              </a:rPr>
              <a:t>0</a:t>
            </a:r>
            <a:r>
              <a:rPr lang="fr-FR" dirty="0">
                <a:solidFill>
                  <a:srgbClr val="FF0000"/>
                </a:solidFill>
              </a:rPr>
              <a:t> </a:t>
            </a:r>
            <a:r>
              <a:rPr lang="fr-FR" dirty="0" err="1">
                <a:solidFill>
                  <a:srgbClr val="FF0000"/>
                </a:solidFill>
              </a:rPr>
              <a:t>true</a:t>
            </a:r>
            <a:r>
              <a:rPr lang="fr-FR" dirty="0"/>
              <a:t>) = 1-</a:t>
            </a:r>
            <a:r>
              <a:rPr lang="el-GR" dirty="0"/>
              <a:t>α</a:t>
            </a:r>
            <a:endParaRPr lang="fr-FR" altLang="fr-FR" dirty="0"/>
          </a:p>
          <a:p>
            <a:pPr marL="0" indent="0">
              <a:buNone/>
            </a:pPr>
            <a:r>
              <a:rPr lang="en-US" dirty="0" err="1"/>
              <a:t>Proba</a:t>
            </a:r>
            <a:r>
              <a:rPr lang="en-US" dirty="0"/>
              <a:t> of no error in m independent tests = (</a:t>
            </a:r>
            <a:r>
              <a:rPr lang="fr-FR" dirty="0"/>
              <a:t>1-</a:t>
            </a:r>
            <a:r>
              <a:rPr lang="el-GR" dirty="0"/>
              <a:t>α</a:t>
            </a:r>
            <a:r>
              <a:rPr lang="fr-FR" dirty="0"/>
              <a:t>)</a:t>
            </a:r>
            <a:r>
              <a:rPr lang="fr-FR" baseline="30000" dirty="0"/>
              <a:t>m</a:t>
            </a:r>
            <a:endParaRPr lang="en-US" baseline="30000" dirty="0"/>
          </a:p>
          <a:p>
            <a:pPr marL="0" indent="0">
              <a:buNone/>
            </a:pPr>
            <a:r>
              <a:rPr lang="en-US" dirty="0" err="1"/>
              <a:t>Proba</a:t>
            </a:r>
            <a:r>
              <a:rPr lang="en-US" dirty="0"/>
              <a:t> of at least one error in m independent tests (also called family wise error rate).</a:t>
            </a:r>
          </a:p>
          <a:p>
            <a:pPr marL="0" indent="0">
              <a:buNone/>
            </a:pPr>
            <a:r>
              <a:rPr lang="en-US" dirty="0"/>
              <a:t>=  1 - (</a:t>
            </a:r>
            <a:r>
              <a:rPr lang="fr-FR" dirty="0"/>
              <a:t>1-</a:t>
            </a:r>
            <a:r>
              <a:rPr lang="el-GR" dirty="0"/>
              <a:t>α</a:t>
            </a:r>
            <a:r>
              <a:rPr lang="fr-FR" dirty="0"/>
              <a:t>)</a:t>
            </a:r>
            <a:r>
              <a:rPr lang="fr-FR" baseline="30000" dirty="0"/>
              <a:t>m</a:t>
            </a:r>
            <a:r>
              <a:rPr lang="en-US" dirty="0"/>
              <a:t>  =  1 - (</a:t>
            </a:r>
            <a:r>
              <a:rPr lang="fr-FR" dirty="0"/>
              <a:t>1-m</a:t>
            </a:r>
            <a:r>
              <a:rPr lang="el-GR" dirty="0"/>
              <a:t>α</a:t>
            </a:r>
            <a:r>
              <a:rPr lang="fr-FR" dirty="0"/>
              <a:t>)=m</a:t>
            </a:r>
            <a:r>
              <a:rPr lang="el-GR" dirty="0"/>
              <a:t>α</a:t>
            </a:r>
            <a:r>
              <a:rPr lang="fr-FR" dirty="0"/>
              <a:t> &lt; </a:t>
            </a:r>
            <a:r>
              <a:rPr lang="fr-FR" b="1" dirty="0">
                <a:solidFill>
                  <a:srgbClr val="FF0000"/>
                </a:solidFill>
              </a:rPr>
              <a:t>5% </a:t>
            </a:r>
            <a:r>
              <a:rPr lang="fr-FR" b="1" dirty="0" err="1">
                <a:solidFill>
                  <a:srgbClr val="FF0000"/>
                </a:solidFill>
              </a:rPr>
              <a:t>arbitrary</a:t>
            </a:r>
            <a:r>
              <a:rPr lang="fr-FR" b="1" dirty="0">
                <a:solidFill>
                  <a:srgbClr val="FF0000"/>
                </a:solidFill>
              </a:rPr>
              <a:t> </a:t>
            </a:r>
            <a:r>
              <a:rPr lang="fr-FR" b="1" dirty="0" err="1">
                <a:solidFill>
                  <a:srgbClr val="FF0000"/>
                </a:solidFill>
              </a:rPr>
              <a:t>threshold</a:t>
            </a:r>
            <a:endParaRPr lang="fr-FR" b="1" dirty="0">
              <a:solidFill>
                <a:srgbClr val="FF0000"/>
              </a:solidFill>
            </a:endParaRPr>
          </a:p>
          <a:p>
            <a:pPr marL="0" indent="0">
              <a:buNone/>
            </a:pPr>
            <a:r>
              <a:rPr lang="fr-FR" dirty="0"/>
              <a:t>First </a:t>
            </a:r>
            <a:r>
              <a:rPr lang="fr-FR" dirty="0" err="1"/>
              <a:t>order</a:t>
            </a:r>
            <a:r>
              <a:rPr lang="fr-FR" dirty="0"/>
              <a:t> Taylor expansion for </a:t>
            </a:r>
            <a:r>
              <a:rPr lang="fr-FR" dirty="0" err="1"/>
              <a:t>small</a:t>
            </a:r>
            <a:r>
              <a:rPr lang="fr-FR" dirty="0"/>
              <a:t> </a:t>
            </a:r>
            <a:r>
              <a:rPr lang="el-GR" dirty="0"/>
              <a:t>α</a:t>
            </a:r>
            <a:endParaRPr lang="fr-FR" dirty="0"/>
          </a:p>
          <a:p>
            <a:pPr marL="0" indent="0">
              <a:buNone/>
            </a:pPr>
            <a:r>
              <a:rPr lang="fr-FR" dirty="0" err="1"/>
              <a:t>Then</a:t>
            </a:r>
            <a:r>
              <a:rPr lang="fr-FR" dirty="0"/>
              <a:t> the </a:t>
            </a:r>
            <a:r>
              <a:rPr lang="fr-FR" dirty="0" err="1"/>
              <a:t>threshold</a:t>
            </a:r>
            <a:r>
              <a:rPr lang="fr-FR" dirty="0"/>
              <a:t> </a:t>
            </a:r>
            <a:r>
              <a:rPr lang="fr-FR" dirty="0" err="1"/>
              <a:t>per-test</a:t>
            </a:r>
            <a:r>
              <a:rPr lang="fr-FR" dirty="0"/>
              <a:t> </a:t>
            </a:r>
            <a:r>
              <a:rPr lang="fr-FR" dirty="0" err="1"/>
              <a:t>should</a:t>
            </a:r>
            <a:r>
              <a:rPr lang="fr-FR" dirty="0"/>
              <a:t> DECREASE </a:t>
            </a:r>
            <a:r>
              <a:rPr lang="fr-FR" dirty="0" err="1"/>
              <a:t>with</a:t>
            </a:r>
            <a:r>
              <a:rPr lang="fr-FR" dirty="0"/>
              <a:t> the </a:t>
            </a:r>
            <a:r>
              <a:rPr lang="fr-FR" dirty="0" err="1"/>
              <a:t>number</a:t>
            </a:r>
            <a:r>
              <a:rPr lang="fr-FR" dirty="0"/>
              <a:t> of trials: </a:t>
            </a:r>
          </a:p>
          <a:p>
            <a:pPr marL="0" indent="0">
              <a:buNone/>
            </a:pPr>
            <a:r>
              <a:rPr lang="el-GR" dirty="0"/>
              <a:t>α</a:t>
            </a:r>
            <a:r>
              <a:rPr lang="fr-FR" dirty="0"/>
              <a:t> &lt; </a:t>
            </a:r>
            <a:r>
              <a:rPr lang="fr-FR" b="1" dirty="0">
                <a:solidFill>
                  <a:srgbClr val="FF0000"/>
                </a:solidFill>
              </a:rPr>
              <a:t>5%/m.</a:t>
            </a:r>
            <a:r>
              <a:rPr lang="fr-FR" dirty="0"/>
              <a:t> For 5 trials 5%/5=1%.</a:t>
            </a:r>
          </a:p>
          <a:p>
            <a:pPr marL="0" indent="0">
              <a:buNone/>
            </a:pPr>
            <a:r>
              <a:rPr lang="fr-FR" dirty="0"/>
              <a:t>This </a:t>
            </a:r>
            <a:r>
              <a:rPr lang="fr-FR" dirty="0" err="1"/>
              <a:t>is</a:t>
            </a:r>
            <a:r>
              <a:rPr lang="fr-FR" dirty="0"/>
              <a:t> </a:t>
            </a:r>
            <a:r>
              <a:rPr lang="fr-FR" dirty="0" err="1"/>
              <a:t>called</a:t>
            </a:r>
            <a:r>
              <a:rPr lang="fr-FR" dirty="0"/>
              <a:t> </a:t>
            </a:r>
            <a:r>
              <a:rPr lang="fr-FR" dirty="0" err="1"/>
              <a:t>Bonferroni</a:t>
            </a:r>
            <a:r>
              <a:rPr lang="fr-FR" dirty="0"/>
              <a:t> correction. It </a:t>
            </a:r>
            <a:r>
              <a:rPr lang="fr-FR" dirty="0" err="1"/>
              <a:t>is</a:t>
            </a:r>
            <a:r>
              <a:rPr lang="fr-FR" dirty="0"/>
              <a:t> </a:t>
            </a:r>
            <a:r>
              <a:rPr lang="fr-FR" dirty="0" err="1"/>
              <a:t>done</a:t>
            </a:r>
            <a:r>
              <a:rPr lang="fr-FR" dirty="0"/>
              <a:t> in </a:t>
            </a:r>
            <a:r>
              <a:rPr lang="fr-FR" dirty="0" err="1"/>
              <a:t>genetics</a:t>
            </a:r>
            <a:r>
              <a:rPr lang="fr-FR" dirty="0"/>
              <a:t>, not in </a:t>
            </a:r>
            <a:r>
              <a:rPr lang="fr-FR" dirty="0" err="1"/>
              <a:t>economics</a:t>
            </a:r>
            <a:r>
              <a:rPr lang="fr-FR" dirty="0"/>
              <a:t>.</a:t>
            </a:r>
            <a:endParaRPr lang="en-US" dirty="0"/>
          </a:p>
        </p:txBody>
      </p:sp>
    </p:spTree>
    <p:extLst>
      <p:ext uri="{BB962C8B-B14F-4D97-AF65-F5344CB8AC3E}">
        <p14:creationId xmlns:p14="http://schemas.microsoft.com/office/powerpoint/2010/main" val="33716237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latin typeface="Cambria Math" panose="02040503050406030204" pitchFamily="18" charset="0"/>
                <a:ea typeface="Cambria Math" panose="02040503050406030204" pitchFamily="18" charset="0"/>
              </a:rPr>
              <a:t>Trade-off: p-value&lt;5% or </a:t>
            </a:r>
            <a:br>
              <a:rPr lang="fr-FR" sz="3600" dirty="0">
                <a:latin typeface="Cambria Math" panose="02040503050406030204" pitchFamily="18" charset="0"/>
                <a:ea typeface="Cambria Math" panose="02040503050406030204" pitchFamily="18" charset="0"/>
              </a:rPr>
            </a:br>
            <a:r>
              <a:rPr lang="fr-FR" sz="3600" dirty="0">
                <a:latin typeface="Cambria Math" panose="02040503050406030204" pitchFamily="18" charset="0"/>
                <a:ea typeface="Cambria Math" panose="02040503050406030204" pitchFamily="18" charset="0"/>
              </a:rPr>
              <a:t>explorations of the data set </a:t>
            </a:r>
            <a:r>
              <a:rPr lang="fr-FR" sz="3600" dirty="0" err="1">
                <a:latin typeface="Cambria Math" panose="02040503050406030204" pitchFamily="18" charset="0"/>
                <a:ea typeface="Cambria Math" panose="02040503050406030204" pitchFamily="18" charset="0"/>
              </a:rPr>
              <a:t>properties</a:t>
            </a:r>
            <a:r>
              <a:rPr lang="fr-FR" sz="3600" dirty="0">
                <a:latin typeface="Cambria Math" panose="02040503050406030204" pitchFamily="18" charset="0"/>
                <a:ea typeface="Cambria Math" panose="02040503050406030204" pitchFamily="18" charset="0"/>
              </a:rPr>
              <a:t>?</a:t>
            </a:r>
            <a:endParaRPr lang="en-GB" sz="3600" dirty="0">
              <a:latin typeface="Cambria Math" panose="02040503050406030204" pitchFamily="18" charset="0"/>
              <a:ea typeface="Cambria Math" panose="02040503050406030204" pitchFamily="18" charset="0"/>
            </a:endParaRPr>
          </a:p>
        </p:txBody>
      </p:sp>
      <p:sp>
        <p:nvSpPr>
          <p:cNvPr id="3" name="Espace réservé du contenu 2"/>
          <p:cNvSpPr>
            <a:spLocks noGrp="1"/>
          </p:cNvSpPr>
          <p:nvPr>
            <p:ph idx="1"/>
          </p:nvPr>
        </p:nvSpPr>
        <p:spPr/>
        <p:txBody>
          <a:bodyPr/>
          <a:lstStyle/>
          <a:p>
            <a:pPr marL="0" indent="0" algn="just">
              <a:buNone/>
            </a:pPr>
            <a:r>
              <a:rPr lang="en-US" sz="2800" dirty="0">
                <a:latin typeface="Cambria Math" panose="02040503050406030204" pitchFamily="18" charset="0"/>
                <a:ea typeface="Cambria Math" panose="02040503050406030204" pitchFamily="18" charset="0"/>
              </a:rPr>
              <a:t>Should we stick to only 1 regression and 1 single test?</a:t>
            </a:r>
          </a:p>
          <a:p>
            <a:pPr marL="0" indent="0" algn="just">
              <a:buNone/>
            </a:pPr>
            <a:r>
              <a:rPr lang="en-US" sz="2800" dirty="0">
                <a:latin typeface="Cambria Math" panose="02040503050406030204" pitchFamily="18" charset="0"/>
                <a:ea typeface="Cambria Math" panose="02040503050406030204" pitchFamily="18" charset="0"/>
              </a:rPr>
              <a:t>But we learn from exploratory data analysis, with trial and errors, with 20 to 40 regressions.</a:t>
            </a:r>
          </a:p>
          <a:p>
            <a:pPr marL="0" indent="0" algn="just">
              <a:buNone/>
            </a:pPr>
            <a:r>
              <a:rPr lang="en-US" sz="2800" dirty="0">
                <a:latin typeface="Cambria Math" panose="02040503050406030204" pitchFamily="18" charset="0"/>
                <a:ea typeface="Cambria Math" panose="02040503050406030204" pitchFamily="18" charset="0"/>
              </a:rPr>
              <a:t>The more we learn with multiple testing, the less valid is the 5% threshold and t-test&gt;2, p-value&lt;5%.</a:t>
            </a:r>
          </a:p>
          <a:p>
            <a:pPr marL="0" indent="0" algn="just">
              <a:buNone/>
            </a:pPr>
            <a:r>
              <a:rPr lang="en-US" sz="2800" dirty="0">
                <a:latin typeface="Cambria Math" panose="02040503050406030204" pitchFamily="18" charset="0"/>
                <a:ea typeface="Cambria Math" panose="02040503050406030204" pitchFamily="18" charset="0"/>
              </a:rPr>
              <a:t>In this case, what matters is your path exploring the data, extracting signal from noise, not the final outcome leading to t&gt;2, which turns to be irrelevant.</a:t>
            </a:r>
          </a:p>
        </p:txBody>
      </p:sp>
    </p:spTree>
    <p:extLst>
      <p:ext uri="{BB962C8B-B14F-4D97-AF65-F5344CB8AC3E}">
        <p14:creationId xmlns:p14="http://schemas.microsoft.com/office/powerpoint/2010/main" val="9645898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ormAutofit/>
          </a:bodyPr>
          <a:lstStyle/>
          <a:p>
            <a:r>
              <a:rPr lang="fr-FR" dirty="0"/>
              <a:t>Part A: Conclusion. p-hacking: </a:t>
            </a:r>
            <a:br>
              <a:rPr lang="fr-FR" dirty="0"/>
            </a:br>
            <a:r>
              <a:rPr lang="fr-FR" dirty="0" err="1"/>
              <a:t>Some</a:t>
            </a:r>
            <a:r>
              <a:rPr lang="fr-FR" dirty="0"/>
              <a:t> of the tricks</a:t>
            </a:r>
          </a:p>
        </p:txBody>
      </p:sp>
    </p:spTree>
    <p:extLst>
      <p:ext uri="{BB962C8B-B14F-4D97-AF65-F5344CB8AC3E}">
        <p14:creationId xmlns:p14="http://schemas.microsoft.com/office/powerpoint/2010/main" val="19263432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dirty="0"/>
              <a:t>How researchers increase t-stats</a:t>
            </a:r>
          </a:p>
        </p:txBody>
      </p:sp>
      <p:sp>
        <p:nvSpPr>
          <p:cNvPr id="3" name="Espace réservé du contenu 2"/>
          <p:cNvSpPr>
            <a:spLocks noGrp="1"/>
          </p:cNvSpPr>
          <p:nvPr>
            <p:ph idx="1"/>
          </p:nvPr>
        </p:nvSpPr>
        <p:spPr/>
        <p:txBody>
          <a:bodyPr>
            <a:normAutofit lnSpcReduction="10000"/>
          </a:bodyPr>
          <a:lstStyle/>
          <a:p>
            <a:pPr marL="0" indent="0" algn="just">
              <a:buNone/>
            </a:pPr>
            <a:r>
              <a:rPr lang="en-GB" dirty="0"/>
              <a:t>t-stats increases with the number of observations and with the partial correlation coefficient.</a:t>
            </a:r>
          </a:p>
          <a:p>
            <a:pPr marL="514350" indent="-514350" algn="just">
              <a:buAutoNum type="arabicPeriod"/>
            </a:pPr>
            <a:r>
              <a:rPr lang="en-GB" dirty="0"/>
              <a:t>Expand the number of observations up to at least 400 but why not 5 millions.</a:t>
            </a:r>
          </a:p>
          <a:p>
            <a:pPr marL="514350" indent="-514350" algn="just">
              <a:buAutoNum type="arabicPeriod"/>
            </a:pPr>
            <a:r>
              <a:rPr lang="en-GB" dirty="0"/>
              <a:t>Expand the partial correlation coefficient by selecting observations, by selecting variables, by transformation of variables, by selecting estimators.</a:t>
            </a:r>
          </a:p>
        </p:txBody>
      </p:sp>
    </p:spTree>
    <p:extLst>
      <p:ext uri="{BB962C8B-B14F-4D97-AF65-F5344CB8AC3E}">
        <p14:creationId xmlns:p14="http://schemas.microsoft.com/office/powerpoint/2010/main" val="29048019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dirty="0"/>
              <a:t>Observations: scientific approach</a:t>
            </a:r>
            <a:br>
              <a:rPr lang="en-GB" dirty="0"/>
            </a:br>
            <a:r>
              <a:rPr lang="en-GB" dirty="0"/>
              <a:t>to boost your parameter</a:t>
            </a:r>
          </a:p>
        </p:txBody>
      </p:sp>
      <p:sp>
        <p:nvSpPr>
          <p:cNvPr id="3" name="Espace réservé du contenu 2"/>
          <p:cNvSpPr>
            <a:spLocks noGrp="1"/>
          </p:cNvSpPr>
          <p:nvPr>
            <p:ph idx="1"/>
          </p:nvPr>
        </p:nvSpPr>
        <p:spPr/>
        <p:txBody>
          <a:bodyPr>
            <a:normAutofit fontScale="92500" lnSpcReduction="20000"/>
          </a:bodyPr>
          <a:lstStyle/>
          <a:p>
            <a:pPr marL="0" indent="0" algn="just">
              <a:buNone/>
            </a:pPr>
            <a:r>
              <a:rPr lang="en-GB" dirty="0"/>
              <a:t>For each observations, you have an influence statistics for regression called </a:t>
            </a:r>
            <a:r>
              <a:rPr lang="en-GB" dirty="0" err="1"/>
              <a:t>df</a:t>
            </a:r>
            <a:r>
              <a:rPr lang="en-GB" dirty="0"/>
              <a:t>-beta: it signals if this observations increases (if positive) or decreases the estimated parameter (numerator of t-stats). </a:t>
            </a:r>
          </a:p>
          <a:p>
            <a:pPr marL="0" indent="0" algn="just">
              <a:buNone/>
            </a:pPr>
            <a:r>
              <a:rPr lang="en-GB" dirty="0"/>
              <a:t>If you wish a positive beta, you remove one by one the lowest negative until the t-stat &gt;2.</a:t>
            </a:r>
          </a:p>
          <a:p>
            <a:pPr marL="0" indent="0" algn="just">
              <a:buNone/>
            </a:pPr>
            <a:r>
              <a:rPr lang="en-GB" dirty="0"/>
              <a:t>You may also code a </a:t>
            </a:r>
            <a:r>
              <a:rPr lang="en-GB" dirty="0" err="1"/>
              <a:t>df-tstat</a:t>
            </a:r>
            <a:r>
              <a:rPr lang="en-GB" dirty="0"/>
              <a:t>: by how much a t-stat increases when you remove each observations in the sample. From the lowest negative to highest positive. </a:t>
            </a:r>
          </a:p>
        </p:txBody>
      </p:sp>
    </p:spTree>
    <p:extLst>
      <p:ext uri="{BB962C8B-B14F-4D97-AF65-F5344CB8AC3E}">
        <p14:creationId xmlns:p14="http://schemas.microsoft.com/office/powerpoint/2010/main" val="4861429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dirty="0"/>
              <a:t>Selecting observations: do it yourself</a:t>
            </a:r>
            <a:br>
              <a:rPr lang="en-GB" dirty="0"/>
            </a:br>
            <a:r>
              <a:rPr lang="en-GB" dirty="0"/>
              <a:t>with trial and errors</a:t>
            </a:r>
          </a:p>
        </p:txBody>
      </p:sp>
      <p:sp>
        <p:nvSpPr>
          <p:cNvPr id="3" name="Espace réservé du contenu 2"/>
          <p:cNvSpPr>
            <a:spLocks noGrp="1"/>
          </p:cNvSpPr>
          <p:nvPr>
            <p:ph idx="1"/>
          </p:nvPr>
        </p:nvSpPr>
        <p:spPr/>
        <p:txBody>
          <a:bodyPr>
            <a:normAutofit fontScale="77500" lnSpcReduction="20000"/>
          </a:bodyPr>
          <a:lstStyle/>
          <a:p>
            <a:pPr marL="0" indent="0" algn="just">
              <a:buNone/>
            </a:pPr>
            <a:r>
              <a:rPr lang="en-GB" dirty="0"/>
              <a:t>Sample selection biases: Survivorship bias, </a:t>
            </a:r>
          </a:p>
          <a:p>
            <a:pPr marL="0" indent="0" algn="just">
              <a:buNone/>
            </a:pPr>
            <a:r>
              <a:rPr lang="en-GB" dirty="0"/>
              <a:t>Omitting weak individuals not reported by statistical offices.</a:t>
            </a:r>
          </a:p>
          <a:p>
            <a:pPr marL="0" indent="0" algn="just">
              <a:buNone/>
            </a:pPr>
            <a:r>
              <a:rPr lang="en-GB" dirty="0"/>
              <a:t>This may be coupled with adding variables with many omitted observations. It is not your fault, it is the statistical office and else, the other variable leads to an “omitted variable bias”. You add this variable in the regression, but you lose 400 observations over 800.</a:t>
            </a:r>
          </a:p>
          <a:p>
            <a:pPr marL="0" indent="0" algn="just">
              <a:buNone/>
            </a:pPr>
            <a:r>
              <a:rPr lang="en-GB" dirty="0"/>
              <a:t>Selecting outliers: keep high “positive” influence outliers with </a:t>
            </a:r>
            <a:r>
              <a:rPr lang="en-GB" dirty="0" err="1"/>
              <a:t>dfbeta</a:t>
            </a:r>
            <a:r>
              <a:rPr lang="en-GB" dirty="0"/>
              <a:t>&gt;0 if you seek positive effect while being strict on a few “negative” outliers. The effect is true but on a few individual, you publish an erroneous inference: it is true on the majority of the population.</a:t>
            </a:r>
          </a:p>
        </p:txBody>
      </p:sp>
    </p:spTree>
    <p:extLst>
      <p:ext uri="{BB962C8B-B14F-4D97-AF65-F5344CB8AC3E}">
        <p14:creationId xmlns:p14="http://schemas.microsoft.com/office/powerpoint/2010/main" val="3629305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en-GB" sz="3600" dirty="0"/>
              <a:t>Adding highly correlated variables: squares, interaction terms, lags, etc.</a:t>
            </a:r>
          </a:p>
        </p:txBody>
      </p:sp>
      <p:sp>
        <p:nvSpPr>
          <p:cNvPr id="3" name="Espace réservé du contenu 2"/>
          <p:cNvSpPr>
            <a:spLocks noGrp="1"/>
          </p:cNvSpPr>
          <p:nvPr>
            <p:ph idx="1"/>
          </p:nvPr>
        </p:nvSpPr>
        <p:spPr/>
        <p:txBody>
          <a:bodyPr/>
          <a:lstStyle/>
          <a:p>
            <a:pPr marL="0" indent="0">
              <a:buNone/>
            </a:pPr>
            <a:r>
              <a:rPr lang="en-GB" dirty="0"/>
              <a:t>These specifications are interesting: non-linear, complementarity, dynamic model.</a:t>
            </a:r>
          </a:p>
          <a:p>
            <a:pPr marL="0" indent="0">
              <a:buNone/>
            </a:pPr>
            <a:r>
              <a:rPr lang="en-GB" dirty="0"/>
              <a:t>If near-zero effect before including the highly collinear variable, after inclusion, the t-stat may shift from below 2 to over 2.</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8189942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dirty="0"/>
              <a:t>Multiple testing of 20 variable measurements  of the same item.</a:t>
            </a:r>
          </a:p>
        </p:txBody>
      </p:sp>
      <p:sp>
        <p:nvSpPr>
          <p:cNvPr id="3" name="Espace réservé du contenu 2"/>
          <p:cNvSpPr>
            <a:spLocks noGrp="1"/>
          </p:cNvSpPr>
          <p:nvPr>
            <p:ph idx="1"/>
          </p:nvPr>
        </p:nvSpPr>
        <p:spPr/>
        <p:txBody>
          <a:bodyPr/>
          <a:lstStyle/>
          <a:p>
            <a:pPr marL="0" indent="0">
              <a:buNone/>
            </a:pPr>
            <a:r>
              <a:rPr lang="en-GB" dirty="0"/>
              <a:t>For example “20 good governance indicators” including some noise related to experts views.</a:t>
            </a:r>
          </a:p>
          <a:p>
            <a:pPr marL="0" indent="0">
              <a:buNone/>
            </a:pPr>
            <a:r>
              <a:rPr lang="en-GB" dirty="0"/>
              <a:t>By sampling errors, you would have 1 chance of 20 to get t-stat &gt;2.</a:t>
            </a:r>
          </a:p>
          <a:p>
            <a:pPr marL="0" indent="0">
              <a:buNone/>
            </a:pPr>
            <a:r>
              <a:rPr lang="en-GB" dirty="0"/>
              <a:t>You do not report (no-one does in economics so far) how many trials you have done.</a:t>
            </a:r>
          </a:p>
          <a:p>
            <a:pPr marL="0" indent="0">
              <a:buNone/>
            </a:pPr>
            <a:r>
              <a:rPr lang="en-GB" dirty="0"/>
              <a:t>You report only 1 case with t&gt;2 and not the 19 other trials with t&lt;2.</a:t>
            </a:r>
          </a:p>
        </p:txBody>
      </p:sp>
    </p:spTree>
    <p:extLst>
      <p:ext uri="{BB962C8B-B14F-4D97-AF65-F5344CB8AC3E}">
        <p14:creationId xmlns:p14="http://schemas.microsoft.com/office/powerpoint/2010/main" val="286383234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dirty="0"/>
              <a:t>A clever trick with IV estimator and weak instrumental variables</a:t>
            </a:r>
          </a:p>
        </p:txBody>
      </p:sp>
      <p:sp>
        <p:nvSpPr>
          <p:cNvPr id="3" name="Espace réservé du contenu 2"/>
          <p:cNvSpPr>
            <a:spLocks noGrp="1"/>
          </p:cNvSpPr>
          <p:nvPr>
            <p:ph idx="1"/>
          </p:nvPr>
        </p:nvSpPr>
        <p:spPr/>
        <p:txBody>
          <a:bodyPr>
            <a:normAutofit fontScale="85000" lnSpcReduction="20000"/>
          </a:bodyPr>
          <a:lstStyle/>
          <a:p>
            <a:pPr marL="0" indent="0">
              <a:buNone/>
            </a:pPr>
            <a:r>
              <a:rPr lang="en-GB" dirty="0"/>
              <a:t>Y= </a:t>
            </a:r>
            <a:r>
              <a:rPr lang="en-GB" dirty="0">
                <a:latin typeface="Cambria Math" panose="02040503050406030204" pitchFamily="18" charset="0"/>
                <a:ea typeface="Cambria Math" panose="02040503050406030204" pitchFamily="18" charset="0"/>
              </a:rPr>
              <a:t>β</a:t>
            </a:r>
            <a:r>
              <a:rPr lang="en-GB" baseline="-25000" dirty="0">
                <a:latin typeface="Cambria Math" panose="02040503050406030204" pitchFamily="18" charset="0"/>
                <a:ea typeface="Cambria Math" panose="02040503050406030204" pitchFamily="18" charset="0"/>
              </a:rPr>
              <a:t>1</a:t>
            </a:r>
            <a:r>
              <a:rPr lang="en-GB" dirty="0">
                <a:latin typeface="Cambria Math" panose="02040503050406030204" pitchFamily="18" charset="0"/>
                <a:ea typeface="Cambria Math" panose="02040503050406030204" pitchFamily="18" charset="0"/>
              </a:rPr>
              <a:t> x</a:t>
            </a:r>
            <a:r>
              <a:rPr lang="en-GB" baseline="-25000" dirty="0">
                <a:latin typeface="Cambria Math" panose="02040503050406030204" pitchFamily="18" charset="0"/>
                <a:ea typeface="Cambria Math" panose="02040503050406030204" pitchFamily="18" charset="0"/>
              </a:rPr>
              <a:t>1</a:t>
            </a:r>
            <a:r>
              <a:rPr lang="en-GB" dirty="0">
                <a:latin typeface="Cambria Math" panose="02040503050406030204" pitchFamily="18" charset="0"/>
                <a:ea typeface="Cambria Math" panose="02040503050406030204" pitchFamily="18" charset="0"/>
              </a:rPr>
              <a:t> + β</a:t>
            </a:r>
            <a:r>
              <a:rPr lang="en-GB" baseline="-25000" dirty="0">
                <a:latin typeface="Cambria Math" panose="02040503050406030204" pitchFamily="18" charset="0"/>
                <a:ea typeface="Cambria Math" panose="02040503050406030204" pitchFamily="18" charset="0"/>
              </a:rPr>
              <a:t>2</a:t>
            </a:r>
            <a:r>
              <a:rPr lang="en-GB" dirty="0">
                <a:latin typeface="Cambria Math" panose="02040503050406030204" pitchFamily="18" charset="0"/>
                <a:ea typeface="Cambria Math" panose="02040503050406030204" pitchFamily="18" charset="0"/>
              </a:rPr>
              <a:t> x</a:t>
            </a:r>
            <a:r>
              <a:rPr lang="en-GB" baseline="-25000" dirty="0">
                <a:latin typeface="Cambria Math" panose="02040503050406030204" pitchFamily="18" charset="0"/>
                <a:ea typeface="Cambria Math" panose="02040503050406030204" pitchFamily="18" charset="0"/>
              </a:rPr>
              <a:t>2</a:t>
            </a:r>
            <a:r>
              <a:rPr lang="en-GB" dirty="0">
                <a:latin typeface="Cambria Math" panose="02040503050406030204" pitchFamily="18" charset="0"/>
                <a:ea typeface="Cambria Math" panose="02040503050406030204" pitchFamily="18" charset="0"/>
              </a:rPr>
              <a:t> + </a:t>
            </a:r>
            <a:r>
              <a:rPr lang="en-GB" dirty="0">
                <a:latin typeface="Cambria Math"/>
                <a:ea typeface="Cambria Math"/>
              </a:rPr>
              <a:t>ε</a:t>
            </a:r>
          </a:p>
          <a:p>
            <a:pPr marL="0" indent="0" algn="just">
              <a:buNone/>
            </a:pPr>
            <a:r>
              <a:rPr lang="en-GB" dirty="0">
                <a:latin typeface="Cambria Math"/>
                <a:ea typeface="Cambria Math"/>
              </a:rPr>
              <a:t>In the first stage of instrumental variables, the first explanatory variable </a:t>
            </a:r>
            <a:r>
              <a:rPr lang="en-GB" dirty="0">
                <a:latin typeface="Cambria Math" panose="02040503050406030204" pitchFamily="18" charset="0"/>
                <a:ea typeface="Cambria Math" panose="02040503050406030204" pitchFamily="18" charset="0"/>
              </a:rPr>
              <a:t>x</a:t>
            </a:r>
            <a:r>
              <a:rPr lang="en-GB" baseline="-25000" dirty="0">
                <a:latin typeface="Cambria Math" panose="02040503050406030204" pitchFamily="18" charset="0"/>
                <a:ea typeface="Cambria Math" panose="02040503050406030204" pitchFamily="18" charset="0"/>
              </a:rPr>
              <a:t>1 </a:t>
            </a:r>
            <a:r>
              <a:rPr lang="en-GB" dirty="0">
                <a:latin typeface="Cambria Math"/>
                <a:ea typeface="Cambria Math"/>
              </a:rPr>
              <a:t>is explained by the second one </a:t>
            </a:r>
            <a:r>
              <a:rPr lang="en-GB" dirty="0">
                <a:latin typeface="Cambria Math" panose="02040503050406030204" pitchFamily="18" charset="0"/>
                <a:ea typeface="Cambria Math" panose="02040503050406030204" pitchFamily="18" charset="0"/>
              </a:rPr>
              <a:t> x</a:t>
            </a:r>
            <a:r>
              <a:rPr lang="en-GB" baseline="-25000" dirty="0">
                <a:latin typeface="Cambria Math" panose="02040503050406030204" pitchFamily="18" charset="0"/>
                <a:ea typeface="Cambria Math" panose="02040503050406030204" pitchFamily="18" charset="0"/>
              </a:rPr>
              <a:t>2</a:t>
            </a:r>
            <a:r>
              <a:rPr lang="en-GB" dirty="0">
                <a:latin typeface="Cambria Math"/>
                <a:ea typeface="Cambria Math"/>
              </a:rPr>
              <a:t> (moderately correlated, 0.4) and an instrument z which is weakly correlated (0.05) with </a:t>
            </a:r>
            <a:r>
              <a:rPr lang="en-GB" dirty="0">
                <a:latin typeface="Cambria Math" panose="02040503050406030204" pitchFamily="18" charset="0"/>
                <a:ea typeface="Cambria Math" panose="02040503050406030204" pitchFamily="18" charset="0"/>
              </a:rPr>
              <a:t>x</a:t>
            </a:r>
            <a:r>
              <a:rPr lang="en-GB" baseline="-25000" dirty="0">
                <a:latin typeface="Cambria Math" panose="02040503050406030204" pitchFamily="18" charset="0"/>
                <a:ea typeface="Cambria Math" panose="02040503050406030204" pitchFamily="18" charset="0"/>
              </a:rPr>
              <a:t>1</a:t>
            </a:r>
            <a:r>
              <a:rPr lang="en-GB" dirty="0">
                <a:latin typeface="Cambria Math"/>
                <a:ea typeface="Cambria Math"/>
              </a:rPr>
              <a:t>. Then the forecast replacing </a:t>
            </a:r>
            <a:r>
              <a:rPr lang="en-GB" dirty="0">
                <a:latin typeface="Cambria Math" panose="02040503050406030204" pitchFamily="18" charset="0"/>
                <a:ea typeface="Cambria Math" panose="02040503050406030204" pitchFamily="18" charset="0"/>
              </a:rPr>
              <a:t>x</a:t>
            </a:r>
            <a:r>
              <a:rPr lang="en-GB" baseline="-25000" dirty="0">
                <a:latin typeface="Cambria Math" panose="02040503050406030204" pitchFamily="18" charset="0"/>
                <a:ea typeface="Cambria Math" panose="02040503050406030204" pitchFamily="18" charset="0"/>
              </a:rPr>
              <a:t>1 </a:t>
            </a:r>
            <a:r>
              <a:rPr lang="en-GB" dirty="0">
                <a:latin typeface="Cambria Math"/>
                <a:ea typeface="Cambria Math"/>
              </a:rPr>
              <a:t> used in the second stage is mostly driven by </a:t>
            </a:r>
            <a:r>
              <a:rPr lang="en-GB" dirty="0">
                <a:latin typeface="Cambria Math" panose="02040503050406030204" pitchFamily="18" charset="0"/>
                <a:ea typeface="Cambria Math" panose="02040503050406030204" pitchFamily="18" charset="0"/>
              </a:rPr>
              <a:t>x</a:t>
            </a:r>
            <a:r>
              <a:rPr lang="en-GB" baseline="-25000" dirty="0">
                <a:latin typeface="Cambria Math" panose="02040503050406030204" pitchFamily="18" charset="0"/>
                <a:ea typeface="Cambria Math" panose="02040503050406030204" pitchFamily="18" charset="0"/>
              </a:rPr>
              <a:t>2</a:t>
            </a:r>
            <a:r>
              <a:rPr lang="en-GB" dirty="0">
                <a:latin typeface="Cambria Math"/>
                <a:ea typeface="Cambria Math"/>
              </a:rPr>
              <a:t>. It is now highly correlated with </a:t>
            </a:r>
            <a:r>
              <a:rPr lang="en-GB" dirty="0">
                <a:latin typeface="Cambria Math" panose="02040503050406030204" pitchFamily="18" charset="0"/>
                <a:ea typeface="Cambria Math" panose="02040503050406030204" pitchFamily="18" charset="0"/>
              </a:rPr>
              <a:t>x</a:t>
            </a:r>
            <a:r>
              <a:rPr lang="en-GB" baseline="-25000" dirty="0">
                <a:latin typeface="Cambria Math" panose="02040503050406030204" pitchFamily="18" charset="0"/>
                <a:ea typeface="Cambria Math" panose="02040503050406030204" pitchFamily="18" charset="0"/>
              </a:rPr>
              <a:t>2</a:t>
            </a:r>
            <a:r>
              <a:rPr lang="en-GB" dirty="0">
                <a:latin typeface="Cambria Math"/>
                <a:ea typeface="Cambria Math"/>
              </a:rPr>
              <a:t> (&gt;0.8) so that its second stage IV parameter </a:t>
            </a:r>
            <a:r>
              <a:rPr lang="en-GB" dirty="0">
                <a:latin typeface="Cambria Math" panose="02040503050406030204" pitchFamily="18" charset="0"/>
                <a:ea typeface="Cambria Math" panose="02040503050406030204" pitchFamily="18" charset="0"/>
              </a:rPr>
              <a:t>β</a:t>
            </a:r>
            <a:r>
              <a:rPr lang="en-GB" baseline="-25000" dirty="0">
                <a:latin typeface="Cambria Math" panose="02040503050406030204" pitchFamily="18" charset="0"/>
                <a:ea typeface="Cambria Math" panose="02040503050406030204" pitchFamily="18" charset="0"/>
              </a:rPr>
              <a:t>1,IV </a:t>
            </a:r>
            <a:r>
              <a:rPr lang="en-GB" dirty="0">
                <a:latin typeface="Cambria Math"/>
                <a:ea typeface="Cambria Math"/>
              </a:rPr>
              <a:t>expands, t-stat increases, with a sign flip. What is more, </a:t>
            </a:r>
            <a:r>
              <a:rPr lang="en-GB" dirty="0" err="1">
                <a:latin typeface="Cambria Math"/>
                <a:ea typeface="Cambria Math"/>
              </a:rPr>
              <a:t>Hausman</a:t>
            </a:r>
            <a:r>
              <a:rPr lang="en-GB" dirty="0">
                <a:latin typeface="Cambria Math"/>
                <a:ea typeface="Cambria Math"/>
              </a:rPr>
              <a:t> test statistics increases due to the increase of the IV parameter with respect to OLS (</a:t>
            </a:r>
            <a:r>
              <a:rPr lang="en-GB" dirty="0">
                <a:latin typeface="Cambria Math" panose="02040503050406030204" pitchFamily="18" charset="0"/>
                <a:ea typeface="Cambria Math" panose="02040503050406030204" pitchFamily="18" charset="0"/>
              </a:rPr>
              <a:t>β</a:t>
            </a:r>
            <a:r>
              <a:rPr lang="en-GB" baseline="-25000" dirty="0">
                <a:latin typeface="Cambria Math" panose="02040503050406030204" pitchFamily="18" charset="0"/>
                <a:ea typeface="Cambria Math" panose="02040503050406030204" pitchFamily="18" charset="0"/>
              </a:rPr>
              <a:t>1,IV </a:t>
            </a:r>
            <a:r>
              <a:rPr lang="en-GB" dirty="0">
                <a:latin typeface="Cambria Math"/>
                <a:ea typeface="Cambria Math"/>
              </a:rPr>
              <a:t>- </a:t>
            </a:r>
            <a:r>
              <a:rPr lang="en-GB" dirty="0">
                <a:latin typeface="Cambria Math" panose="02040503050406030204" pitchFamily="18" charset="0"/>
                <a:ea typeface="Cambria Math" panose="02040503050406030204" pitchFamily="18" charset="0"/>
              </a:rPr>
              <a:t>β</a:t>
            </a:r>
            <a:r>
              <a:rPr lang="en-GB" baseline="-25000" dirty="0">
                <a:latin typeface="Cambria Math" panose="02040503050406030204" pitchFamily="18" charset="0"/>
                <a:ea typeface="Cambria Math" panose="02040503050406030204" pitchFamily="18" charset="0"/>
              </a:rPr>
              <a:t>1,OLS</a:t>
            </a:r>
            <a:r>
              <a:rPr lang="en-GB" dirty="0">
                <a:latin typeface="Cambria Math"/>
                <a:ea typeface="Cambria Math"/>
              </a:rPr>
              <a:t>) so that it confirms IV should be preferred to OLS. But the tests of weak instruments would infirm this success. </a:t>
            </a:r>
            <a:endParaRPr lang="en-GB" dirty="0"/>
          </a:p>
        </p:txBody>
      </p:sp>
    </p:spTree>
    <p:extLst>
      <p:ext uri="{BB962C8B-B14F-4D97-AF65-F5344CB8AC3E}">
        <p14:creationId xmlns:p14="http://schemas.microsoft.com/office/powerpoint/2010/main" val="20441012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dirty="0"/>
              <a:t>Master thesis</a:t>
            </a:r>
          </a:p>
        </p:txBody>
      </p:sp>
      <p:sp>
        <p:nvSpPr>
          <p:cNvPr id="3" name="Espace réservé du contenu 2"/>
          <p:cNvSpPr>
            <a:spLocks noGrp="1"/>
          </p:cNvSpPr>
          <p:nvPr>
            <p:ph idx="1"/>
          </p:nvPr>
        </p:nvSpPr>
        <p:spPr/>
        <p:txBody>
          <a:bodyPr/>
          <a:lstStyle/>
          <a:p>
            <a:pPr marL="0" indent="0" algn="just">
              <a:buNone/>
            </a:pPr>
            <a:r>
              <a:rPr lang="en-GB" dirty="0"/>
              <a:t>For master thesis, we do not ask for t&gt;2 for a good grade. </a:t>
            </a:r>
          </a:p>
          <a:p>
            <a:pPr marL="0" indent="0" algn="just">
              <a:buNone/>
            </a:pPr>
            <a:r>
              <a:rPr lang="en-GB" dirty="0"/>
              <a:t>You may actually try up to 50 or 200 trials of various kinds when exploring the data of your master thesis. The marginal cost of a trial in terms of time is small.</a:t>
            </a:r>
          </a:p>
          <a:p>
            <a:pPr marL="0" indent="0" algn="just">
              <a:buNone/>
            </a:pPr>
            <a:endParaRPr lang="en-GB" dirty="0"/>
          </a:p>
        </p:txBody>
      </p:sp>
    </p:spTree>
    <p:extLst>
      <p:ext uri="{BB962C8B-B14F-4D97-AF65-F5344CB8AC3E}">
        <p14:creationId xmlns:p14="http://schemas.microsoft.com/office/powerpoint/2010/main" val="33767905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1. </a:t>
            </a:r>
            <a:r>
              <a:rPr lang="fr-FR" dirty="0" err="1"/>
              <a:t>Definitions</a:t>
            </a:r>
            <a:endParaRPr lang="fr-FR" dirty="0"/>
          </a:p>
        </p:txBody>
      </p:sp>
    </p:spTree>
    <p:extLst>
      <p:ext uri="{BB962C8B-B14F-4D97-AF65-F5344CB8AC3E}">
        <p14:creationId xmlns:p14="http://schemas.microsoft.com/office/powerpoint/2010/main" val="4989342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marL="0" indent="0"/>
            <a:r>
              <a:rPr lang="fr-FR" dirty="0"/>
              <a:t>Data </a:t>
            </a:r>
            <a:r>
              <a:rPr lang="fr-FR" dirty="0" err="1"/>
              <a:t>with</a:t>
            </a:r>
            <a:r>
              <a:rPr lang="fr-FR" dirty="0"/>
              <a:t> multiple indices: </a:t>
            </a:r>
            <a:br>
              <a:rPr lang="fr-FR" dirty="0"/>
            </a:br>
            <a:r>
              <a:rPr lang="fr-FR" dirty="0"/>
              <a:t>X(</a:t>
            </a:r>
            <a:r>
              <a:rPr lang="fr-FR" dirty="0" err="1"/>
              <a:t>i,j,r</a:t>
            </a:r>
            <a:r>
              <a:rPr lang="fr-FR" dirty="0"/>
              <a:t>(i),r(j),</a:t>
            </a:r>
            <a:r>
              <a:rPr lang="fr-FR" dirty="0" err="1"/>
              <a:t>s,t</a:t>
            </a:r>
            <a:r>
              <a:rPr lang="fr-FR" dirty="0"/>
              <a:t>)</a:t>
            </a:r>
          </a:p>
        </p:txBody>
      </p:sp>
      <p:sp>
        <p:nvSpPr>
          <p:cNvPr id="3" name="Espace réservé du contenu 2"/>
          <p:cNvSpPr>
            <a:spLocks noGrp="1"/>
          </p:cNvSpPr>
          <p:nvPr>
            <p:ph idx="1"/>
          </p:nvPr>
        </p:nvSpPr>
        <p:spPr/>
        <p:txBody>
          <a:bodyPr/>
          <a:lstStyle/>
          <a:p>
            <a:pPr marL="0" indent="0">
              <a:buNone/>
            </a:pPr>
            <a:r>
              <a:rPr lang="fr-FR" dirty="0"/>
              <a:t>Export, </a:t>
            </a:r>
            <a:r>
              <a:rPr lang="fr-FR" dirty="0" err="1"/>
              <a:t>Foreign</a:t>
            </a:r>
            <a:r>
              <a:rPr lang="fr-FR" dirty="0"/>
              <a:t> direct </a:t>
            </a:r>
            <a:r>
              <a:rPr lang="fr-FR" dirty="0" err="1"/>
              <a:t>investment</a:t>
            </a:r>
            <a:r>
              <a:rPr lang="fr-FR" dirty="0"/>
              <a:t>, capital </a:t>
            </a:r>
            <a:r>
              <a:rPr lang="fr-FR" dirty="0" err="1"/>
              <a:t>flows</a:t>
            </a:r>
            <a:r>
              <a:rPr lang="fr-FR" dirty="0"/>
              <a:t>, </a:t>
            </a:r>
            <a:r>
              <a:rPr lang="fr-FR" dirty="0" err="1"/>
              <a:t>credit</a:t>
            </a:r>
            <a:r>
              <a:rPr lang="fr-FR" dirty="0"/>
              <a:t>, </a:t>
            </a:r>
            <a:r>
              <a:rPr lang="fr-FR" dirty="0" err="1"/>
              <a:t>etc</a:t>
            </a:r>
            <a:r>
              <a:rPr lang="fr-FR" dirty="0"/>
              <a:t> </a:t>
            </a:r>
            <a:r>
              <a:rPr lang="fr-FR" dirty="0" err="1"/>
              <a:t>from</a:t>
            </a:r>
            <a:r>
              <a:rPr lang="fr-FR" dirty="0"/>
              <a:t> </a:t>
            </a:r>
          </a:p>
          <a:p>
            <a:pPr marL="0" indent="0">
              <a:buNone/>
            </a:pPr>
            <a:r>
              <a:rPr lang="fr-FR" dirty="0"/>
              <a:t>COUNTRY (or BANK): index i</a:t>
            </a:r>
          </a:p>
          <a:p>
            <a:pPr marL="0" indent="0">
              <a:buNone/>
            </a:pPr>
            <a:r>
              <a:rPr lang="fr-FR" dirty="0"/>
              <a:t>COUNTRY (or FIRMS): index j</a:t>
            </a:r>
          </a:p>
          <a:p>
            <a:pPr marL="0" indent="0">
              <a:buNone/>
            </a:pPr>
            <a:r>
              <a:rPr lang="fr-FR" dirty="0"/>
              <a:t>SECTOR: index s</a:t>
            </a:r>
          </a:p>
          <a:p>
            <a:pPr marL="0" indent="0">
              <a:buNone/>
            </a:pPr>
            <a:r>
              <a:rPr lang="fr-FR" dirty="0"/>
              <a:t>REGION </a:t>
            </a:r>
            <a:r>
              <a:rPr lang="fr-FR" dirty="0" err="1"/>
              <a:t>within</a:t>
            </a:r>
            <a:r>
              <a:rPr lang="fr-FR" dirty="0"/>
              <a:t> a country i : index r(i)</a:t>
            </a:r>
          </a:p>
          <a:p>
            <a:pPr marL="0" indent="0">
              <a:buNone/>
            </a:pPr>
            <a:r>
              <a:rPr lang="fr-FR" dirty="0"/>
              <a:t>TIME (</a:t>
            </a:r>
            <a:r>
              <a:rPr lang="fr-FR" dirty="0" err="1"/>
              <a:t>with</a:t>
            </a:r>
            <a:r>
              <a:rPr lang="fr-FR" dirty="0"/>
              <a:t> </a:t>
            </a:r>
            <a:r>
              <a:rPr lang="fr-FR" dirty="0" err="1"/>
              <a:t>different</a:t>
            </a:r>
            <a:r>
              <a:rPr lang="fr-FR" dirty="0"/>
              <a:t> </a:t>
            </a:r>
            <a:r>
              <a:rPr lang="fr-FR" dirty="0" err="1"/>
              <a:t>frequency</a:t>
            </a:r>
            <a:r>
              <a:rPr lang="fr-FR" dirty="0"/>
              <a:t>) : index t</a:t>
            </a:r>
          </a:p>
        </p:txBody>
      </p:sp>
    </p:spTree>
    <p:extLst>
      <p:ext uri="{BB962C8B-B14F-4D97-AF65-F5344CB8AC3E}">
        <p14:creationId xmlns:p14="http://schemas.microsoft.com/office/powerpoint/2010/main" val="113064262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Benchmark case X(</a:t>
            </a:r>
            <a:r>
              <a:rPr lang="fr-FR" dirty="0" err="1"/>
              <a:t>i,t</a:t>
            </a:r>
            <a:r>
              <a:rPr lang="fr-FR" dirty="0"/>
              <a:t>)</a:t>
            </a:r>
            <a:br>
              <a:rPr lang="fr-FR" dirty="0"/>
            </a:br>
            <a:r>
              <a:rPr lang="fr-FR" dirty="0"/>
              <a:t>Time-</a:t>
            </a:r>
            <a:r>
              <a:rPr lang="fr-FR" dirty="0" err="1"/>
              <a:t>series</a:t>
            </a:r>
            <a:r>
              <a:rPr lang="fr-FR" dirty="0"/>
              <a:t> cross-section: TSCS</a:t>
            </a:r>
          </a:p>
        </p:txBody>
      </p:sp>
      <p:sp>
        <p:nvSpPr>
          <p:cNvPr id="3" name="Espace réservé du contenu 2"/>
          <p:cNvSpPr>
            <a:spLocks noGrp="1"/>
          </p:cNvSpPr>
          <p:nvPr>
            <p:ph idx="1"/>
          </p:nvPr>
        </p:nvSpPr>
        <p:spPr/>
        <p:txBody>
          <a:bodyPr/>
          <a:lstStyle/>
          <a:p>
            <a:pPr marL="0" indent="0">
              <a:buNone/>
            </a:pPr>
            <a:r>
              <a:rPr lang="fr-FR" dirty="0"/>
              <a:t>N </a:t>
            </a:r>
            <a:r>
              <a:rPr lang="fr-FR" dirty="0" err="1"/>
              <a:t>Individuals</a:t>
            </a:r>
            <a:r>
              <a:rPr lang="fr-FR" dirty="0"/>
              <a:t> (macro: country; micro: </a:t>
            </a:r>
            <a:r>
              <a:rPr lang="fr-FR" dirty="0" err="1"/>
              <a:t>firm</a:t>
            </a:r>
            <a:r>
              <a:rPr lang="fr-FR" dirty="0"/>
              <a:t>, </a:t>
            </a:r>
            <a:r>
              <a:rPr lang="fr-FR" dirty="0" err="1"/>
              <a:t>households</a:t>
            </a:r>
            <a:r>
              <a:rPr lang="fr-FR" dirty="0"/>
              <a:t>, </a:t>
            </a:r>
            <a:r>
              <a:rPr lang="fr-FR" dirty="0" err="1"/>
              <a:t>banks</a:t>
            </a:r>
            <a:r>
              <a:rPr lang="fr-FR" dirty="0"/>
              <a:t>): index i</a:t>
            </a:r>
          </a:p>
          <a:p>
            <a:pPr marL="0" indent="0">
              <a:buNone/>
            </a:pPr>
            <a:r>
              <a:rPr lang="fr-FR" dirty="0" err="1"/>
              <a:t>With</a:t>
            </a:r>
            <a:r>
              <a:rPr lang="fr-FR" dirty="0"/>
              <a:t> REPEATED observations over time </a:t>
            </a:r>
            <a:r>
              <a:rPr lang="fr-FR" dirty="0" err="1"/>
              <a:t>during</a:t>
            </a:r>
            <a:r>
              <a:rPr lang="fr-FR" dirty="0"/>
              <a:t> T </a:t>
            </a:r>
            <a:r>
              <a:rPr lang="fr-FR" dirty="0" err="1"/>
              <a:t>periods</a:t>
            </a:r>
            <a:r>
              <a:rPr lang="fr-FR" dirty="0"/>
              <a:t>:</a:t>
            </a:r>
          </a:p>
          <a:p>
            <a:pPr marL="0" indent="0">
              <a:buNone/>
            </a:pPr>
            <a:r>
              <a:rPr lang="fr-FR" dirty="0" err="1"/>
              <a:t>With</a:t>
            </a:r>
            <a:r>
              <a:rPr lang="fr-FR" dirty="0"/>
              <a:t> </a:t>
            </a:r>
            <a:r>
              <a:rPr lang="fr-FR" dirty="0" err="1"/>
              <a:t>frequency</a:t>
            </a:r>
            <a:r>
              <a:rPr lang="fr-FR" dirty="0"/>
              <a:t>: </a:t>
            </a:r>
            <a:r>
              <a:rPr lang="fr-FR" dirty="0" err="1"/>
              <a:t>intraday</a:t>
            </a:r>
            <a:r>
              <a:rPr lang="fr-FR" dirty="0"/>
              <a:t>, </a:t>
            </a:r>
            <a:r>
              <a:rPr lang="fr-FR" dirty="0" err="1"/>
              <a:t>daily</a:t>
            </a:r>
            <a:r>
              <a:rPr lang="fr-FR" dirty="0"/>
              <a:t>, </a:t>
            </a:r>
            <a:r>
              <a:rPr lang="fr-FR" dirty="0" err="1"/>
              <a:t>monthly</a:t>
            </a:r>
            <a:r>
              <a:rPr lang="fr-FR" dirty="0"/>
              <a:t>, </a:t>
            </a:r>
            <a:r>
              <a:rPr lang="fr-FR" dirty="0" err="1"/>
              <a:t>quarterly</a:t>
            </a:r>
            <a:r>
              <a:rPr lang="fr-FR" dirty="0"/>
              <a:t>, </a:t>
            </a:r>
            <a:r>
              <a:rPr lang="fr-FR" dirty="0" err="1"/>
              <a:t>yearly</a:t>
            </a:r>
            <a:r>
              <a:rPr lang="fr-FR" dirty="0"/>
              <a:t>, </a:t>
            </a:r>
            <a:r>
              <a:rPr lang="fr-FR" dirty="0" err="1"/>
              <a:t>every</a:t>
            </a:r>
            <a:r>
              <a:rPr lang="fr-FR" dirty="0"/>
              <a:t> four </a:t>
            </a:r>
            <a:r>
              <a:rPr lang="fr-FR" dirty="0" err="1"/>
              <a:t>years</a:t>
            </a:r>
            <a:r>
              <a:rPr lang="fr-FR" dirty="0"/>
              <a:t>.</a:t>
            </a:r>
          </a:p>
          <a:p>
            <a:pPr marL="0" indent="0">
              <a:buNone/>
            </a:pPr>
            <a:endParaRPr lang="fr-FR" dirty="0"/>
          </a:p>
        </p:txBody>
      </p:sp>
    </p:spTree>
    <p:extLst>
      <p:ext uri="{BB962C8B-B14F-4D97-AF65-F5344CB8AC3E}">
        <p14:creationId xmlns:p14="http://schemas.microsoft.com/office/powerpoint/2010/main" val="22972683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Autofit/>
          </a:bodyPr>
          <a:lstStyle/>
          <a:p>
            <a:r>
              <a:rPr lang="fr-FR" sz="3200" dirty="0"/>
              <a:t>Panel Data sets. (GMM: </a:t>
            </a:r>
            <a:r>
              <a:rPr lang="fr-FR" sz="3200" dirty="0" err="1"/>
              <a:t>generalized</a:t>
            </a:r>
            <a:r>
              <a:rPr lang="fr-FR" sz="3200" dirty="0"/>
              <a:t> </a:t>
            </a:r>
            <a:r>
              <a:rPr lang="fr-FR" sz="3200" dirty="0" err="1"/>
              <a:t>method</a:t>
            </a:r>
            <a:r>
              <a:rPr lang="fr-FR" sz="3200" dirty="0"/>
              <a:t> of moments for </a:t>
            </a:r>
            <a:r>
              <a:rPr lang="fr-FR" sz="3200" dirty="0" err="1"/>
              <a:t>dynamic</a:t>
            </a:r>
            <a:r>
              <a:rPr lang="fr-FR" sz="3200" dirty="0"/>
              <a:t> panel data).</a:t>
            </a:r>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965908342"/>
              </p:ext>
            </p:extLst>
          </p:nvPr>
        </p:nvGraphicFramePr>
        <p:xfrm>
          <a:off x="457200" y="1600200"/>
          <a:ext cx="8291265" cy="4501872"/>
        </p:xfrm>
        <a:graphic>
          <a:graphicData uri="http://schemas.openxmlformats.org/drawingml/2006/table">
            <a:tbl>
              <a:tblPr firstRow="1" bandRow="1">
                <a:tableStyleId>{5940675A-B579-460E-94D1-54222C63F5DA}</a:tableStyleId>
              </a:tblPr>
              <a:tblGrid>
                <a:gridCol w="2763755">
                  <a:extLst>
                    <a:ext uri="{9D8B030D-6E8A-4147-A177-3AD203B41FA5}">
                      <a16:colId xmlns:a16="http://schemas.microsoft.com/office/drawing/2014/main" val="20000"/>
                    </a:ext>
                  </a:extLst>
                </a:gridCol>
                <a:gridCol w="2763755">
                  <a:extLst>
                    <a:ext uri="{9D8B030D-6E8A-4147-A177-3AD203B41FA5}">
                      <a16:colId xmlns:a16="http://schemas.microsoft.com/office/drawing/2014/main" val="20001"/>
                    </a:ext>
                  </a:extLst>
                </a:gridCol>
                <a:gridCol w="2763755">
                  <a:extLst>
                    <a:ext uri="{9D8B030D-6E8A-4147-A177-3AD203B41FA5}">
                      <a16:colId xmlns:a16="http://schemas.microsoft.com/office/drawing/2014/main" val="20002"/>
                    </a:ext>
                  </a:extLst>
                </a:gridCol>
              </a:tblGrid>
              <a:tr h="1473696">
                <a:tc>
                  <a:txBody>
                    <a:bodyPr/>
                    <a:lstStyle/>
                    <a:p>
                      <a:endParaRPr lang="fr-FR" sz="2400" dirty="0"/>
                    </a:p>
                  </a:txBody>
                  <a:tcPr/>
                </a:tc>
                <a:tc>
                  <a:txBody>
                    <a:bodyPr/>
                    <a:lstStyle/>
                    <a:p>
                      <a:r>
                        <a:rPr lang="fr-FR" sz="2400" dirty="0"/>
                        <a:t>Small</a:t>
                      </a:r>
                      <a:r>
                        <a:rPr lang="fr-FR" sz="2400" baseline="0" dirty="0"/>
                        <a:t> </a:t>
                      </a:r>
                      <a:r>
                        <a:rPr lang="fr-FR" sz="2400" dirty="0"/>
                        <a:t>T:</a:t>
                      </a:r>
                      <a:endParaRPr lang="fr-FR" sz="2400" baseline="0" dirty="0"/>
                    </a:p>
                    <a:p>
                      <a:r>
                        <a:rPr lang="fr-FR" sz="2400" baseline="0" dirty="0"/>
                        <a:t>20&lt;100</a:t>
                      </a:r>
                    </a:p>
                    <a:p>
                      <a:r>
                        <a:rPr lang="fr-FR" sz="2400" baseline="0" dirty="0"/>
                        <a:t>If T&lt;10: GMM </a:t>
                      </a:r>
                      <a:r>
                        <a:rPr lang="fr-FR" sz="2400" baseline="0" dirty="0" err="1"/>
                        <a:t>doable</a:t>
                      </a:r>
                      <a:r>
                        <a:rPr lang="fr-FR" sz="2400" baseline="0" dirty="0"/>
                        <a:t>. </a:t>
                      </a:r>
                      <a:endParaRPr lang="fr-FR" sz="2400" dirty="0"/>
                    </a:p>
                  </a:txBody>
                  <a:tcPr/>
                </a:tc>
                <a:tc>
                  <a:txBody>
                    <a:bodyPr/>
                    <a:lstStyle/>
                    <a:p>
                      <a:r>
                        <a:rPr lang="fr-FR" sz="2400" dirty="0"/>
                        <a:t>Large</a:t>
                      </a:r>
                      <a:r>
                        <a:rPr lang="fr-FR" sz="2400" baseline="0" dirty="0"/>
                        <a:t> </a:t>
                      </a:r>
                      <a:r>
                        <a:rPr lang="fr-FR" sz="2400" dirty="0"/>
                        <a:t>T :</a:t>
                      </a:r>
                    </a:p>
                    <a:p>
                      <a:r>
                        <a:rPr lang="fr-FR" sz="2400" dirty="0"/>
                        <a:t>1000&gt;100</a:t>
                      </a:r>
                    </a:p>
                    <a:p>
                      <a:r>
                        <a:rPr lang="fr-FR" sz="2400" dirty="0"/>
                        <a:t>Panel</a:t>
                      </a:r>
                      <a:r>
                        <a:rPr lang="fr-FR" sz="2400" baseline="0" dirty="0"/>
                        <a:t> data u</a:t>
                      </a:r>
                      <a:r>
                        <a:rPr lang="fr-FR" sz="2400" dirty="0"/>
                        <a:t>nit </a:t>
                      </a:r>
                      <a:r>
                        <a:rPr lang="fr-FR" sz="2400" dirty="0" err="1"/>
                        <a:t>root</a:t>
                      </a:r>
                      <a:r>
                        <a:rPr lang="fr-FR" sz="2400" dirty="0"/>
                        <a:t> test, </a:t>
                      </a:r>
                      <a:r>
                        <a:rPr lang="fr-FR" sz="2400" dirty="0" err="1"/>
                        <a:t>cointegration</a:t>
                      </a:r>
                      <a:r>
                        <a:rPr lang="fr-FR" sz="2400" dirty="0"/>
                        <a:t>.</a:t>
                      </a:r>
                    </a:p>
                  </a:txBody>
                  <a:tcPr/>
                </a:tc>
                <a:extLst>
                  <a:ext uri="{0D108BD9-81ED-4DB2-BD59-A6C34878D82A}">
                    <a16:rowId xmlns:a16="http://schemas.microsoft.com/office/drawing/2014/main" val="10000"/>
                  </a:ext>
                </a:extLst>
              </a:tr>
              <a:tr h="1473696">
                <a:tc>
                  <a:txBody>
                    <a:bodyPr/>
                    <a:lstStyle/>
                    <a:p>
                      <a:r>
                        <a:rPr lang="fr-FR" sz="2400" dirty="0"/>
                        <a:t>Small</a:t>
                      </a:r>
                      <a:r>
                        <a:rPr lang="fr-FR" sz="2400" baseline="0" dirty="0"/>
                        <a:t> </a:t>
                      </a:r>
                      <a:r>
                        <a:rPr lang="fr-FR" sz="2400" dirty="0"/>
                        <a:t>N :</a:t>
                      </a:r>
                    </a:p>
                    <a:p>
                      <a:r>
                        <a:rPr lang="fr-FR" sz="2400" dirty="0"/>
                        <a:t>20&lt;100</a:t>
                      </a:r>
                    </a:p>
                  </a:txBody>
                  <a:tcPr/>
                </a:tc>
                <a:tc>
                  <a:txBody>
                    <a:bodyPr/>
                    <a:lstStyle/>
                    <a:p>
                      <a:r>
                        <a:rPr lang="fr-FR" sz="2400" dirty="0"/>
                        <a:t>Macro,</a:t>
                      </a:r>
                      <a:r>
                        <a:rPr lang="fr-FR" sz="2400" baseline="0" dirty="0"/>
                        <a:t> OECD.</a:t>
                      </a:r>
                    </a:p>
                    <a:p>
                      <a:r>
                        <a:rPr lang="fr-FR" sz="2400" baseline="0" dirty="0"/>
                        <a:t>Check by country </a:t>
                      </a:r>
                      <a:r>
                        <a:rPr lang="fr-FR" sz="2400" baseline="0" dirty="0" err="1"/>
                        <a:t>estimates</a:t>
                      </a:r>
                      <a:r>
                        <a:rPr lang="fr-FR" sz="2400" baseline="0" dirty="0"/>
                        <a:t>.</a:t>
                      </a:r>
                      <a:endParaRPr lang="fr-FR" sz="2400" dirty="0"/>
                    </a:p>
                  </a:txBody>
                  <a:tcPr/>
                </a:tc>
                <a:tc>
                  <a:txBody>
                    <a:bodyPr/>
                    <a:lstStyle/>
                    <a:p>
                      <a:r>
                        <a:rPr lang="fr-FR" sz="2400" dirty="0" err="1"/>
                        <a:t>Market</a:t>
                      </a:r>
                      <a:r>
                        <a:rPr lang="fr-FR" sz="2400" dirty="0"/>
                        <a:t> finance</a:t>
                      </a:r>
                    </a:p>
                  </a:txBody>
                  <a:tcPr/>
                </a:tc>
                <a:extLst>
                  <a:ext uri="{0D108BD9-81ED-4DB2-BD59-A6C34878D82A}">
                    <a16:rowId xmlns:a16="http://schemas.microsoft.com/office/drawing/2014/main" val="10001"/>
                  </a:ext>
                </a:extLst>
              </a:tr>
              <a:tr h="1473696">
                <a:tc>
                  <a:txBody>
                    <a:bodyPr/>
                    <a:lstStyle/>
                    <a:p>
                      <a:r>
                        <a:rPr lang="fr-FR" sz="2400" dirty="0"/>
                        <a:t>Large N:</a:t>
                      </a:r>
                    </a:p>
                    <a:p>
                      <a:r>
                        <a:rPr lang="fr-FR" sz="2400" dirty="0"/>
                        <a:t>1000&gt;100</a:t>
                      </a:r>
                    </a:p>
                  </a:txBody>
                  <a:tcPr/>
                </a:tc>
                <a:tc>
                  <a:txBody>
                    <a:bodyPr/>
                    <a:lstStyle/>
                    <a:p>
                      <a:r>
                        <a:rPr lang="fr-FR" sz="2400" dirty="0" err="1"/>
                        <a:t>Firms</a:t>
                      </a:r>
                      <a:r>
                        <a:rPr lang="fr-FR" sz="2400" baseline="0" dirty="0"/>
                        <a:t> and </a:t>
                      </a:r>
                      <a:r>
                        <a:rPr lang="fr-FR" sz="2400" baseline="0" dirty="0" err="1"/>
                        <a:t>banks</a:t>
                      </a:r>
                      <a:r>
                        <a:rPr lang="fr-FR" sz="2400" baseline="0" dirty="0"/>
                        <a:t> b</a:t>
                      </a:r>
                      <a:r>
                        <a:rPr lang="fr-FR" sz="2400" dirty="0"/>
                        <a:t>alance</a:t>
                      </a:r>
                      <a:r>
                        <a:rPr lang="fr-FR" sz="2400" baseline="0" dirty="0"/>
                        <a:t> </a:t>
                      </a:r>
                      <a:r>
                        <a:rPr lang="fr-FR" sz="2400" baseline="0" dirty="0" err="1"/>
                        <a:t>sheets</a:t>
                      </a:r>
                      <a:r>
                        <a:rPr lang="fr-FR" sz="2400" baseline="0" dirty="0"/>
                        <a:t>, </a:t>
                      </a:r>
                      <a:r>
                        <a:rPr lang="fr-FR" sz="2400" baseline="0" dirty="0" err="1"/>
                        <a:t>surveys</a:t>
                      </a:r>
                      <a:r>
                        <a:rPr lang="fr-FR" sz="2400" baseline="0" dirty="0"/>
                        <a:t>.</a:t>
                      </a:r>
                      <a:endParaRPr lang="fr-FR" sz="2400" dirty="0"/>
                    </a:p>
                  </a:txBody>
                  <a:tcPr/>
                </a:tc>
                <a:tc>
                  <a:txBody>
                    <a:bodyPr/>
                    <a:lstStyle/>
                    <a:p>
                      <a:r>
                        <a:rPr lang="fr-FR" sz="2400" dirty="0" err="1"/>
                        <a:t>Market</a:t>
                      </a:r>
                      <a:r>
                        <a:rPr lang="fr-FR" sz="2400" dirty="0"/>
                        <a:t> finance</a:t>
                      </a:r>
                    </a:p>
                    <a:p>
                      <a:endParaRPr lang="fr-FR" sz="24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374817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Minimal panel data set</a:t>
            </a:r>
            <a:br>
              <a:rPr lang="fr-FR" dirty="0"/>
            </a:br>
            <a:r>
              <a:rPr lang="fr-FR" dirty="0"/>
              <a:t>NT = 2 x 2 = 4</a:t>
            </a:r>
          </a:p>
        </p:txBody>
      </p:sp>
      <p:sp>
        <p:nvSpPr>
          <p:cNvPr id="3" name="Espace réservé du contenu 2"/>
          <p:cNvSpPr>
            <a:spLocks noGrp="1"/>
          </p:cNvSpPr>
          <p:nvPr>
            <p:ph idx="1"/>
          </p:nvPr>
        </p:nvSpPr>
        <p:spPr/>
        <p:txBody>
          <a:bodyPr/>
          <a:lstStyle/>
          <a:p>
            <a:pPr marL="0" indent="0">
              <a:buNone/>
            </a:pPr>
            <a:r>
              <a:rPr lang="fr-FR" dirty="0"/>
              <a:t>Variable X</a:t>
            </a:r>
          </a:p>
          <a:p>
            <a:pPr marL="0" indent="0">
              <a:buNone/>
            </a:pPr>
            <a:r>
              <a:rPr lang="fr-FR" dirty="0" err="1"/>
              <a:t>Observed</a:t>
            </a:r>
            <a:r>
              <a:rPr lang="fr-FR" dirty="0"/>
              <a:t> at least for </a:t>
            </a:r>
          </a:p>
          <a:p>
            <a:pPr marL="0" indent="0">
              <a:buNone/>
            </a:pPr>
            <a:r>
              <a:rPr lang="fr-FR" dirty="0"/>
              <a:t>N = 2 </a:t>
            </a:r>
            <a:r>
              <a:rPr lang="fr-FR" dirty="0" err="1"/>
              <a:t>individuals</a:t>
            </a:r>
            <a:endParaRPr lang="fr-FR" dirty="0"/>
          </a:p>
          <a:p>
            <a:pPr marL="0" indent="0">
              <a:buNone/>
            </a:pPr>
            <a:r>
              <a:rPr lang="fr-FR" dirty="0"/>
              <a:t>Over the SAME </a:t>
            </a:r>
            <a:r>
              <a:rPr lang="fr-FR" dirty="0" err="1"/>
              <a:t>two</a:t>
            </a:r>
            <a:r>
              <a:rPr lang="fr-FR" dirty="0"/>
              <a:t> </a:t>
            </a:r>
            <a:r>
              <a:rPr lang="fr-FR" dirty="0" err="1"/>
              <a:t>periods</a:t>
            </a:r>
            <a:endParaRPr lang="fr-FR" dirty="0"/>
          </a:p>
          <a:p>
            <a:pPr marL="0" indent="0">
              <a:buNone/>
            </a:pPr>
            <a:r>
              <a:rPr lang="fr-FR" dirty="0"/>
              <a:t>T = 2 </a:t>
            </a:r>
            <a:r>
              <a:rPr lang="fr-FR" dirty="0" err="1"/>
              <a:t>periods</a:t>
            </a:r>
            <a:r>
              <a:rPr lang="fr-FR" dirty="0"/>
              <a:t>.</a:t>
            </a:r>
          </a:p>
          <a:p>
            <a:pPr marL="0" indent="0">
              <a:buNone/>
            </a:pPr>
            <a:r>
              <a:rPr lang="fr-FR" dirty="0" err="1"/>
              <a:t>Number</a:t>
            </a:r>
            <a:r>
              <a:rPr lang="fr-FR" dirty="0"/>
              <a:t> of observations = </a:t>
            </a:r>
          </a:p>
          <a:p>
            <a:pPr marL="0" indent="0">
              <a:buNone/>
            </a:pPr>
            <a:r>
              <a:rPr lang="fr-FR" dirty="0"/>
              <a:t>N x T = 2 x 2 = 4</a:t>
            </a:r>
          </a:p>
        </p:txBody>
      </p:sp>
    </p:spTree>
    <p:extLst>
      <p:ext uri="{BB962C8B-B14F-4D97-AF65-F5344CB8AC3E}">
        <p14:creationId xmlns:p14="http://schemas.microsoft.com/office/powerpoint/2010/main" val="9957429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Minimal panel data set </a:t>
            </a:r>
            <a:br>
              <a:rPr lang="fr-FR" dirty="0"/>
            </a:br>
            <a:r>
              <a:rPr lang="fr-FR" dirty="0"/>
              <a:t>N=2 (</a:t>
            </a:r>
            <a:r>
              <a:rPr lang="fr-FR" dirty="0" err="1"/>
              <a:t>ident</a:t>
            </a:r>
            <a:r>
              <a:rPr lang="fr-FR" dirty="0"/>
              <a:t>), T=2 (</a:t>
            </a:r>
            <a:r>
              <a:rPr lang="fr-FR" dirty="0" err="1"/>
              <a:t>year</a:t>
            </a:r>
            <a:r>
              <a:rPr lang="fr-FR" dirty="0"/>
              <a:t>)</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132457399"/>
              </p:ext>
            </p:extLst>
          </p:nvPr>
        </p:nvGraphicFramePr>
        <p:xfrm>
          <a:off x="457200" y="1600200"/>
          <a:ext cx="8229600" cy="463296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193264">
                  <a:extLst>
                    <a:ext uri="{9D8B030D-6E8A-4147-A177-3AD203B41FA5}">
                      <a16:colId xmlns:a16="http://schemas.microsoft.com/office/drawing/2014/main" val="20003"/>
                    </a:ext>
                  </a:extLst>
                </a:gridCol>
                <a:gridCol w="2098576">
                  <a:extLst>
                    <a:ext uri="{9D8B030D-6E8A-4147-A177-3AD203B41FA5}">
                      <a16:colId xmlns:a16="http://schemas.microsoft.com/office/drawing/2014/main" val="2000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3200" b="1" dirty="0"/>
                        <a:t>IDENT</a:t>
                      </a:r>
                    </a:p>
                  </a:txBody>
                  <a:tcPr/>
                </a:tc>
                <a:tc>
                  <a:txBody>
                    <a:bodyPr/>
                    <a:lstStyle/>
                    <a:p>
                      <a:r>
                        <a:rPr lang="fr-FR" sz="3200" b="1" dirty="0"/>
                        <a:t>YEAR</a:t>
                      </a:r>
                    </a:p>
                  </a:txBody>
                  <a:tcPr/>
                </a:tc>
                <a:tc>
                  <a:txBody>
                    <a:bodyPr/>
                    <a:lstStyle/>
                    <a:p>
                      <a:r>
                        <a:rPr lang="fr-FR" sz="3200" b="1" baseline="0" dirty="0"/>
                        <a:t>X(</a:t>
                      </a:r>
                      <a:r>
                        <a:rPr lang="fr-FR" sz="3200" b="1" baseline="0" dirty="0" err="1"/>
                        <a:t>it</a:t>
                      </a:r>
                      <a:r>
                        <a:rPr lang="fr-FR" sz="3200" b="1" baseline="0" dirty="0"/>
                        <a:t>)</a:t>
                      </a:r>
                      <a:endParaRPr lang="fr-FR" sz="3200" b="1" dirty="0"/>
                    </a:p>
                  </a:txBody>
                  <a:tcPr/>
                </a:tc>
                <a:tc>
                  <a:txBody>
                    <a:bodyPr/>
                    <a:lstStyle/>
                    <a:p>
                      <a:r>
                        <a:rPr lang="fr-FR" sz="3200" b="1" baseline="0" dirty="0"/>
                        <a:t>X(i.)</a:t>
                      </a:r>
                      <a:endParaRPr lang="fr-FR" sz="3200" b="1" dirty="0"/>
                    </a:p>
                  </a:txBody>
                  <a:tcPr/>
                </a:tc>
                <a:tc>
                  <a:txBody>
                    <a:bodyPr/>
                    <a:lstStyle/>
                    <a:p>
                      <a:r>
                        <a:rPr lang="fr-FR" sz="3200" b="1" baseline="0" dirty="0"/>
                        <a:t>X(</a:t>
                      </a:r>
                      <a:r>
                        <a:rPr lang="fr-FR" sz="3200" b="1" baseline="0" dirty="0" err="1"/>
                        <a:t>it</a:t>
                      </a:r>
                      <a:r>
                        <a:rPr lang="fr-FR" sz="3200" b="1" baseline="0" dirty="0"/>
                        <a:t>)-X(i.)</a:t>
                      </a:r>
                      <a:endParaRPr lang="fr-FR" sz="3200" b="1" dirty="0"/>
                    </a:p>
                  </a:txBody>
                  <a:tcPr/>
                </a:tc>
                <a:extLst>
                  <a:ext uri="{0D108BD9-81ED-4DB2-BD59-A6C34878D82A}">
                    <a16:rowId xmlns:a16="http://schemas.microsoft.com/office/drawing/2014/main" val="10000"/>
                  </a:ext>
                </a:extLst>
              </a:tr>
              <a:tr h="370840">
                <a:tc>
                  <a:txBody>
                    <a:bodyPr/>
                    <a:lstStyle/>
                    <a:p>
                      <a:pPr algn="ctr"/>
                      <a:r>
                        <a:rPr lang="fr-FR" sz="3200" b="1" dirty="0"/>
                        <a:t>1</a:t>
                      </a:r>
                    </a:p>
                  </a:txBody>
                  <a:tcPr/>
                </a:tc>
                <a:tc>
                  <a:txBody>
                    <a:bodyPr/>
                    <a:lstStyle/>
                    <a:p>
                      <a:pPr algn="ctr"/>
                      <a:r>
                        <a:rPr lang="fr-FR" sz="3200" b="1" dirty="0"/>
                        <a:t>1</a:t>
                      </a:r>
                    </a:p>
                  </a:txBody>
                  <a:tcPr/>
                </a:tc>
                <a:tc>
                  <a:txBody>
                    <a:bodyPr/>
                    <a:lstStyle/>
                    <a:p>
                      <a:pPr algn="ctr"/>
                      <a:r>
                        <a:rPr lang="fr-FR" sz="3200" b="1" dirty="0"/>
                        <a:t>8</a:t>
                      </a:r>
                    </a:p>
                  </a:txBody>
                  <a:tcPr/>
                </a:tc>
                <a:tc>
                  <a:txBody>
                    <a:bodyPr/>
                    <a:lstStyle/>
                    <a:p>
                      <a:pPr algn="ctr"/>
                      <a:r>
                        <a:rPr lang="fr-FR" sz="3200" b="1" dirty="0">
                          <a:solidFill>
                            <a:schemeClr val="tx1"/>
                          </a:solidFill>
                        </a:rPr>
                        <a:t>10</a:t>
                      </a:r>
                    </a:p>
                  </a:txBody>
                  <a:tcPr/>
                </a:tc>
                <a:tc>
                  <a:txBody>
                    <a:bodyPr/>
                    <a:lstStyle/>
                    <a:p>
                      <a:pPr algn="ctr"/>
                      <a:r>
                        <a:rPr lang="fr-FR" sz="3200" b="1" dirty="0"/>
                        <a:t>-2</a:t>
                      </a:r>
                    </a:p>
                  </a:txBody>
                  <a:tcPr/>
                </a:tc>
                <a:extLst>
                  <a:ext uri="{0D108BD9-81ED-4DB2-BD59-A6C34878D82A}">
                    <a16:rowId xmlns:a16="http://schemas.microsoft.com/office/drawing/2014/main" val="10001"/>
                  </a:ext>
                </a:extLst>
              </a:tr>
              <a:tr h="370840">
                <a:tc>
                  <a:txBody>
                    <a:bodyPr/>
                    <a:lstStyle/>
                    <a:p>
                      <a:pPr algn="ctr"/>
                      <a:r>
                        <a:rPr lang="fr-FR" sz="3200" b="1" dirty="0"/>
                        <a:t>1</a:t>
                      </a:r>
                    </a:p>
                  </a:txBody>
                  <a:tcPr/>
                </a:tc>
                <a:tc>
                  <a:txBody>
                    <a:bodyPr/>
                    <a:lstStyle/>
                    <a:p>
                      <a:pPr algn="ctr"/>
                      <a:r>
                        <a:rPr lang="fr-FR" sz="3200" b="1" dirty="0"/>
                        <a:t>2</a:t>
                      </a:r>
                    </a:p>
                  </a:txBody>
                  <a:tcPr/>
                </a:tc>
                <a:tc>
                  <a:txBody>
                    <a:bodyPr/>
                    <a:lstStyle/>
                    <a:p>
                      <a:pPr algn="ctr"/>
                      <a:r>
                        <a:rPr lang="fr-FR" sz="3200" b="1" dirty="0"/>
                        <a:t>12</a:t>
                      </a:r>
                    </a:p>
                  </a:txBody>
                  <a:tcPr/>
                </a:tc>
                <a:tc>
                  <a:txBody>
                    <a:bodyPr/>
                    <a:lstStyle/>
                    <a:p>
                      <a:pPr algn="ctr"/>
                      <a:r>
                        <a:rPr lang="fr-FR" sz="3200" b="1" dirty="0">
                          <a:solidFill>
                            <a:schemeClr val="tx1"/>
                          </a:solidFill>
                        </a:rPr>
                        <a:t>10</a:t>
                      </a:r>
                    </a:p>
                  </a:txBody>
                  <a:tcPr/>
                </a:tc>
                <a:tc>
                  <a:txBody>
                    <a:bodyPr/>
                    <a:lstStyle/>
                    <a:p>
                      <a:pPr algn="ctr"/>
                      <a:r>
                        <a:rPr lang="fr-FR" sz="3200" b="1" dirty="0"/>
                        <a:t>+2</a:t>
                      </a:r>
                    </a:p>
                  </a:txBody>
                  <a:tcPr/>
                </a:tc>
                <a:extLst>
                  <a:ext uri="{0D108BD9-81ED-4DB2-BD59-A6C34878D82A}">
                    <a16:rowId xmlns:a16="http://schemas.microsoft.com/office/drawing/2014/main" val="10002"/>
                  </a:ext>
                </a:extLst>
              </a:tr>
              <a:tr h="370840">
                <a:tc>
                  <a:txBody>
                    <a:bodyPr/>
                    <a:lstStyle/>
                    <a:p>
                      <a:pPr algn="ctr"/>
                      <a:r>
                        <a:rPr lang="fr-FR" sz="3200" b="1" dirty="0"/>
                        <a:t>2</a:t>
                      </a:r>
                    </a:p>
                  </a:txBody>
                  <a:tcPr/>
                </a:tc>
                <a:tc>
                  <a:txBody>
                    <a:bodyPr/>
                    <a:lstStyle/>
                    <a:p>
                      <a:pPr algn="ctr"/>
                      <a:r>
                        <a:rPr lang="fr-FR" sz="3200" b="1" dirty="0"/>
                        <a:t>1</a:t>
                      </a:r>
                    </a:p>
                  </a:txBody>
                  <a:tcPr/>
                </a:tc>
                <a:tc>
                  <a:txBody>
                    <a:bodyPr/>
                    <a:lstStyle/>
                    <a:p>
                      <a:pPr algn="ctr"/>
                      <a:r>
                        <a:rPr lang="fr-FR" sz="3200" b="1" dirty="0"/>
                        <a:t>5</a:t>
                      </a:r>
                    </a:p>
                  </a:txBody>
                  <a:tcPr/>
                </a:tc>
                <a:tc>
                  <a:txBody>
                    <a:bodyPr/>
                    <a:lstStyle/>
                    <a:p>
                      <a:pPr algn="ctr"/>
                      <a:r>
                        <a:rPr lang="fr-FR" sz="3200" b="1" dirty="0"/>
                        <a:t>4</a:t>
                      </a:r>
                    </a:p>
                  </a:txBody>
                  <a:tcPr/>
                </a:tc>
                <a:tc>
                  <a:txBody>
                    <a:bodyPr/>
                    <a:lstStyle/>
                    <a:p>
                      <a:pPr algn="ctr"/>
                      <a:r>
                        <a:rPr lang="fr-FR" sz="3200" b="1" dirty="0"/>
                        <a:t>+1</a:t>
                      </a:r>
                    </a:p>
                  </a:txBody>
                  <a:tcPr/>
                </a:tc>
                <a:extLst>
                  <a:ext uri="{0D108BD9-81ED-4DB2-BD59-A6C34878D82A}">
                    <a16:rowId xmlns:a16="http://schemas.microsoft.com/office/drawing/2014/main" val="10003"/>
                  </a:ext>
                </a:extLst>
              </a:tr>
              <a:tr h="370840">
                <a:tc>
                  <a:txBody>
                    <a:bodyPr/>
                    <a:lstStyle/>
                    <a:p>
                      <a:pPr algn="ctr"/>
                      <a:r>
                        <a:rPr lang="fr-FR" sz="3200" b="1" dirty="0"/>
                        <a:t>2</a:t>
                      </a:r>
                    </a:p>
                  </a:txBody>
                  <a:tcPr/>
                </a:tc>
                <a:tc>
                  <a:txBody>
                    <a:bodyPr/>
                    <a:lstStyle/>
                    <a:p>
                      <a:pPr algn="ctr"/>
                      <a:r>
                        <a:rPr lang="fr-FR" sz="3200" b="1" dirty="0"/>
                        <a:t>2</a:t>
                      </a:r>
                    </a:p>
                  </a:txBody>
                  <a:tcPr/>
                </a:tc>
                <a:tc>
                  <a:txBody>
                    <a:bodyPr/>
                    <a:lstStyle/>
                    <a:p>
                      <a:pPr algn="ctr"/>
                      <a:r>
                        <a:rPr lang="fr-FR" sz="3200" b="1" dirty="0"/>
                        <a:t>3</a:t>
                      </a:r>
                    </a:p>
                  </a:txBody>
                  <a:tcPr/>
                </a:tc>
                <a:tc>
                  <a:txBody>
                    <a:bodyPr/>
                    <a:lstStyle/>
                    <a:p>
                      <a:pPr algn="ctr"/>
                      <a:r>
                        <a:rPr lang="fr-FR" sz="3200" b="1" dirty="0"/>
                        <a:t>4</a:t>
                      </a:r>
                    </a:p>
                  </a:txBody>
                  <a:tcPr/>
                </a:tc>
                <a:tc>
                  <a:txBody>
                    <a:bodyPr/>
                    <a:lstStyle/>
                    <a:p>
                      <a:pPr algn="ctr"/>
                      <a:r>
                        <a:rPr lang="fr-FR" sz="3200" b="1" dirty="0"/>
                        <a:t>-1</a:t>
                      </a:r>
                    </a:p>
                  </a:txBody>
                  <a:tcPr/>
                </a:tc>
                <a:extLst>
                  <a:ext uri="{0D108BD9-81ED-4DB2-BD59-A6C34878D82A}">
                    <a16:rowId xmlns:a16="http://schemas.microsoft.com/office/drawing/2014/main" val="10004"/>
                  </a:ext>
                </a:extLst>
              </a:tr>
              <a:tr h="370840">
                <a:tc>
                  <a:txBody>
                    <a:bodyPr/>
                    <a:lstStyle/>
                    <a:p>
                      <a:pPr algn="ctr"/>
                      <a:r>
                        <a:rPr lang="fr-FR" sz="3200" b="1" dirty="0"/>
                        <a:t>ID=1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3200" b="1" dirty="0" err="1"/>
                        <a:t>Mean</a:t>
                      </a:r>
                      <a:endParaRPr lang="fr-FR" sz="3200" b="1" dirty="0"/>
                    </a:p>
                  </a:txBody>
                  <a:tcPr/>
                </a:tc>
                <a:tc>
                  <a:txBody>
                    <a:bodyPr/>
                    <a:lstStyle/>
                    <a:p>
                      <a:pPr algn="ctr"/>
                      <a:r>
                        <a:rPr lang="fr-FR" sz="3200" b="1" dirty="0">
                          <a:solidFill>
                            <a:srgbClr val="FF0000"/>
                          </a:solidFill>
                        </a:rPr>
                        <a:t>10</a:t>
                      </a:r>
                    </a:p>
                  </a:txBody>
                  <a:tcPr/>
                </a:tc>
                <a:tc>
                  <a:txBody>
                    <a:bodyPr/>
                    <a:lstStyle/>
                    <a:p>
                      <a:pPr algn="ctr"/>
                      <a:r>
                        <a:rPr lang="fr-FR" sz="3200" b="1" dirty="0">
                          <a:solidFill>
                            <a:srgbClr val="FF0000"/>
                          </a:solidFill>
                        </a:rPr>
                        <a:t>10</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5"/>
                  </a:ext>
                </a:extLst>
              </a:tr>
              <a:tr h="370840">
                <a:tc>
                  <a:txBody>
                    <a:bodyPr/>
                    <a:lstStyle/>
                    <a:p>
                      <a:pPr algn="ctr"/>
                      <a:r>
                        <a:rPr lang="fr-FR" sz="3200" b="1" dirty="0"/>
                        <a:t>ID=2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3200" b="1" dirty="0" err="1"/>
                        <a:t>Mean</a:t>
                      </a:r>
                      <a:endParaRPr lang="fr-FR" sz="3200" b="1" dirty="0"/>
                    </a:p>
                  </a:txBody>
                  <a:tcPr/>
                </a:tc>
                <a:tc>
                  <a:txBody>
                    <a:bodyPr/>
                    <a:lstStyle/>
                    <a:p>
                      <a:pPr algn="ctr"/>
                      <a:r>
                        <a:rPr lang="fr-FR" sz="3200" b="1" dirty="0">
                          <a:solidFill>
                            <a:srgbClr val="FF0000"/>
                          </a:solidFill>
                        </a:rPr>
                        <a:t>4</a:t>
                      </a:r>
                    </a:p>
                  </a:txBody>
                  <a:tcPr/>
                </a:tc>
                <a:tc>
                  <a:txBody>
                    <a:bodyPr/>
                    <a:lstStyle/>
                    <a:p>
                      <a:pPr algn="ctr"/>
                      <a:r>
                        <a:rPr lang="fr-FR" sz="3200" b="1" dirty="0">
                          <a:solidFill>
                            <a:srgbClr val="FF0000"/>
                          </a:solidFill>
                        </a:rPr>
                        <a:t>4</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6"/>
                  </a:ext>
                </a:extLst>
              </a:tr>
              <a:tr h="370840">
                <a:tc>
                  <a:txBody>
                    <a:bodyPr/>
                    <a:lstStyle/>
                    <a:p>
                      <a:pPr algn="ctr"/>
                      <a:r>
                        <a:rPr lang="fr-FR" sz="3200" b="1" dirty="0"/>
                        <a:t>All</a:t>
                      </a:r>
                    </a:p>
                  </a:txBody>
                  <a:tcPr/>
                </a:tc>
                <a:tc>
                  <a:txBody>
                    <a:bodyPr/>
                    <a:lstStyle/>
                    <a:p>
                      <a:pPr algn="ctr"/>
                      <a:r>
                        <a:rPr lang="fr-FR" sz="3200" b="1" dirty="0" err="1"/>
                        <a:t>Mean</a:t>
                      </a:r>
                      <a:endParaRPr lang="fr-FR" sz="3200" b="1" dirty="0"/>
                    </a:p>
                  </a:txBody>
                  <a:tcPr/>
                </a:tc>
                <a:tc>
                  <a:txBody>
                    <a:bodyPr/>
                    <a:lstStyle/>
                    <a:p>
                      <a:pPr algn="ctr"/>
                      <a:r>
                        <a:rPr lang="fr-FR" sz="3200" b="1" dirty="0"/>
                        <a:t>7</a:t>
                      </a:r>
                    </a:p>
                  </a:txBody>
                  <a:tcPr/>
                </a:tc>
                <a:tc>
                  <a:txBody>
                    <a:bodyPr/>
                    <a:lstStyle/>
                    <a:p>
                      <a:pPr algn="ctr"/>
                      <a:r>
                        <a:rPr lang="fr-FR" sz="3200" b="1" dirty="0"/>
                        <a:t>7</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570699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fr-FR" dirty="0"/>
              <a:t>Event </a:t>
            </a:r>
            <a:r>
              <a:rPr lang="fr-FR" dirty="0" err="1"/>
              <a:t>studies</a:t>
            </a:r>
            <a:r>
              <a:rPr lang="fr-FR" dirty="0"/>
              <a:t>, Fragile/</a:t>
            </a:r>
            <a:r>
              <a:rPr lang="fr-FR" dirty="0" err="1"/>
              <a:t>Robust</a:t>
            </a:r>
            <a:r>
              <a:rPr lang="fr-FR" dirty="0"/>
              <a:t> group.</a:t>
            </a:r>
            <a:br>
              <a:rPr lang="fr-FR" dirty="0"/>
            </a:br>
            <a:r>
              <a:rPr lang="fr-FR" dirty="0"/>
              <a:t>Quiet/</a:t>
            </a:r>
            <a:r>
              <a:rPr lang="fr-FR" dirty="0" err="1"/>
              <a:t>Crisis</a:t>
            </a:r>
            <a:r>
              <a:rPr lang="fr-FR" dirty="0"/>
              <a:t>; Booms/</a:t>
            </a:r>
            <a:r>
              <a:rPr lang="fr-FR" dirty="0" err="1"/>
              <a:t>recessions</a:t>
            </a:r>
            <a:endParaRPr lang="fr-FR" dirty="0"/>
          </a:p>
        </p:txBody>
      </p:sp>
      <p:pic>
        <p:nvPicPr>
          <p:cNvPr id="104450" name="Picture 2" descr="Illustration of Difference in Differenc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695450"/>
            <a:ext cx="5381625" cy="516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91137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Panel data</a:t>
            </a:r>
          </a:p>
        </p:txBody>
      </p:sp>
      <p:sp>
        <p:nvSpPr>
          <p:cNvPr id="3" name="Espace réservé du contenu 2"/>
          <p:cNvSpPr>
            <a:spLocks noGrp="1"/>
          </p:cNvSpPr>
          <p:nvPr>
            <p:ph idx="1"/>
          </p:nvPr>
        </p:nvSpPr>
        <p:spPr/>
        <p:txBody>
          <a:bodyPr/>
          <a:lstStyle/>
          <a:p>
            <a:pPr marL="0" indent="0">
              <a:buNone/>
            </a:pPr>
            <a:r>
              <a:rPr lang="fr-FR" dirty="0"/>
              <a:t>You POOL time </a:t>
            </a:r>
            <a:r>
              <a:rPr lang="fr-FR" dirty="0" err="1"/>
              <a:t>series</a:t>
            </a:r>
            <a:r>
              <a:rPr lang="fr-FR" dirty="0"/>
              <a:t> </a:t>
            </a:r>
            <a:r>
              <a:rPr lang="fr-FR" dirty="0" err="1"/>
              <a:t>with</a:t>
            </a:r>
            <a:r>
              <a:rPr lang="fr-FR" dirty="0"/>
              <a:t> T observations of N </a:t>
            </a:r>
            <a:r>
              <a:rPr lang="fr-FR" dirty="0" err="1"/>
              <a:t>individuals</a:t>
            </a:r>
            <a:endParaRPr lang="fr-FR" dirty="0"/>
          </a:p>
          <a:p>
            <a:pPr marL="0" indent="0">
              <a:buNone/>
            </a:pPr>
            <a:endParaRPr lang="fr-FR" dirty="0"/>
          </a:p>
          <a:p>
            <a:pPr marL="0" indent="0">
              <a:buNone/>
            </a:pPr>
            <a:r>
              <a:rPr lang="fr-FR" dirty="0"/>
              <a:t>You POOL cross sections of N </a:t>
            </a:r>
            <a:r>
              <a:rPr lang="fr-FR" dirty="0" err="1"/>
              <a:t>individuals</a:t>
            </a:r>
            <a:r>
              <a:rPr lang="fr-FR" dirty="0"/>
              <a:t> </a:t>
            </a:r>
            <a:r>
              <a:rPr lang="fr-FR" dirty="0" err="1"/>
              <a:t>during</a:t>
            </a:r>
            <a:r>
              <a:rPr lang="fr-FR" dirty="0"/>
              <a:t> T </a:t>
            </a:r>
            <a:r>
              <a:rPr lang="fr-FR" dirty="0" err="1"/>
              <a:t>periods</a:t>
            </a:r>
            <a:r>
              <a:rPr lang="fr-FR" dirty="0"/>
              <a:t>. </a:t>
            </a:r>
          </a:p>
        </p:txBody>
      </p:sp>
    </p:spTree>
    <p:extLst>
      <p:ext uri="{BB962C8B-B14F-4D97-AF65-F5344CB8AC3E}">
        <p14:creationId xmlns:p14="http://schemas.microsoft.com/office/powerpoint/2010/main" val="90594104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Organizing</a:t>
            </a:r>
            <a:r>
              <a:rPr lang="fr-FR" dirty="0"/>
              <a:t> the </a:t>
            </a:r>
            <a:r>
              <a:rPr lang="fr-FR" dirty="0" err="1"/>
              <a:t>database</a:t>
            </a:r>
            <a:endParaRPr lang="fr-FR" dirty="0"/>
          </a:p>
        </p:txBody>
      </p:sp>
      <p:sp>
        <p:nvSpPr>
          <p:cNvPr id="3" name="Espace réservé du contenu 2"/>
          <p:cNvSpPr>
            <a:spLocks noGrp="1"/>
          </p:cNvSpPr>
          <p:nvPr>
            <p:ph idx="1"/>
          </p:nvPr>
        </p:nvSpPr>
        <p:spPr/>
        <p:txBody>
          <a:bodyPr/>
          <a:lstStyle/>
          <a:p>
            <a:pPr marL="0" indent="0">
              <a:buNone/>
            </a:pPr>
            <a:r>
              <a:rPr lang="fr-FR" dirty="0" err="1"/>
              <a:t>Usual</a:t>
            </a:r>
            <a:r>
              <a:rPr lang="fr-FR" dirty="0"/>
              <a:t> </a:t>
            </a:r>
            <a:r>
              <a:rPr lang="fr-FR" dirty="0" err="1"/>
              <a:t>coding</a:t>
            </a:r>
            <a:r>
              <a:rPr lang="fr-FR" dirty="0"/>
              <a:t> </a:t>
            </a:r>
            <a:r>
              <a:rPr lang="fr-FR" dirty="0" err="1"/>
              <a:t>difficulty</a:t>
            </a:r>
            <a:endParaRPr lang="fr-FR" dirty="0"/>
          </a:p>
          <a:p>
            <a:pPr marL="0" indent="0">
              <a:buNone/>
            </a:pPr>
            <a:r>
              <a:rPr lang="fr-FR" dirty="0"/>
              <a:t>You </a:t>
            </a:r>
            <a:r>
              <a:rPr lang="fr-FR" dirty="0" err="1"/>
              <a:t>download</a:t>
            </a:r>
            <a:r>
              <a:rPr lang="fr-FR" dirty="0"/>
              <a:t> data:</a:t>
            </a:r>
          </a:p>
          <a:p>
            <a:pPr marL="0" indent="0">
              <a:buNone/>
            </a:pPr>
            <a:r>
              <a:rPr lang="fr-FR" dirty="0" err="1"/>
              <a:t>Column</a:t>
            </a:r>
            <a:r>
              <a:rPr lang="fr-FR" dirty="0"/>
              <a:t> 1 </a:t>
            </a:r>
            <a:r>
              <a:rPr lang="fr-FR" dirty="0" err="1"/>
              <a:t>is</a:t>
            </a:r>
            <a:r>
              <a:rPr lang="fr-FR" dirty="0"/>
              <a:t> X(1,t) AND </a:t>
            </a:r>
            <a:r>
              <a:rPr lang="fr-FR" dirty="0" err="1"/>
              <a:t>column</a:t>
            </a:r>
            <a:r>
              <a:rPr lang="fr-FR" dirty="0"/>
              <a:t> 2 </a:t>
            </a:r>
            <a:r>
              <a:rPr lang="fr-FR" dirty="0" err="1"/>
              <a:t>is</a:t>
            </a:r>
            <a:r>
              <a:rPr lang="fr-FR" dirty="0"/>
              <a:t> X(2, t)</a:t>
            </a:r>
          </a:p>
          <a:p>
            <a:pPr marL="0" indent="0">
              <a:buNone/>
            </a:pPr>
            <a:endParaRPr lang="fr-FR" dirty="0"/>
          </a:p>
          <a:p>
            <a:pPr marL="0" indent="0">
              <a:buNone/>
            </a:pPr>
            <a:r>
              <a:rPr lang="fr-FR" dirty="0"/>
              <a:t>You </a:t>
            </a:r>
            <a:r>
              <a:rPr lang="fr-FR" dirty="0" err="1"/>
              <a:t>need</a:t>
            </a:r>
            <a:r>
              <a:rPr lang="fr-FR" dirty="0"/>
              <a:t> to code to have 1 single </a:t>
            </a:r>
            <a:r>
              <a:rPr lang="fr-FR" dirty="0" err="1"/>
              <a:t>column</a:t>
            </a:r>
            <a:r>
              <a:rPr lang="fr-FR" dirty="0"/>
              <a:t> for </a:t>
            </a:r>
            <a:r>
              <a:rPr lang="fr-FR" dirty="0" err="1"/>
              <a:t>two</a:t>
            </a:r>
            <a:r>
              <a:rPr lang="fr-FR" dirty="0"/>
              <a:t> </a:t>
            </a:r>
            <a:r>
              <a:rPr lang="fr-FR" dirty="0" err="1"/>
              <a:t>individuals</a:t>
            </a:r>
            <a:r>
              <a:rPr lang="fr-FR" dirty="0"/>
              <a:t> </a:t>
            </a:r>
            <a:r>
              <a:rPr lang="fr-FR" dirty="0" err="1"/>
              <a:t>where</a:t>
            </a:r>
            <a:r>
              <a:rPr lang="fr-FR" dirty="0"/>
              <a:t> the data of </a:t>
            </a:r>
            <a:r>
              <a:rPr lang="fr-FR" dirty="0" err="1"/>
              <a:t>column</a:t>
            </a:r>
            <a:r>
              <a:rPr lang="fr-FR" dirty="0"/>
              <a:t> 2 </a:t>
            </a:r>
            <a:r>
              <a:rPr lang="fr-FR" dirty="0" err="1"/>
              <a:t>is</a:t>
            </a:r>
            <a:r>
              <a:rPr lang="fr-FR" dirty="0"/>
              <a:t> BELOW </a:t>
            </a:r>
            <a:r>
              <a:rPr lang="fr-FR" dirty="0" err="1"/>
              <a:t>column</a:t>
            </a:r>
            <a:r>
              <a:rPr lang="fr-FR" dirty="0"/>
              <a:t> 1</a:t>
            </a:r>
          </a:p>
          <a:p>
            <a:pPr marL="0" indent="0">
              <a:buNone/>
            </a:pPr>
            <a:r>
              <a:rPr lang="fr-FR" dirty="0"/>
              <a:t>For the single variable X(</a:t>
            </a:r>
            <a:r>
              <a:rPr lang="fr-FR" dirty="0" err="1"/>
              <a:t>i,t</a:t>
            </a:r>
            <a:r>
              <a:rPr lang="fr-FR" dirty="0"/>
              <a:t>).</a:t>
            </a:r>
          </a:p>
        </p:txBody>
      </p:sp>
    </p:spTree>
    <p:extLst>
      <p:ext uri="{BB962C8B-B14F-4D97-AF65-F5344CB8AC3E}">
        <p14:creationId xmlns:p14="http://schemas.microsoft.com/office/powerpoint/2010/main" val="158824923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fr-FR" dirty="0"/>
              <a:t>2 indices: </a:t>
            </a:r>
            <a:r>
              <a:rPr lang="fr-FR" dirty="0" err="1"/>
              <a:t>ident</a:t>
            </a:r>
            <a:r>
              <a:rPr lang="fr-FR" dirty="0"/>
              <a:t> and </a:t>
            </a:r>
            <a:r>
              <a:rPr lang="fr-FR" dirty="0" err="1"/>
              <a:t>year</a:t>
            </a:r>
            <a:r>
              <a:rPr lang="fr-FR" dirty="0"/>
              <a:t>.</a:t>
            </a:r>
            <a:br>
              <a:rPr lang="fr-FR" dirty="0"/>
            </a:br>
            <a:r>
              <a:rPr lang="fr-FR" dirty="0"/>
              <a:t>« </a:t>
            </a:r>
            <a:r>
              <a:rPr lang="fr-FR" dirty="0" err="1"/>
              <a:t>xt</a:t>
            </a:r>
            <a:r>
              <a:rPr lang="fr-FR" dirty="0"/>
              <a:t> » data set. </a:t>
            </a:r>
          </a:p>
        </p:txBody>
      </p:sp>
      <p:sp>
        <p:nvSpPr>
          <p:cNvPr id="5" name="Rectangle 4"/>
          <p:cNvSpPr/>
          <p:nvPr/>
        </p:nvSpPr>
        <p:spPr>
          <a:xfrm>
            <a:off x="539552" y="3212976"/>
            <a:ext cx="8280920" cy="2554545"/>
          </a:xfrm>
          <a:prstGeom prst="rect">
            <a:avLst/>
          </a:prstGeom>
        </p:spPr>
        <p:txBody>
          <a:bodyPr wrap="square">
            <a:spAutoFit/>
          </a:bodyPr>
          <a:lstStyle/>
          <a:p>
            <a:r>
              <a:rPr lang="fr-FR" b="1" dirty="0"/>
              <a:t> </a:t>
            </a:r>
            <a:r>
              <a:rPr lang="fr-FR" sz="2000" b="1" dirty="0"/>
              <a:t>OBS </a:t>
            </a:r>
            <a:r>
              <a:rPr lang="fr-FR" sz="2000" b="1" dirty="0" err="1"/>
              <a:t>ident</a:t>
            </a:r>
            <a:r>
              <a:rPr lang="fr-FR" sz="2000" b="1" dirty="0"/>
              <a:t>   </a:t>
            </a:r>
            <a:r>
              <a:rPr lang="fr-FR" sz="2000" b="1" dirty="0" err="1"/>
              <a:t>year</a:t>
            </a:r>
            <a:r>
              <a:rPr lang="fr-FR" sz="2000" b="1" dirty="0"/>
              <a:t>     country      country3   </a:t>
            </a:r>
            <a:r>
              <a:rPr lang="fr-FR" sz="2000" b="1" dirty="0" err="1"/>
              <a:t>countryyear</a:t>
            </a:r>
            <a:r>
              <a:rPr lang="fr-FR" sz="2000" b="1" dirty="0"/>
              <a:t>           </a:t>
            </a:r>
            <a:r>
              <a:rPr lang="fr-FR" sz="2000" b="1" dirty="0" err="1"/>
              <a:t>gdpg</a:t>
            </a:r>
            <a:r>
              <a:rPr lang="fr-FR" sz="2000" b="1" dirty="0"/>
              <a:t>    </a:t>
            </a:r>
            <a:r>
              <a:rPr lang="fr-FR" sz="2000" b="1" dirty="0" err="1"/>
              <a:t>gdp</a:t>
            </a:r>
            <a:r>
              <a:rPr lang="fr-FR" sz="2000" b="1" dirty="0"/>
              <a:t>  </a:t>
            </a:r>
          </a:p>
          <a:p>
            <a:r>
              <a:rPr lang="fr-FR" sz="2000" b="1" dirty="0"/>
              <a:t>  1.       2      2     ALGERIA            DZA        DZA2      2.386264938   1826  </a:t>
            </a:r>
          </a:p>
          <a:p>
            <a:r>
              <a:rPr lang="fr-FR" sz="2000" b="1" dirty="0"/>
              <a:t>  2.       2      3     ALGERIA            DZA        DZA3     3.236683588   2256  </a:t>
            </a:r>
          </a:p>
          <a:p>
            <a:r>
              <a:rPr lang="fr-FR" sz="2000" b="1" dirty="0"/>
              <a:t>  3.       5      2   ARGENTINA        ARG       ARG2     1.70029991   5637  </a:t>
            </a:r>
          </a:p>
          <a:p>
            <a:r>
              <a:rPr lang="fr-FR" sz="2000" b="1" dirty="0"/>
              <a:t>  4.       5      3   ARGENTINA        ARG       ARG3     1.07761478   6168  </a:t>
            </a:r>
          </a:p>
          <a:p>
            <a:r>
              <a:rPr lang="fr-FR" sz="2000" b="1" dirty="0"/>
              <a:t>  5.       5      4   ARGENTINA        ARG       ARG4   -1.115284993   5849  </a:t>
            </a:r>
          </a:p>
          <a:p>
            <a:r>
              <a:rPr lang="fr-FR" sz="2000" b="1" dirty="0"/>
              <a:t>  6.       5      5   ARGENTINA        ARG       ARG5   -2.551384576   5487  </a:t>
            </a:r>
          </a:p>
          <a:p>
            <a:r>
              <a:rPr lang="fr-FR" sz="2000" b="1" dirty="0"/>
              <a:t>  7.       5      6   ARGENTINA        ARG       ARG6   -1.099306164   5624  </a:t>
            </a:r>
          </a:p>
        </p:txBody>
      </p:sp>
    </p:spTree>
    <p:extLst>
      <p:ext uri="{BB962C8B-B14F-4D97-AF65-F5344CB8AC3E}">
        <p14:creationId xmlns:p14="http://schemas.microsoft.com/office/powerpoint/2010/main" val="316594525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set by </a:t>
            </a:r>
            <a:r>
              <a:rPr lang="fr-FR" dirty="0" err="1"/>
              <a:t>year</a:t>
            </a:r>
            <a:r>
              <a:rPr lang="fr-FR" dirty="0"/>
              <a:t>: </a:t>
            </a:r>
            <a:r>
              <a:rPr lang="fr-FR" dirty="0" err="1"/>
              <a:t>unbalanced</a:t>
            </a:r>
            <a:r>
              <a:rPr lang="fr-FR" dirty="0"/>
              <a:t>?</a:t>
            </a:r>
          </a:p>
        </p:txBody>
      </p:sp>
      <p:sp>
        <p:nvSpPr>
          <p:cNvPr id="3" name="Rectangle 2"/>
          <p:cNvSpPr/>
          <p:nvPr/>
        </p:nvSpPr>
        <p:spPr>
          <a:xfrm>
            <a:off x="2286000" y="1443841"/>
            <a:ext cx="4572000" cy="4401205"/>
          </a:xfrm>
          <a:prstGeom prst="rect">
            <a:avLst/>
          </a:prstGeom>
        </p:spPr>
        <p:txBody>
          <a:bodyPr>
            <a:spAutoFit/>
          </a:bodyPr>
          <a:lstStyle/>
          <a:p>
            <a:r>
              <a:rPr lang="fr-FR" sz="2000" b="1" dirty="0"/>
              <a:t>. * PROC FREQ: </a:t>
            </a:r>
            <a:r>
              <a:rPr lang="fr-FR" sz="2000" b="1" dirty="0" err="1"/>
              <a:t>number</a:t>
            </a:r>
            <a:r>
              <a:rPr lang="fr-FR" sz="2000" b="1" dirty="0"/>
              <a:t> of countries per </a:t>
            </a:r>
            <a:r>
              <a:rPr lang="fr-FR" sz="2000" b="1" dirty="0" err="1"/>
              <a:t>periods</a:t>
            </a:r>
            <a:r>
              <a:rPr lang="fr-FR" sz="2000" b="1" dirty="0"/>
              <a:t> </a:t>
            </a:r>
          </a:p>
          <a:p>
            <a:r>
              <a:rPr lang="fr-FR" sz="2000" b="1" dirty="0"/>
              <a:t>. </a:t>
            </a:r>
            <a:r>
              <a:rPr lang="fr-FR" sz="2000" b="1" dirty="0" err="1"/>
              <a:t>tabulate</a:t>
            </a:r>
            <a:r>
              <a:rPr lang="fr-FR" sz="2000" b="1" dirty="0"/>
              <a:t> </a:t>
            </a:r>
            <a:r>
              <a:rPr lang="fr-FR" sz="2000" b="1" dirty="0" err="1"/>
              <a:t>year</a:t>
            </a:r>
            <a:endParaRPr lang="fr-FR" sz="2000" b="1" dirty="0"/>
          </a:p>
          <a:p>
            <a:r>
              <a:rPr lang="fr-FR" sz="2000" b="1" dirty="0"/>
              <a:t> </a:t>
            </a:r>
          </a:p>
          <a:p>
            <a:r>
              <a:rPr lang="fr-FR" sz="2000" b="1" dirty="0"/>
              <a:t>       </a:t>
            </a:r>
            <a:r>
              <a:rPr lang="fr-FR" sz="2000" b="1" dirty="0" err="1"/>
              <a:t>year</a:t>
            </a:r>
            <a:r>
              <a:rPr lang="fr-FR" sz="2000" b="1" dirty="0"/>
              <a:t> |      </a:t>
            </a:r>
            <a:r>
              <a:rPr lang="fr-FR" sz="2000" b="1" dirty="0" err="1"/>
              <a:t>Freq</a:t>
            </a:r>
            <a:r>
              <a:rPr lang="fr-FR" sz="2000" b="1" dirty="0"/>
              <a:t>.     Percent        Cum.</a:t>
            </a:r>
          </a:p>
          <a:p>
            <a:r>
              <a:rPr lang="fr-FR" sz="2000" b="1" dirty="0"/>
              <a:t>------------+-----------------------------------</a:t>
            </a:r>
          </a:p>
          <a:p>
            <a:r>
              <a:rPr lang="fr-FR" sz="2000" b="1" dirty="0"/>
              <a:t>          2 |         41       14.91       14.91</a:t>
            </a:r>
          </a:p>
          <a:p>
            <a:r>
              <a:rPr lang="fr-FR" sz="2000" b="1" dirty="0"/>
              <a:t>          3 |         47       17.09       32.00</a:t>
            </a:r>
          </a:p>
          <a:p>
            <a:r>
              <a:rPr lang="fr-FR" sz="2000" b="1" dirty="0"/>
              <a:t>          4 |         48       17.45       49.45</a:t>
            </a:r>
          </a:p>
          <a:p>
            <a:r>
              <a:rPr lang="fr-FR" sz="2000" b="1" dirty="0"/>
              <a:t>          5 |         48       17.45       66.91</a:t>
            </a:r>
          </a:p>
          <a:p>
            <a:r>
              <a:rPr lang="fr-FR" sz="2000" b="1" dirty="0"/>
              <a:t>          6 |         49       17.82       84.73</a:t>
            </a:r>
          </a:p>
          <a:p>
            <a:r>
              <a:rPr lang="fr-FR" sz="2000" b="1" dirty="0"/>
              <a:t>          7 |         42       15.27      100.00</a:t>
            </a:r>
          </a:p>
          <a:p>
            <a:r>
              <a:rPr lang="fr-FR" sz="2000" b="1" dirty="0"/>
              <a:t>------------+-----------------------------------</a:t>
            </a:r>
          </a:p>
          <a:p>
            <a:r>
              <a:rPr lang="fr-FR" sz="2000" b="1" dirty="0"/>
              <a:t>      Total |        275      100.00</a:t>
            </a:r>
          </a:p>
        </p:txBody>
      </p:sp>
    </p:spTree>
    <p:extLst>
      <p:ext uri="{BB962C8B-B14F-4D97-AF65-F5344CB8AC3E}">
        <p14:creationId xmlns:p14="http://schemas.microsoft.com/office/powerpoint/2010/main" val="24847627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Balanced</a:t>
            </a:r>
            <a:r>
              <a:rPr lang="fr-FR" dirty="0"/>
              <a:t> or </a:t>
            </a:r>
            <a:r>
              <a:rPr lang="fr-FR" dirty="0" err="1"/>
              <a:t>unbalanced</a:t>
            </a:r>
            <a:r>
              <a:rPr lang="fr-FR" dirty="0"/>
              <a:t> panel</a:t>
            </a:r>
          </a:p>
        </p:txBody>
      </p:sp>
      <p:sp>
        <p:nvSpPr>
          <p:cNvPr id="3" name="Espace réservé du contenu 2"/>
          <p:cNvSpPr>
            <a:spLocks noGrp="1"/>
          </p:cNvSpPr>
          <p:nvPr>
            <p:ph idx="1"/>
          </p:nvPr>
        </p:nvSpPr>
        <p:spPr/>
        <p:txBody>
          <a:bodyPr/>
          <a:lstStyle/>
          <a:p>
            <a:pPr marL="0" indent="0">
              <a:buNone/>
            </a:pPr>
            <a:r>
              <a:rPr lang="fr-FR" dirty="0"/>
              <a:t>N&gt;2 and T&gt;2</a:t>
            </a:r>
          </a:p>
          <a:p>
            <a:pPr marL="0" indent="0">
              <a:buNone/>
            </a:pPr>
            <a:endParaRPr lang="fr-FR" dirty="0"/>
          </a:p>
          <a:p>
            <a:pPr marL="0" indent="0">
              <a:buNone/>
            </a:pPr>
            <a:r>
              <a:rPr lang="fr-FR" dirty="0"/>
              <a:t>If ALL </a:t>
            </a:r>
            <a:r>
              <a:rPr lang="fr-FR" dirty="0" err="1"/>
              <a:t>individuals</a:t>
            </a:r>
            <a:r>
              <a:rPr lang="fr-FR" dirty="0"/>
              <a:t> have observations for ALL </a:t>
            </a:r>
            <a:r>
              <a:rPr lang="fr-FR" dirty="0" err="1"/>
              <a:t>periods</a:t>
            </a:r>
            <a:r>
              <a:rPr lang="fr-FR" dirty="0"/>
              <a:t>, the panel </a:t>
            </a:r>
            <a:r>
              <a:rPr lang="fr-FR" dirty="0" err="1"/>
              <a:t>is</a:t>
            </a:r>
            <a:r>
              <a:rPr lang="fr-FR" dirty="0"/>
              <a:t> BALANCED.</a:t>
            </a:r>
          </a:p>
          <a:p>
            <a:pPr marL="0" indent="0">
              <a:buNone/>
            </a:pPr>
            <a:endParaRPr lang="fr-FR" dirty="0"/>
          </a:p>
          <a:p>
            <a:pPr marL="0" indent="0">
              <a:buNone/>
            </a:pPr>
            <a:r>
              <a:rPr lang="fr-FR" dirty="0"/>
              <a:t>If at least one </a:t>
            </a:r>
            <a:r>
              <a:rPr lang="fr-FR" dirty="0" err="1"/>
              <a:t>individual</a:t>
            </a:r>
            <a:r>
              <a:rPr lang="fr-FR" dirty="0"/>
              <a:t> has one observation in time </a:t>
            </a:r>
            <a:r>
              <a:rPr lang="fr-FR" dirty="0" err="1"/>
              <a:t>missing</a:t>
            </a:r>
            <a:r>
              <a:rPr lang="fr-FR" dirty="0"/>
              <a:t>: the panel </a:t>
            </a:r>
            <a:r>
              <a:rPr lang="fr-FR" dirty="0" err="1"/>
              <a:t>is</a:t>
            </a:r>
            <a:r>
              <a:rPr lang="fr-FR" dirty="0"/>
              <a:t> UNBALANCED.  	</a:t>
            </a:r>
          </a:p>
        </p:txBody>
      </p:sp>
    </p:spTree>
    <p:extLst>
      <p:ext uri="{BB962C8B-B14F-4D97-AF65-F5344CB8AC3E}">
        <p14:creationId xmlns:p14="http://schemas.microsoft.com/office/powerpoint/2010/main" val="8321753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Signal </a:t>
            </a:r>
            <a:r>
              <a:rPr lang="fr-FR" dirty="0" err="1"/>
              <a:t>your</a:t>
            </a:r>
            <a:r>
              <a:rPr lang="fr-FR" dirty="0"/>
              <a:t> software: </a:t>
            </a:r>
            <a:r>
              <a:rPr lang="fr-FR" dirty="0" err="1"/>
              <a:t>columns</a:t>
            </a:r>
            <a:r>
              <a:rPr lang="fr-FR" dirty="0"/>
              <a:t> are </a:t>
            </a:r>
            <a:r>
              <a:rPr lang="fr-FR" dirty="0" err="1"/>
              <a:t>sorted</a:t>
            </a:r>
            <a:r>
              <a:rPr lang="fr-FR" dirty="0"/>
              <a:t> by indices: </a:t>
            </a:r>
            <a:r>
              <a:rPr lang="fr-FR" dirty="0" err="1"/>
              <a:t>ident</a:t>
            </a:r>
            <a:r>
              <a:rPr lang="fr-FR" dirty="0"/>
              <a:t> </a:t>
            </a:r>
            <a:r>
              <a:rPr lang="fr-FR" dirty="0" err="1"/>
              <a:t>year</a:t>
            </a:r>
            <a:endParaRPr lang="fr-FR" dirty="0"/>
          </a:p>
        </p:txBody>
      </p:sp>
      <p:sp>
        <p:nvSpPr>
          <p:cNvPr id="3" name="Espace réservé du contenu 2"/>
          <p:cNvSpPr>
            <a:spLocks noGrp="1"/>
          </p:cNvSpPr>
          <p:nvPr>
            <p:ph idx="1"/>
          </p:nvPr>
        </p:nvSpPr>
        <p:spPr/>
        <p:txBody>
          <a:bodyPr/>
          <a:lstStyle/>
          <a:p>
            <a:pPr marL="0" indent="0">
              <a:buNone/>
            </a:pPr>
            <a:endParaRPr lang="fr-FR" dirty="0"/>
          </a:p>
          <a:p>
            <a:pPr marL="0" indent="0">
              <a:buNone/>
            </a:pPr>
            <a:r>
              <a:rPr lang="fr-FR" dirty="0"/>
              <a:t>sort </a:t>
            </a:r>
            <a:r>
              <a:rPr lang="fr-FR" dirty="0" err="1"/>
              <a:t>ident</a:t>
            </a:r>
            <a:r>
              <a:rPr lang="fr-FR" dirty="0"/>
              <a:t> </a:t>
            </a:r>
            <a:r>
              <a:rPr lang="fr-FR" dirty="0" err="1"/>
              <a:t>year</a:t>
            </a:r>
            <a:endParaRPr lang="fr-FR" dirty="0"/>
          </a:p>
          <a:p>
            <a:pPr marL="0" indent="0">
              <a:buNone/>
            </a:pPr>
            <a:r>
              <a:rPr lang="fr-FR" dirty="0"/>
              <a:t> </a:t>
            </a:r>
          </a:p>
          <a:p>
            <a:pPr marL="0" indent="0">
              <a:buNone/>
            </a:pPr>
            <a:r>
              <a:rPr lang="fr-FR" dirty="0" err="1"/>
              <a:t>xtset</a:t>
            </a:r>
            <a:r>
              <a:rPr lang="fr-FR" dirty="0"/>
              <a:t> </a:t>
            </a:r>
            <a:r>
              <a:rPr lang="fr-FR" dirty="0" err="1"/>
              <a:t>ident</a:t>
            </a:r>
            <a:r>
              <a:rPr lang="fr-FR" dirty="0"/>
              <a:t> </a:t>
            </a:r>
            <a:r>
              <a:rPr lang="fr-FR" dirty="0" err="1"/>
              <a:t>year</a:t>
            </a:r>
            <a:endParaRPr lang="fr-FR" dirty="0"/>
          </a:p>
          <a:p>
            <a:pPr marL="0" indent="0">
              <a:buNone/>
            </a:pPr>
            <a:endParaRPr lang="fr-FR" dirty="0"/>
          </a:p>
          <a:p>
            <a:pPr marL="0" indent="0">
              <a:buNone/>
            </a:pPr>
            <a:r>
              <a:rPr lang="fr-FR" dirty="0" err="1"/>
              <a:t>xtdescribe</a:t>
            </a:r>
            <a:r>
              <a:rPr lang="fr-FR" dirty="0"/>
              <a:t> </a:t>
            </a:r>
          </a:p>
          <a:p>
            <a:pPr marL="0" indent="0">
              <a:buNone/>
            </a:pPr>
            <a:endParaRPr lang="fr-FR" dirty="0"/>
          </a:p>
        </p:txBody>
      </p:sp>
    </p:spTree>
    <p:extLst>
      <p:ext uri="{BB962C8B-B14F-4D97-AF65-F5344CB8AC3E}">
        <p14:creationId xmlns:p14="http://schemas.microsoft.com/office/powerpoint/2010/main" val="31068130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ChangeArrowheads="1"/>
          </p:cNvSpPr>
          <p:nvPr/>
        </p:nvSpPr>
        <p:spPr bwMode="auto">
          <a:xfrm>
            <a:off x="23813" y="0"/>
            <a:ext cx="9120187" cy="6986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r>
              <a:rPr lang="fr-FR" altLang="fr-FR" sz="2800" dirty="0"/>
              <a:t>UNBALANCED PANEL DATA SET: 56 COUNTRIES, 6 PERIODS OF 4 YEARS AT MOST. </a:t>
            </a:r>
          </a:p>
          <a:p>
            <a:pPr eaLnBrk="1" hangingPunct="1"/>
            <a:r>
              <a:rPr lang="fr-FR" altLang="fr-FR" sz="2800" dirty="0" err="1"/>
              <a:t>Freq</a:t>
            </a:r>
            <a:r>
              <a:rPr lang="fr-FR" altLang="fr-FR" sz="2800" dirty="0"/>
              <a:t>.  Percent  Cum. |  Pattern</a:t>
            </a:r>
          </a:p>
          <a:p>
            <a:pPr eaLnBrk="1" hangingPunct="1"/>
            <a:r>
              <a:rPr lang="fr-FR" altLang="fr-FR" sz="2800" dirty="0"/>
              <a:t> -------------------------+-------</a:t>
            </a:r>
          </a:p>
          <a:p>
            <a:pPr eaLnBrk="1" hangingPunct="1"/>
            <a:r>
              <a:rPr lang="fr-FR" altLang="fr-FR" sz="2800" dirty="0"/>
              <a:t>     34    60.71    60.71 |  111111</a:t>
            </a:r>
          </a:p>
          <a:p>
            <a:pPr eaLnBrk="1" hangingPunct="1"/>
            <a:r>
              <a:rPr lang="fr-FR" altLang="fr-FR" sz="2800" dirty="0"/>
              <a:t>        3      5.36   66.07 |  11111.</a:t>
            </a:r>
          </a:p>
          <a:p>
            <a:pPr eaLnBrk="1" hangingPunct="1"/>
            <a:r>
              <a:rPr lang="fr-FR" altLang="fr-FR" sz="2800" dirty="0"/>
              <a:t>        2      3.57   69.64 |  ...11.</a:t>
            </a:r>
          </a:p>
          <a:p>
            <a:pPr eaLnBrk="1" hangingPunct="1"/>
            <a:r>
              <a:rPr lang="fr-FR" altLang="fr-FR" sz="2800" dirty="0"/>
              <a:t>        2      3.57   73.21 |  ...111</a:t>
            </a:r>
          </a:p>
          <a:p>
            <a:pPr eaLnBrk="1" hangingPunct="1"/>
            <a:r>
              <a:rPr lang="fr-FR" altLang="fr-FR" sz="2800" dirty="0"/>
              <a:t>        2      3.57   76.79 |  .11...</a:t>
            </a:r>
          </a:p>
          <a:p>
            <a:pPr eaLnBrk="1" hangingPunct="1"/>
            <a:r>
              <a:rPr lang="fr-FR" altLang="fr-FR" sz="2800" dirty="0"/>
              <a:t>        2      3.57   80.36 |  .11111</a:t>
            </a:r>
          </a:p>
          <a:p>
            <a:pPr eaLnBrk="1" hangingPunct="1"/>
            <a:r>
              <a:rPr lang="fr-FR" altLang="fr-FR" sz="2800" dirty="0"/>
              <a:t>        1      1.79   82.14 |  .....1</a:t>
            </a:r>
          </a:p>
          <a:p>
            <a:pPr eaLnBrk="1" hangingPunct="1"/>
            <a:r>
              <a:rPr lang="fr-FR" altLang="fr-FR" sz="2800" dirty="0"/>
              <a:t>        1      1.79   83.93 |  ....1.</a:t>
            </a:r>
          </a:p>
          <a:p>
            <a:pPr eaLnBrk="1" hangingPunct="1"/>
            <a:r>
              <a:rPr lang="fr-FR" altLang="fr-FR" sz="2800" dirty="0"/>
              <a:t>        1      1.79   85.71 |  ..1...</a:t>
            </a:r>
          </a:p>
          <a:p>
            <a:pPr eaLnBrk="1" hangingPunct="1"/>
            <a:r>
              <a:rPr lang="fr-FR" altLang="fr-FR" sz="2800" dirty="0"/>
              <a:t>        8     14.29  100.00 | (</a:t>
            </a:r>
            <a:r>
              <a:rPr lang="fr-FR" altLang="fr-FR" sz="2800" dirty="0" err="1"/>
              <a:t>other</a:t>
            </a:r>
            <a:r>
              <a:rPr lang="fr-FR" altLang="fr-FR" sz="2800" dirty="0"/>
              <a:t> patterns)</a:t>
            </a:r>
          </a:p>
          <a:p>
            <a:pPr eaLnBrk="1" hangingPunct="1"/>
            <a:r>
              <a:rPr lang="fr-FR" altLang="fr-FR" sz="2800" dirty="0"/>
              <a:t> ---------------------------+------</a:t>
            </a:r>
          </a:p>
          <a:p>
            <a:pPr eaLnBrk="1" hangingPunct="1"/>
            <a:r>
              <a:rPr lang="fr-FR" altLang="fr-FR" sz="2800" dirty="0"/>
              <a:t>       56    100.00</a:t>
            </a:r>
          </a:p>
        </p:txBody>
      </p:sp>
    </p:spTree>
    <p:extLst>
      <p:ext uri="{BB962C8B-B14F-4D97-AF65-F5344CB8AC3E}">
        <p14:creationId xmlns:p14="http://schemas.microsoft.com/office/powerpoint/2010/main" val="399070957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8" y="522536"/>
            <a:ext cx="8917049" cy="6016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62234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Single </a:t>
            </a:r>
            <a:r>
              <a:rPr lang="fr-FR" dirty="0" err="1"/>
              <a:t>column</a:t>
            </a:r>
            <a:r>
              <a:rPr lang="fr-FR" dirty="0"/>
              <a:t> X(</a:t>
            </a:r>
            <a:r>
              <a:rPr lang="fr-FR" dirty="0" err="1"/>
              <a:t>i,t</a:t>
            </a:r>
            <a:r>
              <a:rPr lang="fr-FR" dirty="0"/>
              <a:t>)</a:t>
            </a:r>
            <a:br>
              <a:rPr lang="fr-FR" dirty="0"/>
            </a:br>
            <a:r>
              <a:rPr lang="fr-FR" dirty="0" err="1"/>
              <a:t>Lag</a:t>
            </a:r>
            <a:r>
              <a:rPr lang="fr-FR" dirty="0"/>
              <a:t> </a:t>
            </a:r>
            <a:r>
              <a:rPr lang="fr-FR" dirty="0" err="1"/>
              <a:t>operator</a:t>
            </a:r>
            <a:r>
              <a:rPr lang="fr-FR" dirty="0"/>
              <a:t> </a:t>
            </a:r>
            <a:r>
              <a:rPr lang="fr-FR" dirty="0" err="1"/>
              <a:t>does</a:t>
            </a:r>
            <a:r>
              <a:rPr lang="fr-FR" dirty="0"/>
              <a:t> not </a:t>
            </a:r>
            <a:r>
              <a:rPr lang="fr-FR" dirty="0" err="1"/>
              <a:t>work</a:t>
            </a:r>
            <a:endParaRPr lang="fr-FR" dirty="0"/>
          </a:p>
        </p:txBody>
      </p:sp>
      <p:sp>
        <p:nvSpPr>
          <p:cNvPr id="3" name="Espace réservé du contenu 2"/>
          <p:cNvSpPr>
            <a:spLocks noGrp="1"/>
          </p:cNvSpPr>
          <p:nvPr>
            <p:ph idx="1"/>
          </p:nvPr>
        </p:nvSpPr>
        <p:spPr/>
        <p:txBody>
          <a:bodyPr/>
          <a:lstStyle/>
          <a:p>
            <a:pPr marL="0" indent="0">
              <a:buNone/>
            </a:pPr>
            <a:r>
              <a:rPr lang="fr-FR" dirty="0"/>
              <a:t>Once </a:t>
            </a:r>
            <a:r>
              <a:rPr lang="fr-FR" dirty="0" err="1"/>
              <a:t>you</a:t>
            </a:r>
            <a:r>
              <a:rPr lang="fr-FR" dirty="0"/>
              <a:t> have a single </a:t>
            </a:r>
            <a:r>
              <a:rPr lang="fr-FR" dirty="0" err="1"/>
              <a:t>column</a:t>
            </a:r>
            <a:r>
              <a:rPr lang="fr-FR" dirty="0"/>
              <a:t> for all </a:t>
            </a:r>
            <a:r>
              <a:rPr lang="fr-FR" dirty="0" err="1"/>
              <a:t>individuals</a:t>
            </a:r>
            <a:r>
              <a:rPr lang="fr-FR" dirty="0"/>
              <a:t>: This </a:t>
            </a:r>
            <a:r>
              <a:rPr lang="fr-FR" dirty="0" err="1"/>
              <a:t>is</a:t>
            </a:r>
            <a:r>
              <a:rPr lang="fr-FR" dirty="0"/>
              <a:t> STACKED time </a:t>
            </a:r>
            <a:r>
              <a:rPr lang="fr-FR" dirty="0" err="1"/>
              <a:t>series</a:t>
            </a:r>
            <a:r>
              <a:rPr lang="fr-FR" dirty="0"/>
              <a:t>.</a:t>
            </a:r>
          </a:p>
          <a:p>
            <a:pPr marL="0" indent="0">
              <a:buNone/>
            </a:pPr>
            <a:endParaRPr lang="fr-FR" dirty="0"/>
          </a:p>
          <a:p>
            <a:pPr marL="0" indent="0">
              <a:buNone/>
            </a:pPr>
            <a:r>
              <a:rPr lang="fr-FR" dirty="0"/>
              <a:t>You </a:t>
            </a:r>
            <a:r>
              <a:rPr lang="fr-FR" dirty="0" err="1"/>
              <a:t>need</a:t>
            </a:r>
            <a:r>
              <a:rPr lang="fr-FR" dirty="0"/>
              <a:t> to have </a:t>
            </a:r>
            <a:r>
              <a:rPr lang="fr-FR" dirty="0" err="1"/>
              <a:t>special</a:t>
            </a:r>
            <a:r>
              <a:rPr lang="fr-FR" dirty="0"/>
              <a:t> code for the LAG </a:t>
            </a:r>
            <a:r>
              <a:rPr lang="fr-FR" dirty="0" err="1"/>
              <a:t>operator</a:t>
            </a:r>
            <a:r>
              <a:rPr lang="fr-FR" dirty="0"/>
              <a:t>: </a:t>
            </a:r>
            <a:r>
              <a:rPr lang="fr-FR" dirty="0" err="1"/>
              <a:t>why</a:t>
            </a:r>
            <a:r>
              <a:rPr lang="fr-FR" dirty="0"/>
              <a:t>? </a:t>
            </a:r>
            <a:r>
              <a:rPr lang="fr-FR" dirty="0" err="1"/>
              <a:t>Try</a:t>
            </a:r>
            <a:r>
              <a:rPr lang="fr-FR" dirty="0"/>
              <a:t> a 2x2 </a:t>
            </a:r>
            <a:r>
              <a:rPr lang="fr-FR" dirty="0" err="1"/>
              <a:t>example</a:t>
            </a:r>
            <a:r>
              <a:rPr lang="fr-FR" dirty="0"/>
              <a:t>.</a:t>
            </a:r>
          </a:p>
          <a:p>
            <a:pPr marL="0" indent="0">
              <a:buNone/>
            </a:pPr>
            <a:endParaRPr lang="fr-FR" dirty="0"/>
          </a:p>
          <a:p>
            <a:pPr marL="0" indent="0">
              <a:buNone/>
            </a:pPr>
            <a:r>
              <a:rPr lang="fr-FR" dirty="0" err="1"/>
              <a:t>Example</a:t>
            </a:r>
            <a:r>
              <a:rPr lang="fr-FR" dirty="0"/>
              <a:t> stata: </a:t>
            </a:r>
            <a:r>
              <a:rPr lang="fr-FR" dirty="0" err="1"/>
              <a:t>xt</a:t>
            </a:r>
            <a:r>
              <a:rPr lang="fr-FR" dirty="0"/>
              <a:t> command for all panel data instructions</a:t>
            </a:r>
          </a:p>
        </p:txBody>
      </p:sp>
    </p:spTree>
    <p:extLst>
      <p:ext uri="{BB962C8B-B14F-4D97-AF65-F5344CB8AC3E}">
        <p14:creationId xmlns:p14="http://schemas.microsoft.com/office/powerpoint/2010/main" val="368687310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Lag</a:t>
            </a:r>
            <a:r>
              <a:rPr lang="fr-FR" dirty="0"/>
              <a:t> and </a:t>
            </a:r>
            <a:r>
              <a:rPr lang="fr-FR" dirty="0" err="1"/>
              <a:t>Dif</a:t>
            </a:r>
            <a:r>
              <a:rPr lang="fr-FR" dirty="0"/>
              <a:t> </a:t>
            </a:r>
            <a:r>
              <a:rPr lang="fr-FR" dirty="0" err="1"/>
              <a:t>operator</a:t>
            </a:r>
            <a:r>
              <a:rPr lang="fr-FR" dirty="0"/>
              <a:t>: </a:t>
            </a:r>
            <a:r>
              <a:rPr lang="fr-FR" dirty="0" err="1"/>
              <a:t>requires</a:t>
            </a:r>
            <a:r>
              <a:rPr lang="fr-FR" dirty="0"/>
              <a:t> </a:t>
            </a:r>
            <a:r>
              <a:rPr lang="fr-FR" dirty="0" err="1"/>
              <a:t>mentioning</a:t>
            </a:r>
            <a:r>
              <a:rPr lang="fr-FR" dirty="0"/>
              <a:t> </a:t>
            </a:r>
            <a:r>
              <a:rPr lang="fr-FR" dirty="0" err="1"/>
              <a:t>two</a:t>
            </a:r>
            <a:r>
              <a:rPr lang="fr-FR" dirty="0"/>
              <a:t> indices</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4092050754"/>
              </p:ext>
            </p:extLst>
          </p:nvPr>
        </p:nvGraphicFramePr>
        <p:xfrm>
          <a:off x="457200" y="1679024"/>
          <a:ext cx="8229600" cy="466344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0000"/>
                    </a:ext>
                  </a:extLst>
                </a:gridCol>
                <a:gridCol w="1604784">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892816">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r>
                        <a:rPr lang="fr-FR" sz="4000" b="1" dirty="0" err="1"/>
                        <a:t>Ident</a:t>
                      </a:r>
                      <a:endParaRPr lang="fr-FR" sz="4000" b="1" dirty="0"/>
                    </a:p>
                  </a:txBody>
                  <a:tcPr/>
                </a:tc>
                <a:tc>
                  <a:txBody>
                    <a:bodyPr/>
                    <a:lstStyle/>
                    <a:p>
                      <a:r>
                        <a:rPr lang="fr-FR" sz="4000" b="1" dirty="0" err="1"/>
                        <a:t>Year</a:t>
                      </a:r>
                      <a:endParaRPr lang="fr-FR" sz="4000" b="1" dirty="0"/>
                    </a:p>
                  </a:txBody>
                  <a:tcPr/>
                </a:tc>
                <a:tc>
                  <a:txBody>
                    <a:bodyPr/>
                    <a:lstStyle/>
                    <a:p>
                      <a:r>
                        <a:rPr lang="fr-FR" sz="4000" b="1" baseline="0" dirty="0"/>
                        <a:t>X(</a:t>
                      </a:r>
                      <a:r>
                        <a:rPr lang="fr-FR" sz="4000" b="1" baseline="0" dirty="0" err="1"/>
                        <a:t>it</a:t>
                      </a:r>
                      <a:r>
                        <a:rPr lang="fr-FR" sz="4000" b="1" baseline="0" dirty="0"/>
                        <a:t>)</a:t>
                      </a:r>
                      <a:endParaRPr lang="fr-FR" sz="4000" b="1" dirty="0"/>
                    </a:p>
                  </a:txBody>
                  <a:tcPr/>
                </a:tc>
                <a:tc>
                  <a:txBody>
                    <a:bodyPr/>
                    <a:lstStyle/>
                    <a:p>
                      <a:r>
                        <a:rPr lang="fr-FR" sz="2800" b="1" dirty="0" err="1"/>
                        <a:t>Lag</a:t>
                      </a:r>
                      <a:r>
                        <a:rPr lang="fr-FR" sz="2800" b="1" dirty="0"/>
                        <a:t>(X(t))</a:t>
                      </a:r>
                      <a:r>
                        <a:rPr lang="fr-FR" sz="2800" b="1" baseline="0" dirty="0"/>
                        <a:t> time </a:t>
                      </a:r>
                      <a:r>
                        <a:rPr lang="fr-FR" sz="2800" b="1" baseline="0" dirty="0" err="1"/>
                        <a:t>series</a:t>
                      </a:r>
                      <a:endParaRPr lang="fr-FR" sz="2800" b="1" dirty="0"/>
                    </a:p>
                  </a:txBody>
                  <a:tcPr/>
                </a:tc>
                <a:tc>
                  <a:txBody>
                    <a:bodyPr/>
                    <a:lstStyle/>
                    <a:p>
                      <a:r>
                        <a:rPr lang="fr-FR" b="1" dirty="0" err="1"/>
                        <a:t>Lag</a:t>
                      </a:r>
                      <a:r>
                        <a:rPr lang="fr-FR" b="1" dirty="0"/>
                        <a:t>(X(</a:t>
                      </a:r>
                      <a:r>
                        <a:rPr lang="fr-FR" b="1" dirty="0" err="1"/>
                        <a:t>it</a:t>
                      </a:r>
                      <a:r>
                        <a:rPr lang="fr-FR" b="1" dirty="0"/>
                        <a:t>))</a:t>
                      </a:r>
                    </a:p>
                    <a:p>
                      <a:r>
                        <a:rPr lang="fr-FR" b="1" dirty="0"/>
                        <a:t>=X(i,t-1)</a:t>
                      </a:r>
                    </a:p>
                    <a:p>
                      <a:r>
                        <a:rPr lang="fr-FR" b="1" dirty="0" err="1"/>
                        <a:t>Stacked</a:t>
                      </a:r>
                      <a:r>
                        <a:rPr lang="fr-FR" b="1" dirty="0"/>
                        <a:t> Panel</a:t>
                      </a:r>
                    </a:p>
                  </a:txBody>
                  <a:tcPr/>
                </a:tc>
                <a:extLst>
                  <a:ext uri="{0D108BD9-81ED-4DB2-BD59-A6C34878D82A}">
                    <a16:rowId xmlns:a16="http://schemas.microsoft.com/office/drawing/2014/main" val="10000"/>
                  </a:ext>
                </a:extLst>
              </a:tr>
              <a:tr h="370840">
                <a:tc>
                  <a:txBody>
                    <a:bodyPr/>
                    <a:lstStyle/>
                    <a:p>
                      <a:r>
                        <a:rPr lang="fr-FR" sz="4800" b="1" dirty="0"/>
                        <a:t>1</a:t>
                      </a:r>
                    </a:p>
                  </a:txBody>
                  <a:tcPr/>
                </a:tc>
                <a:tc>
                  <a:txBody>
                    <a:bodyPr/>
                    <a:lstStyle/>
                    <a:p>
                      <a:r>
                        <a:rPr lang="fr-FR" sz="4800" b="1" dirty="0"/>
                        <a:t>1</a:t>
                      </a:r>
                    </a:p>
                  </a:txBody>
                  <a:tcPr/>
                </a:tc>
                <a:tc>
                  <a:txBody>
                    <a:bodyPr/>
                    <a:lstStyle/>
                    <a:p>
                      <a:pPr algn="ctr"/>
                      <a:r>
                        <a:rPr lang="fr-FR" sz="4800" b="1" dirty="0"/>
                        <a:t>8</a:t>
                      </a:r>
                    </a:p>
                  </a:txBody>
                  <a:tcPr/>
                </a:tc>
                <a:tc>
                  <a:txBody>
                    <a:bodyPr/>
                    <a:lstStyle/>
                    <a:p>
                      <a:pPr algn="ctr"/>
                      <a:r>
                        <a:rPr lang="fr-FR" b="1" dirty="0"/>
                        <a:t>Dot (not </a:t>
                      </a:r>
                      <a:r>
                        <a:rPr lang="fr-FR" b="1" dirty="0" err="1"/>
                        <a:t>available</a:t>
                      </a:r>
                      <a:r>
                        <a:rPr lang="fr-FR" b="1" dirty="0"/>
                        <a:t>).</a:t>
                      </a:r>
                    </a:p>
                  </a:txBody>
                  <a:tcPr/>
                </a:tc>
                <a:tc>
                  <a:txBody>
                    <a:bodyPr/>
                    <a:lstStyle/>
                    <a:p>
                      <a:pPr algn="ctr"/>
                      <a:r>
                        <a:rPr lang="fr-FR" b="1" dirty="0"/>
                        <a:t>Dot (not </a:t>
                      </a:r>
                      <a:r>
                        <a:rPr lang="fr-FR" b="1" dirty="0" err="1"/>
                        <a:t>available</a:t>
                      </a:r>
                      <a:r>
                        <a:rPr lang="fr-FR" b="1" dirty="0"/>
                        <a:t>)</a:t>
                      </a:r>
                    </a:p>
                  </a:txBody>
                  <a:tcPr/>
                </a:tc>
                <a:extLst>
                  <a:ext uri="{0D108BD9-81ED-4DB2-BD59-A6C34878D82A}">
                    <a16:rowId xmlns:a16="http://schemas.microsoft.com/office/drawing/2014/main" val="10001"/>
                  </a:ext>
                </a:extLst>
              </a:tr>
              <a:tr h="370840">
                <a:tc>
                  <a:txBody>
                    <a:bodyPr/>
                    <a:lstStyle/>
                    <a:p>
                      <a:r>
                        <a:rPr lang="fr-FR" sz="4800" b="1" dirty="0"/>
                        <a:t>1</a:t>
                      </a:r>
                    </a:p>
                  </a:txBody>
                  <a:tcPr/>
                </a:tc>
                <a:tc>
                  <a:txBody>
                    <a:bodyPr/>
                    <a:lstStyle/>
                    <a:p>
                      <a:r>
                        <a:rPr lang="fr-FR" sz="4800" b="1" dirty="0"/>
                        <a:t>2</a:t>
                      </a:r>
                    </a:p>
                  </a:txBody>
                  <a:tcPr/>
                </a:tc>
                <a:tc>
                  <a:txBody>
                    <a:bodyPr/>
                    <a:lstStyle/>
                    <a:p>
                      <a:pPr algn="ctr"/>
                      <a:r>
                        <a:rPr lang="fr-FR" sz="4800" b="1" dirty="0"/>
                        <a:t>12</a:t>
                      </a:r>
                    </a:p>
                  </a:txBody>
                  <a:tcPr/>
                </a:tc>
                <a:tc>
                  <a:txBody>
                    <a:bodyPr/>
                    <a:lstStyle/>
                    <a:p>
                      <a:pPr algn="ctr"/>
                      <a:r>
                        <a:rPr lang="fr-FR" sz="4800" b="1" dirty="0"/>
                        <a:t>8</a:t>
                      </a:r>
                    </a:p>
                  </a:txBody>
                  <a:tcPr/>
                </a:tc>
                <a:tc>
                  <a:txBody>
                    <a:bodyPr/>
                    <a:lstStyle/>
                    <a:p>
                      <a:pPr algn="ctr"/>
                      <a:r>
                        <a:rPr lang="fr-FR" sz="4800" b="1" dirty="0"/>
                        <a:t>8</a:t>
                      </a:r>
                    </a:p>
                  </a:txBody>
                  <a:tcPr/>
                </a:tc>
                <a:extLst>
                  <a:ext uri="{0D108BD9-81ED-4DB2-BD59-A6C34878D82A}">
                    <a16:rowId xmlns:a16="http://schemas.microsoft.com/office/drawing/2014/main" val="10002"/>
                  </a:ext>
                </a:extLst>
              </a:tr>
              <a:tr h="370840">
                <a:tc>
                  <a:txBody>
                    <a:bodyPr/>
                    <a:lstStyle/>
                    <a:p>
                      <a:r>
                        <a:rPr lang="fr-FR" sz="4800" b="1" dirty="0"/>
                        <a:t>2</a:t>
                      </a:r>
                    </a:p>
                  </a:txBody>
                  <a:tcPr/>
                </a:tc>
                <a:tc>
                  <a:txBody>
                    <a:bodyPr/>
                    <a:lstStyle/>
                    <a:p>
                      <a:r>
                        <a:rPr lang="fr-FR" sz="4800" b="1" dirty="0"/>
                        <a:t>1</a:t>
                      </a:r>
                    </a:p>
                  </a:txBody>
                  <a:tcPr/>
                </a:tc>
                <a:tc>
                  <a:txBody>
                    <a:bodyPr/>
                    <a:lstStyle/>
                    <a:p>
                      <a:pPr algn="ctr"/>
                      <a:r>
                        <a:rPr lang="fr-FR" sz="4800" b="1" dirty="0"/>
                        <a:t>5</a:t>
                      </a:r>
                    </a:p>
                  </a:txBody>
                  <a:tcPr/>
                </a:tc>
                <a:tc>
                  <a:txBody>
                    <a:bodyPr/>
                    <a:lstStyle/>
                    <a:p>
                      <a:pPr algn="ctr"/>
                      <a:r>
                        <a:rPr lang="fr-FR" sz="4800" b="1" dirty="0">
                          <a:solidFill>
                            <a:srgbClr val="FF0000"/>
                          </a:solidFill>
                        </a:rPr>
                        <a:t>12</a:t>
                      </a:r>
                    </a:p>
                  </a:txBody>
                  <a:tcPr/>
                </a:tc>
                <a:tc>
                  <a:txBody>
                    <a:bodyPr/>
                    <a:lstStyle/>
                    <a:p>
                      <a:pPr algn="ctr"/>
                      <a:r>
                        <a:rPr lang="fr-FR" b="1" dirty="0">
                          <a:solidFill>
                            <a:srgbClr val="FF0000"/>
                          </a:solidFill>
                        </a:rPr>
                        <a:t>Dot (not </a:t>
                      </a:r>
                      <a:r>
                        <a:rPr lang="fr-FR" b="1" dirty="0" err="1">
                          <a:solidFill>
                            <a:srgbClr val="FF0000"/>
                          </a:solidFill>
                        </a:rPr>
                        <a:t>available</a:t>
                      </a:r>
                      <a:r>
                        <a:rPr lang="fr-FR" b="1" dirty="0">
                          <a:solidFill>
                            <a:srgbClr val="FF0000"/>
                          </a:solidFill>
                        </a:rPr>
                        <a:t>)</a:t>
                      </a:r>
                    </a:p>
                  </a:txBody>
                  <a:tcPr/>
                </a:tc>
                <a:extLst>
                  <a:ext uri="{0D108BD9-81ED-4DB2-BD59-A6C34878D82A}">
                    <a16:rowId xmlns:a16="http://schemas.microsoft.com/office/drawing/2014/main" val="10003"/>
                  </a:ext>
                </a:extLst>
              </a:tr>
              <a:tr h="370840">
                <a:tc>
                  <a:txBody>
                    <a:bodyPr/>
                    <a:lstStyle/>
                    <a:p>
                      <a:r>
                        <a:rPr lang="fr-FR" sz="4800" b="1" dirty="0"/>
                        <a:t>2</a:t>
                      </a:r>
                    </a:p>
                  </a:txBody>
                  <a:tcPr/>
                </a:tc>
                <a:tc>
                  <a:txBody>
                    <a:bodyPr/>
                    <a:lstStyle/>
                    <a:p>
                      <a:r>
                        <a:rPr lang="fr-FR" sz="4800" b="1" dirty="0"/>
                        <a:t>2</a:t>
                      </a:r>
                    </a:p>
                  </a:txBody>
                  <a:tcPr/>
                </a:tc>
                <a:tc>
                  <a:txBody>
                    <a:bodyPr/>
                    <a:lstStyle/>
                    <a:p>
                      <a:pPr algn="ctr"/>
                      <a:r>
                        <a:rPr lang="fr-FR" sz="4800" b="1" dirty="0"/>
                        <a:t>3</a:t>
                      </a:r>
                    </a:p>
                  </a:txBody>
                  <a:tcPr/>
                </a:tc>
                <a:tc>
                  <a:txBody>
                    <a:bodyPr/>
                    <a:lstStyle/>
                    <a:p>
                      <a:pPr algn="ctr"/>
                      <a:r>
                        <a:rPr lang="fr-FR" sz="4800" b="1" dirty="0"/>
                        <a:t>5</a:t>
                      </a:r>
                    </a:p>
                  </a:txBody>
                  <a:tcPr/>
                </a:tc>
                <a:tc>
                  <a:txBody>
                    <a:bodyPr/>
                    <a:lstStyle/>
                    <a:p>
                      <a:pPr algn="ctr"/>
                      <a:r>
                        <a:rPr lang="fr-FR" sz="4800" b="1" dirty="0"/>
                        <a:t>5</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255952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Minimal panel data set </a:t>
            </a:r>
            <a:br>
              <a:rPr lang="fr-FR" dirty="0"/>
            </a:br>
            <a:r>
              <a:rPr lang="fr-FR" dirty="0"/>
              <a:t>N=2 (</a:t>
            </a:r>
            <a:r>
              <a:rPr lang="fr-FR" dirty="0" err="1"/>
              <a:t>ident</a:t>
            </a:r>
            <a:r>
              <a:rPr lang="fr-FR" dirty="0"/>
              <a:t>), T=2 (</a:t>
            </a:r>
            <a:r>
              <a:rPr lang="fr-FR" dirty="0" err="1"/>
              <a:t>year</a:t>
            </a:r>
            <a:r>
              <a:rPr lang="fr-FR" dirty="0"/>
              <a:t>)</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4045596513"/>
              </p:ext>
            </p:extLst>
          </p:nvPr>
        </p:nvGraphicFramePr>
        <p:xfrm>
          <a:off x="457200" y="1600200"/>
          <a:ext cx="8229600" cy="463296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193264">
                  <a:extLst>
                    <a:ext uri="{9D8B030D-6E8A-4147-A177-3AD203B41FA5}">
                      <a16:colId xmlns:a16="http://schemas.microsoft.com/office/drawing/2014/main" val="20003"/>
                    </a:ext>
                  </a:extLst>
                </a:gridCol>
                <a:gridCol w="2098576">
                  <a:extLst>
                    <a:ext uri="{9D8B030D-6E8A-4147-A177-3AD203B41FA5}">
                      <a16:colId xmlns:a16="http://schemas.microsoft.com/office/drawing/2014/main" val="2000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3200" b="1" dirty="0"/>
                        <a:t>IDENT</a:t>
                      </a:r>
                    </a:p>
                  </a:txBody>
                  <a:tcPr/>
                </a:tc>
                <a:tc>
                  <a:txBody>
                    <a:bodyPr/>
                    <a:lstStyle/>
                    <a:p>
                      <a:r>
                        <a:rPr lang="fr-FR" sz="3200" b="1" dirty="0"/>
                        <a:t>YEAR</a:t>
                      </a:r>
                    </a:p>
                  </a:txBody>
                  <a:tcPr/>
                </a:tc>
                <a:tc>
                  <a:txBody>
                    <a:bodyPr/>
                    <a:lstStyle/>
                    <a:p>
                      <a:r>
                        <a:rPr lang="fr-FR" sz="3200" b="1" baseline="0" dirty="0"/>
                        <a:t>X(</a:t>
                      </a:r>
                      <a:r>
                        <a:rPr lang="fr-FR" sz="3200" b="1" baseline="0" dirty="0" err="1"/>
                        <a:t>it</a:t>
                      </a:r>
                      <a:r>
                        <a:rPr lang="fr-FR" sz="3200" b="1" baseline="0" dirty="0"/>
                        <a:t>)</a:t>
                      </a:r>
                      <a:endParaRPr lang="fr-FR" sz="3200" b="1" dirty="0"/>
                    </a:p>
                  </a:txBody>
                  <a:tcPr/>
                </a:tc>
                <a:tc>
                  <a:txBody>
                    <a:bodyPr/>
                    <a:lstStyle/>
                    <a:p>
                      <a:r>
                        <a:rPr lang="fr-FR" sz="3200" b="1" baseline="0" dirty="0"/>
                        <a:t>X(i.)</a:t>
                      </a:r>
                      <a:endParaRPr lang="fr-FR" sz="3200" b="1" dirty="0"/>
                    </a:p>
                  </a:txBody>
                  <a:tcPr/>
                </a:tc>
                <a:tc>
                  <a:txBody>
                    <a:bodyPr/>
                    <a:lstStyle/>
                    <a:p>
                      <a:r>
                        <a:rPr lang="fr-FR" sz="3200" b="1" baseline="0" dirty="0"/>
                        <a:t>X(</a:t>
                      </a:r>
                      <a:r>
                        <a:rPr lang="fr-FR" sz="3200" b="1" baseline="0" dirty="0" err="1"/>
                        <a:t>it</a:t>
                      </a:r>
                      <a:r>
                        <a:rPr lang="fr-FR" sz="3200" b="1" baseline="0" dirty="0"/>
                        <a:t>)-X(i.)</a:t>
                      </a:r>
                      <a:endParaRPr lang="fr-FR" sz="3200" b="1" dirty="0"/>
                    </a:p>
                  </a:txBody>
                  <a:tcPr/>
                </a:tc>
                <a:extLst>
                  <a:ext uri="{0D108BD9-81ED-4DB2-BD59-A6C34878D82A}">
                    <a16:rowId xmlns:a16="http://schemas.microsoft.com/office/drawing/2014/main" val="10000"/>
                  </a:ext>
                </a:extLst>
              </a:tr>
              <a:tr h="370840">
                <a:tc>
                  <a:txBody>
                    <a:bodyPr/>
                    <a:lstStyle/>
                    <a:p>
                      <a:pPr algn="ctr"/>
                      <a:r>
                        <a:rPr lang="fr-FR" sz="3200" b="1" dirty="0"/>
                        <a:t>1</a:t>
                      </a:r>
                    </a:p>
                  </a:txBody>
                  <a:tcPr/>
                </a:tc>
                <a:tc>
                  <a:txBody>
                    <a:bodyPr/>
                    <a:lstStyle/>
                    <a:p>
                      <a:pPr algn="ctr"/>
                      <a:r>
                        <a:rPr lang="fr-FR" sz="3200" b="1" dirty="0"/>
                        <a:t>1</a:t>
                      </a:r>
                    </a:p>
                  </a:txBody>
                  <a:tcPr/>
                </a:tc>
                <a:tc>
                  <a:txBody>
                    <a:bodyPr/>
                    <a:lstStyle/>
                    <a:p>
                      <a:pPr algn="ctr"/>
                      <a:r>
                        <a:rPr lang="fr-FR" sz="3200" b="1" dirty="0"/>
                        <a:t>8</a:t>
                      </a:r>
                    </a:p>
                  </a:txBody>
                  <a:tcPr/>
                </a:tc>
                <a:tc>
                  <a:txBody>
                    <a:bodyPr/>
                    <a:lstStyle/>
                    <a:p>
                      <a:pPr algn="ctr"/>
                      <a:r>
                        <a:rPr lang="fr-FR" sz="3200" b="1" dirty="0">
                          <a:solidFill>
                            <a:schemeClr val="tx1"/>
                          </a:solidFill>
                        </a:rPr>
                        <a:t>10</a:t>
                      </a:r>
                    </a:p>
                  </a:txBody>
                  <a:tcPr/>
                </a:tc>
                <a:tc>
                  <a:txBody>
                    <a:bodyPr/>
                    <a:lstStyle/>
                    <a:p>
                      <a:pPr algn="ctr"/>
                      <a:r>
                        <a:rPr lang="fr-FR" sz="3200" b="1" dirty="0"/>
                        <a:t>-2</a:t>
                      </a:r>
                    </a:p>
                  </a:txBody>
                  <a:tcPr/>
                </a:tc>
                <a:extLst>
                  <a:ext uri="{0D108BD9-81ED-4DB2-BD59-A6C34878D82A}">
                    <a16:rowId xmlns:a16="http://schemas.microsoft.com/office/drawing/2014/main" val="10001"/>
                  </a:ext>
                </a:extLst>
              </a:tr>
              <a:tr h="370840">
                <a:tc>
                  <a:txBody>
                    <a:bodyPr/>
                    <a:lstStyle/>
                    <a:p>
                      <a:pPr algn="ctr"/>
                      <a:r>
                        <a:rPr lang="fr-FR" sz="3200" b="1" dirty="0"/>
                        <a:t>1</a:t>
                      </a:r>
                    </a:p>
                  </a:txBody>
                  <a:tcPr/>
                </a:tc>
                <a:tc>
                  <a:txBody>
                    <a:bodyPr/>
                    <a:lstStyle/>
                    <a:p>
                      <a:pPr algn="ctr"/>
                      <a:r>
                        <a:rPr lang="fr-FR" sz="3200" b="1" dirty="0"/>
                        <a:t>2</a:t>
                      </a:r>
                    </a:p>
                  </a:txBody>
                  <a:tcPr/>
                </a:tc>
                <a:tc>
                  <a:txBody>
                    <a:bodyPr/>
                    <a:lstStyle/>
                    <a:p>
                      <a:pPr algn="ctr"/>
                      <a:r>
                        <a:rPr lang="fr-FR" sz="3200" b="1" dirty="0"/>
                        <a:t>12</a:t>
                      </a:r>
                    </a:p>
                  </a:txBody>
                  <a:tcPr/>
                </a:tc>
                <a:tc>
                  <a:txBody>
                    <a:bodyPr/>
                    <a:lstStyle/>
                    <a:p>
                      <a:pPr algn="ctr"/>
                      <a:r>
                        <a:rPr lang="fr-FR" sz="3200" b="1" dirty="0">
                          <a:solidFill>
                            <a:schemeClr val="tx1"/>
                          </a:solidFill>
                        </a:rPr>
                        <a:t>10</a:t>
                      </a:r>
                    </a:p>
                  </a:txBody>
                  <a:tcPr/>
                </a:tc>
                <a:tc>
                  <a:txBody>
                    <a:bodyPr/>
                    <a:lstStyle/>
                    <a:p>
                      <a:pPr algn="ctr"/>
                      <a:r>
                        <a:rPr lang="fr-FR" sz="3200" b="1" dirty="0"/>
                        <a:t>+2</a:t>
                      </a:r>
                    </a:p>
                  </a:txBody>
                  <a:tcPr/>
                </a:tc>
                <a:extLst>
                  <a:ext uri="{0D108BD9-81ED-4DB2-BD59-A6C34878D82A}">
                    <a16:rowId xmlns:a16="http://schemas.microsoft.com/office/drawing/2014/main" val="10002"/>
                  </a:ext>
                </a:extLst>
              </a:tr>
              <a:tr h="370840">
                <a:tc>
                  <a:txBody>
                    <a:bodyPr/>
                    <a:lstStyle/>
                    <a:p>
                      <a:pPr algn="ctr"/>
                      <a:r>
                        <a:rPr lang="fr-FR" sz="3200" b="1" dirty="0"/>
                        <a:t>2</a:t>
                      </a:r>
                    </a:p>
                  </a:txBody>
                  <a:tcPr/>
                </a:tc>
                <a:tc>
                  <a:txBody>
                    <a:bodyPr/>
                    <a:lstStyle/>
                    <a:p>
                      <a:pPr algn="ctr"/>
                      <a:r>
                        <a:rPr lang="fr-FR" sz="3200" b="1" dirty="0"/>
                        <a:t>1</a:t>
                      </a:r>
                    </a:p>
                  </a:txBody>
                  <a:tcPr/>
                </a:tc>
                <a:tc>
                  <a:txBody>
                    <a:bodyPr/>
                    <a:lstStyle/>
                    <a:p>
                      <a:pPr algn="ctr"/>
                      <a:r>
                        <a:rPr lang="fr-FR" sz="3200" b="1" dirty="0"/>
                        <a:t>5</a:t>
                      </a:r>
                    </a:p>
                  </a:txBody>
                  <a:tcPr/>
                </a:tc>
                <a:tc>
                  <a:txBody>
                    <a:bodyPr/>
                    <a:lstStyle/>
                    <a:p>
                      <a:pPr algn="ctr"/>
                      <a:r>
                        <a:rPr lang="fr-FR" sz="3200" b="1" dirty="0"/>
                        <a:t>4</a:t>
                      </a:r>
                    </a:p>
                  </a:txBody>
                  <a:tcPr/>
                </a:tc>
                <a:tc>
                  <a:txBody>
                    <a:bodyPr/>
                    <a:lstStyle/>
                    <a:p>
                      <a:pPr algn="ctr"/>
                      <a:r>
                        <a:rPr lang="fr-FR" sz="3200" b="1" dirty="0"/>
                        <a:t>+1</a:t>
                      </a:r>
                    </a:p>
                  </a:txBody>
                  <a:tcPr/>
                </a:tc>
                <a:extLst>
                  <a:ext uri="{0D108BD9-81ED-4DB2-BD59-A6C34878D82A}">
                    <a16:rowId xmlns:a16="http://schemas.microsoft.com/office/drawing/2014/main" val="10003"/>
                  </a:ext>
                </a:extLst>
              </a:tr>
              <a:tr h="370840">
                <a:tc>
                  <a:txBody>
                    <a:bodyPr/>
                    <a:lstStyle/>
                    <a:p>
                      <a:pPr algn="ctr"/>
                      <a:r>
                        <a:rPr lang="fr-FR" sz="3200" b="1" dirty="0"/>
                        <a:t>2</a:t>
                      </a:r>
                    </a:p>
                  </a:txBody>
                  <a:tcPr/>
                </a:tc>
                <a:tc>
                  <a:txBody>
                    <a:bodyPr/>
                    <a:lstStyle/>
                    <a:p>
                      <a:pPr algn="ctr"/>
                      <a:r>
                        <a:rPr lang="fr-FR" sz="3200" b="1" dirty="0"/>
                        <a:t>2</a:t>
                      </a:r>
                    </a:p>
                  </a:txBody>
                  <a:tcPr/>
                </a:tc>
                <a:tc>
                  <a:txBody>
                    <a:bodyPr/>
                    <a:lstStyle/>
                    <a:p>
                      <a:pPr algn="ctr"/>
                      <a:r>
                        <a:rPr lang="fr-FR" sz="3200" b="1" dirty="0"/>
                        <a:t>3</a:t>
                      </a:r>
                    </a:p>
                  </a:txBody>
                  <a:tcPr/>
                </a:tc>
                <a:tc>
                  <a:txBody>
                    <a:bodyPr/>
                    <a:lstStyle/>
                    <a:p>
                      <a:pPr algn="ctr"/>
                      <a:r>
                        <a:rPr lang="fr-FR" sz="3200" b="1" dirty="0"/>
                        <a:t>4</a:t>
                      </a:r>
                    </a:p>
                  </a:txBody>
                  <a:tcPr/>
                </a:tc>
                <a:tc>
                  <a:txBody>
                    <a:bodyPr/>
                    <a:lstStyle/>
                    <a:p>
                      <a:pPr algn="ctr"/>
                      <a:r>
                        <a:rPr lang="fr-FR" sz="3200" b="1" dirty="0"/>
                        <a:t>-1</a:t>
                      </a:r>
                    </a:p>
                  </a:txBody>
                  <a:tcPr/>
                </a:tc>
                <a:extLst>
                  <a:ext uri="{0D108BD9-81ED-4DB2-BD59-A6C34878D82A}">
                    <a16:rowId xmlns:a16="http://schemas.microsoft.com/office/drawing/2014/main" val="10004"/>
                  </a:ext>
                </a:extLst>
              </a:tr>
              <a:tr h="370840">
                <a:tc>
                  <a:txBody>
                    <a:bodyPr/>
                    <a:lstStyle/>
                    <a:p>
                      <a:pPr algn="ctr"/>
                      <a:r>
                        <a:rPr lang="fr-FR" sz="3200" b="1" dirty="0"/>
                        <a:t>ID=1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3200" b="1" dirty="0" err="1"/>
                        <a:t>Mean</a:t>
                      </a:r>
                      <a:endParaRPr lang="fr-FR" sz="3200" b="1" dirty="0"/>
                    </a:p>
                  </a:txBody>
                  <a:tcPr/>
                </a:tc>
                <a:tc>
                  <a:txBody>
                    <a:bodyPr/>
                    <a:lstStyle/>
                    <a:p>
                      <a:pPr algn="ctr"/>
                      <a:r>
                        <a:rPr lang="fr-FR" sz="3200" b="1" dirty="0">
                          <a:solidFill>
                            <a:srgbClr val="FF0000"/>
                          </a:solidFill>
                        </a:rPr>
                        <a:t>10</a:t>
                      </a:r>
                    </a:p>
                  </a:txBody>
                  <a:tcPr/>
                </a:tc>
                <a:tc>
                  <a:txBody>
                    <a:bodyPr/>
                    <a:lstStyle/>
                    <a:p>
                      <a:pPr algn="ctr"/>
                      <a:r>
                        <a:rPr lang="fr-FR" sz="3200" b="1" dirty="0">
                          <a:solidFill>
                            <a:srgbClr val="FF0000"/>
                          </a:solidFill>
                        </a:rPr>
                        <a:t>10</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5"/>
                  </a:ext>
                </a:extLst>
              </a:tr>
              <a:tr h="370840">
                <a:tc>
                  <a:txBody>
                    <a:bodyPr/>
                    <a:lstStyle/>
                    <a:p>
                      <a:pPr algn="ctr"/>
                      <a:r>
                        <a:rPr lang="fr-FR" sz="3200" b="1" dirty="0"/>
                        <a:t>ID=2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3200" b="1" dirty="0" err="1"/>
                        <a:t>Mean</a:t>
                      </a:r>
                      <a:endParaRPr lang="fr-FR" sz="3200" b="1" dirty="0"/>
                    </a:p>
                  </a:txBody>
                  <a:tcPr/>
                </a:tc>
                <a:tc>
                  <a:txBody>
                    <a:bodyPr/>
                    <a:lstStyle/>
                    <a:p>
                      <a:pPr algn="ctr"/>
                      <a:r>
                        <a:rPr lang="fr-FR" sz="3200" b="1" dirty="0">
                          <a:solidFill>
                            <a:srgbClr val="FF0000"/>
                          </a:solidFill>
                        </a:rPr>
                        <a:t>4</a:t>
                      </a:r>
                    </a:p>
                  </a:txBody>
                  <a:tcPr/>
                </a:tc>
                <a:tc>
                  <a:txBody>
                    <a:bodyPr/>
                    <a:lstStyle/>
                    <a:p>
                      <a:pPr algn="ctr"/>
                      <a:r>
                        <a:rPr lang="fr-FR" sz="3200" b="1" dirty="0">
                          <a:solidFill>
                            <a:srgbClr val="FF0000"/>
                          </a:solidFill>
                        </a:rPr>
                        <a:t>4</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6"/>
                  </a:ext>
                </a:extLst>
              </a:tr>
              <a:tr h="370840">
                <a:tc>
                  <a:txBody>
                    <a:bodyPr/>
                    <a:lstStyle/>
                    <a:p>
                      <a:pPr algn="ctr"/>
                      <a:r>
                        <a:rPr lang="fr-FR" sz="3200" b="1" dirty="0"/>
                        <a:t>All</a:t>
                      </a:r>
                    </a:p>
                  </a:txBody>
                  <a:tcPr/>
                </a:tc>
                <a:tc>
                  <a:txBody>
                    <a:bodyPr/>
                    <a:lstStyle/>
                    <a:p>
                      <a:pPr algn="ctr"/>
                      <a:r>
                        <a:rPr lang="fr-FR" sz="3200" b="1" dirty="0" err="1"/>
                        <a:t>Mean</a:t>
                      </a:r>
                      <a:endParaRPr lang="fr-FR" sz="3200" b="1" dirty="0"/>
                    </a:p>
                  </a:txBody>
                  <a:tcPr/>
                </a:tc>
                <a:tc>
                  <a:txBody>
                    <a:bodyPr/>
                    <a:lstStyle/>
                    <a:p>
                      <a:pPr algn="ctr"/>
                      <a:r>
                        <a:rPr lang="fr-FR" sz="3200" b="1" dirty="0"/>
                        <a:t>7</a:t>
                      </a:r>
                    </a:p>
                  </a:txBody>
                  <a:tcPr/>
                </a:tc>
                <a:tc>
                  <a:txBody>
                    <a:bodyPr/>
                    <a:lstStyle/>
                    <a:p>
                      <a:pPr algn="ctr"/>
                      <a:r>
                        <a:rPr lang="fr-FR" sz="3200" b="1" dirty="0"/>
                        <a:t>7</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35696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Descriptives </a:t>
            </a:r>
            <a:r>
              <a:rPr lang="fr-FR" dirty="0" err="1"/>
              <a:t>statistics</a:t>
            </a:r>
            <a:endParaRPr lang="fr-FR" dirty="0"/>
          </a:p>
        </p:txBody>
      </p:sp>
      <p:sp>
        <p:nvSpPr>
          <p:cNvPr id="3" name="Espace réservé du contenu 2"/>
          <p:cNvSpPr>
            <a:spLocks noGrp="1"/>
          </p:cNvSpPr>
          <p:nvPr>
            <p:ph idx="1"/>
          </p:nvPr>
        </p:nvSpPr>
        <p:spPr/>
        <p:txBody>
          <a:bodyPr/>
          <a:lstStyle/>
          <a:p>
            <a:pPr marL="0" indent="0">
              <a:buNone/>
            </a:pPr>
            <a:r>
              <a:rPr lang="fr-FR" dirty="0" err="1"/>
              <a:t>Always</a:t>
            </a:r>
            <a:r>
              <a:rPr lang="fr-FR" dirty="0"/>
              <a:t> </a:t>
            </a:r>
            <a:r>
              <a:rPr lang="fr-FR" dirty="0" err="1"/>
              <a:t>separate</a:t>
            </a:r>
            <a:r>
              <a:rPr lang="fr-FR" dirty="0"/>
              <a:t> </a:t>
            </a:r>
            <a:r>
              <a:rPr lang="fr-FR" dirty="0" err="1"/>
              <a:t>explicitly</a:t>
            </a:r>
            <a:r>
              <a:rPr lang="fr-FR" dirty="0"/>
              <a:t> </a:t>
            </a:r>
            <a:r>
              <a:rPr lang="fr-FR" dirty="0" err="1"/>
              <a:t>your</a:t>
            </a:r>
            <a:r>
              <a:rPr lang="fr-FR" dirty="0"/>
              <a:t> variables:</a:t>
            </a:r>
          </a:p>
          <a:p>
            <a:pPr marL="0" indent="0">
              <a:buNone/>
            </a:pPr>
            <a:r>
              <a:rPr lang="fr-FR" dirty="0"/>
              <a:t>X(</a:t>
            </a:r>
            <a:r>
              <a:rPr lang="fr-FR" dirty="0" err="1"/>
              <a:t>i,t</a:t>
            </a:r>
            <a:r>
              <a:rPr lang="fr-FR" dirty="0"/>
              <a:t>)</a:t>
            </a:r>
          </a:p>
          <a:p>
            <a:pPr marL="0" indent="0">
              <a:buNone/>
            </a:pPr>
            <a:r>
              <a:rPr lang="fr-FR" dirty="0"/>
              <a:t>Z(i)</a:t>
            </a:r>
          </a:p>
          <a:p>
            <a:pPr marL="0" indent="0">
              <a:buNone/>
            </a:pPr>
            <a:r>
              <a:rPr lang="fr-FR" dirty="0"/>
              <a:t>Z(t)</a:t>
            </a:r>
          </a:p>
          <a:p>
            <a:pPr marL="0" indent="0">
              <a:buNone/>
            </a:pPr>
            <a:endParaRPr lang="fr-FR" dirty="0"/>
          </a:p>
          <a:p>
            <a:pPr marL="0" indent="0">
              <a:buNone/>
            </a:pPr>
            <a:r>
              <a:rPr lang="fr-FR" dirty="0"/>
              <a:t>Do the </a:t>
            </a:r>
            <a:r>
              <a:rPr lang="fr-FR" dirty="0" err="1"/>
              <a:t>same</a:t>
            </a:r>
            <a:r>
              <a:rPr lang="fr-FR" dirty="0"/>
              <a:t> for X(</a:t>
            </a:r>
            <a:r>
              <a:rPr lang="fr-FR" dirty="0" err="1"/>
              <a:t>i,j,r,s,t</a:t>
            </a:r>
            <a:r>
              <a:rPr lang="fr-FR" dirty="0"/>
              <a:t>) and X(</a:t>
            </a:r>
            <a:r>
              <a:rPr lang="fr-FR" dirty="0" err="1"/>
              <a:t>i,j</a:t>
            </a:r>
            <a:r>
              <a:rPr lang="fr-FR" dirty="0"/>
              <a:t>) and </a:t>
            </a:r>
            <a:r>
              <a:rPr lang="fr-FR" dirty="0" err="1"/>
              <a:t>any</a:t>
            </a:r>
            <a:r>
              <a:rPr lang="fr-FR" dirty="0"/>
              <a:t> </a:t>
            </a:r>
            <a:r>
              <a:rPr lang="fr-FR" dirty="0" err="1"/>
              <a:t>combinations</a:t>
            </a:r>
            <a:r>
              <a:rPr lang="fr-FR" dirty="0"/>
              <a:t> of </a:t>
            </a:r>
            <a:r>
              <a:rPr lang="fr-FR" dirty="0" err="1"/>
              <a:t>selecting</a:t>
            </a:r>
            <a:r>
              <a:rPr lang="fr-FR" dirty="0"/>
              <a:t> k indices </a:t>
            </a:r>
            <a:r>
              <a:rPr lang="fr-FR" dirty="0" err="1"/>
              <a:t>among</a:t>
            </a:r>
            <a:r>
              <a:rPr lang="fr-FR" dirty="0"/>
              <a:t> a total (</a:t>
            </a:r>
            <a:r>
              <a:rPr lang="fr-FR" dirty="0" err="1"/>
              <a:t>here</a:t>
            </a:r>
            <a:r>
              <a:rPr lang="fr-FR" dirty="0"/>
              <a:t> of 5).</a:t>
            </a:r>
          </a:p>
        </p:txBody>
      </p:sp>
    </p:spTree>
    <p:extLst>
      <p:ext uri="{BB962C8B-B14F-4D97-AF65-F5344CB8AC3E}">
        <p14:creationId xmlns:p14="http://schemas.microsoft.com/office/powerpoint/2010/main" val="34900861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marL="0" indent="0"/>
            <a:r>
              <a:rPr lang="fr-FR" sz="3200" dirty="0"/>
              <a:t>NT = 5x20 = 100 </a:t>
            </a:r>
            <a:r>
              <a:rPr lang="fr-FR" sz="3200" dirty="0" err="1"/>
              <a:t>is</a:t>
            </a:r>
            <a:r>
              <a:rPr lang="fr-FR" sz="3200" dirty="0"/>
              <a:t> NOT </a:t>
            </a:r>
            <a:r>
              <a:rPr lang="fr-FR" sz="3200" dirty="0" err="1"/>
              <a:t>like</a:t>
            </a:r>
            <a:r>
              <a:rPr lang="fr-FR" sz="3200" dirty="0"/>
              <a:t> T = 100 time </a:t>
            </a:r>
            <a:r>
              <a:rPr lang="fr-FR" sz="3200" dirty="0" err="1"/>
              <a:t>series</a:t>
            </a:r>
            <a:r>
              <a:rPr lang="fr-FR" sz="3200" dirty="0"/>
              <a:t> OR N = 100, cross-section.</a:t>
            </a:r>
          </a:p>
        </p:txBody>
      </p:sp>
      <p:sp>
        <p:nvSpPr>
          <p:cNvPr id="3" name="Espace réservé du contenu 2"/>
          <p:cNvSpPr>
            <a:spLocks noGrp="1"/>
          </p:cNvSpPr>
          <p:nvPr>
            <p:ph idx="1"/>
          </p:nvPr>
        </p:nvSpPr>
        <p:spPr/>
        <p:txBody>
          <a:bodyPr/>
          <a:lstStyle/>
          <a:p>
            <a:pPr marL="514350" indent="-514350">
              <a:buFont typeface="+mj-lt"/>
              <a:buAutoNum type="arabicPeriod"/>
            </a:pPr>
            <a:r>
              <a:rPr lang="fr-FR" dirty="0" err="1"/>
              <a:t>Within</a:t>
            </a:r>
            <a:r>
              <a:rPr lang="fr-FR" dirty="0"/>
              <a:t> </a:t>
            </a:r>
            <a:r>
              <a:rPr lang="fr-FR" dirty="0" err="1"/>
              <a:t>between</a:t>
            </a:r>
            <a:r>
              <a:rPr lang="fr-FR" dirty="0"/>
              <a:t> </a:t>
            </a:r>
            <a:r>
              <a:rPr lang="fr-FR" dirty="0" err="1"/>
              <a:t>decomposition</a:t>
            </a:r>
            <a:r>
              <a:rPr lang="fr-FR" dirty="0"/>
              <a:t>.</a:t>
            </a:r>
          </a:p>
          <a:p>
            <a:pPr marL="514350" indent="-514350">
              <a:buFont typeface="+mj-lt"/>
              <a:buAutoNum type="arabicPeriod"/>
            </a:pPr>
            <a:r>
              <a:rPr lang="fr-FR" dirty="0" err="1"/>
              <a:t>Autocorrelation</a:t>
            </a:r>
            <a:r>
              <a:rPr lang="fr-FR" dirty="0"/>
              <a:t> </a:t>
            </a:r>
            <a:r>
              <a:rPr lang="fr-FR" dirty="0" err="1"/>
              <a:t>with</a:t>
            </a:r>
            <a:r>
              <a:rPr lang="fr-FR" dirty="0"/>
              <a:t> T, not </a:t>
            </a:r>
            <a:r>
              <a:rPr lang="fr-FR" dirty="0" err="1"/>
              <a:t>with</a:t>
            </a:r>
            <a:r>
              <a:rPr lang="fr-FR" dirty="0"/>
              <a:t> N.</a:t>
            </a:r>
          </a:p>
          <a:p>
            <a:pPr marL="514350" indent="-514350">
              <a:buFont typeface="+mj-lt"/>
              <a:buAutoNum type="arabicPeriod"/>
            </a:pPr>
            <a:r>
              <a:rPr lang="fr-FR" dirty="0" err="1"/>
              <a:t>Individual</a:t>
            </a:r>
            <a:r>
              <a:rPr lang="fr-FR" dirty="0"/>
              <a:t> i </a:t>
            </a:r>
            <a:r>
              <a:rPr lang="fr-FR" dirty="0" err="1"/>
              <a:t>is</a:t>
            </a:r>
            <a:r>
              <a:rPr lang="fr-FR" dirty="0"/>
              <a:t> NOT the « continuation » of </a:t>
            </a:r>
            <a:r>
              <a:rPr lang="fr-FR" dirty="0" err="1"/>
              <a:t>individual</a:t>
            </a:r>
            <a:r>
              <a:rPr lang="fr-FR" dirty="0"/>
              <a:t> j « at a </a:t>
            </a:r>
            <a:r>
              <a:rPr lang="fr-FR" dirty="0" err="1"/>
              <a:t>later</a:t>
            </a:r>
            <a:r>
              <a:rPr lang="fr-FR" dirty="0"/>
              <a:t> or </a:t>
            </a:r>
            <a:r>
              <a:rPr lang="fr-FR" dirty="0" err="1"/>
              <a:t>earlier</a:t>
            </a:r>
            <a:r>
              <a:rPr lang="fr-FR" dirty="0"/>
              <a:t> stage ».</a:t>
            </a:r>
          </a:p>
          <a:p>
            <a:pPr marL="514350" indent="-514350">
              <a:buFont typeface="+mj-lt"/>
              <a:buAutoNum type="arabicPeriod"/>
            </a:pPr>
            <a:r>
              <a:rPr lang="fr-FR" dirty="0"/>
              <a:t>Common time </a:t>
            </a:r>
            <a:r>
              <a:rPr lang="fr-FR" dirty="0" err="1"/>
              <a:t>series</a:t>
            </a:r>
            <a:r>
              <a:rPr lang="fr-FR" dirty="0"/>
              <a:t> and time-invariant variables: </a:t>
            </a:r>
            <a:r>
              <a:rPr lang="fr-FR" dirty="0" err="1"/>
              <a:t>specific</a:t>
            </a:r>
            <a:r>
              <a:rPr lang="fr-FR" dirty="0"/>
              <a:t> </a:t>
            </a:r>
            <a:r>
              <a:rPr lang="fr-FR" dirty="0" err="1"/>
              <a:t>inference</a:t>
            </a:r>
            <a:r>
              <a:rPr lang="fr-FR" dirty="0"/>
              <a:t> </a:t>
            </a:r>
            <a:r>
              <a:rPr lang="fr-FR" dirty="0" err="1"/>
              <a:t>with</a:t>
            </a:r>
            <a:r>
              <a:rPr lang="fr-FR" dirty="0"/>
              <a:t> N or T, but not </a:t>
            </a:r>
            <a:r>
              <a:rPr lang="fr-FR" dirty="0" err="1"/>
              <a:t>with</a:t>
            </a:r>
            <a:r>
              <a:rPr lang="fr-FR" dirty="0"/>
              <a:t> NT.</a:t>
            </a:r>
          </a:p>
        </p:txBody>
      </p:sp>
    </p:spTree>
    <p:extLst>
      <p:ext uri="{BB962C8B-B14F-4D97-AF65-F5344CB8AC3E}">
        <p14:creationId xmlns:p14="http://schemas.microsoft.com/office/powerpoint/2010/main" val="275037100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The case of X(</a:t>
            </a:r>
            <a:r>
              <a:rPr lang="fr-FR" dirty="0" err="1"/>
              <a:t>i,j,t</a:t>
            </a:r>
            <a:r>
              <a:rPr lang="fr-FR" dirty="0"/>
              <a:t>,…) at least </a:t>
            </a:r>
            <a:r>
              <a:rPr lang="fr-FR" dirty="0" err="1"/>
              <a:t>three</a:t>
            </a:r>
            <a:r>
              <a:rPr lang="fr-FR" dirty="0"/>
              <a:t> indices</a:t>
            </a:r>
          </a:p>
        </p:txBody>
      </p:sp>
      <p:sp>
        <p:nvSpPr>
          <p:cNvPr id="3" name="Espace réservé du contenu 2"/>
          <p:cNvSpPr>
            <a:spLocks noGrp="1"/>
          </p:cNvSpPr>
          <p:nvPr>
            <p:ph idx="1"/>
          </p:nvPr>
        </p:nvSpPr>
        <p:spPr/>
        <p:txBody>
          <a:bodyPr/>
          <a:lstStyle/>
          <a:p>
            <a:pPr marL="0" indent="0">
              <a:buNone/>
            </a:pPr>
            <a:r>
              <a:rPr lang="fr-FR" dirty="0" err="1"/>
              <a:t>Credit</a:t>
            </a:r>
            <a:r>
              <a:rPr lang="fr-FR" dirty="0"/>
              <a:t> </a:t>
            </a:r>
            <a:r>
              <a:rPr lang="fr-FR" dirty="0" err="1"/>
              <a:t>from</a:t>
            </a:r>
            <a:r>
              <a:rPr lang="fr-FR" dirty="0"/>
              <a:t> </a:t>
            </a:r>
            <a:r>
              <a:rPr lang="fr-FR" dirty="0" err="1"/>
              <a:t>bank</a:t>
            </a:r>
            <a:r>
              <a:rPr lang="fr-FR" dirty="0"/>
              <a:t>(i) to </a:t>
            </a:r>
            <a:r>
              <a:rPr lang="fr-FR" dirty="0" err="1"/>
              <a:t>firm</a:t>
            </a:r>
            <a:r>
              <a:rPr lang="fr-FR" dirty="0"/>
              <a:t>(j)</a:t>
            </a:r>
          </a:p>
          <a:p>
            <a:pPr marL="0" indent="0">
              <a:buNone/>
            </a:pPr>
            <a:r>
              <a:rPr lang="fr-FR" dirty="0" err="1"/>
              <a:t>Flows</a:t>
            </a:r>
            <a:r>
              <a:rPr lang="fr-FR" dirty="0"/>
              <a:t> </a:t>
            </a:r>
            <a:r>
              <a:rPr lang="fr-FR" dirty="0" err="1"/>
              <a:t>from</a:t>
            </a:r>
            <a:r>
              <a:rPr lang="fr-FR" dirty="0"/>
              <a:t> country(i) to country(j):</a:t>
            </a:r>
          </a:p>
          <a:p>
            <a:pPr marL="0" indent="0">
              <a:buNone/>
            </a:pPr>
            <a:r>
              <a:rPr lang="fr-FR" dirty="0" err="1"/>
              <a:t>Goods</a:t>
            </a:r>
            <a:r>
              <a:rPr lang="fr-FR" dirty="0"/>
              <a:t>: exports, imports.</a:t>
            </a:r>
          </a:p>
          <a:p>
            <a:pPr marL="0" indent="0">
              <a:buNone/>
            </a:pPr>
            <a:r>
              <a:rPr lang="fr-FR" dirty="0"/>
              <a:t>Capital: </a:t>
            </a:r>
            <a:r>
              <a:rPr lang="fr-FR" dirty="0" err="1"/>
              <a:t>foreign</a:t>
            </a:r>
            <a:r>
              <a:rPr lang="fr-FR" dirty="0"/>
              <a:t> direct </a:t>
            </a:r>
            <a:r>
              <a:rPr lang="fr-FR" dirty="0" err="1"/>
              <a:t>investment</a:t>
            </a:r>
            <a:r>
              <a:rPr lang="fr-FR" dirty="0"/>
              <a:t>, </a:t>
            </a:r>
            <a:r>
              <a:rPr lang="fr-FR" dirty="0" err="1"/>
              <a:t>equity</a:t>
            </a:r>
            <a:r>
              <a:rPr lang="fr-FR" dirty="0"/>
              <a:t>, </a:t>
            </a:r>
            <a:r>
              <a:rPr lang="fr-FR" dirty="0" err="1"/>
              <a:t>debt</a:t>
            </a:r>
            <a:r>
              <a:rPr lang="fr-FR" dirty="0"/>
              <a:t>, </a:t>
            </a:r>
            <a:r>
              <a:rPr lang="fr-FR" dirty="0" err="1"/>
              <a:t>foreign</a:t>
            </a:r>
            <a:r>
              <a:rPr lang="fr-FR" dirty="0"/>
              <a:t> </a:t>
            </a:r>
            <a:r>
              <a:rPr lang="fr-FR" dirty="0" err="1"/>
              <a:t>aid</a:t>
            </a:r>
            <a:r>
              <a:rPr lang="fr-FR" dirty="0"/>
              <a:t>, </a:t>
            </a:r>
            <a:r>
              <a:rPr lang="fr-FR" dirty="0" err="1"/>
              <a:t>remittances</a:t>
            </a:r>
            <a:r>
              <a:rPr lang="fr-FR" dirty="0"/>
              <a:t>, cash.</a:t>
            </a:r>
          </a:p>
          <a:p>
            <a:pPr marL="0" indent="0">
              <a:buNone/>
            </a:pPr>
            <a:r>
              <a:rPr lang="fr-FR" dirty="0"/>
              <a:t>Labour: migration, </a:t>
            </a:r>
            <a:r>
              <a:rPr lang="fr-FR" dirty="0" err="1"/>
              <a:t>tourism</a:t>
            </a:r>
            <a:r>
              <a:rPr lang="fr-FR" dirty="0"/>
              <a:t>.</a:t>
            </a:r>
          </a:p>
        </p:txBody>
      </p:sp>
    </p:spTree>
    <p:extLst>
      <p:ext uri="{BB962C8B-B14F-4D97-AF65-F5344CB8AC3E}">
        <p14:creationId xmlns:p14="http://schemas.microsoft.com/office/powerpoint/2010/main" val="10298691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Fixed</a:t>
            </a:r>
            <a:r>
              <a:rPr lang="fr-FR" dirty="0"/>
              <a:t> </a:t>
            </a:r>
            <a:r>
              <a:rPr lang="fr-FR" dirty="0" err="1"/>
              <a:t>effects</a:t>
            </a:r>
            <a:r>
              <a:rPr lang="fr-FR" dirty="0"/>
              <a:t> </a:t>
            </a:r>
            <a:r>
              <a:rPr lang="fr-FR" dirty="0" err="1"/>
              <a:t>dummies</a:t>
            </a:r>
            <a:endParaRPr lang="fr-FR" dirty="0"/>
          </a:p>
        </p:txBody>
      </p:sp>
      <p:sp>
        <p:nvSpPr>
          <p:cNvPr id="3" name="Espace réservé du contenu 2"/>
          <p:cNvSpPr>
            <a:spLocks noGrp="1"/>
          </p:cNvSpPr>
          <p:nvPr>
            <p:ph idx="1"/>
          </p:nvPr>
        </p:nvSpPr>
        <p:spPr/>
        <p:txBody>
          <a:bodyPr>
            <a:normAutofit lnSpcReduction="10000"/>
          </a:bodyPr>
          <a:lstStyle/>
          <a:p>
            <a:pPr marL="0" indent="0">
              <a:buNone/>
            </a:pPr>
            <a:r>
              <a:rPr lang="fr-FR" dirty="0"/>
              <a:t>Single index </a:t>
            </a:r>
            <a:r>
              <a:rPr lang="fr-FR" dirty="0" err="1"/>
              <a:t>dummies</a:t>
            </a:r>
            <a:r>
              <a:rPr lang="fr-FR" dirty="0"/>
              <a:t>:</a:t>
            </a:r>
          </a:p>
          <a:p>
            <a:pPr marL="0" indent="0">
              <a:buNone/>
            </a:pPr>
            <a:r>
              <a:rPr lang="fr-FR" dirty="0"/>
              <a:t>Z(i)=Z(j): </a:t>
            </a:r>
            <a:r>
              <a:rPr lang="fr-FR" dirty="0" err="1"/>
              <a:t>individual</a:t>
            </a:r>
            <a:r>
              <a:rPr lang="fr-FR" dirty="0"/>
              <a:t> </a:t>
            </a:r>
            <a:r>
              <a:rPr lang="fr-FR" dirty="0" err="1"/>
              <a:t>fixed</a:t>
            </a:r>
            <a:r>
              <a:rPr lang="fr-FR" dirty="0"/>
              <a:t> </a:t>
            </a:r>
            <a:r>
              <a:rPr lang="fr-FR" dirty="0" err="1"/>
              <a:t>effects</a:t>
            </a:r>
            <a:endParaRPr lang="fr-FR" dirty="0"/>
          </a:p>
          <a:p>
            <a:pPr marL="0" indent="0">
              <a:buNone/>
            </a:pPr>
            <a:r>
              <a:rPr lang="fr-FR" dirty="0"/>
              <a:t>Z(t): time </a:t>
            </a:r>
            <a:r>
              <a:rPr lang="fr-FR" dirty="0" err="1"/>
              <a:t>fixed</a:t>
            </a:r>
            <a:r>
              <a:rPr lang="fr-FR" dirty="0"/>
              <a:t> </a:t>
            </a:r>
            <a:r>
              <a:rPr lang="fr-FR" dirty="0" err="1"/>
              <a:t>effects</a:t>
            </a:r>
            <a:endParaRPr lang="fr-FR" dirty="0"/>
          </a:p>
          <a:p>
            <a:pPr marL="0" indent="0">
              <a:buNone/>
            </a:pPr>
            <a:r>
              <a:rPr lang="fr-FR" dirty="0" err="1"/>
              <a:t>Dyads</a:t>
            </a:r>
            <a:r>
              <a:rPr lang="fr-FR" dirty="0"/>
              <a:t> (</a:t>
            </a:r>
            <a:r>
              <a:rPr lang="fr-FR" dirty="0" err="1"/>
              <a:t>two</a:t>
            </a:r>
            <a:r>
              <a:rPr lang="fr-FR" dirty="0"/>
              <a:t> indices) </a:t>
            </a:r>
            <a:r>
              <a:rPr lang="fr-FR" dirty="0" err="1"/>
              <a:t>dummies</a:t>
            </a:r>
            <a:r>
              <a:rPr lang="fr-FR" dirty="0"/>
              <a:t>:</a:t>
            </a:r>
          </a:p>
          <a:p>
            <a:pPr marL="0" indent="0">
              <a:buNone/>
            </a:pPr>
            <a:r>
              <a:rPr lang="fr-FR" dirty="0"/>
              <a:t>Z(</a:t>
            </a:r>
            <a:r>
              <a:rPr lang="fr-FR" dirty="0" err="1"/>
              <a:t>i,j</a:t>
            </a:r>
            <a:r>
              <a:rPr lang="fr-FR" dirty="0"/>
              <a:t>): </a:t>
            </a:r>
            <a:r>
              <a:rPr lang="fr-FR" b="1" dirty="0"/>
              <a:t>all time-invariant « </a:t>
            </a:r>
            <a:r>
              <a:rPr lang="fr-FR" b="1" dirty="0" err="1"/>
              <a:t>gravity</a:t>
            </a:r>
            <a:r>
              <a:rPr lang="fr-FR" b="1" dirty="0"/>
              <a:t> »</a:t>
            </a:r>
            <a:r>
              <a:rPr lang="fr-FR" dirty="0"/>
              <a:t> </a:t>
            </a:r>
            <a:r>
              <a:rPr lang="fr-FR" dirty="0" err="1"/>
              <a:t>geographical</a:t>
            </a:r>
            <a:r>
              <a:rPr lang="fr-FR" dirty="0"/>
              <a:t> distance and </a:t>
            </a:r>
            <a:r>
              <a:rPr lang="fr-FR" dirty="0" err="1"/>
              <a:t>other</a:t>
            </a:r>
            <a:r>
              <a:rPr lang="fr-FR" dirty="0"/>
              <a:t> variables.</a:t>
            </a:r>
          </a:p>
          <a:p>
            <a:pPr marL="0" indent="0">
              <a:buNone/>
            </a:pPr>
            <a:r>
              <a:rPr lang="fr-FR" dirty="0"/>
              <a:t>Z(</a:t>
            </a:r>
            <a:r>
              <a:rPr lang="fr-FR" dirty="0" err="1"/>
              <a:t>i,t</a:t>
            </a:r>
            <a:r>
              <a:rPr lang="fr-FR" dirty="0"/>
              <a:t>): all country of </a:t>
            </a:r>
            <a:r>
              <a:rPr lang="fr-FR" dirty="0" err="1"/>
              <a:t>origin</a:t>
            </a:r>
            <a:r>
              <a:rPr lang="fr-FR" dirty="0"/>
              <a:t> time </a:t>
            </a:r>
            <a:r>
              <a:rPr lang="fr-FR" dirty="0" err="1"/>
              <a:t>series</a:t>
            </a:r>
            <a:endParaRPr lang="fr-FR" dirty="0"/>
          </a:p>
          <a:p>
            <a:pPr marL="0" indent="0">
              <a:buNone/>
            </a:pPr>
            <a:r>
              <a:rPr lang="fr-FR" dirty="0"/>
              <a:t>Z(</a:t>
            </a:r>
            <a:r>
              <a:rPr lang="fr-FR" dirty="0" err="1"/>
              <a:t>j,t</a:t>
            </a:r>
            <a:r>
              <a:rPr lang="fr-FR" dirty="0"/>
              <a:t>): all country of </a:t>
            </a:r>
            <a:r>
              <a:rPr lang="fr-FR" dirty="0" err="1"/>
              <a:t>arrival</a:t>
            </a:r>
            <a:r>
              <a:rPr lang="fr-FR" dirty="0"/>
              <a:t> time </a:t>
            </a:r>
            <a:r>
              <a:rPr lang="fr-FR" dirty="0" err="1"/>
              <a:t>series</a:t>
            </a:r>
            <a:endParaRPr lang="fr-FR" dirty="0"/>
          </a:p>
          <a:p>
            <a:pPr marL="0" indent="0">
              <a:buNone/>
            </a:pPr>
            <a:endParaRPr lang="fr-FR" dirty="0"/>
          </a:p>
        </p:txBody>
      </p:sp>
    </p:spTree>
    <p:extLst>
      <p:ext uri="{BB962C8B-B14F-4D97-AF65-F5344CB8AC3E}">
        <p14:creationId xmlns:p14="http://schemas.microsoft.com/office/powerpoint/2010/main" val="140058592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Remaining</a:t>
            </a:r>
            <a:r>
              <a:rPr lang="fr-FR" dirty="0"/>
              <a:t> variance </a:t>
            </a:r>
            <a:r>
              <a:rPr lang="fr-FR" dirty="0" err="1"/>
              <a:t>explained</a:t>
            </a:r>
            <a:br>
              <a:rPr lang="fr-FR" dirty="0"/>
            </a:br>
            <a:r>
              <a:rPr lang="fr-FR" dirty="0" err="1"/>
              <a:t>only</a:t>
            </a:r>
            <a:r>
              <a:rPr lang="fr-FR" dirty="0"/>
              <a:t> by X(</a:t>
            </a:r>
            <a:r>
              <a:rPr lang="fr-FR" dirty="0" err="1"/>
              <a:t>i,j,t</a:t>
            </a:r>
            <a:r>
              <a:rPr lang="fr-FR" dirty="0"/>
              <a:t>) variables</a:t>
            </a:r>
          </a:p>
        </p:txBody>
      </p:sp>
      <p:sp>
        <p:nvSpPr>
          <p:cNvPr id="3" name="Espace réservé du contenu 2"/>
          <p:cNvSpPr>
            <a:spLocks noGrp="1"/>
          </p:cNvSpPr>
          <p:nvPr>
            <p:ph idx="1"/>
          </p:nvPr>
        </p:nvSpPr>
        <p:spPr/>
        <p:txBody>
          <a:bodyPr/>
          <a:lstStyle/>
          <a:p>
            <a:pPr marL="514350" indent="-514350">
              <a:buFont typeface="+mj-lt"/>
              <a:buAutoNum type="arabicPeriod"/>
            </a:pPr>
            <a:endParaRPr lang="fr-FR" dirty="0"/>
          </a:p>
          <a:p>
            <a:pPr marL="514350" indent="-514350">
              <a:buFont typeface="+mj-lt"/>
              <a:buAutoNum type="arabicPeriod"/>
            </a:pPr>
            <a:r>
              <a:rPr lang="fr-FR" dirty="0" err="1"/>
              <a:t>Other</a:t>
            </a:r>
            <a:r>
              <a:rPr lang="fr-FR" dirty="0"/>
              <a:t> flow variables: X(</a:t>
            </a:r>
            <a:r>
              <a:rPr lang="fr-FR" dirty="0" err="1"/>
              <a:t>i,j,t</a:t>
            </a:r>
            <a:r>
              <a:rPr lang="fr-FR" dirty="0"/>
              <a:t>)</a:t>
            </a:r>
          </a:p>
          <a:p>
            <a:pPr marL="514350" indent="-514350">
              <a:buFont typeface="+mj-lt"/>
              <a:buAutoNum type="arabicPeriod"/>
            </a:pPr>
            <a:r>
              <a:rPr lang="fr-FR" dirty="0"/>
              <a:t>Time-</a:t>
            </a:r>
            <a:r>
              <a:rPr lang="fr-FR" dirty="0" err="1"/>
              <a:t>varying</a:t>
            </a:r>
            <a:r>
              <a:rPr lang="fr-FR" dirty="0"/>
              <a:t> Interaction </a:t>
            </a:r>
            <a:r>
              <a:rPr lang="fr-FR" dirty="0" err="1"/>
              <a:t>terms</a:t>
            </a:r>
            <a:r>
              <a:rPr lang="fr-FR" dirty="0"/>
              <a:t> (</a:t>
            </a:r>
            <a:r>
              <a:rPr lang="fr-FR" dirty="0" err="1"/>
              <a:t>product</a:t>
            </a:r>
            <a:r>
              <a:rPr lang="fr-FR" dirty="0"/>
              <a:t> of) variables for pair of countries: X(</a:t>
            </a:r>
            <a:r>
              <a:rPr lang="fr-FR" dirty="0" err="1"/>
              <a:t>i,t</a:t>
            </a:r>
            <a:r>
              <a:rPr lang="fr-FR" dirty="0"/>
              <a:t>)*X(</a:t>
            </a:r>
            <a:r>
              <a:rPr lang="fr-FR" dirty="0" err="1"/>
              <a:t>j,t</a:t>
            </a:r>
            <a:r>
              <a:rPr lang="fr-FR" dirty="0"/>
              <a:t>)</a:t>
            </a:r>
          </a:p>
          <a:p>
            <a:pPr marL="514350" indent="-514350">
              <a:buFont typeface="+mj-lt"/>
              <a:buAutoNum type="arabicPeriod"/>
            </a:pPr>
            <a:r>
              <a:rPr lang="fr-FR" dirty="0"/>
              <a:t>Time-</a:t>
            </a:r>
            <a:r>
              <a:rPr lang="fr-FR" dirty="0" err="1"/>
              <a:t>varying</a:t>
            </a:r>
            <a:r>
              <a:rPr lang="fr-FR" dirty="0"/>
              <a:t> </a:t>
            </a:r>
            <a:r>
              <a:rPr lang="fr-FR" dirty="0" err="1"/>
              <a:t>Differentials</a:t>
            </a:r>
            <a:r>
              <a:rPr lang="fr-FR" dirty="0"/>
              <a:t> </a:t>
            </a:r>
            <a:r>
              <a:rPr lang="fr-FR" dirty="0" err="1"/>
              <a:t>between</a:t>
            </a:r>
            <a:r>
              <a:rPr lang="fr-FR" dirty="0"/>
              <a:t> </a:t>
            </a:r>
            <a:r>
              <a:rPr lang="fr-FR" dirty="0" err="1"/>
              <a:t>each</a:t>
            </a:r>
            <a:r>
              <a:rPr lang="fr-FR" dirty="0"/>
              <a:t> countries (</a:t>
            </a:r>
            <a:r>
              <a:rPr lang="fr-FR" dirty="0" err="1"/>
              <a:t>growth</a:t>
            </a:r>
            <a:r>
              <a:rPr lang="fr-FR" dirty="0"/>
              <a:t>, taxation, </a:t>
            </a:r>
            <a:r>
              <a:rPr lang="fr-FR" dirty="0" err="1"/>
              <a:t>regulation</a:t>
            </a:r>
            <a:r>
              <a:rPr lang="fr-FR" dirty="0"/>
              <a:t>,…): X(</a:t>
            </a:r>
            <a:r>
              <a:rPr lang="fr-FR" dirty="0" err="1"/>
              <a:t>i,t</a:t>
            </a:r>
            <a:r>
              <a:rPr lang="fr-FR" dirty="0"/>
              <a:t>) – X(</a:t>
            </a:r>
            <a:r>
              <a:rPr lang="fr-FR" dirty="0" err="1"/>
              <a:t>j,t</a:t>
            </a:r>
            <a:r>
              <a:rPr lang="fr-FR" dirty="0"/>
              <a:t>)</a:t>
            </a:r>
          </a:p>
        </p:txBody>
      </p:sp>
    </p:spTree>
    <p:extLst>
      <p:ext uri="{BB962C8B-B14F-4D97-AF65-F5344CB8AC3E}">
        <p14:creationId xmlns:p14="http://schemas.microsoft.com/office/powerpoint/2010/main" val="30279229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Classify</a:t>
            </a:r>
            <a:r>
              <a:rPr lang="fr-FR" dirty="0"/>
              <a:t> </a:t>
            </a:r>
            <a:r>
              <a:rPr lang="fr-FR" dirty="0" err="1"/>
              <a:t>your</a:t>
            </a:r>
            <a:r>
              <a:rPr lang="fr-FR" dirty="0"/>
              <a:t> variables by </a:t>
            </a:r>
            <a:r>
              <a:rPr lang="fr-FR" dirty="0" err="1"/>
              <a:t>number</a:t>
            </a:r>
            <a:r>
              <a:rPr lang="fr-FR" dirty="0"/>
              <a:t> of indices</a:t>
            </a:r>
          </a:p>
        </p:txBody>
      </p:sp>
      <p:sp>
        <p:nvSpPr>
          <p:cNvPr id="3" name="Espace réservé du contenu 2"/>
          <p:cNvSpPr>
            <a:spLocks noGrp="1"/>
          </p:cNvSpPr>
          <p:nvPr>
            <p:ph idx="1"/>
          </p:nvPr>
        </p:nvSpPr>
        <p:spPr/>
        <p:txBody>
          <a:bodyPr/>
          <a:lstStyle/>
          <a:p>
            <a:pPr marL="0" indent="0">
              <a:buNone/>
            </a:pPr>
            <a:r>
              <a:rPr lang="fr-FR" dirty="0" err="1"/>
              <a:t>When</a:t>
            </a:r>
            <a:r>
              <a:rPr lang="fr-FR" dirty="0"/>
              <a:t> one index </a:t>
            </a:r>
            <a:r>
              <a:rPr lang="fr-FR" dirty="0" err="1"/>
              <a:t>among</a:t>
            </a:r>
            <a:r>
              <a:rPr lang="fr-FR" dirty="0"/>
              <a:t> (</a:t>
            </a:r>
            <a:r>
              <a:rPr lang="fr-FR" dirty="0" err="1"/>
              <a:t>i,j,t,s</a:t>
            </a:r>
            <a:r>
              <a:rPr lang="fr-FR" dirty="0"/>
              <a:t>) </a:t>
            </a:r>
            <a:r>
              <a:rPr lang="fr-FR" dirty="0" err="1"/>
              <a:t>is</a:t>
            </a:r>
            <a:r>
              <a:rPr lang="fr-FR" dirty="0"/>
              <a:t> </a:t>
            </a:r>
            <a:r>
              <a:rPr lang="fr-FR" dirty="0" err="1"/>
              <a:t>shut</a:t>
            </a:r>
            <a:r>
              <a:rPr lang="fr-FR" dirty="0"/>
              <a:t> down for an </a:t>
            </a:r>
            <a:r>
              <a:rPr lang="fr-FR" dirty="0" err="1"/>
              <a:t>explanatory</a:t>
            </a:r>
            <a:r>
              <a:rPr lang="fr-FR" dirty="0"/>
              <a:t> variable (</a:t>
            </a:r>
            <a:r>
              <a:rPr lang="fr-FR" dirty="0" err="1"/>
              <a:t>e.g</a:t>
            </a:r>
            <a:r>
              <a:rPr lang="fr-FR" dirty="0"/>
              <a:t>. X(</a:t>
            </a:r>
            <a:r>
              <a:rPr lang="fr-FR" dirty="0" err="1"/>
              <a:t>i,ts</a:t>
            </a:r>
            <a:r>
              <a:rPr lang="fr-FR" dirty="0"/>
              <a:t>)), </a:t>
            </a:r>
            <a:r>
              <a:rPr lang="fr-FR" dirty="0" err="1"/>
              <a:t>this</a:t>
            </a:r>
            <a:r>
              <a:rPr lang="fr-FR" dirty="0"/>
              <a:t> variable </a:t>
            </a:r>
            <a:r>
              <a:rPr lang="fr-FR" dirty="0" err="1"/>
              <a:t>does</a:t>
            </a:r>
            <a:r>
              <a:rPr lang="fr-FR" dirty="0"/>
              <a:t> not </a:t>
            </a:r>
            <a:r>
              <a:rPr lang="fr-FR" dirty="0" err="1"/>
              <a:t>vary</a:t>
            </a:r>
            <a:r>
              <a:rPr lang="fr-FR" dirty="0"/>
              <a:t> </a:t>
            </a:r>
            <a:r>
              <a:rPr lang="fr-FR" dirty="0" err="1"/>
              <a:t>with</a:t>
            </a:r>
            <a:r>
              <a:rPr lang="fr-FR" dirty="0"/>
              <a:t> respect to </a:t>
            </a:r>
            <a:r>
              <a:rPr lang="fr-FR" dirty="0" err="1"/>
              <a:t>this</a:t>
            </a:r>
            <a:r>
              <a:rPr lang="fr-FR" dirty="0"/>
              <a:t> </a:t>
            </a:r>
            <a:r>
              <a:rPr lang="fr-FR" dirty="0" err="1"/>
              <a:t>missing</a:t>
            </a:r>
            <a:r>
              <a:rPr lang="fr-FR" dirty="0"/>
              <a:t> index (j).</a:t>
            </a:r>
          </a:p>
          <a:p>
            <a:pPr marL="0" indent="0">
              <a:buNone/>
            </a:pPr>
            <a:r>
              <a:rPr lang="fr-FR" dirty="0" err="1"/>
              <a:t>Therefore</a:t>
            </a:r>
            <a:r>
              <a:rPr lang="fr-FR" dirty="0"/>
              <a:t> </a:t>
            </a:r>
            <a:r>
              <a:rPr lang="fr-FR" dirty="0" err="1"/>
              <a:t>it</a:t>
            </a:r>
            <a:r>
              <a:rPr lang="fr-FR" dirty="0"/>
              <a:t> </a:t>
            </a:r>
            <a:r>
              <a:rPr lang="fr-FR" dirty="0" err="1"/>
              <a:t>cannot</a:t>
            </a:r>
            <a:r>
              <a:rPr lang="fr-FR" dirty="0"/>
              <a:t> </a:t>
            </a:r>
            <a:r>
              <a:rPr lang="fr-FR" dirty="0" err="1"/>
              <a:t>explain</a:t>
            </a:r>
            <a:r>
              <a:rPr lang="fr-FR" dirty="0"/>
              <a:t> the variance of the </a:t>
            </a:r>
            <a:r>
              <a:rPr lang="fr-FR" dirty="0" err="1"/>
              <a:t>dependent</a:t>
            </a:r>
            <a:r>
              <a:rPr lang="fr-FR" dirty="0"/>
              <a:t> variable Y(</a:t>
            </a:r>
            <a:r>
              <a:rPr lang="fr-FR" dirty="0" err="1"/>
              <a:t>i,j,t,s</a:t>
            </a:r>
            <a:r>
              <a:rPr lang="fr-FR" dirty="0"/>
              <a:t>) </a:t>
            </a:r>
            <a:r>
              <a:rPr lang="fr-FR" dirty="0" err="1"/>
              <a:t>related</a:t>
            </a:r>
            <a:r>
              <a:rPr lang="fr-FR" dirty="0"/>
              <a:t> to </a:t>
            </a:r>
            <a:r>
              <a:rPr lang="fr-FR" dirty="0" err="1"/>
              <a:t>this</a:t>
            </a:r>
            <a:r>
              <a:rPr lang="fr-FR" dirty="0"/>
              <a:t> index (j). </a:t>
            </a:r>
          </a:p>
        </p:txBody>
      </p:sp>
    </p:spTree>
    <p:extLst>
      <p:ext uri="{BB962C8B-B14F-4D97-AF65-F5344CB8AC3E}">
        <p14:creationId xmlns:p14="http://schemas.microsoft.com/office/powerpoint/2010/main" val="8312943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Classify</a:t>
            </a:r>
            <a:r>
              <a:rPr lang="fr-FR" dirty="0"/>
              <a:t> </a:t>
            </a:r>
            <a:r>
              <a:rPr lang="fr-FR" dirty="0" err="1"/>
              <a:t>your</a:t>
            </a:r>
            <a:r>
              <a:rPr lang="fr-FR" dirty="0"/>
              <a:t> variables </a:t>
            </a:r>
            <a:r>
              <a:rPr lang="fr-FR" dirty="0" err="1"/>
              <a:t>according</a:t>
            </a:r>
            <a:r>
              <a:rPr lang="fr-FR" dirty="0"/>
              <a:t> to </a:t>
            </a:r>
            <a:r>
              <a:rPr lang="fr-FR" dirty="0" err="1"/>
              <a:t>their</a:t>
            </a:r>
            <a:r>
              <a:rPr lang="fr-FR" dirty="0"/>
              <a:t> indices</a:t>
            </a:r>
          </a:p>
        </p:txBody>
      </p:sp>
      <p:sp>
        <p:nvSpPr>
          <p:cNvPr id="3" name="Espace réservé du contenu 2"/>
          <p:cNvSpPr>
            <a:spLocks noGrp="1"/>
          </p:cNvSpPr>
          <p:nvPr>
            <p:ph idx="1"/>
          </p:nvPr>
        </p:nvSpPr>
        <p:spPr/>
        <p:txBody>
          <a:bodyPr/>
          <a:lstStyle/>
          <a:p>
            <a:pPr marL="0" indent="0">
              <a:buNone/>
            </a:pPr>
            <a:r>
              <a:rPr lang="fr-FR" dirty="0"/>
              <a:t>In descriptive </a:t>
            </a:r>
            <a:r>
              <a:rPr lang="fr-FR" dirty="0" err="1"/>
              <a:t>statistics</a:t>
            </a:r>
            <a:r>
              <a:rPr lang="fr-FR" dirty="0"/>
              <a:t> and </a:t>
            </a:r>
            <a:r>
              <a:rPr lang="fr-FR" dirty="0" err="1"/>
              <a:t>regressions</a:t>
            </a:r>
            <a:r>
              <a:rPr lang="fr-FR" dirty="0"/>
              <a:t> </a:t>
            </a:r>
            <a:r>
              <a:rPr lang="fr-FR" dirty="0" err="1"/>
              <a:t>order</a:t>
            </a:r>
            <a:r>
              <a:rPr lang="fr-FR" dirty="0"/>
              <a:t> </a:t>
            </a:r>
            <a:r>
              <a:rPr lang="fr-FR" dirty="0" err="1"/>
              <a:t>them</a:t>
            </a:r>
            <a:r>
              <a:rPr lang="fr-FR" dirty="0"/>
              <a:t> by </a:t>
            </a:r>
            <a:r>
              <a:rPr lang="fr-FR" dirty="0" err="1"/>
              <a:t>their</a:t>
            </a:r>
            <a:r>
              <a:rPr lang="fr-FR" dirty="0"/>
              <a:t> </a:t>
            </a:r>
            <a:r>
              <a:rPr lang="fr-FR" dirty="0" err="1"/>
              <a:t>number</a:t>
            </a:r>
            <a:r>
              <a:rPr lang="fr-FR" dirty="0"/>
              <a:t> of indices:</a:t>
            </a:r>
          </a:p>
          <a:p>
            <a:pPr marL="0" indent="0">
              <a:buNone/>
            </a:pPr>
            <a:r>
              <a:rPr lang="fr-FR" dirty="0"/>
              <a:t>Y(</a:t>
            </a:r>
            <a:r>
              <a:rPr lang="fr-FR" dirty="0" err="1"/>
              <a:t>i,j,t</a:t>
            </a:r>
            <a:r>
              <a:rPr lang="fr-FR" dirty="0"/>
              <a:t>) </a:t>
            </a:r>
          </a:p>
          <a:p>
            <a:pPr marL="0" indent="0">
              <a:buNone/>
            </a:pPr>
            <a:r>
              <a:rPr lang="fr-FR" dirty="0"/>
              <a:t>X(</a:t>
            </a:r>
            <a:r>
              <a:rPr lang="fr-FR" dirty="0" err="1"/>
              <a:t>i,j,t</a:t>
            </a:r>
            <a:r>
              <a:rPr lang="fr-FR" dirty="0"/>
              <a:t>)</a:t>
            </a:r>
          </a:p>
          <a:p>
            <a:pPr marL="0" indent="0">
              <a:buNone/>
            </a:pPr>
            <a:r>
              <a:rPr lang="fr-FR" dirty="0"/>
              <a:t>X(</a:t>
            </a:r>
            <a:r>
              <a:rPr lang="fr-FR" dirty="0" err="1"/>
              <a:t>i,j</a:t>
            </a:r>
            <a:r>
              <a:rPr lang="fr-FR" dirty="0"/>
              <a:t>), X(</a:t>
            </a:r>
            <a:r>
              <a:rPr lang="fr-FR" dirty="0" err="1"/>
              <a:t>i,t</a:t>
            </a:r>
            <a:r>
              <a:rPr lang="fr-FR" dirty="0"/>
              <a:t>), X(</a:t>
            </a:r>
            <a:r>
              <a:rPr lang="fr-FR" dirty="0" err="1"/>
              <a:t>j,t</a:t>
            </a:r>
            <a:r>
              <a:rPr lang="fr-FR" dirty="0"/>
              <a:t>)</a:t>
            </a:r>
          </a:p>
          <a:p>
            <a:pPr marL="0" indent="0">
              <a:buNone/>
            </a:pPr>
            <a:r>
              <a:rPr lang="fr-FR" dirty="0"/>
              <a:t>X(i), X(j), X(t)</a:t>
            </a:r>
          </a:p>
        </p:txBody>
      </p:sp>
    </p:spTree>
    <p:extLst>
      <p:ext uri="{BB962C8B-B14F-4D97-AF65-F5344CB8AC3E}">
        <p14:creationId xmlns:p14="http://schemas.microsoft.com/office/powerpoint/2010/main" val="28263645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3"/>
          <p:cNvSpPr>
            <a:spLocks noGrp="1"/>
          </p:cNvSpPr>
          <p:nvPr>
            <p:ph type="ctrTitle"/>
          </p:nvPr>
        </p:nvSpPr>
        <p:spPr/>
        <p:txBody>
          <a:bodyPr>
            <a:noAutofit/>
          </a:bodyPr>
          <a:lstStyle/>
          <a:p>
            <a:r>
              <a:rPr lang="fr-FR" altLang="fr-FR" sz="3600" dirty="0"/>
              <a:t>2. The </a:t>
            </a:r>
            <a:r>
              <a:rPr lang="fr-FR" altLang="fr-FR" sz="3600" dirty="0" err="1"/>
              <a:t>unpleasant</a:t>
            </a:r>
            <a:r>
              <a:rPr lang="fr-FR" altLang="fr-FR" sz="3600" dirty="0"/>
              <a:t> Fisher </a:t>
            </a:r>
            <a:r>
              <a:rPr lang="fr-FR" altLang="fr-FR" sz="3600" dirty="0" err="1"/>
              <a:t>pre-test</a:t>
            </a:r>
            <a:r>
              <a:rPr lang="fr-FR" altLang="fr-FR" sz="3600" dirty="0"/>
              <a:t> of </a:t>
            </a:r>
            <a:r>
              <a:rPr lang="fr-FR" altLang="fr-FR" sz="3600" dirty="0" err="1"/>
              <a:t>poolability</a:t>
            </a:r>
            <a:r>
              <a:rPr lang="fr-FR" altLang="fr-FR" sz="3600" dirty="0"/>
              <a:t> </a:t>
            </a:r>
            <a:r>
              <a:rPr lang="fr-FR" altLang="fr-FR" sz="3600" dirty="0" err="1"/>
              <a:t>assuming</a:t>
            </a:r>
            <a:r>
              <a:rPr lang="fr-FR" altLang="fr-FR" sz="3600" dirty="0"/>
              <a:t> </a:t>
            </a:r>
            <a:r>
              <a:rPr lang="fr-FR" altLang="fr-FR" sz="3600" dirty="0" err="1"/>
              <a:t>common</a:t>
            </a:r>
            <a:r>
              <a:rPr lang="fr-FR" altLang="fr-FR" sz="3600" dirty="0"/>
              <a:t> </a:t>
            </a:r>
            <a:r>
              <a:rPr lang="fr-FR" altLang="fr-FR" sz="3600" dirty="0" err="1"/>
              <a:t>slopes</a:t>
            </a:r>
            <a:r>
              <a:rPr lang="fr-FR" altLang="fr-FR" sz="3600" dirty="0"/>
              <a:t> for all (or </a:t>
            </a:r>
            <a:r>
              <a:rPr lang="fr-FR" altLang="fr-FR" sz="3600" dirty="0" err="1"/>
              <a:t>subgroups</a:t>
            </a:r>
            <a:r>
              <a:rPr lang="fr-FR" altLang="fr-FR" sz="3600" dirty="0"/>
              <a:t> of) </a:t>
            </a:r>
            <a:r>
              <a:rPr lang="fr-FR" altLang="fr-FR" sz="3600" dirty="0" err="1"/>
              <a:t>individuals</a:t>
            </a:r>
            <a:r>
              <a:rPr lang="fr-FR" altLang="fr-FR" sz="3600" dirty="0"/>
              <a:t>.</a:t>
            </a:r>
          </a:p>
        </p:txBody>
      </p:sp>
      <p:sp>
        <p:nvSpPr>
          <p:cNvPr id="6147" name="Sous-titre 4"/>
          <p:cNvSpPr>
            <a:spLocks noGrp="1"/>
          </p:cNvSpPr>
          <p:nvPr>
            <p:ph type="subTitle" idx="1"/>
          </p:nvPr>
        </p:nvSpPr>
        <p:spPr/>
        <p:txBody>
          <a:bodyPr/>
          <a:lstStyle/>
          <a:p>
            <a:r>
              <a:rPr lang="fr-FR" altLang="fr-FR"/>
              <a:t> </a:t>
            </a:r>
          </a:p>
        </p:txBody>
      </p:sp>
    </p:spTree>
    <p:extLst>
      <p:ext uri="{BB962C8B-B14F-4D97-AF65-F5344CB8AC3E}">
        <p14:creationId xmlns:p14="http://schemas.microsoft.com/office/powerpoint/2010/main" val="32980062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History</a:t>
            </a:r>
            <a:endParaRPr lang="en-GB" dirty="0"/>
          </a:p>
        </p:txBody>
      </p:sp>
      <p:sp>
        <p:nvSpPr>
          <p:cNvPr id="3" name="Espace réservé du contenu 2"/>
          <p:cNvSpPr>
            <a:spLocks noGrp="1"/>
          </p:cNvSpPr>
          <p:nvPr>
            <p:ph idx="1"/>
          </p:nvPr>
        </p:nvSpPr>
        <p:spPr/>
        <p:txBody>
          <a:bodyPr/>
          <a:lstStyle/>
          <a:p>
            <a:pPr marL="0" indent="0" algn="just">
              <a:buNone/>
            </a:pPr>
            <a:r>
              <a:rPr lang="fr-FR" dirty="0"/>
              <a:t>Ronald Fisher </a:t>
            </a:r>
            <a:r>
              <a:rPr lang="fr-FR" dirty="0" err="1"/>
              <a:t>proposed</a:t>
            </a:r>
            <a:r>
              <a:rPr lang="fr-FR" dirty="0"/>
              <a:t> a test of </a:t>
            </a:r>
            <a:r>
              <a:rPr lang="fr-FR" dirty="0" err="1"/>
              <a:t>poolability</a:t>
            </a:r>
            <a:r>
              <a:rPr lang="fr-FR" dirty="0"/>
              <a:t> (</a:t>
            </a:r>
            <a:r>
              <a:rPr lang="fr-FR" dirty="0" err="1"/>
              <a:t>with</a:t>
            </a:r>
            <a:r>
              <a:rPr lang="fr-FR" dirty="0"/>
              <a:t> </a:t>
            </a:r>
            <a:r>
              <a:rPr lang="fr-FR" dirty="0" err="1"/>
              <a:t>common</a:t>
            </a:r>
            <a:r>
              <a:rPr lang="fr-FR" dirty="0"/>
              <a:t> </a:t>
            </a:r>
            <a:r>
              <a:rPr lang="fr-FR" dirty="0" err="1"/>
              <a:t>slopes</a:t>
            </a:r>
            <a:r>
              <a:rPr lang="fr-FR" dirty="0"/>
              <a:t>, </a:t>
            </a:r>
            <a:r>
              <a:rPr lang="fr-FR" dirty="0" err="1"/>
              <a:t>with</a:t>
            </a:r>
            <a:r>
              <a:rPr lang="fr-FR" dirty="0"/>
              <a:t> distinct </a:t>
            </a:r>
            <a:r>
              <a:rPr lang="fr-FR" dirty="0" err="1"/>
              <a:t>intercepts</a:t>
            </a:r>
            <a:r>
              <a:rPr lang="fr-FR" dirty="0"/>
              <a:t>) </a:t>
            </a:r>
            <a:r>
              <a:rPr lang="fr-FR" dirty="0" err="1"/>
              <a:t>that</a:t>
            </a:r>
            <a:r>
              <a:rPr lang="fr-FR" dirty="0"/>
              <a:t> </a:t>
            </a:r>
            <a:r>
              <a:rPr lang="fr-FR" dirty="0" err="1"/>
              <a:t>he</a:t>
            </a:r>
            <a:r>
              <a:rPr lang="fr-FR" dirty="0"/>
              <a:t> </a:t>
            </a:r>
            <a:r>
              <a:rPr lang="fr-FR" dirty="0" err="1"/>
              <a:t>labelled</a:t>
            </a:r>
            <a:r>
              <a:rPr lang="fr-FR" dirty="0"/>
              <a:t> </a:t>
            </a:r>
            <a:r>
              <a:rPr lang="fr-FR" dirty="0" err="1"/>
              <a:t>analysis</a:t>
            </a:r>
            <a:r>
              <a:rPr lang="fr-FR" dirty="0"/>
              <a:t> of the covariance (ANCOVA) in the 1930s.</a:t>
            </a:r>
          </a:p>
          <a:p>
            <a:pPr marL="0" indent="0" algn="just">
              <a:buNone/>
            </a:pPr>
            <a:r>
              <a:rPr lang="fr-FR" dirty="0" err="1"/>
              <a:t>Kuh</a:t>
            </a:r>
            <a:r>
              <a:rPr lang="fr-FR" dirty="0"/>
              <a:t> (1963) </a:t>
            </a:r>
            <a:r>
              <a:rPr lang="fr-FR" dirty="0" err="1"/>
              <a:t>framed</a:t>
            </a:r>
            <a:r>
              <a:rPr lang="fr-FR" dirty="0"/>
              <a:t> </a:t>
            </a:r>
            <a:r>
              <a:rPr lang="fr-FR" dirty="0" err="1"/>
              <a:t>these</a:t>
            </a:r>
            <a:r>
              <a:rPr lang="fr-FR" dirty="0"/>
              <a:t> tests </a:t>
            </a:r>
            <a:r>
              <a:rPr lang="fr-FR" dirty="0" err="1"/>
              <a:t>testing</a:t>
            </a:r>
            <a:r>
              <a:rPr lang="fr-FR" dirty="0"/>
              <a:t> </a:t>
            </a:r>
            <a:r>
              <a:rPr lang="fr-FR" dirty="0" err="1"/>
              <a:t>investment</a:t>
            </a:r>
            <a:r>
              <a:rPr lang="fr-FR" dirty="0"/>
              <a:t> </a:t>
            </a:r>
            <a:r>
              <a:rPr lang="fr-FR" dirty="0" err="1"/>
              <a:t>equations</a:t>
            </a:r>
            <a:r>
              <a:rPr lang="fr-FR" dirty="0"/>
              <a:t> </a:t>
            </a:r>
            <a:r>
              <a:rPr lang="fr-FR" dirty="0" err="1"/>
              <a:t>using</a:t>
            </a:r>
            <a:r>
              <a:rPr lang="fr-FR" dirty="0"/>
              <a:t> panel data.</a:t>
            </a:r>
          </a:p>
          <a:p>
            <a:pPr marL="0" indent="0" algn="just">
              <a:buNone/>
            </a:pPr>
            <a:r>
              <a:rPr lang="fr-FR" dirty="0" err="1"/>
              <a:t>Hsiao</a:t>
            </a:r>
            <a:r>
              <a:rPr lang="fr-FR" dirty="0"/>
              <a:t> (1983) </a:t>
            </a:r>
            <a:r>
              <a:rPr lang="fr-FR" dirty="0" err="1"/>
              <a:t>copied</a:t>
            </a:r>
            <a:r>
              <a:rPr lang="fr-FR" dirty="0"/>
              <a:t> </a:t>
            </a:r>
            <a:r>
              <a:rPr lang="fr-FR" dirty="0" err="1"/>
              <a:t>Kuh</a:t>
            </a:r>
            <a:r>
              <a:rPr lang="fr-FR" dirty="0"/>
              <a:t> (1963) </a:t>
            </a:r>
            <a:r>
              <a:rPr lang="fr-FR" dirty="0" err="1"/>
              <a:t>framework</a:t>
            </a:r>
            <a:r>
              <a:rPr lang="fr-FR" dirty="0"/>
              <a:t> in </a:t>
            </a:r>
            <a:r>
              <a:rPr lang="fr-FR" dirty="0" err="1"/>
              <a:t>his</a:t>
            </a:r>
            <a:r>
              <a:rPr lang="fr-FR" dirty="0"/>
              <a:t> </a:t>
            </a:r>
            <a:r>
              <a:rPr lang="fr-FR" dirty="0" err="1"/>
              <a:t>textbook</a:t>
            </a:r>
            <a:r>
              <a:rPr lang="fr-FR" dirty="0"/>
              <a:t>.</a:t>
            </a:r>
            <a:endParaRPr lang="en-GB" dirty="0"/>
          </a:p>
        </p:txBody>
      </p:sp>
    </p:spTree>
    <p:extLst>
      <p:ext uri="{BB962C8B-B14F-4D97-AF65-F5344CB8AC3E}">
        <p14:creationId xmlns:p14="http://schemas.microsoft.com/office/powerpoint/2010/main" val="341807199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re 1"/>
          <p:cNvSpPr>
            <a:spLocks noGrp="1"/>
          </p:cNvSpPr>
          <p:nvPr>
            <p:ph type="title"/>
          </p:nvPr>
        </p:nvSpPr>
        <p:spPr/>
        <p:txBody>
          <a:bodyPr>
            <a:noAutofit/>
          </a:bodyPr>
          <a:lstStyle/>
          <a:p>
            <a:r>
              <a:rPr lang="fr-FR" altLang="fr-FR" sz="3600" dirty="0"/>
              <a:t>TO DO. </a:t>
            </a:r>
            <a:r>
              <a:rPr lang="fr-FR" altLang="fr-FR" sz="3600" b="1" dirty="0"/>
              <a:t>Small N&lt;20 and k&lt;T</a:t>
            </a:r>
            <a:br>
              <a:rPr lang="fr-FR" altLang="fr-FR" sz="3600" b="1" dirty="0"/>
            </a:br>
            <a:r>
              <a:rPr lang="fr-FR" altLang="fr-FR" sz="3600" b="1" dirty="0"/>
              <a:t>Compare </a:t>
            </a:r>
            <a:r>
              <a:rPr lang="fr-FR" altLang="fr-FR" sz="3600" b="1" dirty="0" err="1"/>
              <a:t>with</a:t>
            </a:r>
            <a:r>
              <a:rPr lang="fr-FR" altLang="fr-FR" sz="3600" b="1" dirty="0"/>
              <a:t> time </a:t>
            </a:r>
            <a:r>
              <a:rPr lang="fr-FR" altLang="fr-FR" sz="3600" b="1" dirty="0" err="1"/>
              <a:t>series</a:t>
            </a:r>
            <a:r>
              <a:rPr lang="fr-FR" altLang="fr-FR" sz="3600" b="1" dirty="0"/>
              <a:t> estimations</a:t>
            </a:r>
          </a:p>
        </p:txBody>
      </p:sp>
      <p:sp>
        <p:nvSpPr>
          <p:cNvPr id="2" name="Espace réservé du contenu 1"/>
          <p:cNvSpPr>
            <a:spLocks noGrp="1"/>
          </p:cNvSpPr>
          <p:nvPr>
            <p:ph idx="1"/>
          </p:nvPr>
        </p:nvSpPr>
        <p:spPr/>
        <p:txBody>
          <a:bodyPr/>
          <a:lstStyle/>
          <a:p>
            <a:pPr marL="514350" indent="-514350">
              <a:buAutoNum type="arabicPeriod"/>
            </a:pPr>
            <a:r>
              <a:rPr lang="fr-FR" altLang="fr-FR" dirty="0" err="1"/>
              <a:t>Run</a:t>
            </a:r>
            <a:r>
              <a:rPr lang="fr-FR" altLang="fr-FR" dirty="0"/>
              <a:t> times-</a:t>
            </a:r>
            <a:r>
              <a:rPr lang="fr-FR" altLang="fr-FR" dirty="0" err="1"/>
              <a:t>series</a:t>
            </a:r>
            <a:r>
              <a:rPr lang="fr-FR" altLang="fr-FR" dirty="0"/>
              <a:t> estimations for </a:t>
            </a:r>
            <a:r>
              <a:rPr lang="fr-FR" altLang="fr-FR" dirty="0" err="1"/>
              <a:t>each</a:t>
            </a:r>
            <a:r>
              <a:rPr lang="fr-FR" altLang="fr-FR" dirty="0"/>
              <a:t> </a:t>
            </a:r>
            <a:r>
              <a:rPr lang="fr-FR" altLang="fr-FR" dirty="0" err="1"/>
              <a:t>individual</a:t>
            </a:r>
            <a:r>
              <a:rPr lang="fr-FR" altLang="fr-FR" dirty="0"/>
              <a:t>.</a:t>
            </a:r>
          </a:p>
          <a:p>
            <a:pPr marL="514350" indent="-514350">
              <a:buAutoNum type="arabicPeriod"/>
            </a:pPr>
            <a:r>
              <a:rPr lang="fr-FR" altLang="fr-FR" dirty="0"/>
              <a:t>Compare </a:t>
            </a:r>
            <a:r>
              <a:rPr lang="fr-FR" altLang="fr-FR" dirty="0" err="1"/>
              <a:t>parameters</a:t>
            </a:r>
            <a:r>
              <a:rPr lang="fr-FR" altLang="fr-FR" dirty="0"/>
              <a:t> </a:t>
            </a:r>
            <a:r>
              <a:rPr lang="fr-FR" altLang="fr-FR" dirty="0" err="1"/>
              <a:t>with</a:t>
            </a:r>
            <a:r>
              <a:rPr lang="fr-FR" altLang="fr-FR" dirty="0"/>
              <a:t> </a:t>
            </a:r>
            <a:r>
              <a:rPr lang="fr-FR" altLang="fr-FR" dirty="0" err="1"/>
              <a:t>common</a:t>
            </a:r>
            <a:r>
              <a:rPr lang="fr-FR" altLang="fr-FR" dirty="0"/>
              <a:t> </a:t>
            </a:r>
            <a:r>
              <a:rPr lang="fr-FR" altLang="fr-FR" dirty="0" err="1"/>
              <a:t>slopes</a:t>
            </a:r>
            <a:r>
              <a:rPr lang="fr-FR" altLang="fr-FR" dirty="0"/>
              <a:t> </a:t>
            </a:r>
            <a:r>
              <a:rPr lang="fr-FR" altLang="fr-FR" dirty="0" err="1"/>
              <a:t>with</a:t>
            </a:r>
            <a:r>
              <a:rPr lang="fr-FR" altLang="fr-FR" dirty="0"/>
              <a:t> </a:t>
            </a:r>
            <a:r>
              <a:rPr lang="fr-FR" altLang="fr-FR" dirty="0" err="1"/>
              <a:t>fixed</a:t>
            </a:r>
            <a:r>
              <a:rPr lang="fr-FR" altLang="fr-FR" dirty="0"/>
              <a:t> </a:t>
            </a:r>
            <a:r>
              <a:rPr lang="fr-FR" altLang="fr-FR" dirty="0" err="1"/>
              <a:t>effects</a:t>
            </a:r>
            <a:r>
              <a:rPr lang="fr-FR" altLang="fr-FR" dirty="0"/>
              <a:t>.</a:t>
            </a:r>
          </a:p>
          <a:p>
            <a:pPr marL="514350" indent="-514350">
              <a:buAutoNum type="arabicPeriod"/>
            </a:pPr>
            <a:r>
              <a:rPr lang="fr-FR" dirty="0"/>
              <a:t>If </a:t>
            </a:r>
            <a:r>
              <a:rPr lang="fr-FR" dirty="0" err="1"/>
              <a:t>too</a:t>
            </a:r>
            <a:r>
              <a:rPr lang="fr-FR" dirty="0"/>
              <a:t> </a:t>
            </a:r>
            <a:r>
              <a:rPr lang="fr-FR" dirty="0" err="1"/>
              <a:t>much</a:t>
            </a:r>
            <a:r>
              <a:rPr lang="fr-FR" dirty="0"/>
              <a:t> </a:t>
            </a:r>
            <a:r>
              <a:rPr lang="fr-FR" dirty="0" err="1"/>
              <a:t>difference</a:t>
            </a:r>
            <a:r>
              <a:rPr lang="fr-FR" dirty="0"/>
              <a:t> per time-</a:t>
            </a:r>
            <a:r>
              <a:rPr lang="fr-FR" dirty="0" err="1"/>
              <a:t>series</a:t>
            </a:r>
            <a:r>
              <a:rPr lang="fr-FR" dirty="0"/>
              <a:t>, per </a:t>
            </a:r>
            <a:r>
              <a:rPr lang="fr-FR" b="1" u="sng" dirty="0"/>
              <a:t>all</a:t>
            </a:r>
            <a:r>
              <a:rPr lang="fr-FR" dirty="0"/>
              <a:t> </a:t>
            </a:r>
            <a:r>
              <a:rPr lang="fr-FR" dirty="0" err="1"/>
              <a:t>individuals</a:t>
            </a:r>
            <a:r>
              <a:rPr lang="fr-FR" dirty="0"/>
              <a:t>: stick to time-</a:t>
            </a:r>
            <a:r>
              <a:rPr lang="fr-FR" dirty="0" err="1"/>
              <a:t>series</a:t>
            </a:r>
            <a:r>
              <a:rPr lang="fr-FR" dirty="0"/>
              <a:t>.</a:t>
            </a:r>
          </a:p>
          <a:p>
            <a:pPr marL="514350" indent="-514350">
              <a:buAutoNum type="arabicPeriod"/>
            </a:pPr>
            <a:r>
              <a:rPr lang="fr-FR" dirty="0"/>
              <a:t>Pull </a:t>
            </a:r>
            <a:r>
              <a:rPr lang="fr-FR" dirty="0" err="1"/>
              <a:t>some</a:t>
            </a:r>
            <a:r>
              <a:rPr lang="fr-FR" dirty="0"/>
              <a:t> </a:t>
            </a:r>
            <a:r>
              <a:rPr lang="fr-FR" dirty="0" err="1"/>
              <a:t>individuals</a:t>
            </a:r>
            <a:r>
              <a:rPr lang="fr-FR" dirty="0"/>
              <a:t> </a:t>
            </a:r>
            <a:r>
              <a:rPr lang="fr-FR" dirty="0" err="1"/>
              <a:t>with</a:t>
            </a:r>
            <a:r>
              <a:rPr lang="fr-FR" dirty="0"/>
              <a:t> time-</a:t>
            </a:r>
            <a:r>
              <a:rPr lang="fr-FR" dirty="0" err="1"/>
              <a:t>series</a:t>
            </a:r>
            <a:r>
              <a:rPr lang="fr-FR" dirty="0"/>
              <a:t> </a:t>
            </a:r>
            <a:r>
              <a:rPr lang="fr-FR" dirty="0" err="1"/>
              <a:t>parameters</a:t>
            </a:r>
            <a:r>
              <a:rPr lang="fr-FR" dirty="0"/>
              <a:t> </a:t>
            </a:r>
            <a:r>
              <a:rPr lang="fr-FR" dirty="0" err="1"/>
              <a:t>which</a:t>
            </a:r>
            <a:r>
              <a:rPr lang="fr-FR" dirty="0"/>
              <a:t> are not </a:t>
            </a:r>
            <a:r>
              <a:rPr lang="fr-FR" dirty="0" err="1"/>
              <a:t>too</a:t>
            </a:r>
            <a:r>
              <a:rPr lang="fr-FR" dirty="0"/>
              <a:t> </a:t>
            </a:r>
            <a:r>
              <a:rPr lang="fr-FR" dirty="0" err="1"/>
              <a:t>different</a:t>
            </a:r>
            <a:r>
              <a:rPr lang="fr-FR" dirty="0"/>
              <a:t>. </a:t>
            </a:r>
          </a:p>
        </p:txBody>
      </p:sp>
    </p:spTree>
    <p:extLst>
      <p:ext uri="{BB962C8B-B14F-4D97-AF65-F5344CB8AC3E}">
        <p14:creationId xmlns:p14="http://schemas.microsoft.com/office/powerpoint/2010/main" val="19513727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err="1"/>
              <a:t>Fixed</a:t>
            </a:r>
            <a:r>
              <a:rPr lang="fr-FR" sz="3200" dirty="0"/>
              <a:t> </a:t>
            </a:r>
            <a:r>
              <a:rPr lang="fr-FR" sz="3200" dirty="0" err="1"/>
              <a:t>effects</a:t>
            </a:r>
            <a:r>
              <a:rPr lang="fr-FR" sz="3200" dirty="0"/>
              <a:t> or </a:t>
            </a:r>
            <a:r>
              <a:rPr lang="fr-FR" sz="3200" dirty="0" err="1"/>
              <a:t>Within</a:t>
            </a:r>
            <a:r>
              <a:rPr lang="fr-FR" sz="3200" dirty="0"/>
              <a:t> </a:t>
            </a:r>
            <a:r>
              <a:rPr lang="fr-FR" sz="3200" dirty="0" err="1"/>
              <a:t>estimator</a:t>
            </a:r>
            <a:br>
              <a:rPr lang="fr-FR" sz="3200" dirty="0"/>
            </a:br>
            <a:r>
              <a:rPr lang="fr-FR" sz="3200" b="1" dirty="0"/>
              <a:t>Common</a:t>
            </a:r>
            <a:r>
              <a:rPr lang="fr-FR" sz="3200" dirty="0"/>
              <a:t> </a:t>
            </a:r>
            <a:r>
              <a:rPr lang="fr-FR" sz="3200" dirty="0" err="1"/>
              <a:t>slopes</a:t>
            </a:r>
            <a:r>
              <a:rPr lang="fr-FR" sz="3200" dirty="0"/>
              <a:t>, Distinct </a:t>
            </a:r>
            <a:r>
              <a:rPr lang="fr-FR" sz="3200" dirty="0" err="1"/>
              <a:t>intercepts</a:t>
            </a:r>
            <a:endParaRPr lang="fr-FR" sz="3200" dirty="0"/>
          </a:p>
        </p:txBody>
      </p:sp>
      <p:sp>
        <p:nvSpPr>
          <p:cNvPr id="3" name="Espace réservé du contenu 2"/>
          <p:cNvSpPr>
            <a:spLocks noGrp="1"/>
          </p:cNvSpPr>
          <p:nvPr>
            <p:ph idx="1"/>
          </p:nvPr>
        </p:nvSpPr>
        <p:spPr/>
        <p:txBody>
          <a:bodyPr/>
          <a:lstStyle/>
          <a:p>
            <a:pPr marL="0" indent="0">
              <a:buNone/>
            </a:pPr>
            <a:r>
              <a:rPr lang="fr-FR" dirty="0"/>
              <a:t>Panel data </a:t>
            </a:r>
            <a:r>
              <a:rPr lang="fr-FR" dirty="0" err="1"/>
              <a:t>estimator</a:t>
            </a:r>
            <a:r>
              <a:rPr lang="fr-FR" dirty="0"/>
              <a:t> (</a:t>
            </a:r>
            <a:r>
              <a:rPr lang="fr-FR" dirty="0" err="1"/>
              <a:t>random</a:t>
            </a:r>
            <a:r>
              <a:rPr lang="fr-FR" dirty="0"/>
              <a:t> </a:t>
            </a:r>
            <a:r>
              <a:rPr lang="fr-FR" dirty="0" err="1"/>
              <a:t>effects</a:t>
            </a:r>
            <a:r>
              <a:rPr lang="fr-FR" dirty="0"/>
              <a:t> and </a:t>
            </a:r>
            <a:r>
              <a:rPr lang="fr-FR" dirty="0" err="1"/>
              <a:t>fixed</a:t>
            </a:r>
            <a:r>
              <a:rPr lang="fr-FR" dirty="0"/>
              <a:t> </a:t>
            </a:r>
            <a:r>
              <a:rPr lang="fr-FR" dirty="0" err="1"/>
              <a:t>effects</a:t>
            </a:r>
            <a:r>
              <a:rPr lang="fr-FR" dirty="0"/>
              <a:t>) </a:t>
            </a:r>
            <a:r>
              <a:rPr lang="fr-FR" dirty="0" err="1"/>
              <a:t>both</a:t>
            </a:r>
            <a:r>
              <a:rPr lang="fr-FR" dirty="0"/>
              <a:t> </a:t>
            </a:r>
            <a:r>
              <a:rPr lang="fr-FR" dirty="0" err="1"/>
              <a:t>allows</a:t>
            </a:r>
            <a:r>
              <a:rPr lang="fr-FR" dirty="0"/>
              <a:t> for </a:t>
            </a:r>
            <a:r>
              <a:rPr lang="fr-FR" dirty="0" err="1"/>
              <a:t>individual</a:t>
            </a:r>
            <a:r>
              <a:rPr lang="fr-FR" dirty="0"/>
              <a:t> </a:t>
            </a:r>
            <a:r>
              <a:rPr lang="fr-FR" dirty="0" err="1"/>
              <a:t>specific</a:t>
            </a:r>
            <a:r>
              <a:rPr lang="fr-FR" dirty="0"/>
              <a:t> </a:t>
            </a:r>
            <a:r>
              <a:rPr lang="fr-FR" dirty="0" err="1"/>
              <a:t>intercepts</a:t>
            </a:r>
            <a:r>
              <a:rPr lang="fr-FR" dirty="0"/>
              <a:t> or </a:t>
            </a:r>
            <a:r>
              <a:rPr lang="fr-FR" dirty="0" err="1"/>
              <a:t>individual</a:t>
            </a:r>
            <a:r>
              <a:rPr lang="fr-FR" dirty="0"/>
              <a:t> </a:t>
            </a:r>
            <a:r>
              <a:rPr lang="fr-FR" dirty="0" err="1"/>
              <a:t>specific</a:t>
            </a:r>
            <a:r>
              <a:rPr lang="fr-FR" dirty="0"/>
              <a:t> </a:t>
            </a:r>
            <a:r>
              <a:rPr lang="fr-FR" dirty="0" err="1"/>
              <a:t>means</a:t>
            </a:r>
            <a:r>
              <a:rPr lang="fr-FR" dirty="0"/>
              <a:t> of </a:t>
            </a:r>
            <a:r>
              <a:rPr lang="fr-FR" dirty="0" err="1"/>
              <a:t>random</a:t>
            </a:r>
            <a:r>
              <a:rPr lang="fr-FR" dirty="0"/>
              <a:t> </a:t>
            </a:r>
            <a:r>
              <a:rPr lang="fr-FR" dirty="0" err="1"/>
              <a:t>effect</a:t>
            </a:r>
            <a:r>
              <a:rPr lang="fr-FR" dirty="0"/>
              <a:t>.</a:t>
            </a:r>
          </a:p>
          <a:p>
            <a:pPr marL="0" indent="0">
              <a:buNone/>
            </a:pPr>
            <a:r>
              <a:rPr lang="fr-FR" dirty="0"/>
              <a:t>Panel data </a:t>
            </a:r>
            <a:r>
              <a:rPr lang="fr-FR" dirty="0" err="1"/>
              <a:t>estimators</a:t>
            </a:r>
            <a:r>
              <a:rPr lang="fr-FR" dirty="0"/>
              <a:t> </a:t>
            </a:r>
            <a:r>
              <a:rPr lang="fr-FR" dirty="0" err="1"/>
              <a:t>differ</a:t>
            </a:r>
            <a:r>
              <a:rPr lang="fr-FR" dirty="0"/>
              <a:t> </a:t>
            </a:r>
            <a:r>
              <a:rPr lang="fr-FR" dirty="0" err="1"/>
              <a:t>from</a:t>
            </a:r>
            <a:r>
              <a:rPr lang="fr-FR" dirty="0"/>
              <a:t> time </a:t>
            </a:r>
            <a:r>
              <a:rPr lang="fr-FR" dirty="0" err="1"/>
              <a:t>series</a:t>
            </a:r>
            <a:r>
              <a:rPr lang="fr-FR" dirty="0"/>
              <a:t> estimations BY </a:t>
            </a:r>
            <a:r>
              <a:rPr lang="fr-FR" dirty="0" err="1"/>
              <a:t>individual</a:t>
            </a:r>
            <a:r>
              <a:rPr lang="fr-FR" dirty="0"/>
              <a:t>, in </a:t>
            </a:r>
            <a:r>
              <a:rPr lang="fr-FR" dirty="0" err="1"/>
              <a:t>assuming</a:t>
            </a:r>
            <a:r>
              <a:rPr lang="fr-FR" dirty="0"/>
              <a:t> the SAME </a:t>
            </a:r>
            <a:r>
              <a:rPr lang="fr-FR" dirty="0" err="1"/>
              <a:t>slopes</a:t>
            </a:r>
            <a:r>
              <a:rPr lang="fr-FR" dirty="0"/>
              <a:t> </a:t>
            </a:r>
            <a:r>
              <a:rPr lang="fr-FR" dirty="0" err="1"/>
              <a:t>parameters</a:t>
            </a:r>
            <a:r>
              <a:rPr lang="fr-FR" dirty="0"/>
              <a:t> for all </a:t>
            </a:r>
            <a:r>
              <a:rPr lang="fr-FR" dirty="0" err="1"/>
              <a:t>individual</a:t>
            </a:r>
            <a:r>
              <a:rPr lang="fr-FR" dirty="0"/>
              <a:t> (</a:t>
            </a:r>
            <a:r>
              <a:rPr lang="fr-FR" dirty="0" err="1"/>
              <a:t>except</a:t>
            </a:r>
            <a:r>
              <a:rPr lang="fr-FR" dirty="0"/>
              <a:t> for the </a:t>
            </a:r>
            <a:r>
              <a:rPr lang="fr-FR" dirty="0" err="1"/>
              <a:t>intercepts</a:t>
            </a:r>
            <a:r>
              <a:rPr lang="fr-FR" dirty="0"/>
              <a:t> for </a:t>
            </a:r>
            <a:r>
              <a:rPr lang="fr-FR" dirty="0" err="1"/>
              <a:t>fixed</a:t>
            </a:r>
            <a:r>
              <a:rPr lang="fr-FR" dirty="0"/>
              <a:t> </a:t>
            </a:r>
            <a:r>
              <a:rPr lang="fr-FR" dirty="0" err="1"/>
              <a:t>effects</a:t>
            </a:r>
            <a:r>
              <a:rPr lang="fr-FR" dirty="0"/>
              <a:t>). </a:t>
            </a:r>
          </a:p>
        </p:txBody>
      </p:sp>
    </p:spTree>
    <p:extLst>
      <p:ext uri="{BB962C8B-B14F-4D97-AF65-F5344CB8AC3E}">
        <p14:creationId xmlns:p14="http://schemas.microsoft.com/office/powerpoint/2010/main" val="395797858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Baltagi</a:t>
            </a:r>
            <a:r>
              <a:rPr lang="fr-FR" dirty="0"/>
              <a:t> Griffin (1983): </a:t>
            </a:r>
            <a:br>
              <a:rPr lang="fr-FR" dirty="0"/>
            </a:br>
            <a:r>
              <a:rPr lang="fr-FR" dirty="0" err="1"/>
              <a:t>Gasoline</a:t>
            </a:r>
            <a:r>
              <a:rPr lang="fr-FR" dirty="0"/>
              <a:t> </a:t>
            </a:r>
            <a:r>
              <a:rPr lang="fr-FR" dirty="0" err="1"/>
              <a:t>demand</a:t>
            </a:r>
            <a:endParaRPr lang="fr-FR" dirty="0"/>
          </a:p>
        </p:txBody>
      </p:sp>
      <p:sp>
        <p:nvSpPr>
          <p:cNvPr id="3" name="Espace réservé du contenu 2"/>
          <p:cNvSpPr>
            <a:spLocks noGrp="1"/>
          </p:cNvSpPr>
          <p:nvPr>
            <p:ph idx="1"/>
          </p:nvPr>
        </p:nvSpPr>
        <p:spPr/>
        <p:txBody>
          <a:bodyPr/>
          <a:lstStyle/>
          <a:p>
            <a:pPr marL="0" indent="0">
              <a:buNone/>
            </a:pPr>
            <a:r>
              <a:rPr lang="fr-FR" sz="2800" dirty="0"/>
              <a:t>Type of </a:t>
            </a:r>
            <a:r>
              <a:rPr lang="fr-FR" sz="2800" dirty="0" err="1"/>
              <a:t>sample</a:t>
            </a:r>
            <a:r>
              <a:rPr lang="fr-FR" sz="2800" dirty="0"/>
              <a:t>: square panel N and T </a:t>
            </a:r>
            <a:r>
              <a:rPr lang="fr-FR" sz="2800" dirty="0" err="1"/>
              <a:t>around</a:t>
            </a:r>
            <a:r>
              <a:rPr lang="fr-FR" sz="2800" dirty="0"/>
              <a:t> 20x20: </a:t>
            </a:r>
            <a:r>
              <a:rPr lang="fr-FR" sz="2800" dirty="0" err="1"/>
              <a:t>Yearly</a:t>
            </a:r>
            <a:r>
              <a:rPr lang="fr-FR" sz="2800" dirty="0"/>
              <a:t> data of OECD countries, 1960-1978.</a:t>
            </a:r>
          </a:p>
          <a:p>
            <a:pPr marL="0" indent="0" algn="ctr">
              <a:buNone/>
            </a:pPr>
            <a:r>
              <a:rPr lang="fr-FR" sz="2800" dirty="0"/>
              <a:t>N=18   T=19   k=3</a:t>
            </a:r>
            <a:br>
              <a:rPr lang="fr-FR" sz="2800" dirty="0"/>
            </a:br>
            <a:r>
              <a:rPr lang="fr-FR" sz="2800" dirty="0"/>
              <a:t>Time </a:t>
            </a:r>
            <a:r>
              <a:rPr lang="fr-FR" sz="2800" dirty="0" err="1"/>
              <a:t>series</a:t>
            </a:r>
            <a:r>
              <a:rPr lang="fr-FR" sz="2800" dirty="0"/>
              <a:t> estimation </a:t>
            </a:r>
            <a:r>
              <a:rPr lang="fr-FR" sz="2800" dirty="0" err="1"/>
              <a:t>feasible</a:t>
            </a:r>
            <a:r>
              <a:rPr lang="fr-FR" sz="2800" dirty="0"/>
              <a:t> but </a:t>
            </a:r>
            <a:r>
              <a:rPr lang="fr-FR" sz="2800" dirty="0" err="1"/>
              <a:t>poor</a:t>
            </a:r>
            <a:r>
              <a:rPr lang="fr-FR" sz="2800" dirty="0"/>
              <a:t> </a:t>
            </a:r>
            <a:r>
              <a:rPr lang="fr-FR" sz="2800" dirty="0" err="1"/>
              <a:t>degrees</a:t>
            </a:r>
            <a:r>
              <a:rPr lang="fr-FR" sz="2800" dirty="0"/>
              <a:t> of </a:t>
            </a:r>
            <a:r>
              <a:rPr lang="fr-FR" sz="2800" dirty="0" err="1"/>
              <a:t>freedom</a:t>
            </a:r>
            <a:r>
              <a:rPr lang="fr-FR" sz="2800" dirty="0"/>
              <a:t>: T-k-1=15</a:t>
            </a:r>
          </a:p>
          <a:p>
            <a:pPr marL="0" indent="0" algn="ctr">
              <a:buNone/>
            </a:pPr>
            <a:r>
              <a:rPr lang="fr-FR" sz="2800" dirty="0" err="1"/>
              <a:t>Degrees</a:t>
            </a:r>
            <a:r>
              <a:rPr lang="fr-FR" sz="2800" dirty="0"/>
              <a:t> of </a:t>
            </a:r>
            <a:r>
              <a:rPr lang="fr-FR" sz="2800" dirty="0" err="1"/>
              <a:t>freedom</a:t>
            </a:r>
            <a:r>
              <a:rPr lang="fr-FR" sz="2800" dirty="0"/>
              <a:t> </a:t>
            </a:r>
            <a:r>
              <a:rPr lang="fr-FR" sz="2800" dirty="0" err="1"/>
              <a:t>pooled</a:t>
            </a:r>
            <a:r>
              <a:rPr lang="fr-FR" sz="2800" dirty="0"/>
              <a:t> OLS</a:t>
            </a:r>
          </a:p>
          <a:p>
            <a:pPr marL="0" indent="0" algn="ctr">
              <a:buNone/>
            </a:pPr>
            <a:r>
              <a:rPr lang="fr-FR" sz="2800" dirty="0"/>
              <a:t>NT-k-1 = 342 – 4 = 338</a:t>
            </a:r>
          </a:p>
          <a:p>
            <a:pPr marL="0" indent="0" algn="ctr">
              <a:buNone/>
            </a:pPr>
            <a:r>
              <a:rPr lang="fr-FR" sz="2800" dirty="0" err="1"/>
              <a:t>Next</a:t>
            </a:r>
            <a:r>
              <a:rPr lang="fr-FR" sz="2800" dirty="0"/>
              <a:t> slide: </a:t>
            </a:r>
            <a:r>
              <a:rPr lang="fr-FR" sz="2800" dirty="0" err="1"/>
              <a:t>subsets</a:t>
            </a:r>
            <a:r>
              <a:rPr lang="fr-FR" sz="2800" dirty="0"/>
              <a:t> of table 1 and table 2</a:t>
            </a:r>
          </a:p>
        </p:txBody>
      </p:sp>
    </p:spTree>
    <p:extLst>
      <p:ext uri="{BB962C8B-B14F-4D97-AF65-F5344CB8AC3E}">
        <p14:creationId xmlns:p14="http://schemas.microsoft.com/office/powerpoint/2010/main" val="202512757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dirty="0" err="1"/>
              <a:t>Specification</a:t>
            </a:r>
            <a:r>
              <a:rPr lang="fr-FR" sz="3600" dirty="0"/>
              <a:t> of the model </a:t>
            </a:r>
            <a:r>
              <a:rPr lang="fr-FR" sz="3600" dirty="0" err="1"/>
              <a:t>with</a:t>
            </a:r>
            <a:r>
              <a:rPr lang="fr-FR" sz="3600" dirty="0"/>
              <a:t> </a:t>
            </a:r>
            <a:r>
              <a:rPr lang="fr-FR" sz="3600" dirty="0" err="1"/>
              <a:t>near-multicollinearity</a:t>
            </a:r>
            <a:r>
              <a:rPr lang="fr-FR" sz="3600" dirty="0"/>
              <a:t> due to </a:t>
            </a:r>
            <a:r>
              <a:rPr lang="fr-FR" sz="3600" dirty="0" err="1"/>
              <a:t>common</a:t>
            </a:r>
            <a:r>
              <a:rPr lang="fr-FR" sz="3600" dirty="0"/>
              <a:t> trend</a:t>
            </a:r>
            <a:endParaRPr lang="en-GB" sz="3600" dirty="0"/>
          </a:p>
        </p:txBody>
      </p:sp>
      <p:sp>
        <p:nvSpPr>
          <p:cNvPr id="3" name="Espace réservé du contenu 2"/>
          <p:cNvSpPr>
            <a:spLocks noGrp="1"/>
          </p:cNvSpPr>
          <p:nvPr>
            <p:ph idx="1"/>
          </p:nvPr>
        </p:nvSpPr>
        <p:spPr/>
        <p:txBody>
          <a:bodyPr>
            <a:normAutofit fontScale="85000" lnSpcReduction="10000"/>
          </a:bodyPr>
          <a:lstStyle/>
          <a:p>
            <a:pPr marL="0" indent="0">
              <a:buNone/>
            </a:pPr>
            <a:r>
              <a:rPr lang="fr-FR" dirty="0"/>
              <a:t>Ln(</a:t>
            </a:r>
            <a:r>
              <a:rPr lang="fr-FR" dirty="0" err="1"/>
              <a:t>Gasoline</a:t>
            </a:r>
            <a:r>
              <a:rPr lang="fr-FR" baseline="-25000" dirty="0">
                <a:latin typeface="Cambria Math" panose="02040503050406030204" pitchFamily="18" charset="0"/>
                <a:ea typeface="Cambria Math" panose="02040503050406030204" pitchFamily="18" charset="0"/>
              </a:rPr>
              <a:t> </a:t>
            </a:r>
            <a:r>
              <a:rPr lang="fr-FR" dirty="0"/>
              <a:t>/</a:t>
            </a:r>
            <a:r>
              <a:rPr lang="fr-FR" b="1" dirty="0">
                <a:solidFill>
                  <a:srgbClr val="FF0000"/>
                </a:solidFill>
              </a:rPr>
              <a:t>Car</a:t>
            </a:r>
            <a:r>
              <a:rPr lang="fr-FR" dirty="0"/>
              <a:t>)</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dirty="0"/>
              <a:t>  =</a:t>
            </a:r>
          </a:p>
          <a:p>
            <a:pPr marL="0" indent="0">
              <a:buNone/>
            </a:pP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a:t>
            </a:r>
            <a:r>
              <a:rPr lang="fr-FR" dirty="0">
                <a:latin typeface="Cambria Math" panose="02040503050406030204" pitchFamily="18" charset="0"/>
                <a:ea typeface="Cambria Math" panose="02040503050406030204" pitchFamily="18" charset="0"/>
              </a:rPr>
              <a:t> .Ln(</a:t>
            </a:r>
            <a:r>
              <a:rPr lang="fr-FR" b="1" dirty="0">
                <a:latin typeface="Cambria Math" panose="02040503050406030204" pitchFamily="18" charset="0"/>
                <a:ea typeface="Cambria Math" panose="02040503050406030204" pitchFamily="18" charset="0"/>
              </a:rPr>
              <a:t>GDP</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/population)</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dirty="0">
                <a:latin typeface="Cambria Math" panose="02040503050406030204" pitchFamily="18" charset="0"/>
                <a:ea typeface="Cambria Math" panose="02040503050406030204" pitchFamily="18" charset="0"/>
              </a:rPr>
              <a:t> +</a:t>
            </a:r>
          </a:p>
          <a:p>
            <a:pPr marL="0" indent="0">
              <a:buNone/>
            </a:pPr>
            <a:r>
              <a:rPr lang="el-GR" sz="2800" dirty="0">
                <a:latin typeface="Cambria Math" panose="02040503050406030204" pitchFamily="18" charset="0"/>
                <a:ea typeface="Cambria Math" panose="02040503050406030204" pitchFamily="18" charset="0"/>
              </a:rPr>
              <a:t>β</a:t>
            </a:r>
            <a:r>
              <a:rPr lang="fr-FR" sz="2800" baseline="-25000" dirty="0">
                <a:latin typeface="Cambria Math" panose="02040503050406030204" pitchFamily="18" charset="0"/>
                <a:ea typeface="Cambria Math" panose="02040503050406030204" pitchFamily="18" charset="0"/>
              </a:rPr>
              <a:t>2</a:t>
            </a:r>
            <a:r>
              <a:rPr lang="fr-FR" sz="2800" dirty="0">
                <a:latin typeface="Cambria Math" panose="02040503050406030204" pitchFamily="18" charset="0"/>
                <a:ea typeface="Cambria Math" panose="02040503050406030204" pitchFamily="18" charset="0"/>
              </a:rPr>
              <a:t> .Ln(</a:t>
            </a:r>
            <a:r>
              <a:rPr lang="fr-FR" sz="2800" dirty="0" err="1">
                <a:latin typeface="Cambria Math" panose="02040503050406030204" pitchFamily="18" charset="0"/>
                <a:ea typeface="Cambria Math" panose="02040503050406030204" pitchFamily="18" charset="0"/>
              </a:rPr>
              <a:t>price</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gasoline</a:t>
            </a:r>
            <a:r>
              <a:rPr lang="fr-FR" sz="2800" baseline="-25000" dirty="0">
                <a:latin typeface="Cambria Math" panose="02040503050406030204" pitchFamily="18" charset="0"/>
                <a:ea typeface="Cambria Math" panose="02040503050406030204" pitchFamily="18" charset="0"/>
              </a:rPr>
              <a:t> </a:t>
            </a:r>
            <a:r>
              <a:rPr lang="fr-FR" sz="2800" dirty="0">
                <a:latin typeface="Cambria Math" panose="02040503050406030204" pitchFamily="18" charset="0"/>
                <a:ea typeface="Cambria Math" panose="02040503050406030204" pitchFamily="18" charset="0"/>
              </a:rPr>
              <a:t>/consumer </a:t>
            </a:r>
            <a:r>
              <a:rPr lang="fr-FR" sz="2800" dirty="0" err="1">
                <a:latin typeface="Cambria Math" panose="02040503050406030204" pitchFamily="18" charset="0"/>
                <a:ea typeface="Cambria Math" panose="02040503050406030204" pitchFamily="18" charset="0"/>
              </a:rPr>
              <a:t>price</a:t>
            </a:r>
            <a:r>
              <a:rPr lang="fr-FR" sz="2800" dirty="0">
                <a:latin typeface="Cambria Math" panose="02040503050406030204" pitchFamily="18" charset="0"/>
                <a:ea typeface="Cambria Math" panose="02040503050406030204" pitchFamily="18" charset="0"/>
              </a:rPr>
              <a:t> index)</a:t>
            </a:r>
            <a:r>
              <a:rPr lang="fr-FR" sz="2800" baseline="-25000" dirty="0">
                <a:latin typeface="Cambria Math" panose="02040503050406030204" pitchFamily="18" charset="0"/>
                <a:ea typeface="Cambria Math" panose="02040503050406030204" pitchFamily="18" charset="0"/>
              </a:rPr>
              <a:t> </a:t>
            </a:r>
            <a:r>
              <a:rPr lang="fr-FR" sz="2800" baseline="-25000" dirty="0" err="1">
                <a:latin typeface="Cambria Math" panose="02040503050406030204" pitchFamily="18" charset="0"/>
                <a:ea typeface="Cambria Math" panose="02040503050406030204" pitchFamily="18" charset="0"/>
              </a:rPr>
              <a:t>it</a:t>
            </a:r>
            <a:endParaRPr lang="fr-FR" sz="2800" dirty="0">
              <a:latin typeface="Cambria Math" panose="02040503050406030204" pitchFamily="18" charset="0"/>
              <a:ea typeface="Cambria Math" panose="02040503050406030204" pitchFamily="18" charset="0"/>
            </a:endParaRPr>
          </a:p>
          <a:p>
            <a:pPr marL="0" indent="0">
              <a:buNone/>
            </a:pP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3</a:t>
            </a:r>
            <a:r>
              <a:rPr lang="fr-FR" dirty="0">
                <a:latin typeface="Cambria Math" panose="02040503050406030204" pitchFamily="18" charset="0"/>
                <a:ea typeface="Cambria Math" panose="02040503050406030204" pitchFamily="18" charset="0"/>
              </a:rPr>
              <a:t> .Ln(</a:t>
            </a:r>
            <a:r>
              <a:rPr lang="fr-FR" b="1" dirty="0">
                <a:solidFill>
                  <a:srgbClr val="FF0000"/>
                </a:solidFill>
                <a:latin typeface="Cambria Math" panose="02040503050406030204" pitchFamily="18" charset="0"/>
                <a:ea typeface="Cambria Math" panose="02040503050406030204" pitchFamily="18" charset="0"/>
              </a:rPr>
              <a:t>Car</a:t>
            </a:r>
            <a:r>
              <a:rPr lang="fr-FR" dirty="0">
                <a:latin typeface="Cambria Math" panose="02040503050406030204" pitchFamily="18" charset="0"/>
                <a:ea typeface="Cambria Math" panose="02040503050406030204" pitchFamily="18" charset="0"/>
              </a:rPr>
              <a:t>/population</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dirty="0">
                <a:latin typeface="Cambria Math" panose="02040503050406030204" pitchFamily="18" charset="0"/>
                <a:ea typeface="Cambria Math" panose="02040503050406030204" pitchFamily="18" charset="0"/>
              </a:rPr>
              <a:t>) </a:t>
            </a:r>
          </a:p>
          <a:p>
            <a:pPr marL="0" indent="0">
              <a:buNone/>
            </a:pP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0</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common</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intercept</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here</a:t>
            </a:r>
            <a:r>
              <a:rPr lang="fr-FR" dirty="0">
                <a:latin typeface="Cambria Math" panose="02040503050406030204" pitchFamily="18" charset="0"/>
                <a:ea typeface="Cambria Math" panose="02040503050406030204" pitchFamily="18" charset="0"/>
              </a:rPr>
              <a:t>)</a:t>
            </a:r>
          </a:p>
          <a:p>
            <a:pPr marL="0" indent="0">
              <a:buNone/>
            </a:pPr>
            <a:r>
              <a:rPr lang="fr-FR" dirty="0">
                <a:latin typeface="Cambria Math" panose="02040503050406030204" pitchFamily="18" charset="0"/>
                <a:ea typeface="Cambria Math" panose="02040503050406030204" pitchFamily="18" charset="0"/>
              </a:rPr>
              <a:t>+ </a:t>
            </a:r>
            <a:r>
              <a:rPr lang="el-GR" b="1" dirty="0">
                <a:solidFill>
                  <a:srgbClr val="00B050"/>
                </a:solidFill>
                <a:latin typeface="Cambria Math" panose="02040503050406030204" pitchFamily="18" charset="0"/>
                <a:ea typeface="Cambria Math" panose="02040503050406030204" pitchFamily="18" charset="0"/>
              </a:rPr>
              <a:t>α</a:t>
            </a:r>
            <a:r>
              <a:rPr lang="fr-FR" b="1" baseline="-25000" dirty="0">
                <a:solidFill>
                  <a:srgbClr val="00B050"/>
                </a:solidFill>
                <a:latin typeface="Cambria Math" panose="02040503050406030204" pitchFamily="18" charset="0"/>
                <a:ea typeface="Cambria Math" panose="02040503050406030204" pitchFamily="18" charset="0"/>
              </a:rPr>
              <a:t>i</a:t>
            </a:r>
            <a:r>
              <a:rPr lang="fr-FR" b="1" dirty="0">
                <a:solidFill>
                  <a:srgbClr val="00B050"/>
                </a:solidFill>
                <a:latin typeface="Cambria Math" panose="02040503050406030204" pitchFamily="18" charset="0"/>
                <a:ea typeface="Cambria Math" panose="02040503050406030204" pitchFamily="18" charset="0"/>
              </a:rPr>
              <a:t> + </a:t>
            </a:r>
            <a:r>
              <a:rPr lang="el-GR" b="1" dirty="0">
                <a:solidFill>
                  <a:srgbClr val="00B050"/>
                </a:solidFill>
                <a:latin typeface="Cambria Math" panose="02040503050406030204" pitchFamily="18" charset="0"/>
                <a:ea typeface="Cambria Math" panose="02040503050406030204" pitchFamily="18" charset="0"/>
              </a:rPr>
              <a:t>α</a:t>
            </a:r>
            <a:r>
              <a:rPr lang="fr-FR" b="1" baseline="-25000" dirty="0">
                <a:solidFill>
                  <a:srgbClr val="00B050"/>
                </a:solidFill>
                <a:latin typeface="Cambria Math" panose="02040503050406030204" pitchFamily="18" charset="0"/>
                <a:ea typeface="Cambria Math" panose="02040503050406030204" pitchFamily="18" charset="0"/>
              </a:rPr>
              <a:t>t</a:t>
            </a:r>
            <a:r>
              <a:rPr lang="fr-FR" dirty="0">
                <a:latin typeface="Cambria Math" panose="02040503050406030204" pitchFamily="18" charset="0"/>
                <a:ea typeface="Cambria Math" panose="02040503050406030204" pitchFamily="18" charset="0"/>
              </a:rPr>
              <a:t> + </a:t>
            </a:r>
            <a:r>
              <a:rPr lang="el-GR" dirty="0">
                <a:latin typeface="Cambria Math" panose="02040503050406030204" pitchFamily="18" charset="0"/>
                <a:ea typeface="Cambria Math" panose="02040503050406030204" pitchFamily="18" charset="0"/>
              </a:rPr>
              <a:t>ε</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a:t>
            </a:r>
            <a:r>
              <a:rPr lang="fr-FR" b="1" dirty="0">
                <a:latin typeface="Cambria Math" panose="02040503050406030204" pitchFamily="18" charset="0"/>
                <a:ea typeface="Cambria Math" panose="02040503050406030204" pitchFamily="18" charset="0"/>
              </a:rPr>
              <a:t>ALWAYS</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write</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these</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three</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disturbances</a:t>
            </a:r>
            <a:r>
              <a:rPr lang="fr-FR" dirty="0">
                <a:latin typeface="Cambria Math" panose="02040503050406030204" pitchFamily="18" charset="0"/>
                <a:ea typeface="Cambria Math" panose="02040503050406030204" pitchFamily="18" charset="0"/>
              </a:rPr>
              <a:t> </a:t>
            </a:r>
            <a:r>
              <a:rPr lang="fr-FR" b="1" dirty="0" err="1">
                <a:latin typeface="Cambria Math" panose="02040503050406030204" pitchFamily="18" charset="0"/>
                <a:ea typeface="Cambria Math" panose="02040503050406030204" pitchFamily="18" charset="0"/>
              </a:rPr>
              <a:t>with</a:t>
            </a:r>
            <a:r>
              <a:rPr lang="fr-FR" b="1" dirty="0">
                <a:latin typeface="Cambria Math" panose="02040503050406030204" pitchFamily="18" charset="0"/>
                <a:ea typeface="Cambria Math" panose="02040503050406030204" pitchFamily="18" charset="0"/>
              </a:rPr>
              <a:t> indices</a:t>
            </a:r>
            <a:r>
              <a:rPr lang="fr-FR" dirty="0">
                <a:latin typeface="Cambria Math" panose="02040503050406030204" pitchFamily="18" charset="0"/>
                <a:ea typeface="Cambria Math" panose="02040503050406030204" pitchFamily="18" charset="0"/>
              </a:rPr>
              <a:t> for </a:t>
            </a:r>
            <a:r>
              <a:rPr lang="fr-FR" dirty="0" err="1">
                <a:latin typeface="Cambria Math" panose="02040503050406030204" pitchFamily="18" charset="0"/>
                <a:ea typeface="Cambria Math" panose="02040503050406030204" pitchFamily="18" charset="0"/>
              </a:rPr>
              <a:t>your</a:t>
            </a:r>
            <a:r>
              <a:rPr lang="fr-FR" dirty="0">
                <a:latin typeface="Cambria Math" panose="02040503050406030204" pitchFamily="18" charset="0"/>
                <a:ea typeface="Cambria Math" panose="02040503050406030204" pitchFamily="18" charset="0"/>
              </a:rPr>
              <a:t> panel data model).</a:t>
            </a:r>
          </a:p>
          <a:p>
            <a:pPr marL="0" indent="0">
              <a:buNone/>
            </a:pPr>
            <a:r>
              <a:rPr lang="fr-FR" dirty="0">
                <a:latin typeface="Cambria Math" panose="02040503050406030204" pitchFamily="18" charset="0"/>
                <a:ea typeface="Cambria Math" panose="02040503050406030204" pitchFamily="18" charset="0"/>
              </a:rPr>
              <a:t>Panel </a:t>
            </a:r>
            <a:r>
              <a:rPr lang="fr-FR" dirty="0" err="1">
                <a:latin typeface="Cambria Math" panose="02040503050406030204" pitchFamily="18" charset="0"/>
                <a:ea typeface="Cambria Math" panose="02040503050406030204" pitchFamily="18" charset="0"/>
              </a:rPr>
              <a:t>estimators</a:t>
            </a:r>
            <a:r>
              <a:rPr lang="fr-FR" dirty="0">
                <a:latin typeface="Cambria Math" panose="02040503050406030204" pitchFamily="18" charset="0"/>
                <a:ea typeface="Cambria Math" panose="02040503050406030204" pitchFamily="18" charset="0"/>
              </a:rPr>
              <a:t> are </a:t>
            </a:r>
            <a:r>
              <a:rPr lang="fr-FR" b="1" dirty="0" err="1">
                <a:latin typeface="Cambria Math" panose="02040503050406030204" pitchFamily="18" charset="0"/>
                <a:ea typeface="Cambria Math" panose="02040503050406030204" pitchFamily="18" charset="0"/>
              </a:rPr>
              <a:t>restricted</a:t>
            </a:r>
            <a:r>
              <a:rPr lang="fr-FR" b="1" dirty="0">
                <a:latin typeface="Cambria Math" panose="02040503050406030204" pitchFamily="18" charset="0"/>
                <a:ea typeface="Cambria Math" panose="02040503050406030204" pitchFamily="18" charset="0"/>
              </a:rPr>
              <a:t> OLS</a:t>
            </a:r>
            <a:r>
              <a:rPr lang="fr-FR" dirty="0">
                <a:latin typeface="Cambria Math" panose="02040503050406030204" pitchFamily="18" charset="0"/>
                <a:ea typeface="Cambria Math" panose="02040503050406030204" pitchFamily="18" charset="0"/>
              </a:rPr>
              <a:t>, setting at least the restriction </a:t>
            </a:r>
            <a:r>
              <a:rPr lang="fr-FR" dirty="0" err="1">
                <a:latin typeface="Cambria Math" panose="02040503050406030204" pitchFamily="18" charset="0"/>
                <a:ea typeface="Cambria Math" panose="02040503050406030204" pitchFamily="18" charset="0"/>
              </a:rPr>
              <a:t>that</a:t>
            </a:r>
            <a:r>
              <a:rPr lang="fr-FR" dirty="0">
                <a:latin typeface="Cambria Math" panose="02040503050406030204" pitchFamily="18" charset="0"/>
                <a:ea typeface="Cambria Math" panose="02040503050406030204" pitchFamily="18" charset="0"/>
              </a:rPr>
              <a:t> the </a:t>
            </a:r>
            <a:r>
              <a:rPr lang="fr-FR" dirty="0" err="1">
                <a:latin typeface="Cambria Math" panose="02040503050406030204" pitchFamily="18" charset="0"/>
                <a:ea typeface="Cambria Math" panose="02040503050406030204" pitchFamily="18" charset="0"/>
              </a:rPr>
              <a:t>slope</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parameters</a:t>
            </a:r>
            <a:r>
              <a:rPr lang="fr-FR" dirty="0">
                <a:latin typeface="Cambria Math" panose="02040503050406030204" pitchFamily="18" charset="0"/>
                <a:ea typeface="Cambria Math" panose="02040503050406030204" pitchFamily="18" charset="0"/>
              </a:rPr>
              <a:t> are the </a:t>
            </a:r>
            <a:r>
              <a:rPr lang="fr-FR" dirty="0" err="1">
                <a:latin typeface="Cambria Math" panose="02040503050406030204" pitchFamily="18" charset="0"/>
                <a:ea typeface="Cambria Math" panose="02040503050406030204" pitchFamily="18" charset="0"/>
              </a:rPr>
              <a:t>same</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across</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individuals</a:t>
            </a:r>
            <a:r>
              <a:rPr lang="fr-FR" dirty="0">
                <a:latin typeface="Cambria Math" panose="02040503050406030204" pitchFamily="18" charset="0"/>
                <a:ea typeface="Cambria Math" panose="02040503050406030204" pitchFamily="18" charset="0"/>
              </a:rPr>
              <a:t> (countries). </a:t>
            </a:r>
            <a:endParaRPr lang="en-GB" dirty="0"/>
          </a:p>
        </p:txBody>
      </p:sp>
    </p:spTree>
    <p:extLst>
      <p:ext uri="{BB962C8B-B14F-4D97-AF65-F5344CB8AC3E}">
        <p14:creationId xmlns:p14="http://schemas.microsoft.com/office/powerpoint/2010/main" val="408254206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a:t>The </a:t>
            </a:r>
            <a:r>
              <a:rPr lang="fr-FR" sz="3200" dirty="0" err="1"/>
              <a:t>specification</a:t>
            </a:r>
            <a:r>
              <a:rPr lang="fr-FR" sz="3200" dirty="0"/>
              <a:t> and the  transformations of variables </a:t>
            </a:r>
            <a:r>
              <a:rPr lang="fr-FR" sz="3200" dirty="0" err="1"/>
              <a:t>is</a:t>
            </a:r>
            <a:r>
              <a:rPr lang="fr-FR" sz="3200" dirty="0"/>
              <a:t> </a:t>
            </a:r>
            <a:r>
              <a:rPr lang="fr-FR" sz="3200" dirty="0" err="1"/>
              <a:t>strategic</a:t>
            </a:r>
            <a:r>
              <a:rPr lang="fr-FR" sz="3200" dirty="0"/>
              <a:t>: </a:t>
            </a:r>
            <a:r>
              <a:rPr lang="fr-FR" sz="3200" dirty="0" err="1"/>
              <a:t>it</a:t>
            </a:r>
            <a:r>
              <a:rPr lang="fr-FR" sz="3200" dirty="0"/>
              <a:t> drives the </a:t>
            </a:r>
            <a:r>
              <a:rPr lang="fr-FR" sz="3200" dirty="0" err="1"/>
              <a:t>results</a:t>
            </a:r>
            <a:endParaRPr lang="en-GB" sz="3200" dirty="0"/>
          </a:p>
        </p:txBody>
      </p:sp>
      <p:sp>
        <p:nvSpPr>
          <p:cNvPr id="3" name="Espace réservé du contenu 2"/>
          <p:cNvSpPr>
            <a:spLocks noGrp="1"/>
          </p:cNvSpPr>
          <p:nvPr>
            <p:ph idx="1"/>
          </p:nvPr>
        </p:nvSpPr>
        <p:spPr/>
        <p:txBody>
          <a:bodyPr>
            <a:normAutofit fontScale="77500" lnSpcReduction="20000"/>
          </a:bodyPr>
          <a:lstStyle/>
          <a:p>
            <a:pPr marL="0" indent="0" algn="just">
              <a:buNone/>
            </a:pPr>
            <a:r>
              <a:rPr lang="fr-FR" dirty="0">
                <a:latin typeface="Cambria Math" panose="02040503050406030204" pitchFamily="18" charset="0"/>
                <a:ea typeface="Cambria Math" panose="02040503050406030204" pitchFamily="18" charset="0"/>
              </a:rPr>
              <a:t>(1) Common </a:t>
            </a:r>
            <a:r>
              <a:rPr lang="fr-FR" dirty="0" err="1">
                <a:latin typeface="Cambria Math" panose="02040503050406030204" pitchFamily="18" charset="0"/>
                <a:ea typeface="Cambria Math" panose="02040503050406030204" pitchFamily="18" charset="0"/>
              </a:rPr>
              <a:t>deterministic</a:t>
            </a:r>
            <a:r>
              <a:rPr lang="fr-FR" dirty="0">
                <a:latin typeface="Cambria Math" panose="02040503050406030204" pitchFamily="18" charset="0"/>
                <a:ea typeface="Cambria Math" panose="02040503050406030204" pitchFamily="18" charset="0"/>
              </a:rPr>
              <a:t> trend for GDP/population and Car/population </a:t>
            </a:r>
            <a:r>
              <a:rPr lang="fr-FR" dirty="0" err="1">
                <a:latin typeface="Cambria Math" panose="02040503050406030204" pitchFamily="18" charset="0"/>
                <a:ea typeface="Cambria Math" panose="02040503050406030204" pitchFamily="18" charset="0"/>
              </a:rPr>
              <a:t>during</a:t>
            </a:r>
            <a:r>
              <a:rPr lang="fr-FR" dirty="0">
                <a:latin typeface="Cambria Math" panose="02040503050406030204" pitchFamily="18" charset="0"/>
                <a:ea typeface="Cambria Math" panose="02040503050406030204" pitchFamily="18" charset="0"/>
              </a:rPr>
              <a:t> 1960-1978 in OECD countries </a:t>
            </a:r>
            <a:r>
              <a:rPr lang="el-GR" dirty="0">
                <a:latin typeface="Cambria Math" panose="02040503050406030204" pitchFamily="18" charset="0"/>
                <a:ea typeface="Cambria Math" panose="02040503050406030204" pitchFamily="18" charset="0"/>
                <a:cs typeface="Calibri"/>
              </a:rPr>
              <a:t>⇒</a:t>
            </a:r>
            <a:r>
              <a:rPr lang="fr-FR" dirty="0">
                <a:latin typeface="Cambria Math" panose="02040503050406030204" pitchFamily="18" charset="0"/>
                <a:ea typeface="Cambria Math" panose="02040503050406030204" pitchFamily="18" charset="0"/>
                <a:cs typeface="Calibri"/>
              </a:rPr>
              <a:t> high simple </a:t>
            </a:r>
            <a:r>
              <a:rPr lang="fr-FR" dirty="0" err="1">
                <a:latin typeface="Cambria Math" panose="02040503050406030204" pitchFamily="18" charset="0"/>
                <a:ea typeface="Cambria Math" panose="02040503050406030204" pitchFamily="18" charset="0"/>
                <a:cs typeface="Calibri"/>
              </a:rPr>
              <a:t>correlation</a:t>
            </a:r>
            <a:r>
              <a:rPr lang="fr-FR" dirty="0">
                <a:latin typeface="Cambria Math" panose="02040503050406030204" pitchFamily="18" charset="0"/>
                <a:ea typeface="Cambria Math" panose="02040503050406030204" pitchFamily="18" charset="0"/>
                <a:cs typeface="Calibri"/>
              </a:rPr>
              <a:t>.</a:t>
            </a:r>
          </a:p>
          <a:p>
            <a:pPr marL="0" indent="0" algn="just">
              <a:buNone/>
            </a:pPr>
            <a:r>
              <a:rPr lang="fr-FR" dirty="0">
                <a:latin typeface="Cambria Math" panose="02040503050406030204" pitchFamily="18" charset="0"/>
                <a:ea typeface="Cambria Math" panose="02040503050406030204" pitchFamily="18" charset="0"/>
                <a:cs typeface="Calibri"/>
              </a:rPr>
              <a:t>(2) </a:t>
            </a:r>
            <a:r>
              <a:rPr lang="fr-FR" dirty="0" err="1">
                <a:latin typeface="Cambria Math" panose="02040503050406030204" pitchFamily="18" charset="0"/>
                <a:ea typeface="Cambria Math" panose="02040503050406030204" pitchFamily="18" charset="0"/>
                <a:cs typeface="Calibri"/>
              </a:rPr>
              <a:t>Negative</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correlation</a:t>
            </a:r>
            <a:r>
              <a:rPr lang="fr-FR" dirty="0">
                <a:latin typeface="Cambria Math" panose="02040503050406030204" pitchFamily="18" charset="0"/>
                <a:ea typeface="Cambria Math" panose="02040503050406030204" pitchFamily="18" charset="0"/>
                <a:cs typeface="Calibri"/>
              </a:rPr>
              <a:t> if one variable </a:t>
            </a:r>
            <a:r>
              <a:rPr lang="fr-FR" dirty="0" err="1">
                <a:latin typeface="Cambria Math" panose="02040503050406030204" pitchFamily="18" charset="0"/>
                <a:ea typeface="Cambria Math" panose="02040503050406030204" pitchFamily="18" charset="0"/>
                <a:cs typeface="Calibri"/>
              </a:rPr>
              <a:t>is</a:t>
            </a:r>
            <a:r>
              <a:rPr lang="fr-FR" dirty="0">
                <a:latin typeface="Cambria Math" panose="02040503050406030204" pitchFamily="18" charset="0"/>
                <a:ea typeface="Cambria Math" panose="02040503050406030204" pitchFamily="18" charset="0"/>
                <a:cs typeface="Calibri"/>
              </a:rPr>
              <a:t> at the </a:t>
            </a:r>
            <a:r>
              <a:rPr lang="fr-FR" dirty="0" err="1">
                <a:latin typeface="Cambria Math" panose="02040503050406030204" pitchFamily="18" charset="0"/>
                <a:ea typeface="Cambria Math" panose="02040503050406030204" pitchFamily="18" charset="0"/>
                <a:cs typeface="Calibri"/>
              </a:rPr>
              <a:t>numerator</a:t>
            </a:r>
            <a:r>
              <a:rPr lang="fr-FR" dirty="0">
                <a:latin typeface="Cambria Math" panose="02040503050406030204" pitchFamily="18" charset="0"/>
                <a:ea typeface="Cambria Math" panose="02040503050406030204" pitchFamily="18" charset="0"/>
                <a:cs typeface="Calibri"/>
              </a:rPr>
              <a:t> of a ratio and if the second ratio as </a:t>
            </a:r>
            <a:r>
              <a:rPr lang="fr-FR" dirty="0" err="1">
                <a:latin typeface="Cambria Math" panose="02040503050406030204" pitchFamily="18" charset="0"/>
                <a:ea typeface="Cambria Math" panose="02040503050406030204" pitchFamily="18" charset="0"/>
                <a:cs typeface="Calibri"/>
              </a:rPr>
              <a:t>this</a:t>
            </a:r>
            <a:r>
              <a:rPr lang="fr-FR" dirty="0">
                <a:latin typeface="Cambria Math" panose="02040503050406030204" pitchFamily="18" charset="0"/>
                <a:ea typeface="Cambria Math" panose="02040503050406030204" pitchFamily="18" charset="0"/>
                <a:cs typeface="Calibri"/>
              </a:rPr>
              <a:t> variable at the </a:t>
            </a:r>
            <a:r>
              <a:rPr lang="fr-FR" dirty="0" err="1">
                <a:latin typeface="Cambria Math" panose="02040503050406030204" pitchFamily="18" charset="0"/>
                <a:ea typeface="Cambria Math" panose="02040503050406030204" pitchFamily="18" charset="0"/>
                <a:cs typeface="Calibri"/>
              </a:rPr>
              <a:t>denominator</a:t>
            </a:r>
            <a:r>
              <a:rPr lang="fr-FR" dirty="0">
                <a:latin typeface="Cambria Math" panose="02040503050406030204" pitchFamily="18" charset="0"/>
                <a:ea typeface="Cambria Math" panose="02040503050406030204" pitchFamily="18" charset="0"/>
                <a:cs typeface="Calibri"/>
              </a:rPr>
              <a:t> = </a:t>
            </a:r>
          </a:p>
          <a:p>
            <a:pPr marL="0" indent="0" algn="just">
              <a:buNone/>
            </a:pPr>
            <a:r>
              <a:rPr lang="fr-FR" b="1" dirty="0">
                <a:solidFill>
                  <a:srgbClr val="FF0000"/>
                </a:solidFill>
                <a:latin typeface="Cambria Math" panose="02040503050406030204" pitchFamily="18" charset="0"/>
                <a:ea typeface="Cambria Math" panose="02040503050406030204" pitchFamily="18" charset="0"/>
                <a:cs typeface="Calibri"/>
              </a:rPr>
              <a:t>A </a:t>
            </a:r>
            <a:r>
              <a:rPr lang="fr-FR" b="1" dirty="0" err="1">
                <a:solidFill>
                  <a:srgbClr val="FF0000"/>
                </a:solidFill>
                <a:latin typeface="Cambria Math" panose="02040503050406030204" pitchFamily="18" charset="0"/>
                <a:ea typeface="Cambria Math" panose="02040503050406030204" pitchFamily="18" charset="0"/>
                <a:cs typeface="Calibri"/>
              </a:rPr>
              <a:t>researcher</a:t>
            </a:r>
            <a:r>
              <a:rPr lang="fr-FR" b="1" dirty="0">
                <a:solidFill>
                  <a:srgbClr val="FF0000"/>
                </a:solidFill>
                <a:latin typeface="Cambria Math" panose="02040503050406030204" pitchFamily="18" charset="0"/>
                <a:ea typeface="Cambria Math" panose="02040503050406030204" pitchFamily="18" charset="0"/>
                <a:cs typeface="Calibri"/>
              </a:rPr>
              <a:t>-</a:t>
            </a:r>
            <a:r>
              <a:rPr lang="fr-FR" b="1" dirty="0" err="1">
                <a:solidFill>
                  <a:srgbClr val="FF0000"/>
                </a:solidFill>
                <a:latin typeface="Cambria Math" panose="02040503050406030204" pitchFamily="18" charset="0"/>
                <a:ea typeface="Cambria Math" panose="02040503050406030204" pitchFamily="18" charset="0"/>
                <a:cs typeface="Calibri"/>
              </a:rPr>
              <a:t>built</a:t>
            </a:r>
            <a:r>
              <a:rPr lang="fr-FR" b="1" dirty="0">
                <a:solidFill>
                  <a:srgbClr val="FF0000"/>
                </a:solidFill>
                <a:latin typeface="Cambria Math" panose="02040503050406030204" pitchFamily="18" charset="0"/>
                <a:ea typeface="Cambria Math" panose="02040503050406030204" pitchFamily="18" charset="0"/>
                <a:cs typeface="Calibri"/>
              </a:rPr>
              <a:t>-in TRANSFORMATION of variables as ratios </a:t>
            </a:r>
            <a:r>
              <a:rPr lang="fr-FR" b="1" dirty="0" err="1">
                <a:solidFill>
                  <a:srgbClr val="FF0000"/>
                </a:solidFill>
                <a:latin typeface="Cambria Math" panose="02040503050406030204" pitchFamily="18" charset="0"/>
                <a:ea typeface="Cambria Math" panose="02040503050406030204" pitchFamily="18" charset="0"/>
                <a:cs typeface="Calibri"/>
              </a:rPr>
              <a:t>with</a:t>
            </a:r>
            <a:r>
              <a:rPr lang="fr-FR" b="1" dirty="0">
                <a:solidFill>
                  <a:srgbClr val="FF0000"/>
                </a:solidFill>
                <a:latin typeface="Cambria Math" panose="02040503050406030204" pitchFamily="18" charset="0"/>
                <a:ea typeface="Cambria Math" panose="02040503050406030204" pitchFamily="18" charset="0"/>
                <a:cs typeface="Calibri"/>
              </a:rPr>
              <a:t> DIFFERENT </a:t>
            </a:r>
            <a:r>
              <a:rPr lang="fr-FR" b="1" dirty="0" err="1">
                <a:solidFill>
                  <a:srgbClr val="FF0000"/>
                </a:solidFill>
                <a:latin typeface="Cambria Math" panose="02040503050406030204" pitchFamily="18" charset="0"/>
                <a:ea typeface="Cambria Math" panose="02040503050406030204" pitchFamily="18" charset="0"/>
                <a:cs typeface="Calibri"/>
              </a:rPr>
              <a:t>denominators</a:t>
            </a:r>
            <a:r>
              <a:rPr lang="fr-FR" b="1" dirty="0">
                <a:solidFill>
                  <a:srgbClr val="FF0000"/>
                </a:solidFill>
                <a:latin typeface="Cambria Math" panose="02040503050406030204" pitchFamily="18" charset="0"/>
                <a:ea typeface="Cambria Math" panose="02040503050406030204" pitchFamily="18" charset="0"/>
                <a:cs typeface="Calibri"/>
              </a:rPr>
              <a:t> </a:t>
            </a:r>
            <a:r>
              <a:rPr lang="fr-FR" b="1" dirty="0" err="1">
                <a:solidFill>
                  <a:srgbClr val="FF0000"/>
                </a:solidFill>
                <a:latin typeface="Cambria Math" panose="02040503050406030204" pitchFamily="18" charset="0"/>
                <a:ea typeface="Cambria Math" panose="02040503050406030204" pitchFamily="18" charset="0"/>
                <a:cs typeface="Calibri"/>
              </a:rPr>
              <a:t>creates</a:t>
            </a:r>
            <a:r>
              <a:rPr lang="fr-FR" b="1" dirty="0">
                <a:solidFill>
                  <a:srgbClr val="FF0000"/>
                </a:solidFill>
                <a:latin typeface="Cambria Math" panose="02040503050406030204" pitchFamily="18" charset="0"/>
                <a:ea typeface="Cambria Math" panose="02040503050406030204" pitchFamily="18" charset="0"/>
                <a:cs typeface="Calibri"/>
              </a:rPr>
              <a:t> an ad hoc </a:t>
            </a:r>
            <a:r>
              <a:rPr lang="fr-FR" b="1" dirty="0" err="1">
                <a:solidFill>
                  <a:srgbClr val="FF0000"/>
                </a:solidFill>
                <a:latin typeface="Cambria Math" panose="02040503050406030204" pitchFamily="18" charset="0"/>
                <a:ea typeface="Cambria Math" panose="02040503050406030204" pitchFamily="18" charset="0"/>
                <a:cs typeface="Calibri"/>
              </a:rPr>
              <a:t>strong</a:t>
            </a:r>
            <a:r>
              <a:rPr lang="fr-FR" b="1" dirty="0">
                <a:solidFill>
                  <a:srgbClr val="FF0000"/>
                </a:solidFill>
                <a:latin typeface="Cambria Math" panose="02040503050406030204" pitchFamily="18" charset="0"/>
                <a:ea typeface="Cambria Math" panose="02040503050406030204" pitchFamily="18" charset="0"/>
                <a:cs typeface="Calibri"/>
              </a:rPr>
              <a:t> </a:t>
            </a:r>
            <a:r>
              <a:rPr lang="fr-FR" b="1" dirty="0" err="1">
                <a:solidFill>
                  <a:srgbClr val="FF0000"/>
                </a:solidFill>
                <a:latin typeface="Cambria Math" panose="02040503050406030204" pitchFamily="18" charset="0"/>
                <a:ea typeface="Cambria Math" panose="02040503050406030204" pitchFamily="18" charset="0"/>
                <a:cs typeface="Calibri"/>
              </a:rPr>
              <a:t>correlation</a:t>
            </a:r>
            <a:r>
              <a:rPr lang="fr-FR" b="1" dirty="0">
                <a:solidFill>
                  <a:srgbClr val="FF0000"/>
                </a:solidFill>
                <a:latin typeface="Cambria Math" panose="02040503050406030204" pitchFamily="18" charset="0"/>
                <a:ea typeface="Cambria Math" panose="02040503050406030204" pitchFamily="18" charset="0"/>
                <a:cs typeface="Calibri"/>
              </a:rPr>
              <a:t>.</a:t>
            </a:r>
          </a:p>
          <a:p>
            <a:pPr marL="0" indent="0" algn="just">
              <a:buNone/>
            </a:pPr>
            <a:r>
              <a:rPr lang="fr-FR" dirty="0">
                <a:latin typeface="Cambria Math" panose="02040503050406030204" pitchFamily="18" charset="0"/>
                <a:ea typeface="Cambria Math" panose="02040503050406030204" pitchFamily="18" charset="0"/>
                <a:cs typeface="Calibri"/>
              </a:rPr>
              <a:t>(3) A </a:t>
            </a:r>
            <a:r>
              <a:rPr lang="fr-FR" dirty="0" err="1">
                <a:latin typeface="Cambria Math" panose="02040503050406030204" pitchFamily="18" charset="0"/>
                <a:ea typeface="Cambria Math" panose="02040503050406030204" pitchFamily="18" charset="0"/>
                <a:cs typeface="Calibri"/>
              </a:rPr>
              <a:t>published</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paper</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reproduced</a:t>
            </a:r>
            <a:r>
              <a:rPr lang="fr-FR" dirty="0">
                <a:latin typeface="Cambria Math" panose="02040503050406030204" pitchFamily="18" charset="0"/>
                <a:ea typeface="Cambria Math" panose="02040503050406030204" pitchFamily="18" charset="0"/>
                <a:cs typeface="Calibri"/>
              </a:rPr>
              <a:t> in </a:t>
            </a:r>
            <a:r>
              <a:rPr lang="fr-FR" dirty="0" err="1">
                <a:latin typeface="Cambria Math" panose="02040503050406030204" pitchFamily="18" charset="0"/>
                <a:ea typeface="Cambria Math" panose="02040503050406030204" pitchFamily="18" charset="0"/>
                <a:cs typeface="Calibri"/>
              </a:rPr>
              <a:t>textbooks</a:t>
            </a:r>
            <a:r>
              <a:rPr lang="fr-FR" dirty="0">
                <a:latin typeface="Cambria Math" panose="02040503050406030204" pitchFamily="18" charset="0"/>
                <a:ea typeface="Cambria Math" panose="02040503050406030204" pitchFamily="18" charset="0"/>
                <a:cs typeface="Calibri"/>
              </a:rPr>
              <a:t>  as an good </a:t>
            </a:r>
            <a:r>
              <a:rPr lang="fr-FR" dirty="0" err="1">
                <a:latin typeface="Cambria Math" panose="02040503050406030204" pitchFamily="18" charset="0"/>
                <a:ea typeface="Cambria Math" panose="02040503050406030204" pitchFamily="18" charset="0"/>
                <a:cs typeface="Calibri"/>
              </a:rPr>
              <a:t>example</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may</a:t>
            </a:r>
            <a:r>
              <a:rPr lang="fr-FR" dirty="0">
                <a:latin typeface="Cambria Math" panose="02040503050406030204" pitchFamily="18" charset="0"/>
                <a:ea typeface="Cambria Math" panose="02040503050406030204" pitchFamily="18" charset="0"/>
                <a:cs typeface="Calibri"/>
              </a:rPr>
              <a:t> not have  a good </a:t>
            </a:r>
            <a:r>
              <a:rPr lang="fr-FR" dirty="0" err="1">
                <a:latin typeface="Cambria Math" panose="02040503050406030204" pitchFamily="18" charset="0"/>
                <a:ea typeface="Cambria Math" panose="02040503050406030204" pitchFamily="18" charset="0"/>
                <a:cs typeface="Calibri"/>
              </a:rPr>
              <a:t>specification</a:t>
            </a:r>
            <a:r>
              <a:rPr lang="fr-FR" dirty="0">
                <a:latin typeface="Cambria Math" panose="02040503050406030204" pitchFamily="18" charset="0"/>
                <a:ea typeface="Cambria Math" panose="02040503050406030204" pitchFamily="18" charset="0"/>
                <a:cs typeface="Calibri"/>
              </a:rPr>
              <a:t>.  For </a:t>
            </a:r>
            <a:r>
              <a:rPr lang="fr-FR" dirty="0" err="1">
                <a:latin typeface="Cambria Math" panose="02040503050406030204" pitchFamily="18" charset="0"/>
                <a:ea typeface="Cambria Math" panose="02040503050406030204" pitchFamily="18" charset="0"/>
                <a:cs typeface="Calibri"/>
              </a:rPr>
              <a:t>empirical</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work</a:t>
            </a:r>
            <a:r>
              <a:rPr lang="fr-FR" dirty="0">
                <a:latin typeface="Cambria Math" panose="02040503050406030204" pitchFamily="18" charset="0"/>
                <a:ea typeface="Cambria Math" panose="02040503050406030204" pitchFamily="18" charset="0"/>
                <a:cs typeface="Calibri"/>
              </a:rPr>
              <a:t>, </a:t>
            </a:r>
            <a:r>
              <a:rPr lang="fr-FR" b="1" dirty="0">
                <a:latin typeface="Cambria Math" panose="02040503050406030204" pitchFamily="18" charset="0"/>
                <a:ea typeface="Cambria Math" panose="02040503050406030204" pitchFamily="18" charset="0"/>
                <a:cs typeface="Calibri"/>
              </a:rPr>
              <a:t>NO </a:t>
            </a:r>
            <a:r>
              <a:rPr lang="fr-FR" b="1" dirty="0" err="1">
                <a:latin typeface="Cambria Math" panose="02040503050406030204" pitchFamily="18" charset="0"/>
                <a:ea typeface="Cambria Math" panose="02040503050406030204" pitchFamily="18" charset="0"/>
                <a:cs typeface="Calibri"/>
              </a:rPr>
              <a:t>authority</a:t>
            </a:r>
            <a:r>
              <a:rPr lang="fr-FR" b="1" dirty="0">
                <a:latin typeface="Cambria Math" panose="02040503050406030204" pitchFamily="18" charset="0"/>
                <a:ea typeface="Cambria Math" panose="02040503050406030204" pitchFamily="18" charset="0"/>
                <a:cs typeface="Calibri"/>
              </a:rPr>
              <a:t> argument </a:t>
            </a:r>
            <a:r>
              <a:rPr lang="fr-FR" b="1" dirty="0" err="1">
                <a:latin typeface="Cambria Math" panose="02040503050406030204" pitchFamily="18" charset="0"/>
                <a:ea typeface="Cambria Math" panose="02040503050406030204" pitchFamily="18" charset="0"/>
                <a:cs typeface="Calibri"/>
              </a:rPr>
              <a:t>is</a:t>
            </a:r>
            <a:r>
              <a:rPr lang="fr-FR" b="1" dirty="0">
                <a:latin typeface="Cambria Math" panose="02040503050406030204" pitchFamily="18" charset="0"/>
                <a:ea typeface="Cambria Math" panose="02040503050406030204" pitchFamily="18" charset="0"/>
                <a:cs typeface="Calibri"/>
              </a:rPr>
              <a:t> </a:t>
            </a:r>
            <a:r>
              <a:rPr lang="fr-FR" b="1" dirty="0" err="1">
                <a:latin typeface="Cambria Math" panose="02040503050406030204" pitchFamily="18" charset="0"/>
                <a:ea typeface="Cambria Math" panose="02040503050406030204" pitchFamily="18" charset="0"/>
                <a:cs typeface="Calibri"/>
              </a:rPr>
              <a:t>valid</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Only</a:t>
            </a:r>
            <a:r>
              <a:rPr lang="fr-FR" dirty="0">
                <a:latin typeface="Cambria Math" panose="02040503050406030204" pitchFamily="18" charset="0"/>
                <a:ea typeface="Cambria Math" panose="02040503050406030204" pitchFamily="18" charset="0"/>
                <a:cs typeface="Calibri"/>
              </a:rPr>
              <a:t> the </a:t>
            </a:r>
            <a:r>
              <a:rPr lang="fr-FR" dirty="0" err="1">
                <a:latin typeface="Cambria Math" panose="02040503050406030204" pitchFamily="18" charset="0"/>
                <a:ea typeface="Cambria Math" panose="02040503050406030204" pitchFamily="18" charset="0"/>
                <a:cs typeface="Calibri"/>
              </a:rPr>
              <a:t>replication</a:t>
            </a:r>
            <a:r>
              <a:rPr lang="fr-FR" dirty="0">
                <a:latin typeface="Cambria Math" panose="02040503050406030204" pitchFamily="18" charset="0"/>
                <a:ea typeface="Cambria Math" panose="02040503050406030204" pitchFamily="18" charset="0"/>
                <a:cs typeface="Calibri"/>
              </a:rPr>
              <a:t> to check </a:t>
            </a:r>
            <a:r>
              <a:rPr lang="fr-FR" dirty="0" err="1">
                <a:latin typeface="Cambria Math" panose="02040503050406030204" pitchFamily="18" charset="0"/>
                <a:ea typeface="Cambria Math" panose="02040503050406030204" pitchFamily="18" charset="0"/>
                <a:cs typeface="Calibri"/>
              </a:rPr>
              <a:t>its</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robustness</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matters</a:t>
            </a:r>
            <a:r>
              <a:rPr lang="fr-FR" dirty="0">
                <a:latin typeface="Cambria Math" panose="02040503050406030204" pitchFamily="18" charset="0"/>
                <a:ea typeface="Cambria Math" panose="02040503050406030204" pitchFamily="18" charset="0"/>
                <a:cs typeface="Calibri"/>
              </a:rPr>
              <a:t>. </a:t>
            </a:r>
            <a:endParaRPr lang="fr-FR" dirty="0">
              <a:latin typeface="Cambria Math" panose="02040503050406030204" pitchFamily="18" charset="0"/>
              <a:ea typeface="Cambria Math" panose="02040503050406030204" pitchFamily="18" charset="0"/>
            </a:endParaRPr>
          </a:p>
          <a:p>
            <a:pPr marL="0" indent="0">
              <a:buNone/>
            </a:pPr>
            <a:endParaRPr lang="fr-FR" dirty="0"/>
          </a:p>
          <a:p>
            <a:pPr marL="0" indent="0">
              <a:buNone/>
            </a:pPr>
            <a:endParaRPr lang="en-GB" dirty="0"/>
          </a:p>
        </p:txBody>
      </p:sp>
    </p:spTree>
    <p:extLst>
      <p:ext uri="{BB962C8B-B14F-4D97-AF65-F5344CB8AC3E}">
        <p14:creationId xmlns:p14="http://schemas.microsoft.com/office/powerpoint/2010/main" val="5329193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dirty="0" err="1"/>
              <a:t>Endogeneity</a:t>
            </a:r>
            <a:r>
              <a:rPr lang="fr-FR" sz="3600" dirty="0"/>
              <a:t> issue: The </a:t>
            </a:r>
            <a:r>
              <a:rPr lang="fr-FR" sz="3600" dirty="0" err="1"/>
              <a:t>demand</a:t>
            </a:r>
            <a:r>
              <a:rPr lang="fr-FR" sz="3600" dirty="0"/>
              <a:t> for cars </a:t>
            </a:r>
            <a:r>
              <a:rPr lang="fr-FR" sz="3600" dirty="0" err="1"/>
              <a:t>depends</a:t>
            </a:r>
            <a:r>
              <a:rPr lang="fr-FR" sz="3600" dirty="0"/>
              <a:t> on </a:t>
            </a:r>
            <a:r>
              <a:rPr lang="fr-FR" sz="3600" dirty="0" err="1"/>
              <a:t>income</a:t>
            </a:r>
            <a:r>
              <a:rPr lang="fr-FR" sz="3600" dirty="0"/>
              <a:t> and relative </a:t>
            </a:r>
            <a:r>
              <a:rPr lang="fr-FR" sz="3600" dirty="0" err="1"/>
              <a:t>price</a:t>
            </a:r>
            <a:endParaRPr lang="en-GB" sz="3600" dirty="0"/>
          </a:p>
        </p:txBody>
      </p:sp>
      <p:sp>
        <p:nvSpPr>
          <p:cNvPr id="3" name="Espace réservé du contenu 2"/>
          <p:cNvSpPr>
            <a:spLocks noGrp="1"/>
          </p:cNvSpPr>
          <p:nvPr>
            <p:ph idx="1"/>
          </p:nvPr>
        </p:nvSpPr>
        <p:spPr/>
        <p:txBody>
          <a:bodyPr/>
          <a:lstStyle/>
          <a:p>
            <a:pPr marL="0" indent="0">
              <a:buNone/>
            </a:pPr>
            <a:r>
              <a:rPr lang="fr-FR" dirty="0"/>
              <a:t>Ln(Car/Population)  =</a:t>
            </a:r>
          </a:p>
          <a:p>
            <a:pPr marL="0" indent="0">
              <a:buNone/>
            </a:pP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a:t>
            </a:r>
            <a:r>
              <a:rPr lang="fr-FR" dirty="0">
                <a:latin typeface="Cambria Math" panose="02040503050406030204" pitchFamily="18" charset="0"/>
                <a:ea typeface="Cambria Math" panose="02040503050406030204" pitchFamily="18" charset="0"/>
              </a:rPr>
              <a:t> .Ln(GDP/population) </a:t>
            </a:r>
          </a:p>
          <a:p>
            <a:pPr marL="0" indent="0">
              <a:buNone/>
            </a:pP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2</a:t>
            </a:r>
            <a:r>
              <a:rPr lang="fr-FR" dirty="0">
                <a:latin typeface="Cambria Math" panose="02040503050406030204" pitchFamily="18" charset="0"/>
                <a:ea typeface="Cambria Math" panose="02040503050406030204" pitchFamily="18" charset="0"/>
              </a:rPr>
              <a:t> .Ln(</a:t>
            </a:r>
            <a:r>
              <a:rPr lang="fr-FR" dirty="0" err="1">
                <a:latin typeface="Cambria Math" panose="02040503050406030204" pitchFamily="18" charset="0"/>
                <a:ea typeface="Cambria Math" panose="02040503050406030204" pitchFamily="18" charset="0"/>
              </a:rPr>
              <a:t>price</a:t>
            </a:r>
            <a:r>
              <a:rPr lang="fr-FR" dirty="0">
                <a:latin typeface="Cambria Math" panose="02040503050406030204" pitchFamily="18" charset="0"/>
                <a:ea typeface="Cambria Math" panose="02040503050406030204" pitchFamily="18" charset="0"/>
              </a:rPr>
              <a:t> cars/consumer </a:t>
            </a:r>
            <a:r>
              <a:rPr lang="fr-FR" dirty="0" err="1">
                <a:latin typeface="Cambria Math" panose="02040503050406030204" pitchFamily="18" charset="0"/>
                <a:ea typeface="Cambria Math" panose="02040503050406030204" pitchFamily="18" charset="0"/>
              </a:rPr>
              <a:t>price</a:t>
            </a:r>
            <a:r>
              <a:rPr lang="fr-FR" dirty="0">
                <a:latin typeface="Cambria Math" panose="02040503050406030204" pitchFamily="18" charset="0"/>
                <a:ea typeface="Cambria Math" panose="02040503050406030204" pitchFamily="18" charset="0"/>
              </a:rPr>
              <a:t> index)</a:t>
            </a:r>
          </a:p>
          <a:p>
            <a:pPr marL="0" indent="0">
              <a:buNone/>
            </a:pP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0</a:t>
            </a:r>
            <a:r>
              <a:rPr lang="fr-FR" dirty="0">
                <a:latin typeface="Cambria Math" panose="02040503050406030204" pitchFamily="18" charset="0"/>
                <a:ea typeface="Cambria Math" panose="02040503050406030204" pitchFamily="18" charset="0"/>
              </a:rPr>
              <a:t> </a:t>
            </a:r>
          </a:p>
          <a:p>
            <a:pPr marL="0" indent="0">
              <a:buNone/>
            </a:pP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α</a:t>
            </a:r>
            <a:r>
              <a:rPr lang="fr-FR" baseline="-25000" dirty="0">
                <a:latin typeface="Cambria Math" panose="02040503050406030204" pitchFamily="18" charset="0"/>
                <a:ea typeface="Cambria Math" panose="02040503050406030204" pitchFamily="18" charset="0"/>
              </a:rPr>
              <a:t>i</a:t>
            </a:r>
            <a:r>
              <a:rPr lang="fr-FR" dirty="0">
                <a:latin typeface="Cambria Math" panose="02040503050406030204" pitchFamily="18" charset="0"/>
                <a:ea typeface="Cambria Math" panose="02040503050406030204" pitchFamily="18" charset="0"/>
              </a:rPr>
              <a:t> + </a:t>
            </a:r>
            <a:r>
              <a:rPr lang="el-GR" dirty="0">
                <a:latin typeface="Cambria Math" panose="02040503050406030204" pitchFamily="18" charset="0"/>
                <a:ea typeface="Cambria Math" panose="02040503050406030204" pitchFamily="18" charset="0"/>
              </a:rPr>
              <a:t>α</a:t>
            </a:r>
            <a:r>
              <a:rPr lang="fr-FR" baseline="-25000" dirty="0">
                <a:latin typeface="Cambria Math" panose="02040503050406030204" pitchFamily="18" charset="0"/>
                <a:ea typeface="Cambria Math" panose="02040503050406030204" pitchFamily="18" charset="0"/>
              </a:rPr>
              <a:t>t</a:t>
            </a:r>
            <a:r>
              <a:rPr lang="fr-FR" dirty="0">
                <a:latin typeface="Cambria Math" panose="02040503050406030204" pitchFamily="18" charset="0"/>
                <a:ea typeface="Cambria Math" panose="02040503050406030204" pitchFamily="18" charset="0"/>
              </a:rPr>
              <a:t> + </a:t>
            </a:r>
            <a:r>
              <a:rPr lang="el-GR" dirty="0">
                <a:latin typeface="Cambria Math" panose="02040503050406030204" pitchFamily="18" charset="0"/>
                <a:ea typeface="Cambria Math" panose="02040503050406030204" pitchFamily="18" charset="0"/>
              </a:rPr>
              <a:t>ε</a:t>
            </a:r>
            <a:r>
              <a:rPr lang="fr-FR" baseline="-25000" dirty="0" err="1">
                <a:latin typeface="Cambria Math" panose="02040503050406030204" pitchFamily="18" charset="0"/>
                <a:ea typeface="Cambria Math" panose="02040503050406030204" pitchFamily="18" charset="0"/>
              </a:rPr>
              <a:t>it</a:t>
            </a:r>
            <a:endParaRPr lang="fr-FR" baseline="-25000" dirty="0">
              <a:latin typeface="Cambria Math" panose="02040503050406030204" pitchFamily="18" charset="0"/>
              <a:ea typeface="Cambria Math" panose="02040503050406030204" pitchFamily="18" charset="0"/>
            </a:endParaRPr>
          </a:p>
          <a:p>
            <a:pPr marL="0" indent="0" algn="just">
              <a:buNone/>
            </a:pPr>
            <a:r>
              <a:rPr lang="fr-FR" dirty="0" err="1">
                <a:latin typeface="Cambria Math" panose="02040503050406030204" pitchFamily="18" charset="0"/>
                <a:ea typeface="Cambria Math" panose="02040503050406030204" pitchFamily="18" charset="0"/>
              </a:rPr>
              <a:t>Logistic</a:t>
            </a:r>
            <a:r>
              <a:rPr lang="fr-FR" dirty="0">
                <a:latin typeface="Cambria Math" panose="02040503050406030204" pitchFamily="18" charset="0"/>
                <a:ea typeface="Cambria Math" panose="02040503050406030204" pitchFamily="18" charset="0"/>
              </a:rPr>
              <a:t> diffusion </a:t>
            </a:r>
            <a:r>
              <a:rPr lang="fr-FR" dirty="0" err="1">
                <a:latin typeface="Cambria Math" panose="02040503050406030204" pitchFamily="18" charset="0"/>
                <a:ea typeface="Cambria Math" panose="02040503050406030204" pitchFamily="18" charset="0"/>
              </a:rPr>
              <a:t>curve</a:t>
            </a:r>
            <a:r>
              <a:rPr lang="fr-FR" dirty="0">
                <a:latin typeface="Cambria Math" panose="02040503050406030204" pitchFamily="18" charset="0"/>
                <a:ea typeface="Cambria Math" panose="02040503050406030204" pitchFamily="18" charset="0"/>
              </a:rPr>
              <a:t> for the </a:t>
            </a:r>
            <a:r>
              <a:rPr lang="fr-FR" dirty="0" err="1">
                <a:latin typeface="Cambria Math" panose="02040503050406030204" pitchFamily="18" charset="0"/>
                <a:ea typeface="Cambria Math" panose="02040503050406030204" pitchFamily="18" charset="0"/>
              </a:rPr>
              <a:t>demand</a:t>
            </a:r>
            <a:r>
              <a:rPr lang="fr-FR" dirty="0">
                <a:latin typeface="Cambria Math" panose="02040503050406030204" pitchFamily="18" charset="0"/>
                <a:ea typeface="Cambria Math" panose="02040503050406030204" pitchFamily="18" charset="0"/>
              </a:rPr>
              <a:t> of cars </a:t>
            </a:r>
            <a:r>
              <a:rPr lang="fr-FR" dirty="0" err="1">
                <a:latin typeface="Cambria Math" panose="02040503050406030204" pitchFamily="18" charset="0"/>
                <a:ea typeface="Cambria Math" panose="02040503050406030204" pitchFamily="18" charset="0"/>
              </a:rPr>
              <a:t>with</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households</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equipment</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during</a:t>
            </a:r>
            <a:r>
              <a:rPr lang="fr-FR" dirty="0">
                <a:latin typeface="Cambria Math" panose="02040503050406030204" pitchFamily="18" charset="0"/>
                <a:ea typeface="Cambria Math" panose="02040503050406030204" pitchFamily="18" charset="0"/>
              </a:rPr>
              <a:t> 1960-1978, in the middle of the </a:t>
            </a:r>
            <a:r>
              <a:rPr lang="fr-FR" dirty="0" err="1">
                <a:latin typeface="Cambria Math" panose="02040503050406030204" pitchFamily="18" charset="0"/>
                <a:ea typeface="Cambria Math" panose="02040503050406030204" pitchFamily="18" charset="0"/>
              </a:rPr>
              <a:t>logistic</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curve</a:t>
            </a:r>
            <a:r>
              <a:rPr lang="fr-FR" dirty="0">
                <a:latin typeface="Cambria Math" panose="02040503050406030204" pitchFamily="18" charset="0"/>
                <a:ea typeface="Cambria Math" panose="02040503050406030204" pitchFamily="18" charset="0"/>
              </a:rPr>
              <a:t>.</a:t>
            </a:r>
          </a:p>
          <a:p>
            <a:pPr marL="0" indent="0">
              <a:buNone/>
            </a:pPr>
            <a:endParaRPr lang="fr-FR" dirty="0"/>
          </a:p>
          <a:p>
            <a:pPr marL="0" indent="0">
              <a:buNone/>
            </a:pPr>
            <a:endParaRPr lang="en-GB" dirty="0"/>
          </a:p>
        </p:txBody>
      </p:sp>
    </p:spTree>
    <p:extLst>
      <p:ext uri="{BB962C8B-B14F-4D97-AF65-F5344CB8AC3E}">
        <p14:creationId xmlns:p14="http://schemas.microsoft.com/office/powerpoint/2010/main" val="378270459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a:bodyPr>
          <a:lstStyle/>
          <a:p>
            <a:r>
              <a:rPr lang="fr-FR" sz="2800" dirty="0"/>
              <a:t>Diffusion </a:t>
            </a:r>
            <a:r>
              <a:rPr lang="fr-FR" sz="2800" dirty="0" err="1"/>
              <a:t>curve</a:t>
            </a:r>
            <a:r>
              <a:rPr lang="fr-FR" sz="2800" dirty="0"/>
              <a:t> for </a:t>
            </a:r>
            <a:r>
              <a:rPr lang="fr-FR" sz="2800" dirty="0" err="1"/>
              <a:t>technology</a:t>
            </a:r>
            <a:r>
              <a:rPr lang="fr-FR" sz="2800" dirty="0"/>
              <a:t> adoption (</a:t>
            </a:r>
            <a:r>
              <a:rPr lang="fr-FR" sz="2800" dirty="0" err="1"/>
              <a:t>Logistic</a:t>
            </a:r>
            <a:r>
              <a:rPr lang="fr-FR" sz="2800" dirty="0"/>
              <a:t> </a:t>
            </a:r>
            <a:r>
              <a:rPr lang="fr-FR" sz="2800" dirty="0" err="1"/>
              <a:t>function</a:t>
            </a:r>
            <a:r>
              <a:rPr lang="fr-FR" sz="2800" dirty="0"/>
              <a:t> </a:t>
            </a:r>
            <a:r>
              <a:rPr lang="fr-FR" sz="2800" dirty="0" err="1"/>
              <a:t>also</a:t>
            </a:r>
            <a:r>
              <a:rPr lang="fr-FR" sz="2800" dirty="0"/>
              <a:t> </a:t>
            </a:r>
            <a:r>
              <a:rPr lang="fr-FR" sz="2800" dirty="0" err="1"/>
              <a:t>used</a:t>
            </a:r>
            <a:r>
              <a:rPr lang="fr-FR" sz="2800" dirty="0"/>
              <a:t> as F (</a:t>
            </a:r>
            <a:r>
              <a:rPr lang="fr-FR" sz="2800" dirty="0" err="1"/>
              <a:t>cdf</a:t>
            </a:r>
            <a:r>
              <a:rPr lang="fr-FR" sz="2800" dirty="0"/>
              <a:t>) in the </a:t>
            </a:r>
            <a:r>
              <a:rPr lang="fr-FR" sz="2800" dirty="0" err="1"/>
              <a:t>Logit</a:t>
            </a:r>
            <a:r>
              <a:rPr lang="fr-FR" sz="2800" dirty="0"/>
              <a:t> model)</a:t>
            </a:r>
            <a:endParaRPr lang="en-GB" sz="2800" dirty="0"/>
          </a:p>
        </p:txBody>
      </p:sp>
      <p:pic>
        <p:nvPicPr>
          <p:cNvPr id="1028" name="Picture 4" descr="The stylized diffusion curve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9" y="1767278"/>
            <a:ext cx="6792754" cy="470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63634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800" dirty="0" err="1"/>
              <a:t>Better</a:t>
            </a:r>
            <a:r>
              <a:rPr lang="fr-FR" sz="2800" dirty="0"/>
              <a:t> </a:t>
            </a:r>
            <a:r>
              <a:rPr lang="fr-FR" sz="2800" dirty="0" err="1"/>
              <a:t>specification</a:t>
            </a:r>
            <a:r>
              <a:rPr lang="fr-FR" sz="2800" dirty="0"/>
              <a:t> of the model, not </a:t>
            </a:r>
            <a:r>
              <a:rPr lang="fr-FR" sz="2800" dirty="0" err="1"/>
              <a:t>used</a:t>
            </a:r>
            <a:r>
              <a:rPr lang="fr-FR" sz="2800" dirty="0"/>
              <a:t> in the </a:t>
            </a:r>
            <a:r>
              <a:rPr lang="fr-FR" sz="2800" dirty="0" err="1"/>
              <a:t>published</a:t>
            </a:r>
            <a:r>
              <a:rPr lang="fr-FR" sz="2800" dirty="0"/>
              <a:t> </a:t>
            </a:r>
            <a:r>
              <a:rPr lang="fr-FR" sz="2800" dirty="0" err="1"/>
              <a:t>paper</a:t>
            </a:r>
            <a:r>
              <a:rPr lang="fr-FR" sz="2800" dirty="0"/>
              <a:t> (and use instrumental variables)</a:t>
            </a:r>
            <a:endParaRPr lang="en-GB" sz="2800" dirty="0"/>
          </a:p>
        </p:txBody>
      </p:sp>
      <p:sp>
        <p:nvSpPr>
          <p:cNvPr id="3" name="Espace réservé du contenu 2"/>
          <p:cNvSpPr>
            <a:spLocks noGrp="1"/>
          </p:cNvSpPr>
          <p:nvPr>
            <p:ph idx="1"/>
          </p:nvPr>
        </p:nvSpPr>
        <p:spPr/>
        <p:txBody>
          <a:bodyPr>
            <a:normAutofit fontScale="85000" lnSpcReduction="10000"/>
          </a:bodyPr>
          <a:lstStyle/>
          <a:p>
            <a:pPr marL="0" indent="0">
              <a:buNone/>
            </a:pPr>
            <a:r>
              <a:rPr lang="fr-FR" dirty="0"/>
              <a:t>Ln(</a:t>
            </a:r>
            <a:r>
              <a:rPr lang="fr-FR" dirty="0" err="1"/>
              <a:t>Gasoline</a:t>
            </a:r>
            <a:r>
              <a:rPr lang="fr-FR" dirty="0"/>
              <a:t>/</a:t>
            </a:r>
            <a:r>
              <a:rPr lang="fr-FR" b="1" dirty="0">
                <a:solidFill>
                  <a:srgbClr val="00B050"/>
                </a:solidFill>
              </a:rPr>
              <a:t>Population</a:t>
            </a:r>
            <a:r>
              <a:rPr lang="fr-FR" dirty="0"/>
              <a:t>)  =</a:t>
            </a:r>
          </a:p>
          <a:p>
            <a:pPr marL="0" indent="0">
              <a:buNone/>
            </a:pPr>
            <a:r>
              <a:rPr lang="el-GR" strike="sngStrike" dirty="0">
                <a:solidFill>
                  <a:srgbClr val="FF0000"/>
                </a:solidFill>
                <a:latin typeface="Cambria Math" panose="02040503050406030204" pitchFamily="18" charset="0"/>
                <a:ea typeface="Cambria Math" panose="02040503050406030204" pitchFamily="18" charset="0"/>
              </a:rPr>
              <a:t>β</a:t>
            </a:r>
            <a:r>
              <a:rPr lang="fr-FR" strike="sngStrike" baseline="-25000" dirty="0">
                <a:solidFill>
                  <a:srgbClr val="FF0000"/>
                </a:solidFill>
                <a:latin typeface="Cambria Math" panose="02040503050406030204" pitchFamily="18" charset="0"/>
                <a:ea typeface="Cambria Math" panose="02040503050406030204" pitchFamily="18" charset="0"/>
              </a:rPr>
              <a:t>1</a:t>
            </a:r>
            <a:r>
              <a:rPr lang="fr-FR" strike="sngStrike" dirty="0">
                <a:solidFill>
                  <a:srgbClr val="FF0000"/>
                </a:solidFill>
                <a:latin typeface="Cambria Math" panose="02040503050406030204" pitchFamily="18" charset="0"/>
                <a:ea typeface="Cambria Math" panose="02040503050406030204" pitchFamily="18" charset="0"/>
              </a:rPr>
              <a:t> .Ln(</a:t>
            </a:r>
            <a:r>
              <a:rPr lang="fr-FR" b="1" strike="sngStrike" dirty="0">
                <a:solidFill>
                  <a:srgbClr val="FF0000"/>
                </a:solidFill>
                <a:latin typeface="Cambria Math" panose="02040503050406030204" pitchFamily="18" charset="0"/>
                <a:ea typeface="Cambria Math" panose="02040503050406030204" pitchFamily="18" charset="0"/>
              </a:rPr>
              <a:t>GDP</a:t>
            </a:r>
            <a:r>
              <a:rPr lang="fr-FR" strike="sngStrike" dirty="0">
                <a:solidFill>
                  <a:srgbClr val="FF0000"/>
                </a:solidFill>
                <a:latin typeface="Cambria Math" panose="02040503050406030204" pitchFamily="18" charset="0"/>
                <a:ea typeface="Cambria Math" panose="02040503050406030204" pitchFamily="18" charset="0"/>
              </a:rPr>
              <a:t>/population) </a:t>
            </a:r>
            <a:r>
              <a:rPr lang="fr-FR" dirty="0">
                <a:solidFill>
                  <a:srgbClr val="FF0000"/>
                </a:solidFill>
                <a:latin typeface="Cambria Math" panose="02040503050406030204" pitchFamily="18" charset="0"/>
                <a:ea typeface="Cambria Math" panose="02040503050406030204" pitchFamily="18" charset="0"/>
              </a:rPr>
              <a:t>+</a:t>
            </a:r>
          </a:p>
          <a:p>
            <a:pPr marL="0" indent="0">
              <a:buNone/>
            </a:pP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2</a:t>
            </a:r>
            <a:r>
              <a:rPr lang="fr-FR" dirty="0">
                <a:latin typeface="Cambria Math" panose="02040503050406030204" pitchFamily="18" charset="0"/>
                <a:ea typeface="Cambria Math" panose="02040503050406030204" pitchFamily="18" charset="0"/>
              </a:rPr>
              <a:t> .Ln(</a:t>
            </a:r>
            <a:r>
              <a:rPr lang="fr-FR" dirty="0" err="1">
                <a:latin typeface="Cambria Math" panose="02040503050406030204" pitchFamily="18" charset="0"/>
                <a:ea typeface="Cambria Math" panose="02040503050406030204" pitchFamily="18" charset="0"/>
              </a:rPr>
              <a:t>price</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gasoline</a:t>
            </a:r>
            <a:r>
              <a:rPr lang="fr-FR" dirty="0">
                <a:latin typeface="Cambria Math" panose="02040503050406030204" pitchFamily="18" charset="0"/>
                <a:ea typeface="Cambria Math" panose="02040503050406030204" pitchFamily="18" charset="0"/>
              </a:rPr>
              <a:t>/consumer </a:t>
            </a:r>
            <a:r>
              <a:rPr lang="fr-FR" dirty="0" err="1">
                <a:latin typeface="Cambria Math" panose="02040503050406030204" pitchFamily="18" charset="0"/>
                <a:ea typeface="Cambria Math" panose="02040503050406030204" pitchFamily="18" charset="0"/>
              </a:rPr>
              <a:t>price</a:t>
            </a:r>
            <a:r>
              <a:rPr lang="fr-FR" dirty="0">
                <a:latin typeface="Cambria Math" panose="02040503050406030204" pitchFamily="18" charset="0"/>
                <a:ea typeface="Cambria Math" panose="02040503050406030204" pitchFamily="18" charset="0"/>
              </a:rPr>
              <a:t> index)</a:t>
            </a:r>
          </a:p>
          <a:p>
            <a:pPr marL="0" indent="0">
              <a:buNone/>
            </a:pP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3</a:t>
            </a:r>
            <a:r>
              <a:rPr lang="fr-FR" dirty="0">
                <a:latin typeface="Cambria Math" panose="02040503050406030204" pitchFamily="18" charset="0"/>
                <a:ea typeface="Cambria Math" panose="02040503050406030204" pitchFamily="18" charset="0"/>
              </a:rPr>
              <a:t> .Ln(Car/</a:t>
            </a:r>
            <a:r>
              <a:rPr lang="fr-FR" b="1" dirty="0">
                <a:solidFill>
                  <a:srgbClr val="00B050"/>
                </a:solidFill>
              </a:rPr>
              <a:t>Population</a:t>
            </a:r>
            <a:r>
              <a:rPr lang="fr-FR" dirty="0">
                <a:latin typeface="Cambria Math" panose="02040503050406030204" pitchFamily="18" charset="0"/>
                <a:ea typeface="Cambria Math" panose="02040503050406030204" pitchFamily="18" charset="0"/>
              </a:rPr>
              <a:t>) </a:t>
            </a:r>
          </a:p>
          <a:p>
            <a:pPr marL="0" indent="0">
              <a:buNone/>
            </a:pP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0</a:t>
            </a:r>
            <a:r>
              <a:rPr lang="fr-FR" dirty="0">
                <a:latin typeface="Cambria Math" panose="02040503050406030204" pitchFamily="18" charset="0"/>
                <a:ea typeface="Cambria Math" panose="02040503050406030204" pitchFamily="18" charset="0"/>
              </a:rPr>
              <a:t> </a:t>
            </a:r>
          </a:p>
          <a:p>
            <a:pPr marL="0" indent="0">
              <a:buNone/>
            </a:pP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α</a:t>
            </a:r>
            <a:r>
              <a:rPr lang="fr-FR" baseline="-25000" dirty="0">
                <a:latin typeface="Cambria Math" panose="02040503050406030204" pitchFamily="18" charset="0"/>
                <a:ea typeface="Cambria Math" panose="02040503050406030204" pitchFamily="18" charset="0"/>
              </a:rPr>
              <a:t>i</a:t>
            </a:r>
            <a:r>
              <a:rPr lang="fr-FR" dirty="0">
                <a:latin typeface="Cambria Math" panose="02040503050406030204" pitchFamily="18" charset="0"/>
                <a:ea typeface="Cambria Math" panose="02040503050406030204" pitchFamily="18" charset="0"/>
              </a:rPr>
              <a:t> + </a:t>
            </a:r>
            <a:r>
              <a:rPr lang="el-GR" dirty="0">
                <a:latin typeface="Cambria Math" panose="02040503050406030204" pitchFamily="18" charset="0"/>
                <a:ea typeface="Cambria Math" panose="02040503050406030204" pitchFamily="18" charset="0"/>
              </a:rPr>
              <a:t>α</a:t>
            </a:r>
            <a:r>
              <a:rPr lang="fr-FR" baseline="-25000" dirty="0">
                <a:latin typeface="Cambria Math" panose="02040503050406030204" pitchFamily="18" charset="0"/>
                <a:ea typeface="Cambria Math" panose="02040503050406030204" pitchFamily="18" charset="0"/>
              </a:rPr>
              <a:t>t</a:t>
            </a:r>
            <a:r>
              <a:rPr lang="fr-FR" dirty="0">
                <a:latin typeface="Cambria Math" panose="02040503050406030204" pitchFamily="18" charset="0"/>
                <a:ea typeface="Cambria Math" panose="02040503050406030204" pitchFamily="18" charset="0"/>
              </a:rPr>
              <a:t> + </a:t>
            </a:r>
            <a:r>
              <a:rPr lang="el-GR" dirty="0">
                <a:latin typeface="Cambria Math" panose="02040503050406030204" pitchFamily="18" charset="0"/>
                <a:ea typeface="Cambria Math" panose="02040503050406030204" pitchFamily="18" charset="0"/>
              </a:rPr>
              <a:t>ε</a:t>
            </a:r>
            <a:r>
              <a:rPr lang="fr-FR" baseline="-25000" dirty="0" err="1">
                <a:latin typeface="Cambria Math" panose="02040503050406030204" pitchFamily="18" charset="0"/>
                <a:ea typeface="Cambria Math" panose="02040503050406030204" pitchFamily="18" charset="0"/>
              </a:rPr>
              <a:t>it</a:t>
            </a:r>
            <a:endParaRPr lang="fr-FR" baseline="-25000" dirty="0">
              <a:latin typeface="Cambria Math" panose="02040503050406030204" pitchFamily="18" charset="0"/>
              <a:ea typeface="Cambria Math" panose="02040503050406030204" pitchFamily="18" charset="0"/>
            </a:endParaRPr>
          </a:p>
          <a:p>
            <a:pPr marL="0" indent="0" algn="just">
              <a:buNone/>
            </a:pPr>
            <a:r>
              <a:rPr lang="fr-FR" dirty="0"/>
              <a:t>Ratios </a:t>
            </a:r>
            <a:r>
              <a:rPr lang="fr-FR" dirty="0" err="1"/>
              <a:t>where</a:t>
            </a:r>
            <a:r>
              <a:rPr lang="fr-FR" dirty="0"/>
              <a:t> </a:t>
            </a:r>
            <a:r>
              <a:rPr lang="fr-FR" dirty="0" err="1"/>
              <a:t>you</a:t>
            </a:r>
            <a:r>
              <a:rPr lang="fr-FR" dirty="0"/>
              <a:t> </a:t>
            </a:r>
            <a:r>
              <a:rPr lang="fr-FR" dirty="0" err="1"/>
              <a:t>divide</a:t>
            </a:r>
            <a:r>
              <a:rPr lang="fr-FR" dirty="0"/>
              <a:t> by the </a:t>
            </a:r>
            <a:r>
              <a:rPr lang="fr-FR" b="1" dirty="0">
                <a:solidFill>
                  <a:srgbClr val="00B050"/>
                </a:solidFill>
              </a:rPr>
              <a:t>SAME</a:t>
            </a:r>
            <a:r>
              <a:rPr lang="fr-FR" dirty="0"/>
              <a:t> </a:t>
            </a:r>
            <a:r>
              <a:rPr lang="fr-FR" dirty="0" err="1"/>
              <a:t>denominator</a:t>
            </a:r>
            <a:r>
              <a:rPr lang="fr-FR" dirty="0"/>
              <a:t>.</a:t>
            </a:r>
          </a:p>
          <a:p>
            <a:pPr marL="0" indent="0" algn="just">
              <a:buNone/>
            </a:pPr>
            <a:r>
              <a:rPr lang="fr-FR" dirty="0"/>
              <a:t>It </a:t>
            </a:r>
            <a:r>
              <a:rPr lang="fr-FR" dirty="0" err="1"/>
              <a:t>turns</a:t>
            </a:r>
            <a:r>
              <a:rPr lang="fr-FR" dirty="0"/>
              <a:t> to have comparable </a:t>
            </a:r>
            <a:r>
              <a:rPr lang="fr-FR" dirty="0" err="1"/>
              <a:t>estimates</a:t>
            </a:r>
            <a:r>
              <a:rPr lang="fr-FR" dirty="0"/>
              <a:t> in </a:t>
            </a:r>
            <a:r>
              <a:rPr lang="fr-FR" dirty="0" err="1"/>
              <a:t>within</a:t>
            </a:r>
            <a:r>
              <a:rPr lang="fr-FR" dirty="0"/>
              <a:t> (</a:t>
            </a:r>
            <a:r>
              <a:rPr lang="fr-FR" dirty="0" err="1"/>
              <a:t>fixed</a:t>
            </a:r>
            <a:r>
              <a:rPr lang="fr-FR" dirty="0"/>
              <a:t> </a:t>
            </a:r>
            <a:r>
              <a:rPr lang="fr-FR" dirty="0" err="1"/>
              <a:t>effect</a:t>
            </a:r>
            <a:r>
              <a:rPr lang="fr-FR" dirty="0"/>
              <a:t>) and </a:t>
            </a:r>
            <a:r>
              <a:rPr lang="fr-FR" dirty="0" err="1"/>
              <a:t>between</a:t>
            </a:r>
            <a:r>
              <a:rPr lang="fr-FR" dirty="0"/>
              <a:t> (</a:t>
            </a:r>
            <a:r>
              <a:rPr lang="fr-FR" dirty="0" err="1"/>
              <a:t>average</a:t>
            </a:r>
            <a:r>
              <a:rPr lang="fr-FR" dirty="0"/>
              <a:t> of cross section) </a:t>
            </a:r>
            <a:r>
              <a:rPr lang="fr-FR" dirty="0" err="1"/>
              <a:t>estimators</a:t>
            </a:r>
            <a:r>
              <a:rPr lang="fr-FR" dirty="0"/>
              <a:t>, </a:t>
            </a:r>
            <a:r>
              <a:rPr lang="fr-FR" dirty="0" err="1"/>
              <a:t>which</a:t>
            </a:r>
            <a:r>
              <a:rPr lang="fr-FR" dirty="0"/>
              <a:t> </a:t>
            </a:r>
            <a:r>
              <a:rPr lang="fr-FR" dirty="0" err="1"/>
              <a:t>is</a:t>
            </a:r>
            <a:r>
              <a:rPr lang="fr-FR" dirty="0"/>
              <a:t> rare and </a:t>
            </a:r>
            <a:r>
              <a:rPr lang="fr-FR" dirty="0" err="1"/>
              <a:t>signals</a:t>
            </a:r>
            <a:r>
              <a:rPr lang="fr-FR" dirty="0"/>
              <a:t> </a:t>
            </a:r>
            <a:r>
              <a:rPr lang="fr-FR" dirty="0" err="1"/>
              <a:t>consistency</a:t>
            </a:r>
            <a:r>
              <a:rPr lang="fr-FR" dirty="0"/>
              <a:t>.</a:t>
            </a:r>
          </a:p>
          <a:p>
            <a:pPr marL="0" indent="0">
              <a:buNone/>
            </a:pPr>
            <a:endParaRPr lang="fr-FR" dirty="0">
              <a:latin typeface="Cambria Math" panose="02040503050406030204" pitchFamily="18" charset="0"/>
              <a:ea typeface="Cambria Math" panose="02040503050406030204" pitchFamily="18" charset="0"/>
            </a:endParaRPr>
          </a:p>
          <a:p>
            <a:pPr marL="0" indent="0">
              <a:buNone/>
            </a:pPr>
            <a:endParaRPr lang="fr-FR" dirty="0"/>
          </a:p>
          <a:p>
            <a:pPr marL="0" indent="0">
              <a:buNone/>
            </a:pPr>
            <a:endParaRPr lang="en-GB" dirty="0"/>
          </a:p>
        </p:txBody>
      </p:sp>
    </p:spTree>
    <p:extLst>
      <p:ext uri="{BB962C8B-B14F-4D97-AF65-F5344CB8AC3E}">
        <p14:creationId xmlns:p14="http://schemas.microsoft.com/office/powerpoint/2010/main" val="137914000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Near </a:t>
            </a:r>
            <a:r>
              <a:rPr lang="fr-FR" dirty="0" err="1"/>
              <a:t>multicollinearity</a:t>
            </a:r>
            <a:r>
              <a:rPr lang="fr-FR" dirty="0"/>
              <a:t> </a:t>
            </a:r>
            <a:r>
              <a:rPr lang="fr-FR" dirty="0" err="1"/>
              <a:t>with</a:t>
            </a:r>
            <a:r>
              <a:rPr lang="fr-FR" dirty="0"/>
              <a:t> </a:t>
            </a:r>
            <a:r>
              <a:rPr lang="fr-FR" dirty="0" err="1"/>
              <a:t>small</a:t>
            </a:r>
            <a:r>
              <a:rPr lang="fr-FR" dirty="0"/>
              <a:t> </a:t>
            </a:r>
            <a:r>
              <a:rPr lang="fr-FR" dirty="0" err="1"/>
              <a:t>degrees</a:t>
            </a:r>
            <a:r>
              <a:rPr lang="fr-FR" dirty="0"/>
              <a:t> of </a:t>
            </a:r>
            <a:r>
              <a:rPr lang="fr-FR" dirty="0" err="1"/>
              <a:t>freedom</a:t>
            </a:r>
            <a:r>
              <a:rPr lang="fr-FR" dirty="0"/>
              <a:t> (</a:t>
            </a:r>
            <a:r>
              <a:rPr lang="fr-FR" dirty="0" err="1"/>
              <a:t>sample</a:t>
            </a:r>
            <a:r>
              <a:rPr lang="fr-FR" dirty="0"/>
              <a:t>)</a:t>
            </a:r>
            <a:endParaRPr lang="en-GB" dirty="0"/>
          </a:p>
        </p:txBody>
      </p:sp>
      <p:sp>
        <p:nvSpPr>
          <p:cNvPr id="3" name="Espace réservé du contenu 2"/>
          <p:cNvSpPr>
            <a:spLocks noGrp="1"/>
          </p:cNvSpPr>
          <p:nvPr>
            <p:ph idx="1"/>
          </p:nvPr>
        </p:nvSpPr>
        <p:spPr/>
        <p:txBody>
          <a:bodyPr>
            <a:normAutofit fontScale="92500"/>
          </a:bodyPr>
          <a:lstStyle/>
          <a:p>
            <a:pPr marL="0" indent="0" algn="just">
              <a:buNone/>
            </a:pPr>
            <a:r>
              <a:rPr lang="fr-FR" dirty="0" err="1"/>
              <a:t>With</a:t>
            </a:r>
            <a:r>
              <a:rPr lang="fr-FR" dirty="0"/>
              <a:t> </a:t>
            </a:r>
            <a:r>
              <a:rPr lang="fr-FR" dirty="0" err="1"/>
              <a:t>small</a:t>
            </a:r>
            <a:r>
              <a:rPr lang="fr-FR" dirty="0"/>
              <a:t> </a:t>
            </a:r>
            <a:r>
              <a:rPr lang="fr-FR" dirty="0" err="1"/>
              <a:t>samples</a:t>
            </a:r>
            <a:r>
              <a:rPr lang="fr-FR" dirty="0"/>
              <a:t> and </a:t>
            </a:r>
            <a:r>
              <a:rPr lang="fr-FR" dirty="0" err="1"/>
              <a:t>many</a:t>
            </a:r>
            <a:r>
              <a:rPr lang="fr-FR" dirty="0"/>
              <a:t> </a:t>
            </a:r>
            <a:r>
              <a:rPr lang="fr-FR" dirty="0" err="1"/>
              <a:t>explanatory</a:t>
            </a:r>
            <a:r>
              <a:rPr lang="fr-FR" dirty="0"/>
              <a:t> variables: </a:t>
            </a:r>
            <a:r>
              <a:rPr lang="fr-FR" dirty="0" err="1"/>
              <a:t>small</a:t>
            </a:r>
            <a:r>
              <a:rPr lang="fr-FR" dirty="0"/>
              <a:t> </a:t>
            </a:r>
            <a:r>
              <a:rPr lang="fr-FR" dirty="0" err="1"/>
              <a:t>degrees</a:t>
            </a:r>
            <a:r>
              <a:rPr lang="fr-FR" dirty="0"/>
              <a:t> of </a:t>
            </a:r>
            <a:r>
              <a:rPr lang="fr-FR" dirty="0" err="1"/>
              <a:t>freedom</a:t>
            </a:r>
            <a:r>
              <a:rPr lang="fr-FR" dirty="0"/>
              <a:t>:</a:t>
            </a:r>
          </a:p>
          <a:p>
            <a:pPr marL="0" indent="0" algn="just">
              <a:buNone/>
            </a:pPr>
            <a:r>
              <a:rPr lang="fr-FR" dirty="0"/>
              <a:t>N-k-1 &lt;20</a:t>
            </a:r>
          </a:p>
          <a:p>
            <a:pPr marL="0" indent="0" algn="just">
              <a:buNone/>
            </a:pPr>
            <a:r>
              <a:rPr lang="fr-FR" dirty="0"/>
              <a:t>Near-</a:t>
            </a:r>
            <a:r>
              <a:rPr lang="fr-FR" dirty="0" err="1"/>
              <a:t>multicollinearity</a:t>
            </a:r>
            <a:r>
              <a:rPr lang="fr-FR" dirty="0"/>
              <a:t> </a:t>
            </a:r>
            <a:r>
              <a:rPr lang="fr-FR" dirty="0" err="1"/>
              <a:t>problems</a:t>
            </a:r>
            <a:r>
              <a:rPr lang="fr-FR" dirty="0"/>
              <a:t> are </a:t>
            </a:r>
            <a:r>
              <a:rPr lang="fr-FR" b="1" dirty="0"/>
              <a:t>more </a:t>
            </a:r>
            <a:r>
              <a:rPr lang="fr-FR" b="1" dirty="0" err="1"/>
              <a:t>likely</a:t>
            </a:r>
            <a:r>
              <a:rPr lang="fr-FR" dirty="0"/>
              <a:t> to arise, </a:t>
            </a:r>
            <a:r>
              <a:rPr lang="fr-FR" dirty="0" err="1"/>
              <a:t>with</a:t>
            </a:r>
            <a:r>
              <a:rPr lang="fr-FR" dirty="0"/>
              <a:t> </a:t>
            </a:r>
            <a:r>
              <a:rPr lang="fr-FR" b="1" dirty="0"/>
              <a:t>over-</a:t>
            </a:r>
            <a:r>
              <a:rPr lang="fr-FR" b="1" dirty="0" err="1"/>
              <a:t>fitting</a:t>
            </a:r>
            <a:r>
              <a:rPr lang="fr-FR" dirty="0"/>
              <a:t>, </a:t>
            </a:r>
            <a:r>
              <a:rPr lang="fr-FR" b="1" dirty="0" err="1"/>
              <a:t>unstable</a:t>
            </a:r>
            <a:r>
              <a:rPr lang="fr-FR" b="1" dirty="0"/>
              <a:t> </a:t>
            </a:r>
            <a:r>
              <a:rPr lang="fr-FR" b="1" dirty="0" err="1"/>
              <a:t>parameters</a:t>
            </a:r>
            <a:r>
              <a:rPr lang="fr-FR" dirty="0"/>
              <a:t> (</a:t>
            </a:r>
            <a:r>
              <a:rPr lang="fr-FR" dirty="0" err="1"/>
              <a:t>removing</a:t>
            </a:r>
            <a:r>
              <a:rPr lang="fr-FR" dirty="0"/>
              <a:t> or not a few observations),  </a:t>
            </a:r>
            <a:r>
              <a:rPr lang="fr-FR" dirty="0" err="1"/>
              <a:t>being</a:t>
            </a:r>
            <a:r>
              <a:rPr lang="fr-FR" dirty="0"/>
              <a:t> </a:t>
            </a:r>
            <a:r>
              <a:rPr lang="fr-FR" b="1" dirty="0" err="1"/>
              <a:t>too</a:t>
            </a:r>
            <a:r>
              <a:rPr lang="fr-FR" b="1" dirty="0"/>
              <a:t> large</a:t>
            </a:r>
            <a:r>
              <a:rPr lang="fr-FR" dirty="0"/>
              <a:t> </a:t>
            </a:r>
            <a:r>
              <a:rPr lang="fr-FR" dirty="0" err="1"/>
              <a:t>with</a:t>
            </a:r>
            <a:r>
              <a:rPr lang="fr-FR" dirty="0"/>
              <a:t> one of the </a:t>
            </a:r>
            <a:r>
              <a:rPr lang="fr-FR" dirty="0" err="1"/>
              <a:t>two</a:t>
            </a:r>
            <a:r>
              <a:rPr lang="fr-FR" dirty="0"/>
              <a:t> (or more) </a:t>
            </a:r>
            <a:r>
              <a:rPr lang="fr-FR" dirty="0" err="1"/>
              <a:t>parameters</a:t>
            </a:r>
            <a:r>
              <a:rPr lang="fr-FR" dirty="0"/>
              <a:t> </a:t>
            </a:r>
            <a:r>
              <a:rPr lang="fr-FR" dirty="0" err="1"/>
              <a:t>with</a:t>
            </a:r>
            <a:r>
              <a:rPr lang="fr-FR" dirty="0"/>
              <a:t> </a:t>
            </a:r>
            <a:r>
              <a:rPr lang="fr-FR" b="1" dirty="0" err="1"/>
              <a:t>unexpected</a:t>
            </a:r>
            <a:r>
              <a:rPr lang="fr-FR" b="1" dirty="0"/>
              <a:t> </a:t>
            </a:r>
            <a:r>
              <a:rPr lang="fr-FR" b="1" dirty="0" err="1"/>
              <a:t>signs</a:t>
            </a:r>
            <a:r>
              <a:rPr lang="fr-FR" dirty="0"/>
              <a:t>: check the </a:t>
            </a:r>
            <a:r>
              <a:rPr lang="fr-FR" dirty="0" err="1"/>
              <a:t>sign</a:t>
            </a:r>
            <a:r>
              <a:rPr lang="fr-FR" dirty="0"/>
              <a:t> of the </a:t>
            </a:r>
            <a:r>
              <a:rPr lang="fr-FR" dirty="0" err="1"/>
              <a:t>income</a:t>
            </a:r>
            <a:r>
              <a:rPr lang="fr-FR" dirty="0"/>
              <a:t> </a:t>
            </a:r>
            <a:r>
              <a:rPr lang="fr-FR" dirty="0" err="1"/>
              <a:t>effect</a:t>
            </a:r>
            <a:r>
              <a:rPr lang="fr-FR" dirty="0"/>
              <a:t>,</a:t>
            </a:r>
            <a:endParaRPr lang="en-GB" dirty="0"/>
          </a:p>
        </p:txBody>
      </p:sp>
    </p:spTree>
    <p:extLst>
      <p:ext uri="{BB962C8B-B14F-4D97-AF65-F5344CB8AC3E}">
        <p14:creationId xmlns:p14="http://schemas.microsoft.com/office/powerpoint/2010/main" val="58647170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Degrees</a:t>
            </a:r>
            <a:r>
              <a:rPr lang="fr-FR" dirty="0"/>
              <a:t> of </a:t>
            </a:r>
            <a:r>
              <a:rPr lang="fr-FR" dirty="0" err="1"/>
              <a:t>freedom</a:t>
            </a:r>
            <a:r>
              <a:rPr lang="fr-FR" dirty="0"/>
              <a:t> </a:t>
            </a:r>
            <a:r>
              <a:rPr lang="fr-FR" dirty="0" err="1"/>
              <a:t>DOFNext</a:t>
            </a:r>
            <a:r>
              <a:rPr lang="fr-FR" dirty="0"/>
              <a:t> slide: </a:t>
            </a:r>
            <a:r>
              <a:rPr lang="fr-FR" dirty="0" err="1"/>
              <a:t>subsets</a:t>
            </a:r>
            <a:r>
              <a:rPr lang="fr-FR" dirty="0"/>
              <a:t> of table 1 and table 2</a:t>
            </a:r>
          </a:p>
        </p:txBody>
      </p:sp>
      <p:sp>
        <p:nvSpPr>
          <p:cNvPr id="3" name="Espace réservé du contenu 2"/>
          <p:cNvSpPr>
            <a:spLocks noGrp="1"/>
          </p:cNvSpPr>
          <p:nvPr>
            <p:ph idx="1"/>
          </p:nvPr>
        </p:nvSpPr>
        <p:spPr/>
        <p:txBody>
          <a:bodyPr>
            <a:normAutofit fontScale="85000" lnSpcReduction="20000"/>
          </a:bodyPr>
          <a:lstStyle/>
          <a:p>
            <a:pPr marL="0" indent="0" algn="just">
              <a:buNone/>
            </a:pPr>
            <a:r>
              <a:rPr lang="fr-FR" sz="2800" dirty="0" err="1"/>
              <a:t>Balanced</a:t>
            </a:r>
            <a:r>
              <a:rPr lang="fr-FR" sz="2800" dirty="0"/>
              <a:t> </a:t>
            </a:r>
            <a:r>
              <a:rPr lang="fr-FR" sz="2800" dirty="0" err="1"/>
              <a:t>sample</a:t>
            </a:r>
            <a:r>
              <a:rPr lang="fr-FR" sz="2800" dirty="0"/>
              <a:t>, </a:t>
            </a:r>
            <a:r>
              <a:rPr lang="fr-FR" sz="2800" dirty="0" err="1"/>
              <a:t>yearly</a:t>
            </a:r>
            <a:r>
              <a:rPr lang="fr-FR" sz="2800" dirty="0"/>
              <a:t> </a:t>
            </a:r>
            <a:r>
              <a:rPr lang="fr-FR" sz="2800" dirty="0" err="1"/>
              <a:t>frequency</a:t>
            </a:r>
            <a:r>
              <a:rPr lang="fr-FR" sz="2800" dirty="0"/>
              <a:t>, N=18 OECD countries, T=19 </a:t>
            </a:r>
            <a:r>
              <a:rPr lang="fr-FR" sz="2800" dirty="0" err="1"/>
              <a:t>years</a:t>
            </a:r>
            <a:r>
              <a:rPr lang="fr-FR" sz="2800" dirty="0"/>
              <a:t>, </a:t>
            </a:r>
            <a:r>
              <a:rPr lang="fr-FR" sz="2800" dirty="0" err="1"/>
              <a:t>from</a:t>
            </a:r>
            <a:r>
              <a:rPr lang="fr-FR" sz="2800" dirty="0"/>
              <a:t> 1960 to 1978,  k=3  </a:t>
            </a:r>
            <a:r>
              <a:rPr lang="fr-FR" sz="2800" dirty="0" err="1"/>
              <a:t>explanatory</a:t>
            </a:r>
            <a:r>
              <a:rPr lang="fr-FR" sz="2800" dirty="0"/>
              <a:t> variables and one </a:t>
            </a:r>
            <a:r>
              <a:rPr lang="fr-FR" sz="2800" dirty="0" err="1"/>
              <a:t>intercept</a:t>
            </a:r>
            <a:r>
              <a:rPr lang="fr-FR" sz="2800" dirty="0"/>
              <a:t> (18 </a:t>
            </a:r>
            <a:r>
              <a:rPr lang="fr-FR" sz="2800" dirty="0" err="1"/>
              <a:t>intercepts</a:t>
            </a:r>
            <a:r>
              <a:rPr lang="fr-FR" sz="2800" dirty="0"/>
              <a:t> for </a:t>
            </a:r>
            <a:r>
              <a:rPr lang="fr-FR" sz="2800" dirty="0" err="1"/>
              <a:t>fixed</a:t>
            </a:r>
            <a:r>
              <a:rPr lang="fr-FR" sz="2800" dirty="0"/>
              <a:t> </a:t>
            </a:r>
            <a:r>
              <a:rPr lang="fr-FR" sz="2800" dirty="0" err="1"/>
              <a:t>effects</a:t>
            </a:r>
            <a:r>
              <a:rPr lang="fr-FR" sz="2800" dirty="0"/>
              <a:t>).</a:t>
            </a:r>
            <a:br>
              <a:rPr lang="fr-FR" sz="2800" dirty="0"/>
            </a:br>
            <a:r>
              <a:rPr lang="fr-FR" sz="2800" dirty="0"/>
              <a:t>Time </a:t>
            </a:r>
            <a:r>
              <a:rPr lang="fr-FR" sz="2800" dirty="0" err="1"/>
              <a:t>series</a:t>
            </a:r>
            <a:r>
              <a:rPr lang="fr-FR" sz="2800" dirty="0"/>
              <a:t> estimation by country: </a:t>
            </a:r>
          </a:p>
          <a:p>
            <a:pPr marL="0" indent="0">
              <a:buNone/>
            </a:pPr>
            <a:r>
              <a:rPr lang="fr-FR" sz="2800" dirty="0"/>
              <a:t>DOF = T-k-1=19-3-1=</a:t>
            </a:r>
            <a:r>
              <a:rPr lang="fr-FR" sz="2800" b="1" dirty="0"/>
              <a:t>15</a:t>
            </a:r>
          </a:p>
          <a:p>
            <a:pPr marL="0" indent="0">
              <a:buNone/>
            </a:pPr>
            <a:r>
              <a:rPr lang="fr-FR" sz="2800" dirty="0" err="1"/>
              <a:t>Between</a:t>
            </a:r>
            <a:r>
              <a:rPr lang="fr-FR" sz="2800" dirty="0"/>
              <a:t>: transformation </a:t>
            </a:r>
            <a:r>
              <a:rPr lang="fr-FR" sz="2800" dirty="0" err="1"/>
              <a:t>is</a:t>
            </a:r>
            <a:r>
              <a:rPr lang="fr-FR" sz="2800" dirty="0"/>
              <a:t> the </a:t>
            </a:r>
            <a:r>
              <a:rPr lang="fr-FR" sz="2800" dirty="0" err="1"/>
              <a:t>average</a:t>
            </a:r>
            <a:r>
              <a:rPr lang="fr-FR" sz="2800" dirty="0"/>
              <a:t> « of cross sections » over time for </a:t>
            </a:r>
            <a:r>
              <a:rPr lang="fr-FR" sz="2800" dirty="0" err="1"/>
              <a:t>each</a:t>
            </a:r>
            <a:r>
              <a:rPr lang="fr-FR" sz="2800" dirty="0"/>
              <a:t> variable: </a:t>
            </a:r>
          </a:p>
          <a:p>
            <a:pPr marL="0" indent="0">
              <a:buNone/>
            </a:pPr>
            <a:r>
              <a:rPr lang="fr-FR" sz="2800" dirty="0"/>
              <a:t>DOF=N-k-1=18-3-1=</a:t>
            </a:r>
            <a:r>
              <a:rPr lang="fr-FR" sz="2800" b="1" dirty="0"/>
              <a:t>14</a:t>
            </a:r>
          </a:p>
          <a:p>
            <a:pPr marL="0" indent="0">
              <a:buNone/>
            </a:pPr>
            <a:r>
              <a:rPr lang="fr-FR" sz="2800" dirty="0" err="1"/>
              <a:t>Pooled</a:t>
            </a:r>
            <a:r>
              <a:rPr lang="fr-FR" sz="2800" dirty="0"/>
              <a:t> OLS and </a:t>
            </a:r>
            <a:r>
              <a:rPr lang="fr-FR" sz="2800" dirty="0" err="1"/>
              <a:t>random</a:t>
            </a:r>
            <a:r>
              <a:rPr lang="fr-FR" sz="2800" dirty="0"/>
              <a:t> </a:t>
            </a:r>
            <a:r>
              <a:rPr lang="fr-FR" sz="2800" dirty="0" err="1"/>
              <a:t>effects</a:t>
            </a:r>
            <a:r>
              <a:rPr lang="fr-FR" sz="2800" dirty="0"/>
              <a:t> GLS: </a:t>
            </a:r>
          </a:p>
          <a:p>
            <a:pPr marL="0" indent="0">
              <a:buNone/>
            </a:pPr>
            <a:r>
              <a:rPr lang="fr-FR" sz="2800" dirty="0"/>
              <a:t>DOF=NT-k-1 </a:t>
            </a:r>
            <a:r>
              <a:rPr lang="fr-FR" sz="2800" dirty="0" err="1"/>
              <a:t>intercept</a:t>
            </a:r>
            <a:r>
              <a:rPr lang="fr-FR" sz="2800" dirty="0"/>
              <a:t> = 342 – 4 = </a:t>
            </a:r>
            <a:r>
              <a:rPr lang="fr-FR" sz="2800" b="1" dirty="0"/>
              <a:t>338</a:t>
            </a:r>
          </a:p>
          <a:p>
            <a:pPr marL="0" indent="0">
              <a:buNone/>
            </a:pPr>
            <a:r>
              <a:rPr lang="fr-FR" sz="2800" dirty="0"/>
              <a:t>One </a:t>
            </a:r>
            <a:r>
              <a:rPr lang="fr-FR" sz="2800" dirty="0" err="1"/>
              <a:t>way</a:t>
            </a:r>
            <a:r>
              <a:rPr lang="fr-FR" sz="2800" dirty="0"/>
              <a:t> </a:t>
            </a:r>
            <a:r>
              <a:rPr lang="fr-FR" sz="2800" dirty="0" err="1"/>
              <a:t>within</a:t>
            </a:r>
            <a:r>
              <a:rPr lang="fr-FR" sz="2800" dirty="0"/>
              <a:t> = </a:t>
            </a:r>
            <a:r>
              <a:rPr lang="fr-FR" sz="2800" dirty="0" err="1"/>
              <a:t>Fixed</a:t>
            </a:r>
            <a:r>
              <a:rPr lang="fr-FR" sz="2800" dirty="0"/>
              <a:t> </a:t>
            </a:r>
            <a:r>
              <a:rPr lang="fr-FR" sz="2800" dirty="0" err="1"/>
              <a:t>effects</a:t>
            </a:r>
            <a:r>
              <a:rPr lang="fr-FR" sz="2800" dirty="0"/>
              <a:t> least square </a:t>
            </a:r>
            <a:r>
              <a:rPr lang="fr-FR" sz="2800" dirty="0" err="1"/>
              <a:t>dummy</a:t>
            </a:r>
            <a:r>
              <a:rPr lang="fr-FR" sz="2800" dirty="0"/>
              <a:t> variables</a:t>
            </a:r>
          </a:p>
          <a:p>
            <a:pPr marL="0" indent="0">
              <a:buNone/>
            </a:pPr>
            <a:r>
              <a:rPr lang="fr-FR" sz="2800" dirty="0" err="1"/>
              <a:t>with</a:t>
            </a:r>
            <a:r>
              <a:rPr lang="fr-FR" sz="2800" dirty="0"/>
              <a:t> N=18 </a:t>
            </a:r>
            <a:r>
              <a:rPr lang="fr-FR" sz="2800" dirty="0" err="1"/>
              <a:t>intercepts</a:t>
            </a:r>
            <a:r>
              <a:rPr lang="fr-FR" sz="2800" dirty="0"/>
              <a:t> for </a:t>
            </a:r>
            <a:r>
              <a:rPr lang="fr-FR" sz="2800" dirty="0" err="1"/>
              <a:t>each</a:t>
            </a:r>
            <a:r>
              <a:rPr lang="fr-FR" sz="2800" dirty="0"/>
              <a:t> of the 18 countries.</a:t>
            </a:r>
          </a:p>
          <a:p>
            <a:pPr marL="0" indent="0">
              <a:buNone/>
            </a:pPr>
            <a:r>
              <a:rPr lang="fr-FR" sz="2800" dirty="0"/>
              <a:t>DOF=NT-k-N </a:t>
            </a:r>
            <a:r>
              <a:rPr lang="fr-FR" sz="2800" dirty="0" err="1"/>
              <a:t>intercepts</a:t>
            </a:r>
            <a:r>
              <a:rPr lang="fr-FR" sz="2800" dirty="0"/>
              <a:t> = 342-3-18= </a:t>
            </a:r>
            <a:r>
              <a:rPr lang="fr-FR" sz="2800" b="1" dirty="0"/>
              <a:t>321</a:t>
            </a:r>
            <a:r>
              <a:rPr lang="fr-FR" sz="2800" dirty="0"/>
              <a:t>.</a:t>
            </a:r>
          </a:p>
          <a:p>
            <a:pPr marL="0" indent="0">
              <a:buNone/>
            </a:pPr>
            <a:endParaRPr lang="fr-FR" sz="2800" dirty="0"/>
          </a:p>
        </p:txBody>
      </p:sp>
    </p:spTree>
    <p:extLst>
      <p:ext uri="{BB962C8B-B14F-4D97-AF65-F5344CB8AC3E}">
        <p14:creationId xmlns:p14="http://schemas.microsoft.com/office/powerpoint/2010/main" val="34271997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227" y="3162088"/>
            <a:ext cx="8424936" cy="3660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4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819" y="0"/>
            <a:ext cx="8435841" cy="3193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880211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16" y="188640"/>
            <a:ext cx="8508448" cy="6553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424228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Questions on the </a:t>
            </a:r>
            <a:r>
              <a:rPr lang="fr-FR" dirty="0" err="1"/>
              <a:t>previous</a:t>
            </a:r>
            <a:r>
              <a:rPr lang="fr-FR" dirty="0"/>
              <a:t> tables</a:t>
            </a:r>
          </a:p>
        </p:txBody>
      </p:sp>
      <p:sp>
        <p:nvSpPr>
          <p:cNvPr id="3" name="Espace réservé du contenu 2"/>
          <p:cNvSpPr>
            <a:spLocks noGrp="1"/>
          </p:cNvSpPr>
          <p:nvPr>
            <p:ph idx="1"/>
          </p:nvPr>
        </p:nvSpPr>
        <p:spPr/>
        <p:txBody>
          <a:bodyPr/>
          <a:lstStyle/>
          <a:p>
            <a:pPr marL="514350" indent="-514350">
              <a:buFont typeface="+mj-lt"/>
              <a:buAutoNum type="arabicPeriod"/>
            </a:pPr>
            <a:r>
              <a:rPr lang="fr-FR" sz="2400" dirty="0"/>
              <a:t>Compare </a:t>
            </a:r>
            <a:r>
              <a:rPr lang="fr-FR" sz="2400" dirty="0" err="1"/>
              <a:t>parameters</a:t>
            </a:r>
            <a:r>
              <a:rPr lang="fr-FR" sz="2400" dirty="0"/>
              <a:t>: </a:t>
            </a:r>
            <a:r>
              <a:rPr lang="fr-FR" sz="2400" dirty="0" err="1"/>
              <a:t>does</a:t>
            </a:r>
            <a:r>
              <a:rPr lang="fr-FR" sz="2400" dirty="0"/>
              <a:t> </a:t>
            </a:r>
            <a:r>
              <a:rPr lang="fr-FR" sz="2400" dirty="0" err="1"/>
              <a:t>it</a:t>
            </a:r>
            <a:r>
              <a:rPr lang="fr-FR" sz="2400" dirty="0"/>
              <a:t> </a:t>
            </a:r>
            <a:r>
              <a:rPr lang="fr-FR" sz="2400" dirty="0" err="1"/>
              <a:t>make</a:t>
            </a:r>
            <a:r>
              <a:rPr lang="fr-FR" sz="2400" dirty="0"/>
              <a:t> </a:t>
            </a:r>
            <a:r>
              <a:rPr lang="fr-FR" sz="2400" dirty="0" err="1"/>
              <a:t>sense</a:t>
            </a:r>
            <a:r>
              <a:rPr lang="fr-FR" sz="2400" dirty="0"/>
              <a:t> to pool? </a:t>
            </a:r>
            <a:r>
              <a:rPr lang="fr-FR" sz="2400" dirty="0" err="1"/>
              <a:t>Which</a:t>
            </a:r>
            <a:r>
              <a:rPr lang="fr-FR" sz="2400" dirty="0"/>
              <a:t> countries </a:t>
            </a:r>
            <a:r>
              <a:rPr lang="fr-FR" sz="2400" dirty="0" err="1"/>
              <a:t>may</a:t>
            </a:r>
            <a:r>
              <a:rPr lang="fr-FR" sz="2400" dirty="0"/>
              <a:t> </a:t>
            </a:r>
            <a:r>
              <a:rPr lang="fr-FR" sz="2400" dirty="0" err="1"/>
              <a:t>be</a:t>
            </a:r>
            <a:r>
              <a:rPr lang="fr-FR" sz="2400" dirty="0"/>
              <a:t> </a:t>
            </a:r>
            <a:r>
              <a:rPr lang="fr-FR" sz="2400" dirty="0" err="1"/>
              <a:t>pooled</a:t>
            </a:r>
            <a:r>
              <a:rPr lang="fr-FR" sz="2400" dirty="0"/>
              <a:t>?</a:t>
            </a:r>
          </a:p>
          <a:p>
            <a:pPr marL="514350" indent="-514350">
              <a:buFont typeface="+mj-lt"/>
              <a:buAutoNum type="arabicPeriod"/>
            </a:pPr>
            <a:r>
              <a:rPr lang="fr-FR" sz="2400" dirty="0"/>
              <a:t>Values of t stat and </a:t>
            </a:r>
            <a:r>
              <a:rPr lang="fr-FR" sz="2400" dirty="0" err="1"/>
              <a:t>statistical</a:t>
            </a:r>
            <a:r>
              <a:rPr lang="fr-FR" sz="2400" dirty="0"/>
              <a:t> </a:t>
            </a:r>
            <a:r>
              <a:rPr lang="fr-FR" sz="2400" dirty="0" err="1"/>
              <a:t>significance</a:t>
            </a:r>
            <a:r>
              <a:rPr lang="fr-FR" sz="2400" dirty="0"/>
              <a:t>: </a:t>
            </a:r>
            <a:r>
              <a:rPr lang="fr-FR" sz="2400" dirty="0" err="1"/>
              <a:t>pooled</a:t>
            </a:r>
            <a:r>
              <a:rPr lang="fr-FR" sz="2400" dirty="0"/>
              <a:t> versus </a:t>
            </a:r>
            <a:r>
              <a:rPr lang="fr-FR" sz="2400" dirty="0" err="1"/>
              <a:t>pooled</a:t>
            </a:r>
            <a:r>
              <a:rPr lang="fr-FR" sz="2400" dirty="0"/>
              <a:t>.</a:t>
            </a:r>
          </a:p>
          <a:p>
            <a:pPr marL="514350" indent="-514350">
              <a:buFont typeface="+mj-lt"/>
              <a:buAutoNum type="arabicPeriod"/>
            </a:pPr>
            <a:r>
              <a:rPr lang="fr-FR" sz="2400" dirty="0"/>
              <a:t>Ratio of RMSE (SE) </a:t>
            </a:r>
            <a:r>
              <a:rPr lang="fr-FR" sz="2400" dirty="0" err="1"/>
              <a:t>reported</a:t>
            </a:r>
            <a:r>
              <a:rPr lang="fr-FR" sz="2400" dirty="0"/>
              <a:t> to </a:t>
            </a:r>
            <a:r>
              <a:rPr lang="fr-FR" sz="2400" dirty="0" err="1"/>
              <a:t>average</a:t>
            </a:r>
            <a:r>
              <a:rPr lang="fr-FR" sz="2400" dirty="0"/>
              <a:t> RMSE by country for time </a:t>
            </a:r>
            <a:r>
              <a:rPr lang="fr-FR" sz="2400" dirty="0" err="1"/>
              <a:t>series</a:t>
            </a:r>
            <a:r>
              <a:rPr lang="fr-FR" sz="2400" dirty="0"/>
              <a:t>?</a:t>
            </a:r>
          </a:p>
          <a:p>
            <a:pPr marL="514350" indent="-514350">
              <a:buFont typeface="+mj-lt"/>
              <a:buAutoNum type="arabicPeriod"/>
            </a:pPr>
            <a:r>
              <a:rPr lang="fr-FR" sz="2400" dirty="0" err="1"/>
              <a:t>Why</a:t>
            </a:r>
            <a:r>
              <a:rPr lang="fr-FR" sz="2400" dirty="0"/>
              <a:t> no « constant » for </a:t>
            </a:r>
            <a:r>
              <a:rPr lang="fr-FR" sz="2400" dirty="0" err="1"/>
              <a:t>within</a:t>
            </a:r>
            <a:r>
              <a:rPr lang="fr-FR" sz="2400" dirty="0"/>
              <a:t>?</a:t>
            </a:r>
          </a:p>
          <a:p>
            <a:pPr marL="514350" indent="-514350">
              <a:buFont typeface="+mj-lt"/>
              <a:buAutoNum type="arabicPeriod"/>
            </a:pPr>
            <a:r>
              <a:rPr lang="fr-FR" sz="2400" dirty="0" err="1"/>
              <a:t>Why</a:t>
            </a:r>
            <a:r>
              <a:rPr lang="fr-FR" sz="2400" dirty="0"/>
              <a:t> </a:t>
            </a:r>
            <a:r>
              <a:rPr lang="fr-FR" sz="2400" dirty="0" err="1"/>
              <a:t>between</a:t>
            </a:r>
            <a:r>
              <a:rPr lang="fr-FR" sz="2400" dirty="0"/>
              <a:t> distinct </a:t>
            </a:r>
            <a:r>
              <a:rPr lang="fr-FR" sz="2400" dirty="0" err="1"/>
              <a:t>from</a:t>
            </a:r>
            <a:r>
              <a:rPr lang="fr-FR" sz="2400" dirty="0"/>
              <a:t> </a:t>
            </a:r>
            <a:r>
              <a:rPr lang="fr-FR" sz="2400" dirty="0" err="1"/>
              <a:t>within</a:t>
            </a:r>
            <a:r>
              <a:rPr lang="fr-FR" sz="2400" dirty="0"/>
              <a:t> </a:t>
            </a:r>
            <a:r>
              <a:rPr lang="fr-FR" sz="2400" dirty="0" err="1"/>
              <a:t>estimates</a:t>
            </a:r>
            <a:r>
              <a:rPr lang="fr-FR" sz="2400" dirty="0"/>
              <a:t>?</a:t>
            </a:r>
          </a:p>
          <a:p>
            <a:pPr marL="514350" indent="-514350">
              <a:buFont typeface="+mj-lt"/>
              <a:buAutoNum type="arabicPeriod"/>
            </a:pPr>
            <a:r>
              <a:rPr lang="fr-FR" sz="2400" dirty="0" err="1"/>
              <a:t>Within</a:t>
            </a:r>
            <a:r>
              <a:rPr lang="fr-FR" sz="2400" dirty="0"/>
              <a:t> (</a:t>
            </a:r>
            <a:r>
              <a:rPr lang="fr-FR" sz="2400" dirty="0" err="1"/>
              <a:t>fixed</a:t>
            </a:r>
            <a:r>
              <a:rPr lang="fr-FR" sz="2400" dirty="0"/>
              <a:t> </a:t>
            </a:r>
            <a:r>
              <a:rPr lang="fr-FR" sz="2400" dirty="0" err="1"/>
              <a:t>effects</a:t>
            </a:r>
            <a:r>
              <a:rPr lang="fr-FR" sz="2400" dirty="0"/>
              <a:t>) close to (</a:t>
            </a:r>
            <a:r>
              <a:rPr lang="fr-FR" sz="2400" dirty="0" err="1"/>
              <a:t>random</a:t>
            </a:r>
            <a:r>
              <a:rPr lang="fr-FR" sz="2400" dirty="0"/>
              <a:t> </a:t>
            </a:r>
            <a:r>
              <a:rPr lang="fr-FR" sz="2400" dirty="0" err="1"/>
              <a:t>effects</a:t>
            </a:r>
            <a:r>
              <a:rPr lang="fr-FR" sz="2400" dirty="0"/>
              <a:t>) GLS?</a:t>
            </a:r>
          </a:p>
        </p:txBody>
      </p:sp>
    </p:spTree>
    <p:extLst>
      <p:ext uri="{BB962C8B-B14F-4D97-AF65-F5344CB8AC3E}">
        <p14:creationId xmlns:p14="http://schemas.microsoft.com/office/powerpoint/2010/main" val="78163452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latin typeface="Cambria Math" panose="02040503050406030204" pitchFamily="18" charset="0"/>
                <a:ea typeface="Cambria Math" panose="02040503050406030204" pitchFamily="18" charset="0"/>
              </a:rPr>
              <a:t>Panel </a:t>
            </a:r>
            <a:r>
              <a:rPr lang="fr-FR" dirty="0" err="1">
                <a:latin typeface="Cambria Math" panose="02040503050406030204" pitchFamily="18" charset="0"/>
                <a:ea typeface="Cambria Math" panose="02040503050406030204" pitchFamily="18" charset="0"/>
              </a:rPr>
              <a:t>estimators</a:t>
            </a:r>
            <a:r>
              <a:rPr lang="fr-FR" dirty="0">
                <a:latin typeface="Cambria Math" panose="02040503050406030204" pitchFamily="18" charset="0"/>
                <a:ea typeface="Cambria Math" panose="02040503050406030204" pitchFamily="18" charset="0"/>
              </a:rPr>
              <a:t> are « </a:t>
            </a:r>
            <a:r>
              <a:rPr lang="fr-FR" b="1" dirty="0" err="1">
                <a:latin typeface="Cambria Math" panose="02040503050406030204" pitchFamily="18" charset="0"/>
                <a:ea typeface="Cambria Math" panose="02040503050406030204" pitchFamily="18" charset="0"/>
              </a:rPr>
              <a:t>restricted</a:t>
            </a:r>
            <a:r>
              <a:rPr lang="fr-FR" b="1" dirty="0">
                <a:latin typeface="Cambria Math" panose="02040503050406030204" pitchFamily="18" charset="0"/>
                <a:ea typeface="Cambria Math" panose="02040503050406030204" pitchFamily="18" charset="0"/>
              </a:rPr>
              <a:t> » OLS</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estimators</a:t>
            </a:r>
            <a:endParaRPr lang="en-GB" dirty="0"/>
          </a:p>
        </p:txBody>
      </p:sp>
      <p:sp>
        <p:nvSpPr>
          <p:cNvPr id="3" name="Espace réservé du contenu 2"/>
          <p:cNvSpPr>
            <a:spLocks noGrp="1"/>
          </p:cNvSpPr>
          <p:nvPr>
            <p:ph idx="1"/>
          </p:nvPr>
        </p:nvSpPr>
        <p:spPr/>
        <p:txBody>
          <a:bodyPr>
            <a:normAutofit/>
          </a:bodyPr>
          <a:lstStyle/>
          <a:p>
            <a:pPr marL="0" indent="0">
              <a:buNone/>
            </a:pPr>
            <a:r>
              <a:rPr lang="fr-FR" dirty="0">
                <a:latin typeface="Cambria Math" panose="02040503050406030204" pitchFamily="18" charset="0"/>
                <a:ea typeface="Cambria Math" panose="02040503050406030204" pitchFamily="18" charset="0"/>
              </a:rPr>
              <a:t>Panel </a:t>
            </a:r>
            <a:r>
              <a:rPr lang="fr-FR" dirty="0" err="1">
                <a:latin typeface="Cambria Math" panose="02040503050406030204" pitchFamily="18" charset="0"/>
                <a:ea typeface="Cambria Math" panose="02040503050406030204" pitchFamily="18" charset="0"/>
              </a:rPr>
              <a:t>estimators</a:t>
            </a:r>
            <a:r>
              <a:rPr lang="fr-FR" dirty="0">
                <a:latin typeface="Cambria Math" panose="02040503050406030204" pitchFamily="18" charset="0"/>
                <a:ea typeface="Cambria Math" panose="02040503050406030204" pitchFamily="18" charset="0"/>
              </a:rPr>
              <a:t> are </a:t>
            </a:r>
            <a:r>
              <a:rPr lang="fr-FR" b="1" dirty="0" err="1">
                <a:latin typeface="Cambria Math" panose="02040503050406030204" pitchFamily="18" charset="0"/>
                <a:ea typeface="Cambria Math" panose="02040503050406030204" pitchFamily="18" charset="0"/>
              </a:rPr>
              <a:t>restricted</a:t>
            </a:r>
            <a:r>
              <a:rPr lang="fr-FR" b="1" dirty="0">
                <a:latin typeface="Cambria Math" panose="02040503050406030204" pitchFamily="18" charset="0"/>
                <a:ea typeface="Cambria Math" panose="02040503050406030204" pitchFamily="18" charset="0"/>
              </a:rPr>
              <a:t> OLS</a:t>
            </a:r>
            <a:r>
              <a:rPr lang="fr-FR" dirty="0">
                <a:latin typeface="Cambria Math" panose="02040503050406030204" pitchFamily="18" charset="0"/>
                <a:ea typeface="Cambria Math" panose="02040503050406030204" pitchFamily="18" charset="0"/>
              </a:rPr>
              <a:t>, setting at least the restriction </a:t>
            </a:r>
            <a:r>
              <a:rPr lang="fr-FR" dirty="0" err="1">
                <a:latin typeface="Cambria Math" panose="02040503050406030204" pitchFamily="18" charset="0"/>
                <a:ea typeface="Cambria Math" panose="02040503050406030204" pitchFamily="18" charset="0"/>
              </a:rPr>
              <a:t>that</a:t>
            </a:r>
            <a:r>
              <a:rPr lang="fr-FR" dirty="0">
                <a:latin typeface="Cambria Math" panose="02040503050406030204" pitchFamily="18" charset="0"/>
                <a:ea typeface="Cambria Math" panose="02040503050406030204" pitchFamily="18" charset="0"/>
              </a:rPr>
              <a:t> the </a:t>
            </a:r>
            <a:r>
              <a:rPr lang="fr-FR" dirty="0" err="1">
                <a:latin typeface="Cambria Math" panose="02040503050406030204" pitchFamily="18" charset="0"/>
                <a:ea typeface="Cambria Math" panose="02040503050406030204" pitchFamily="18" charset="0"/>
              </a:rPr>
              <a:t>slope</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parameters</a:t>
            </a:r>
            <a:r>
              <a:rPr lang="fr-FR" dirty="0">
                <a:latin typeface="Cambria Math" panose="02040503050406030204" pitchFamily="18" charset="0"/>
                <a:ea typeface="Cambria Math" panose="02040503050406030204" pitchFamily="18" charset="0"/>
              </a:rPr>
              <a:t> are the </a:t>
            </a:r>
            <a:r>
              <a:rPr lang="fr-FR" dirty="0" err="1">
                <a:latin typeface="Cambria Math" panose="02040503050406030204" pitchFamily="18" charset="0"/>
                <a:ea typeface="Cambria Math" panose="02040503050406030204" pitchFamily="18" charset="0"/>
              </a:rPr>
              <a:t>same</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across</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individuals</a:t>
            </a:r>
            <a:r>
              <a:rPr lang="fr-FR" dirty="0">
                <a:latin typeface="Cambria Math" panose="02040503050406030204" pitchFamily="18" charset="0"/>
                <a:ea typeface="Cambria Math" panose="02040503050406030204" pitchFamily="18" charset="0"/>
              </a:rPr>
              <a:t> (countries)  </a:t>
            </a:r>
          </a:p>
          <a:p>
            <a:pPr marL="0" indent="0">
              <a:buNone/>
            </a:pP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 </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1,USA</a:t>
            </a:r>
            <a:r>
              <a:rPr lang="el-GR"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1,SWEDEN</a:t>
            </a:r>
            <a:r>
              <a:rPr lang="el-GR"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 = … =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1,SPAIN</a:t>
            </a:r>
            <a:endParaRPr lang="en-GB" dirty="0"/>
          </a:p>
          <a:p>
            <a:pPr marL="0" indent="0" algn="just">
              <a:buNone/>
            </a:pPr>
            <a:r>
              <a:rPr lang="fr-FR" dirty="0"/>
              <a:t>In </a:t>
            </a:r>
            <a:r>
              <a:rPr lang="fr-FR" dirty="0" err="1"/>
              <a:t>differences</a:t>
            </a:r>
            <a:r>
              <a:rPr lang="fr-FR" dirty="0"/>
              <a:t> in </a:t>
            </a:r>
            <a:r>
              <a:rPr lang="fr-FR" dirty="0" err="1"/>
              <a:t>differences</a:t>
            </a:r>
            <a:r>
              <a:rPr lang="fr-FR" dirty="0"/>
              <a:t>, </a:t>
            </a:r>
            <a:r>
              <a:rPr lang="fr-FR" dirty="0" err="1"/>
              <a:t>you</a:t>
            </a:r>
            <a:r>
              <a:rPr lang="fr-FR" dirty="0"/>
              <a:t> assume </a:t>
            </a:r>
            <a:r>
              <a:rPr lang="fr-FR" dirty="0" err="1"/>
              <a:t>that</a:t>
            </a:r>
            <a:r>
              <a:rPr lang="fr-FR" dirty="0"/>
              <a:t> for </a:t>
            </a:r>
            <a:r>
              <a:rPr lang="fr-FR" dirty="0" err="1"/>
              <a:t>each</a:t>
            </a:r>
            <a:r>
              <a:rPr lang="fr-FR" dirty="0"/>
              <a:t> of observations WITHIN </a:t>
            </a:r>
            <a:r>
              <a:rPr lang="fr-FR" dirty="0" err="1"/>
              <a:t>each</a:t>
            </a:r>
            <a:r>
              <a:rPr lang="fr-FR" dirty="0"/>
              <a:t> of the FOUR </a:t>
            </a:r>
            <a:r>
              <a:rPr lang="fr-FR" dirty="0" err="1"/>
              <a:t>sub</a:t>
            </a:r>
            <a:r>
              <a:rPr lang="fr-FR" dirty="0"/>
              <a:t>-groups (</a:t>
            </a:r>
            <a:r>
              <a:rPr lang="fr-FR" dirty="0" err="1"/>
              <a:t>treated</a:t>
            </a:r>
            <a:r>
              <a:rPr lang="fr-FR" dirty="0"/>
              <a:t> vs non </a:t>
            </a:r>
            <a:r>
              <a:rPr lang="fr-FR" dirty="0" err="1"/>
              <a:t>treated</a:t>
            </a:r>
            <a:r>
              <a:rPr lang="fr-FR" dirty="0"/>
              <a:t>, </a:t>
            </a:r>
            <a:r>
              <a:rPr lang="fr-FR" dirty="0" err="1"/>
              <a:t>before</a:t>
            </a:r>
            <a:r>
              <a:rPr lang="fr-FR" dirty="0"/>
              <a:t> vs </a:t>
            </a:r>
            <a:r>
              <a:rPr lang="fr-FR" dirty="0" err="1"/>
              <a:t>after</a:t>
            </a:r>
            <a:r>
              <a:rPr lang="fr-FR" dirty="0"/>
              <a:t>) have the </a:t>
            </a:r>
            <a:r>
              <a:rPr lang="fr-FR" dirty="0" err="1"/>
              <a:t>same</a:t>
            </a:r>
            <a:r>
              <a:rPr lang="fr-FR" dirty="0"/>
              <a:t> </a:t>
            </a:r>
            <a:r>
              <a:rPr lang="fr-FR" dirty="0" err="1"/>
              <a:t>slope</a:t>
            </a:r>
            <a:r>
              <a:rPr lang="fr-FR" dirty="0"/>
              <a:t>.</a:t>
            </a:r>
            <a:endParaRPr lang="en-GB" dirty="0"/>
          </a:p>
        </p:txBody>
      </p:sp>
    </p:spTree>
    <p:extLst>
      <p:ext uri="{BB962C8B-B14F-4D97-AF65-F5344CB8AC3E}">
        <p14:creationId xmlns:p14="http://schemas.microsoft.com/office/powerpoint/2010/main" val="31603968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Restricted</a:t>
            </a:r>
            <a:r>
              <a:rPr lang="fr-FR" dirty="0"/>
              <a:t> OLS </a:t>
            </a:r>
            <a:r>
              <a:rPr lang="pt-BR" dirty="0">
                <a:latin typeface="Cambria Math" panose="02040503050406030204" pitchFamily="18" charset="0"/>
                <a:ea typeface="Cambria Math" panose="02040503050406030204" pitchFamily="18" charset="0"/>
              </a:rPr>
              <a:t>⇒ SSR increases</a:t>
            </a:r>
            <a:br>
              <a:rPr lang="pt-BR" dirty="0">
                <a:latin typeface="Cambria Math" panose="02040503050406030204" pitchFamily="18" charset="0"/>
                <a:ea typeface="Cambria Math" panose="02040503050406030204" pitchFamily="18" charset="0"/>
              </a:rPr>
            </a:br>
            <a:r>
              <a:rPr lang="pt-BR" dirty="0">
                <a:latin typeface="Cambria Math" panose="02040503050406030204" pitchFamily="18" charset="0"/>
                <a:ea typeface="Cambria Math" panose="02040503050406030204" pitchFamily="18" charset="0"/>
              </a:rPr>
              <a:t>⇒ poorer forecast properties.</a:t>
            </a:r>
            <a:endParaRPr lang="en-GB" dirty="0"/>
          </a:p>
        </p:txBody>
      </p:sp>
      <p:sp>
        <p:nvSpPr>
          <p:cNvPr id="3" name="Espace réservé du contenu 2"/>
          <p:cNvSpPr>
            <a:spLocks noGrp="1"/>
          </p:cNvSpPr>
          <p:nvPr>
            <p:ph idx="1"/>
          </p:nvPr>
        </p:nvSpPr>
        <p:spPr/>
        <p:txBody>
          <a:bodyPr>
            <a:normAutofit fontScale="92500" lnSpcReduction="20000"/>
          </a:bodyPr>
          <a:lstStyle/>
          <a:p>
            <a:pPr marL="0" indent="0" algn="just">
              <a:buNone/>
            </a:pPr>
            <a:r>
              <a:rPr lang="fr-FR" dirty="0"/>
              <a:t>In the </a:t>
            </a:r>
            <a:r>
              <a:rPr lang="fr-FR" dirty="0" err="1"/>
              <a:t>general</a:t>
            </a:r>
            <a:r>
              <a:rPr lang="fr-FR" dirty="0"/>
              <a:t> case, </a:t>
            </a:r>
            <a:r>
              <a:rPr lang="fr-FR" dirty="0" err="1"/>
              <a:t>when</a:t>
            </a:r>
            <a:r>
              <a:rPr lang="fr-FR" dirty="0"/>
              <a:t> one assumes a (</a:t>
            </a:r>
            <a:r>
              <a:rPr lang="fr-FR" dirty="0" err="1"/>
              <a:t>coded</a:t>
            </a:r>
            <a:r>
              <a:rPr lang="fr-FR" dirty="0"/>
              <a:t> in softwares: </a:t>
            </a:r>
            <a:r>
              <a:rPr lang="fr-FR" b="1" dirty="0" err="1"/>
              <a:t>linear</a:t>
            </a:r>
            <a:r>
              <a:rPr lang="fr-FR" dirty="0"/>
              <a:t>) restriction on </a:t>
            </a:r>
            <a:r>
              <a:rPr lang="fr-FR" dirty="0" err="1"/>
              <a:t>some</a:t>
            </a:r>
            <a:r>
              <a:rPr lang="fr-FR" dirty="0"/>
              <a:t> </a:t>
            </a:r>
            <a:r>
              <a:rPr lang="fr-FR" dirty="0" err="1"/>
              <a:t>parameters</a:t>
            </a:r>
            <a:r>
              <a:rPr lang="fr-FR" dirty="0"/>
              <a:t>, </a:t>
            </a:r>
            <a:r>
              <a:rPr lang="fr-FR" dirty="0" err="1"/>
              <a:t>this</a:t>
            </a:r>
            <a:r>
              <a:rPr lang="fr-FR" dirty="0"/>
              <a:t> </a:t>
            </a:r>
            <a:r>
              <a:rPr lang="fr-FR" dirty="0" err="1"/>
              <a:t>restricted</a:t>
            </a:r>
            <a:r>
              <a:rPr lang="fr-FR" dirty="0"/>
              <a:t> </a:t>
            </a:r>
            <a:r>
              <a:rPr lang="fr-FR" dirty="0" err="1"/>
              <a:t>regression</a:t>
            </a:r>
            <a:r>
              <a:rPr lang="fr-FR" dirty="0"/>
              <a:t> </a:t>
            </a:r>
            <a:r>
              <a:rPr lang="fr-FR" dirty="0" err="1"/>
              <a:t>is</a:t>
            </a:r>
            <a:r>
              <a:rPr lang="fr-FR" dirty="0"/>
              <a:t> no longer </a:t>
            </a:r>
            <a:r>
              <a:rPr lang="fr-FR" dirty="0" err="1"/>
              <a:t>minimising</a:t>
            </a:r>
            <a:r>
              <a:rPr lang="fr-FR" dirty="0"/>
              <a:t> the </a:t>
            </a:r>
            <a:r>
              <a:rPr lang="fr-FR" dirty="0" err="1"/>
              <a:t>sum</a:t>
            </a:r>
            <a:r>
              <a:rPr lang="fr-FR" dirty="0"/>
              <a:t> of squares of the </a:t>
            </a:r>
            <a:r>
              <a:rPr lang="fr-FR" dirty="0" err="1"/>
              <a:t>residuals</a:t>
            </a:r>
            <a:r>
              <a:rPr lang="fr-FR" dirty="0"/>
              <a:t> (SSR) as </a:t>
            </a:r>
            <a:r>
              <a:rPr lang="fr-FR" dirty="0" err="1"/>
              <a:t>done</a:t>
            </a:r>
            <a:r>
              <a:rPr lang="fr-FR" dirty="0"/>
              <a:t> by the </a:t>
            </a:r>
            <a:r>
              <a:rPr lang="fr-FR" dirty="0" err="1"/>
              <a:t>usual</a:t>
            </a:r>
            <a:r>
              <a:rPr lang="fr-FR" dirty="0"/>
              <a:t> </a:t>
            </a:r>
            <a:r>
              <a:rPr lang="fr-FR" dirty="0" err="1"/>
              <a:t>unrestricted</a:t>
            </a:r>
            <a:r>
              <a:rPr lang="fr-FR" dirty="0"/>
              <a:t> </a:t>
            </a:r>
            <a:r>
              <a:rPr lang="fr-FR" dirty="0" err="1"/>
              <a:t>regression</a:t>
            </a:r>
            <a:r>
              <a:rPr lang="fr-FR" dirty="0"/>
              <a:t>.</a:t>
            </a:r>
          </a:p>
          <a:p>
            <a:pPr marL="0" indent="0" algn="just">
              <a:buNone/>
            </a:pPr>
            <a:r>
              <a:rPr lang="el-GR" dirty="0">
                <a:latin typeface="Cambria Math"/>
                <a:ea typeface="Cambria Math"/>
              </a:rPr>
              <a:t> </a:t>
            </a:r>
            <a:r>
              <a:rPr lang="pt-BR" dirty="0">
                <a:latin typeface="Cambria Math" panose="02040503050406030204" pitchFamily="18" charset="0"/>
                <a:ea typeface="Cambria Math" panose="02040503050406030204" pitchFamily="18" charset="0"/>
              </a:rPr>
              <a:t>⇒ The sum of squares of residuals and its root (RMSE) are LARGER with the restricted regression with respect to the unrestricted</a:t>
            </a:r>
            <a:r>
              <a:rPr lang="el-GR" dirty="0">
                <a:latin typeface="Cambria Math"/>
                <a:ea typeface="Cambria Math"/>
              </a:rPr>
              <a:t> </a:t>
            </a:r>
            <a:endParaRPr lang="fr-FR" dirty="0">
              <a:latin typeface="Cambria Math"/>
              <a:ea typeface="Cambria Math"/>
            </a:endParaRPr>
          </a:p>
          <a:p>
            <a:pPr marL="0" indent="0" algn="just">
              <a:buNone/>
            </a:pPr>
            <a:r>
              <a:rPr lang="pt-BR" dirty="0">
                <a:latin typeface="Cambria Math" panose="02040503050406030204" pitchFamily="18" charset="0"/>
                <a:ea typeface="Cambria Math" panose="02040503050406030204" pitchFamily="18" charset="0"/>
              </a:rPr>
              <a:t>⇒ The forecast properties are worse for the restricted regression.</a:t>
            </a:r>
            <a:r>
              <a:rPr lang="fr-FR" dirty="0"/>
              <a:t>	 </a:t>
            </a:r>
            <a:endParaRPr lang="en-GB" dirty="0"/>
          </a:p>
        </p:txBody>
      </p:sp>
    </p:spTree>
    <p:extLst>
      <p:ext uri="{BB962C8B-B14F-4D97-AF65-F5344CB8AC3E}">
        <p14:creationId xmlns:p14="http://schemas.microsoft.com/office/powerpoint/2010/main" val="395598934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2400" dirty="0" err="1"/>
              <a:t>When</a:t>
            </a:r>
            <a:r>
              <a:rPr lang="fr-FR" sz="2400" dirty="0"/>
              <a:t> </a:t>
            </a:r>
            <a:r>
              <a:rPr lang="fr-FR" sz="2400" dirty="0" err="1"/>
              <a:t>you</a:t>
            </a:r>
            <a:r>
              <a:rPr lang="fr-FR" sz="2400" dirty="0"/>
              <a:t> pool N time </a:t>
            </a:r>
            <a:r>
              <a:rPr lang="fr-FR" sz="2400" dirty="0" err="1"/>
              <a:t>series</a:t>
            </a:r>
            <a:r>
              <a:rPr lang="fr-FR" sz="2400" dirty="0"/>
              <a:t> of T observations, </a:t>
            </a:r>
            <a:r>
              <a:rPr lang="fr-FR" sz="2400" dirty="0" err="1"/>
              <a:t>degrees</a:t>
            </a:r>
            <a:r>
              <a:rPr lang="fr-FR" sz="2400" dirty="0"/>
              <a:t> of </a:t>
            </a:r>
            <a:r>
              <a:rPr lang="fr-FR" sz="2400" dirty="0" err="1"/>
              <a:t>freedom</a:t>
            </a:r>
            <a:r>
              <a:rPr lang="fr-FR" sz="2400" dirty="0"/>
              <a:t> </a:t>
            </a:r>
            <a:r>
              <a:rPr lang="fr-FR" sz="2400" dirty="0" err="1"/>
              <a:t>increases</a:t>
            </a:r>
            <a:r>
              <a:rPr lang="fr-FR" sz="2400" dirty="0"/>
              <a:t> </a:t>
            </a:r>
            <a:r>
              <a:rPr lang="fr-FR" sz="2400" dirty="0" err="1"/>
              <a:t>widely</a:t>
            </a:r>
            <a:r>
              <a:rPr lang="fr-FR" sz="2400" dirty="0"/>
              <a:t>: NT-k-N (</a:t>
            </a:r>
            <a:r>
              <a:rPr lang="fr-FR" sz="2400" dirty="0" err="1"/>
              <a:t>fixed</a:t>
            </a:r>
            <a:r>
              <a:rPr lang="fr-FR" sz="2400" dirty="0"/>
              <a:t> </a:t>
            </a:r>
            <a:r>
              <a:rPr lang="fr-FR" sz="2400" dirty="0" err="1"/>
              <a:t>effects</a:t>
            </a:r>
            <a:r>
              <a:rPr lang="fr-FR" sz="2400" dirty="0"/>
              <a:t>, N </a:t>
            </a:r>
            <a:r>
              <a:rPr lang="fr-FR" sz="2400" dirty="0" err="1"/>
              <a:t>intercepts</a:t>
            </a:r>
            <a:r>
              <a:rPr lang="fr-FR" sz="2400" dirty="0"/>
              <a:t>) </a:t>
            </a:r>
            <a:br>
              <a:rPr lang="fr-FR" sz="2400" dirty="0"/>
            </a:br>
            <a:r>
              <a:rPr lang="fr-FR" sz="2400" dirty="0"/>
              <a:t>&gt; T-k-1 (time </a:t>
            </a:r>
            <a:r>
              <a:rPr lang="fr-FR" sz="2400" dirty="0" err="1"/>
              <a:t>series</a:t>
            </a:r>
            <a:r>
              <a:rPr lang="fr-FR" sz="2400" dirty="0"/>
              <a:t> of one </a:t>
            </a:r>
            <a:r>
              <a:rPr lang="fr-FR" sz="2400" dirty="0" err="1"/>
              <a:t>individual</a:t>
            </a:r>
            <a:r>
              <a:rPr lang="fr-FR" sz="2400" dirty="0"/>
              <a:t>, 1 </a:t>
            </a:r>
            <a:r>
              <a:rPr lang="fr-FR" sz="2400" dirty="0" err="1"/>
              <a:t>intercept</a:t>
            </a:r>
            <a:r>
              <a:rPr lang="fr-FR" sz="2400" dirty="0"/>
              <a:t>)</a:t>
            </a:r>
            <a:endParaRPr lang="en-GB" sz="2400" dirty="0"/>
          </a:p>
        </p:txBody>
      </p:sp>
      <p:sp>
        <p:nvSpPr>
          <p:cNvPr id="3" name="Espace réservé du contenu 2"/>
          <p:cNvSpPr>
            <a:spLocks noGrp="1"/>
          </p:cNvSpPr>
          <p:nvPr>
            <p:ph idx="1"/>
          </p:nvPr>
        </p:nvSpPr>
        <p:spPr/>
        <p:txBody>
          <a:bodyPr>
            <a:normAutofit fontScale="25000" lnSpcReduction="20000"/>
          </a:bodyPr>
          <a:lstStyle/>
          <a:p>
            <a:pPr marL="0" indent="0" algn="just">
              <a:buNone/>
            </a:pPr>
            <a:r>
              <a:rPr lang="pt-BR" sz="10400" dirty="0">
                <a:ea typeface="Cambria Math" panose="02040503050406030204" pitchFamily="18" charset="0"/>
              </a:rPr>
              <a:t>⇒ A sharp increase of the </a:t>
            </a:r>
            <a:r>
              <a:rPr lang="pt-BR" sz="10400" b="1" dirty="0">
                <a:ea typeface="Cambria Math" panose="02040503050406030204" pitchFamily="18" charset="0"/>
              </a:rPr>
              <a:t>square root</a:t>
            </a:r>
            <a:r>
              <a:rPr lang="pt-BR" sz="10400" dirty="0">
                <a:ea typeface="Cambria Math" panose="02040503050406030204" pitchFamily="18" charset="0"/>
              </a:rPr>
              <a:t> of degrees for freedom, at the denominator of: </a:t>
            </a:r>
          </a:p>
          <a:p>
            <a:pPr marL="0" indent="0" algn="just">
              <a:buNone/>
            </a:pPr>
            <a:r>
              <a:rPr lang="el-GR" sz="10400" dirty="0">
                <a:ea typeface="Cambria Math"/>
              </a:rPr>
              <a:t> </a:t>
            </a:r>
            <a:r>
              <a:rPr lang="pt-BR" sz="10400" dirty="0">
                <a:ea typeface="Cambria Math" panose="02040503050406030204" pitchFamily="18" charset="0"/>
              </a:rPr>
              <a:t>⇒ A sharp decrease of the estimated standard error of the estimated parmeters, at the denominator of t statistics</a:t>
            </a:r>
          </a:p>
          <a:p>
            <a:pPr marL="0" indent="0" algn="just">
              <a:buNone/>
            </a:pPr>
            <a:r>
              <a:rPr lang="el-GR" sz="10400" dirty="0">
                <a:ea typeface="Cambria Math"/>
              </a:rPr>
              <a:t> </a:t>
            </a:r>
            <a:r>
              <a:rPr lang="pt-BR" sz="10400" dirty="0">
                <a:ea typeface="Cambria Math" panose="02040503050406030204" pitchFamily="18" charset="0"/>
              </a:rPr>
              <a:t>⇒ A sharp increase of t-statistics with increase with the square root of degrees of freedom.</a:t>
            </a:r>
          </a:p>
          <a:p>
            <a:pPr marL="0" indent="0" algn="just">
              <a:buNone/>
            </a:pPr>
            <a:r>
              <a:rPr lang="el-GR" sz="10400" dirty="0">
                <a:ea typeface="Cambria Math"/>
              </a:rPr>
              <a:t> </a:t>
            </a:r>
            <a:r>
              <a:rPr lang="pt-BR" sz="10400" dirty="0">
                <a:ea typeface="Cambria Math" panose="02040503050406030204" pitchFamily="18" charset="0"/>
              </a:rPr>
              <a:t>⇒ Much more chances to have t&gt;2 and p&lt;5% and statistical significance</a:t>
            </a:r>
            <a:r>
              <a:rPr lang="el-GR" sz="10400" dirty="0">
                <a:ea typeface="Cambria Math"/>
              </a:rPr>
              <a:t> </a:t>
            </a:r>
            <a:r>
              <a:rPr lang="fr-FR" sz="10400" dirty="0">
                <a:ea typeface="Cambria Math"/>
              </a:rPr>
              <a:t>for </a:t>
            </a:r>
            <a:r>
              <a:rPr lang="fr-FR" sz="10400" dirty="0" err="1">
                <a:ea typeface="Cambria Math"/>
              </a:rPr>
              <a:t>your</a:t>
            </a:r>
            <a:r>
              <a:rPr lang="fr-FR" sz="10400" dirty="0">
                <a:ea typeface="Cambria Math"/>
              </a:rPr>
              <a:t> </a:t>
            </a:r>
            <a:r>
              <a:rPr lang="fr-FR" sz="10400" dirty="0" err="1">
                <a:ea typeface="Cambria Math"/>
              </a:rPr>
              <a:t>parameters</a:t>
            </a:r>
            <a:r>
              <a:rPr lang="fr-FR" sz="10400" dirty="0">
                <a:ea typeface="Cambria Math"/>
              </a:rPr>
              <a:t> of </a:t>
            </a:r>
            <a:r>
              <a:rPr lang="fr-FR" sz="10400" dirty="0" err="1">
                <a:ea typeface="Cambria Math"/>
              </a:rPr>
              <a:t>interest</a:t>
            </a:r>
            <a:r>
              <a:rPr lang="fr-FR" sz="10400" dirty="0">
                <a:ea typeface="Cambria Math"/>
              </a:rPr>
              <a:t>.</a:t>
            </a:r>
          </a:p>
          <a:p>
            <a:pPr marL="0" indent="0" algn="just">
              <a:buNone/>
            </a:pPr>
            <a:r>
              <a:rPr lang="pt-BR" sz="10400" dirty="0">
                <a:ea typeface="Cambria Math" panose="02040503050406030204" pitchFamily="18" charset="0"/>
              </a:rPr>
              <a:t>⇒ More chances to publish your paper, because of publication bias.</a:t>
            </a:r>
          </a:p>
          <a:p>
            <a:pPr marL="0" indent="0">
              <a:buNone/>
            </a:pPr>
            <a:endParaRPr lang="en-GB" dirty="0"/>
          </a:p>
        </p:txBody>
      </p:sp>
    </p:spTree>
    <p:extLst>
      <p:ext uri="{BB962C8B-B14F-4D97-AF65-F5344CB8AC3E}">
        <p14:creationId xmlns:p14="http://schemas.microsoft.com/office/powerpoint/2010/main" val="372367081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323528" y="274638"/>
            <a:ext cx="8363272" cy="1642194"/>
          </a:xfrm>
        </p:spPr>
        <p:txBody>
          <a:bodyPr/>
          <a:lstStyle/>
          <a:p>
            <a:r>
              <a:rPr lang="fr-FR" dirty="0"/>
              <a:t>Critical </a:t>
            </a:r>
            <a:r>
              <a:rPr lang="fr-FR" dirty="0" err="1"/>
              <a:t>region</a:t>
            </a:r>
            <a:r>
              <a:rPr lang="fr-FR" dirty="0"/>
              <a:t> H0: r=0 of the t test for n observations.</a:t>
            </a:r>
          </a:p>
        </p:txBody>
      </p:sp>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992" y="2132856"/>
            <a:ext cx="7704856" cy="12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468558"/>
            <a:ext cx="4464546" cy="12933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9652" y="4931881"/>
            <a:ext cx="6192688" cy="1923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130476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1" y="1556792"/>
            <a:ext cx="7667625" cy="518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re 3"/>
          <p:cNvSpPr>
            <a:spLocks noGrp="1"/>
          </p:cNvSpPr>
          <p:nvPr>
            <p:ph type="title"/>
          </p:nvPr>
        </p:nvSpPr>
        <p:spPr/>
        <p:txBody>
          <a:bodyPr>
            <a:noAutofit/>
          </a:bodyPr>
          <a:lstStyle/>
          <a:p>
            <a:r>
              <a:rPr lang="fr-FR" sz="2400" dirty="0" err="1"/>
              <a:t>Obtain</a:t>
            </a:r>
            <a:r>
              <a:rPr lang="fr-FR" sz="2400" dirty="0"/>
              <a:t> </a:t>
            </a:r>
            <a:r>
              <a:rPr lang="fr-FR" sz="2400" dirty="0" err="1"/>
              <a:t>statistical</a:t>
            </a:r>
            <a:r>
              <a:rPr lang="fr-FR" sz="2400" dirty="0"/>
              <a:t> </a:t>
            </a:r>
            <a:r>
              <a:rPr lang="fr-FR" sz="2400" dirty="0" err="1"/>
              <a:t>significance</a:t>
            </a:r>
            <a:r>
              <a:rPr lang="fr-FR" sz="2400" dirty="0"/>
              <a:t> </a:t>
            </a:r>
            <a:r>
              <a:rPr lang="fr-FR" sz="2400" dirty="0" err="1"/>
              <a:t>outside</a:t>
            </a:r>
            <a:r>
              <a:rPr lang="fr-FR" sz="2400" dirty="0"/>
              <a:t> the </a:t>
            </a:r>
            <a:r>
              <a:rPr lang="fr-FR" sz="2400" dirty="0" err="1"/>
              <a:t>funnel</a:t>
            </a:r>
            <a:r>
              <a:rPr lang="fr-FR" sz="2400" dirty="0"/>
              <a:t> </a:t>
            </a:r>
            <a:br>
              <a:rPr lang="fr-FR" sz="2400" dirty="0"/>
            </a:br>
            <a:r>
              <a:rPr lang="fr-FR" sz="2400" dirty="0" err="1"/>
              <a:t>given</a:t>
            </a:r>
            <a:r>
              <a:rPr lang="fr-FR" sz="2400" dirty="0"/>
              <a:t> </a:t>
            </a:r>
            <a:r>
              <a:rPr lang="fr-FR" sz="2400" dirty="0" err="1"/>
              <a:t>unchanged</a:t>
            </a:r>
            <a:r>
              <a:rPr lang="fr-FR" sz="2400" dirty="0"/>
              <a:t> partial </a:t>
            </a:r>
            <a:r>
              <a:rPr lang="fr-FR" sz="2400" dirty="0" err="1"/>
              <a:t>correlation</a:t>
            </a:r>
            <a:r>
              <a:rPr lang="fr-FR" sz="2400" dirty="0"/>
              <a:t> r for all </a:t>
            </a:r>
            <a:r>
              <a:rPr lang="fr-FR" sz="2400" dirty="0" err="1"/>
              <a:t>individuals</a:t>
            </a:r>
            <a:br>
              <a:rPr lang="fr-FR" sz="2400" dirty="0"/>
            </a:br>
            <a:r>
              <a:rPr lang="fr-FR" sz="2400" dirty="0"/>
              <a:t>NT-k-N (</a:t>
            </a:r>
            <a:r>
              <a:rPr lang="fr-FR" sz="2400" dirty="0" err="1"/>
              <a:t>fixed</a:t>
            </a:r>
            <a:r>
              <a:rPr lang="fr-FR" sz="2400" dirty="0"/>
              <a:t> </a:t>
            </a:r>
            <a:r>
              <a:rPr lang="fr-FR" sz="2400" dirty="0" err="1"/>
              <a:t>effects</a:t>
            </a:r>
            <a:r>
              <a:rPr lang="fr-FR" sz="2400" dirty="0"/>
              <a:t>) </a:t>
            </a:r>
            <a:r>
              <a:rPr lang="el-GR" sz="2400" dirty="0">
                <a:ea typeface="Cambria Math" panose="02040503050406030204" pitchFamily="18" charset="0"/>
                <a:cs typeface="Calibri"/>
              </a:rPr>
              <a:t>≥ </a:t>
            </a:r>
            <a:r>
              <a:rPr lang="fr-FR" sz="2400" dirty="0">
                <a:ea typeface="Cambria Math" panose="02040503050406030204" pitchFamily="18" charset="0"/>
                <a:cs typeface="Calibri"/>
              </a:rPr>
              <a:t>1.96(1-r</a:t>
            </a:r>
            <a:r>
              <a:rPr lang="fr-FR" sz="2400" baseline="30000" dirty="0">
                <a:ea typeface="Cambria Math" panose="02040503050406030204" pitchFamily="18" charset="0"/>
                <a:cs typeface="Calibri"/>
              </a:rPr>
              <a:t>2</a:t>
            </a:r>
            <a:r>
              <a:rPr lang="fr-FR" sz="2400" dirty="0">
                <a:ea typeface="Cambria Math" panose="02040503050406030204" pitchFamily="18" charset="0"/>
                <a:cs typeface="Calibri"/>
              </a:rPr>
              <a:t>)/r</a:t>
            </a:r>
            <a:r>
              <a:rPr lang="fr-FR" sz="2400" baseline="30000" dirty="0">
                <a:ea typeface="Cambria Math" panose="02040503050406030204" pitchFamily="18" charset="0"/>
                <a:cs typeface="Calibri"/>
              </a:rPr>
              <a:t>2</a:t>
            </a:r>
            <a:r>
              <a:rPr lang="fr-FR" sz="2400" dirty="0">
                <a:ea typeface="Cambria Math" panose="02040503050406030204" pitchFamily="18" charset="0"/>
                <a:cs typeface="Calibri"/>
              </a:rPr>
              <a:t> </a:t>
            </a:r>
            <a:r>
              <a:rPr lang="el-GR" sz="2400" dirty="0">
                <a:ea typeface="Cambria Math" panose="02040503050406030204" pitchFamily="18" charset="0"/>
                <a:cs typeface="Calibri"/>
              </a:rPr>
              <a:t>≥</a:t>
            </a:r>
            <a:r>
              <a:rPr lang="fr-FR" sz="2400" dirty="0"/>
              <a:t> T-k-1 (time </a:t>
            </a:r>
            <a:r>
              <a:rPr lang="fr-FR" sz="2400" dirty="0" err="1"/>
              <a:t>series</a:t>
            </a:r>
            <a:r>
              <a:rPr lang="fr-FR" sz="2400" dirty="0"/>
              <a:t>)</a:t>
            </a:r>
            <a:endParaRPr lang="en-GB" sz="2400" dirty="0"/>
          </a:p>
        </p:txBody>
      </p:sp>
    </p:spTree>
    <p:extLst>
      <p:ext uri="{BB962C8B-B14F-4D97-AF65-F5344CB8AC3E}">
        <p14:creationId xmlns:p14="http://schemas.microsoft.com/office/powerpoint/2010/main" val="5327535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a:t>Panel data </a:t>
            </a:r>
            <a:r>
              <a:rPr lang="fr-FR" sz="3200" dirty="0" err="1"/>
              <a:t>common</a:t>
            </a:r>
            <a:r>
              <a:rPr lang="fr-FR" sz="3200" dirty="0"/>
              <a:t> </a:t>
            </a:r>
            <a:r>
              <a:rPr lang="fr-FR" sz="3200" dirty="0" err="1"/>
              <a:t>slope</a:t>
            </a:r>
            <a:r>
              <a:rPr lang="fr-FR" sz="3200" dirty="0"/>
              <a:t> </a:t>
            </a:r>
            <a:r>
              <a:rPr lang="fr-FR" sz="3200" dirty="0" err="1"/>
              <a:t>assumption</a:t>
            </a:r>
            <a:r>
              <a:rPr lang="fr-FR" sz="3200" dirty="0"/>
              <a:t> and </a:t>
            </a:r>
            <a:r>
              <a:rPr lang="fr-FR" sz="3200" dirty="0" err="1"/>
              <a:t>near-multicollinearity</a:t>
            </a:r>
            <a:endParaRPr lang="en-GB" sz="3200" dirty="0"/>
          </a:p>
        </p:txBody>
      </p:sp>
      <p:sp>
        <p:nvSpPr>
          <p:cNvPr id="3" name="Espace réservé du contenu 2"/>
          <p:cNvSpPr>
            <a:spLocks noGrp="1"/>
          </p:cNvSpPr>
          <p:nvPr>
            <p:ph idx="1"/>
          </p:nvPr>
        </p:nvSpPr>
        <p:spPr/>
        <p:txBody>
          <a:bodyPr>
            <a:normAutofit fontScale="92500" lnSpcReduction="10000"/>
          </a:bodyPr>
          <a:lstStyle/>
          <a:p>
            <a:pPr marL="0" indent="0" algn="just">
              <a:buNone/>
            </a:pPr>
            <a:r>
              <a:rPr lang="fr-FR" dirty="0"/>
              <a:t>Near-</a:t>
            </a:r>
            <a:r>
              <a:rPr lang="fr-FR" dirty="0" err="1"/>
              <a:t>multicollinearity</a:t>
            </a:r>
            <a:r>
              <a:rPr lang="fr-FR" dirty="0"/>
              <a:t> (high </a:t>
            </a:r>
            <a:r>
              <a:rPr lang="fr-FR" dirty="0" err="1"/>
              <a:t>correlation</a:t>
            </a:r>
            <a:r>
              <a:rPr lang="fr-FR" dirty="0"/>
              <a:t> </a:t>
            </a:r>
            <a:r>
              <a:rPr lang="fr-FR" dirty="0" err="1"/>
              <a:t>between</a:t>
            </a:r>
            <a:r>
              <a:rPr lang="fr-FR" dirty="0"/>
              <a:t> variables) </a:t>
            </a:r>
            <a:r>
              <a:rPr lang="fr-FR" dirty="0" err="1"/>
              <a:t>will</a:t>
            </a:r>
            <a:r>
              <a:rPr lang="fr-FR" dirty="0"/>
              <a:t> </a:t>
            </a:r>
            <a:r>
              <a:rPr lang="fr-FR" dirty="0" err="1"/>
              <a:t>remain</a:t>
            </a:r>
            <a:r>
              <a:rPr lang="fr-FR" dirty="0"/>
              <a:t> in </a:t>
            </a:r>
            <a:r>
              <a:rPr lang="fr-FR" dirty="0" err="1"/>
              <a:t>some</a:t>
            </a:r>
            <a:r>
              <a:rPr lang="fr-FR" dirty="0"/>
              <a:t> panel data </a:t>
            </a:r>
            <a:r>
              <a:rPr lang="fr-FR" dirty="0" err="1"/>
              <a:t>estimators</a:t>
            </a:r>
            <a:r>
              <a:rPr lang="fr-FR" dirty="0"/>
              <a:t>.</a:t>
            </a:r>
          </a:p>
          <a:p>
            <a:pPr marL="0" indent="0" algn="just">
              <a:buNone/>
            </a:pPr>
            <a:r>
              <a:rPr lang="fr-FR" dirty="0" err="1"/>
              <a:t>However</a:t>
            </a:r>
            <a:r>
              <a:rPr lang="fr-FR" dirty="0"/>
              <a:t> the </a:t>
            </a:r>
            <a:r>
              <a:rPr lang="fr-FR" dirty="0" err="1"/>
              <a:t>common</a:t>
            </a:r>
            <a:r>
              <a:rPr lang="fr-FR" dirty="0"/>
              <a:t> </a:t>
            </a:r>
            <a:r>
              <a:rPr lang="fr-FR" dirty="0" err="1"/>
              <a:t>slope</a:t>
            </a:r>
            <a:r>
              <a:rPr lang="fr-FR" dirty="0"/>
              <a:t> </a:t>
            </a:r>
            <a:r>
              <a:rPr lang="fr-FR" dirty="0" err="1"/>
              <a:t>assumption</a:t>
            </a:r>
            <a:r>
              <a:rPr lang="fr-FR" dirty="0"/>
              <a:t> leads to </a:t>
            </a:r>
            <a:r>
              <a:rPr lang="fr-FR" dirty="0" err="1"/>
              <a:t>parameters</a:t>
            </a:r>
            <a:r>
              <a:rPr lang="fr-FR" dirty="0"/>
              <a:t> </a:t>
            </a:r>
            <a:r>
              <a:rPr lang="fr-FR" dirty="0" err="1"/>
              <a:t>which</a:t>
            </a:r>
            <a:r>
              <a:rPr lang="fr-FR" dirty="0"/>
              <a:t> are a </a:t>
            </a:r>
            <a:r>
              <a:rPr lang="fr-FR" dirty="0" err="1"/>
              <a:t>weighted</a:t>
            </a:r>
            <a:r>
              <a:rPr lang="fr-FR" dirty="0"/>
              <a:t> </a:t>
            </a:r>
            <a:r>
              <a:rPr lang="fr-FR" dirty="0" err="1"/>
              <a:t>average</a:t>
            </a:r>
            <a:r>
              <a:rPr lang="fr-FR" dirty="0"/>
              <a:t> of time-</a:t>
            </a:r>
            <a:r>
              <a:rPr lang="fr-FR" dirty="0" err="1"/>
              <a:t>series</a:t>
            </a:r>
            <a:r>
              <a:rPr lang="fr-FR" dirty="0"/>
              <a:t> estimations by </a:t>
            </a:r>
            <a:r>
              <a:rPr lang="fr-FR" dirty="0" err="1"/>
              <a:t>individuals</a:t>
            </a:r>
            <a:r>
              <a:rPr lang="fr-FR" dirty="0"/>
              <a:t>.</a:t>
            </a:r>
          </a:p>
          <a:p>
            <a:pPr marL="0" indent="0" algn="just">
              <a:buNone/>
            </a:pPr>
            <a:r>
              <a:rPr lang="fr-FR" dirty="0" err="1"/>
              <a:t>Therefore</a:t>
            </a:r>
            <a:r>
              <a:rPr lang="fr-FR" dirty="0"/>
              <a:t>, </a:t>
            </a:r>
            <a:r>
              <a:rPr lang="fr-FR" dirty="0" err="1"/>
              <a:t>they</a:t>
            </a:r>
            <a:r>
              <a:rPr lang="fr-FR" dirty="0"/>
              <a:t> have a chance to look « more </a:t>
            </a:r>
            <a:r>
              <a:rPr lang="fr-FR" dirty="0" err="1"/>
              <a:t>reasonable</a:t>
            </a:r>
            <a:r>
              <a:rPr lang="fr-FR" dirty="0"/>
              <a:t> » (</a:t>
            </a:r>
            <a:r>
              <a:rPr lang="fr-FR" dirty="0" err="1"/>
              <a:t>closer</a:t>
            </a:r>
            <a:r>
              <a:rPr lang="fr-FR" dirty="0"/>
              <a:t> to </a:t>
            </a:r>
            <a:r>
              <a:rPr lang="fr-FR" dirty="0" err="1"/>
              <a:t>expected</a:t>
            </a:r>
            <a:r>
              <a:rPr lang="fr-FR" dirty="0"/>
              <a:t> values) in </a:t>
            </a:r>
            <a:r>
              <a:rPr lang="fr-FR" dirty="0" err="1"/>
              <a:t>terms</a:t>
            </a:r>
            <a:r>
              <a:rPr lang="fr-FR" dirty="0"/>
              <a:t> of </a:t>
            </a:r>
            <a:r>
              <a:rPr lang="fr-FR" dirty="0" err="1"/>
              <a:t>signs</a:t>
            </a:r>
            <a:r>
              <a:rPr lang="fr-FR" dirty="0"/>
              <a:t> and magnitude </a:t>
            </a:r>
            <a:r>
              <a:rPr lang="fr-FR" dirty="0" err="1"/>
              <a:t>than</a:t>
            </a:r>
            <a:r>
              <a:rPr lang="fr-FR" dirty="0"/>
              <a:t> the </a:t>
            </a:r>
            <a:r>
              <a:rPr lang="fr-FR" dirty="0" err="1"/>
              <a:t>estimates</a:t>
            </a:r>
            <a:r>
              <a:rPr lang="fr-FR" dirty="0"/>
              <a:t> of time-</a:t>
            </a:r>
            <a:r>
              <a:rPr lang="fr-FR" dirty="0" err="1"/>
              <a:t>series</a:t>
            </a:r>
            <a:r>
              <a:rPr lang="fr-FR" dirty="0"/>
              <a:t>.</a:t>
            </a:r>
            <a:endParaRPr lang="en-GB" dirty="0"/>
          </a:p>
        </p:txBody>
      </p:sp>
    </p:spTree>
    <p:extLst>
      <p:ext uri="{BB962C8B-B14F-4D97-AF65-F5344CB8AC3E}">
        <p14:creationId xmlns:p14="http://schemas.microsoft.com/office/powerpoint/2010/main" val="18959336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800" dirty="0"/>
              <a:t>The </a:t>
            </a:r>
            <a:r>
              <a:rPr lang="fr-FR" sz="2800" dirty="0" err="1"/>
              <a:t>common</a:t>
            </a:r>
            <a:r>
              <a:rPr lang="fr-FR" sz="2800" dirty="0"/>
              <a:t> </a:t>
            </a:r>
            <a:r>
              <a:rPr lang="fr-FR" sz="2800" dirty="0" err="1"/>
              <a:t>slope</a:t>
            </a:r>
            <a:r>
              <a:rPr lang="fr-FR" sz="2800" dirty="0"/>
              <a:t> restriction </a:t>
            </a:r>
            <a:r>
              <a:rPr lang="el-GR" sz="2800" dirty="0">
                <a:ea typeface="Cambria Math"/>
              </a:rPr>
              <a:t> </a:t>
            </a:r>
            <a:r>
              <a:rPr lang="pt-BR" sz="2800" dirty="0">
                <a:ea typeface="Cambria Math" panose="02040503050406030204" pitchFamily="18" charset="0"/>
              </a:rPr>
              <a:t>⇒ a bias on intercepts estimates by individual in fixed effects model.</a:t>
            </a:r>
            <a:endParaRPr lang="en-GB" sz="2800" dirty="0"/>
          </a:p>
        </p:txBody>
      </p:sp>
      <p:sp>
        <p:nvSpPr>
          <p:cNvPr id="3" name="Espace réservé du contenu 2"/>
          <p:cNvSpPr>
            <a:spLocks noGrp="1"/>
          </p:cNvSpPr>
          <p:nvPr>
            <p:ph idx="1"/>
          </p:nvPr>
        </p:nvSpPr>
        <p:spPr/>
        <p:txBody>
          <a:bodyPr>
            <a:normAutofit fontScale="85000" lnSpcReduction="10000"/>
          </a:bodyPr>
          <a:lstStyle/>
          <a:p>
            <a:pPr marL="0" indent="0">
              <a:buNone/>
            </a:pPr>
            <a:r>
              <a:rPr lang="fr-FR" dirty="0"/>
              <a:t>The best </a:t>
            </a:r>
            <a:r>
              <a:rPr lang="fr-FR" dirty="0" err="1"/>
              <a:t>linear</a:t>
            </a:r>
            <a:r>
              <a:rPr lang="fr-FR" dirty="0"/>
              <a:t> </a:t>
            </a:r>
            <a:r>
              <a:rPr lang="fr-FR" dirty="0" err="1"/>
              <a:t>unbiased</a:t>
            </a:r>
            <a:r>
              <a:rPr lang="fr-FR" dirty="0"/>
              <a:t> </a:t>
            </a:r>
            <a:r>
              <a:rPr lang="fr-FR" dirty="0" err="1"/>
              <a:t>estimates</a:t>
            </a:r>
            <a:r>
              <a:rPr lang="fr-FR" dirty="0"/>
              <a:t> of </a:t>
            </a:r>
            <a:r>
              <a:rPr lang="fr-FR" dirty="0" err="1"/>
              <a:t>intercepts</a:t>
            </a:r>
            <a:r>
              <a:rPr lang="fr-FR" dirty="0"/>
              <a:t> for </a:t>
            </a:r>
            <a:r>
              <a:rPr lang="fr-FR" dirty="0" err="1"/>
              <a:t>each</a:t>
            </a:r>
            <a:r>
              <a:rPr lang="fr-FR" dirty="0"/>
              <a:t> </a:t>
            </a:r>
            <a:r>
              <a:rPr lang="fr-FR" dirty="0" err="1"/>
              <a:t>individual</a:t>
            </a:r>
            <a:r>
              <a:rPr lang="fr-FR" dirty="0"/>
              <a:t> (</a:t>
            </a:r>
            <a:r>
              <a:rPr lang="fr-FR" dirty="0" err="1"/>
              <a:t>also</a:t>
            </a:r>
            <a:r>
              <a:rPr lang="fr-FR" dirty="0"/>
              <a:t> </a:t>
            </a:r>
            <a:r>
              <a:rPr lang="fr-FR" dirty="0" err="1"/>
              <a:t>called</a:t>
            </a:r>
            <a:r>
              <a:rPr lang="fr-FR" dirty="0"/>
              <a:t> </a:t>
            </a:r>
            <a:r>
              <a:rPr lang="fr-FR" dirty="0" err="1"/>
              <a:t>fixed</a:t>
            </a:r>
            <a:r>
              <a:rPr lang="fr-FR" dirty="0"/>
              <a:t> </a:t>
            </a:r>
            <a:r>
              <a:rPr lang="fr-FR" dirty="0" err="1"/>
              <a:t>effects</a:t>
            </a:r>
            <a:r>
              <a:rPr lang="fr-FR" dirty="0"/>
              <a:t>) are the </a:t>
            </a:r>
            <a:r>
              <a:rPr lang="fr-FR" dirty="0" err="1"/>
              <a:t>intercepts</a:t>
            </a:r>
            <a:r>
              <a:rPr lang="fr-FR" dirty="0"/>
              <a:t> </a:t>
            </a:r>
            <a:r>
              <a:rPr lang="fr-FR" dirty="0" err="1"/>
              <a:t>found</a:t>
            </a:r>
            <a:r>
              <a:rPr lang="fr-FR" dirty="0"/>
              <a:t> by the </a:t>
            </a:r>
            <a:r>
              <a:rPr lang="fr-FR" dirty="0" err="1"/>
              <a:t>unrestricted</a:t>
            </a:r>
            <a:r>
              <a:rPr lang="fr-FR" dirty="0"/>
              <a:t> time </a:t>
            </a:r>
            <a:r>
              <a:rPr lang="fr-FR" dirty="0" err="1"/>
              <a:t>series</a:t>
            </a:r>
            <a:r>
              <a:rPr lang="fr-FR" dirty="0"/>
              <a:t> by country </a:t>
            </a:r>
            <a:r>
              <a:rPr lang="fr-FR" dirty="0" err="1"/>
              <a:t>estimates</a:t>
            </a:r>
            <a:r>
              <a:rPr lang="fr-FR" dirty="0"/>
              <a:t>.</a:t>
            </a:r>
          </a:p>
          <a:p>
            <a:pPr marL="0" indent="0">
              <a:buNone/>
            </a:pPr>
            <a:r>
              <a:rPr lang="el-GR" dirty="0">
                <a:latin typeface="Cambria Math"/>
                <a:ea typeface="Cambria Math"/>
              </a:rPr>
              <a:t> </a:t>
            </a:r>
            <a:r>
              <a:rPr lang="pt-BR" dirty="0">
                <a:latin typeface="Cambria Math" panose="02040503050406030204" pitchFamily="18" charset="0"/>
                <a:ea typeface="Cambria Math" panose="02040503050406030204" pitchFamily="18" charset="0"/>
              </a:rPr>
              <a:t>⇒ the panel data estimators of intercepts are </a:t>
            </a:r>
            <a:r>
              <a:rPr lang="pt-BR" b="1" dirty="0">
                <a:latin typeface="Cambria Math" panose="02040503050406030204" pitchFamily="18" charset="0"/>
                <a:ea typeface="Cambria Math" panose="02040503050406030204" pitchFamily="18" charset="0"/>
              </a:rPr>
              <a:t>biased</a:t>
            </a:r>
            <a:r>
              <a:rPr lang="pt-BR" dirty="0">
                <a:latin typeface="Cambria Math" panose="02040503050406030204" pitchFamily="18" charset="0"/>
                <a:ea typeface="Cambria Math" panose="02040503050406030204" pitchFamily="18" charset="0"/>
              </a:rPr>
              <a:t> due to the spillovers of the common slope restriction</a:t>
            </a:r>
          </a:p>
          <a:p>
            <a:pPr marL="0" indent="0" algn="just">
              <a:buNone/>
            </a:pPr>
            <a:r>
              <a:rPr lang="el-GR" dirty="0">
                <a:latin typeface="Cambria Math"/>
                <a:ea typeface="Cambria Math"/>
              </a:rPr>
              <a:t> </a:t>
            </a:r>
            <a:r>
              <a:rPr lang="pt-BR" dirty="0">
                <a:latin typeface="Cambria Math" panose="02040503050406030204" pitchFamily="18" charset="0"/>
                <a:ea typeface="Cambria Math" panose="02040503050406030204" pitchFamily="18" charset="0"/>
              </a:rPr>
              <a:t>⇒ Never spend time discussing the interpretation of “fixed effects” intercepts using panel data estimators. You may not report them as on this table: Within estimations line: the symbol – for the intercept: there are in fact </a:t>
            </a:r>
            <a:r>
              <a:rPr lang="pt-BR" b="1" dirty="0">
                <a:latin typeface="Cambria Math" panose="02040503050406030204" pitchFamily="18" charset="0"/>
                <a:ea typeface="Cambria Math" panose="02040503050406030204" pitchFamily="18" charset="0"/>
              </a:rPr>
              <a:t>N=18 different intercepts</a:t>
            </a:r>
            <a:r>
              <a:rPr lang="pt-BR" dirty="0">
                <a:latin typeface="Cambria Math" panose="02040503050406030204" pitchFamily="18" charset="0"/>
                <a:ea typeface="Cambria Math" panose="02040503050406030204" pitchFamily="18" charset="0"/>
              </a:rPr>
              <a:t> of each country.</a:t>
            </a:r>
            <a:endParaRPr lang="en-GB" dirty="0"/>
          </a:p>
        </p:txBody>
      </p:sp>
    </p:spTree>
    <p:extLst>
      <p:ext uri="{BB962C8B-B14F-4D97-AF65-F5344CB8AC3E}">
        <p14:creationId xmlns:p14="http://schemas.microsoft.com/office/powerpoint/2010/main" val="66572309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800" dirty="0"/>
              <a:t>Times </a:t>
            </a:r>
            <a:r>
              <a:rPr lang="fr-FR" sz="2800" dirty="0" err="1"/>
              <a:t>series</a:t>
            </a:r>
            <a:r>
              <a:rPr lang="fr-FR" sz="2800" dirty="0"/>
              <a:t> VERSUS  </a:t>
            </a:r>
            <a:br>
              <a:rPr lang="fr-FR" sz="2800" dirty="0"/>
            </a:br>
            <a:r>
              <a:rPr lang="fr-FR" sz="2800" dirty="0"/>
              <a:t>panel </a:t>
            </a:r>
            <a:r>
              <a:rPr lang="fr-FR" sz="2800" dirty="0" err="1"/>
              <a:t>estimators</a:t>
            </a:r>
            <a:r>
              <a:rPr lang="fr-FR" sz="2800" dirty="0"/>
              <a:t> </a:t>
            </a:r>
            <a:r>
              <a:rPr lang="fr-FR" sz="2800" dirty="0" err="1"/>
              <a:t>common</a:t>
            </a:r>
            <a:r>
              <a:rPr lang="fr-FR" sz="2800" dirty="0"/>
              <a:t> </a:t>
            </a:r>
            <a:r>
              <a:rPr lang="fr-FR" sz="2800" dirty="0" err="1"/>
              <a:t>slopes</a:t>
            </a:r>
            <a:r>
              <a:rPr lang="fr-FR" sz="2800" dirty="0"/>
              <a:t> </a:t>
            </a:r>
            <a:br>
              <a:rPr lang="fr-FR" sz="2800" dirty="0"/>
            </a:br>
            <a:r>
              <a:rPr lang="fr-FR" sz="2800" dirty="0"/>
              <a:t>VERSUS </a:t>
            </a:r>
            <a:r>
              <a:rPr lang="fr-FR" sz="2800" dirty="0" err="1"/>
              <a:t>pooled</a:t>
            </a:r>
            <a:r>
              <a:rPr lang="fr-FR" sz="2800" dirty="0"/>
              <a:t> OLS </a:t>
            </a:r>
          </a:p>
        </p:txBody>
      </p:sp>
      <p:sp>
        <p:nvSpPr>
          <p:cNvPr id="3" name="Espace réservé du contenu 2"/>
          <p:cNvSpPr>
            <a:spLocks noGrp="1"/>
          </p:cNvSpPr>
          <p:nvPr>
            <p:ph idx="1"/>
          </p:nvPr>
        </p:nvSpPr>
        <p:spPr/>
        <p:txBody>
          <a:bodyPr>
            <a:normAutofit/>
          </a:bodyPr>
          <a:lstStyle/>
          <a:p>
            <a:pPr marL="0" indent="0">
              <a:buNone/>
            </a:pPr>
            <a:r>
              <a:rPr lang="fr-FR" altLang="fr-FR" dirty="0"/>
              <a:t>Per country time </a:t>
            </a:r>
            <a:r>
              <a:rPr lang="fr-FR" altLang="fr-FR" dirty="0" err="1"/>
              <a:t>series</a:t>
            </a:r>
            <a:r>
              <a:rPr lang="fr-FR" altLang="fr-FR" dirty="0"/>
              <a:t> </a:t>
            </a:r>
            <a:r>
              <a:rPr lang="fr-FR" altLang="fr-FR" dirty="0" err="1"/>
              <a:t>equations</a:t>
            </a:r>
            <a:endParaRPr lang="fr-FR" altLang="fr-FR" dirty="0"/>
          </a:p>
          <a:p>
            <a:pPr marL="0" indent="0">
              <a:buNone/>
            </a:pPr>
            <a:r>
              <a:rPr lang="fr-FR" altLang="fr-FR" dirty="0"/>
              <a:t>y</a:t>
            </a:r>
            <a:r>
              <a:rPr lang="fr-FR" baseline="-25000" dirty="0">
                <a:latin typeface="Cambria Math" panose="02040503050406030204" pitchFamily="18" charset="0"/>
                <a:ea typeface="Cambria Math" panose="02040503050406030204" pitchFamily="18" charset="0"/>
              </a:rPr>
              <a:t>i=1,t </a:t>
            </a:r>
            <a:r>
              <a:rPr lang="fr-FR" altLang="fr-FR" dirty="0"/>
              <a:t>= </a:t>
            </a:r>
            <a:r>
              <a:rPr lang="el-GR" altLang="fr-FR" dirty="0">
                <a:solidFill>
                  <a:srgbClr val="FF0000"/>
                </a:solidFill>
              </a:rPr>
              <a:t>β</a:t>
            </a:r>
            <a:r>
              <a:rPr lang="fr-FR" baseline="-25000" dirty="0">
                <a:latin typeface="Cambria Math" panose="02040503050406030204" pitchFamily="18" charset="0"/>
                <a:ea typeface="Cambria Math" panose="02040503050406030204" pitchFamily="18" charset="0"/>
              </a:rPr>
              <a:t>0,i=1</a:t>
            </a:r>
            <a:r>
              <a:rPr lang="fr-FR" altLang="fr-FR" dirty="0"/>
              <a:t>+ </a:t>
            </a:r>
            <a:r>
              <a:rPr lang="el-GR" altLang="fr-FR" dirty="0">
                <a:solidFill>
                  <a:srgbClr val="FF0000"/>
                </a:solidFill>
              </a:rPr>
              <a:t>β</a:t>
            </a:r>
            <a:r>
              <a:rPr lang="fr-FR" altLang="fr-FR" baseline="-25000" dirty="0" err="1">
                <a:latin typeface="Cambria Math" panose="02040503050406030204" pitchFamily="18" charset="0"/>
                <a:ea typeface="Cambria Math" panose="02040503050406030204" pitchFamily="18" charset="0"/>
              </a:rPr>
              <a:t>x</a:t>
            </a:r>
            <a:r>
              <a:rPr lang="fr-FR" baseline="-25000" dirty="0" err="1">
                <a:latin typeface="Cambria Math" panose="02040503050406030204" pitchFamily="18" charset="0"/>
                <a:ea typeface="Cambria Math" panose="02040503050406030204" pitchFamily="18" charset="0"/>
              </a:rPr>
              <a:t>,i</a:t>
            </a:r>
            <a:r>
              <a:rPr lang="fr-FR" baseline="-25000" dirty="0">
                <a:latin typeface="Cambria Math" panose="02040503050406030204" pitchFamily="18" charset="0"/>
                <a:ea typeface="Cambria Math" panose="02040503050406030204" pitchFamily="18" charset="0"/>
              </a:rPr>
              <a:t>=1 </a:t>
            </a:r>
            <a:r>
              <a:rPr lang="fr-FR" altLang="fr-FR" dirty="0"/>
              <a:t>.x</a:t>
            </a:r>
            <a:r>
              <a:rPr lang="fr-FR" baseline="-25000" dirty="0">
                <a:latin typeface="Cambria Math" panose="02040503050406030204" pitchFamily="18" charset="0"/>
                <a:ea typeface="Cambria Math" panose="02040503050406030204" pitchFamily="18" charset="0"/>
              </a:rPr>
              <a:t>i=1,t</a:t>
            </a:r>
            <a:r>
              <a:rPr lang="fr-FR" altLang="fr-FR" dirty="0"/>
              <a:t>+</a:t>
            </a:r>
            <a:r>
              <a:rPr lang="el-GR" altLang="fr-FR" b="1" dirty="0">
                <a:solidFill>
                  <a:srgbClr val="00B050"/>
                </a:solidFill>
              </a:rPr>
              <a:t>α</a:t>
            </a:r>
            <a:r>
              <a:rPr lang="fr-FR" baseline="-25000" dirty="0">
                <a:latin typeface="Cambria Math" panose="02040503050406030204" pitchFamily="18" charset="0"/>
                <a:ea typeface="Cambria Math" panose="02040503050406030204" pitchFamily="18" charset="0"/>
              </a:rPr>
              <a:t> i=1</a:t>
            </a:r>
            <a:r>
              <a:rPr lang="fr-FR" altLang="fr-FR" b="1" dirty="0">
                <a:solidFill>
                  <a:srgbClr val="00B050"/>
                </a:solidFill>
              </a:rPr>
              <a:t>+</a:t>
            </a:r>
            <a:r>
              <a:rPr lang="el-GR" altLang="fr-FR" b="1" strike="sngStrike" dirty="0">
                <a:solidFill>
                  <a:srgbClr val="00B050"/>
                </a:solidFill>
              </a:rPr>
              <a:t>α</a:t>
            </a:r>
            <a:r>
              <a:rPr lang="fr-FR" strike="sngStrike" baseline="-25000" dirty="0">
                <a:latin typeface="Cambria Math" panose="02040503050406030204" pitchFamily="18" charset="0"/>
                <a:ea typeface="Cambria Math" panose="02040503050406030204" pitchFamily="18" charset="0"/>
              </a:rPr>
              <a:t> t</a:t>
            </a:r>
            <a:r>
              <a:rPr lang="fr-FR" altLang="fr-FR" b="1" dirty="0">
                <a:solidFill>
                  <a:srgbClr val="00B050"/>
                </a:solidFill>
              </a:rPr>
              <a:t>+</a:t>
            </a:r>
            <a:r>
              <a:rPr lang="el-GR" altLang="fr-FR" b="1" dirty="0">
                <a:solidFill>
                  <a:srgbClr val="00B050"/>
                </a:solidFill>
              </a:rPr>
              <a:t>ε</a:t>
            </a:r>
            <a:r>
              <a:rPr lang="fr-FR" baseline="-25000" dirty="0">
                <a:latin typeface="Cambria Math" panose="02040503050406030204" pitchFamily="18" charset="0"/>
                <a:ea typeface="Cambria Math" panose="02040503050406030204" pitchFamily="18" charset="0"/>
              </a:rPr>
              <a:t>i=1,t </a:t>
            </a:r>
            <a:endParaRPr lang="fr-FR" altLang="fr-FR" b="1" dirty="0">
              <a:solidFill>
                <a:srgbClr val="00B050"/>
              </a:solidFill>
            </a:endParaRPr>
          </a:p>
          <a:p>
            <a:pPr marL="0" indent="0">
              <a:buNone/>
            </a:pPr>
            <a:r>
              <a:rPr lang="fr-FR" altLang="fr-FR" dirty="0"/>
              <a:t>y</a:t>
            </a:r>
            <a:r>
              <a:rPr lang="fr-FR" baseline="-25000" dirty="0">
                <a:latin typeface="Cambria Math" panose="02040503050406030204" pitchFamily="18" charset="0"/>
                <a:ea typeface="Cambria Math" panose="02040503050406030204" pitchFamily="18" charset="0"/>
              </a:rPr>
              <a:t>i=2,t </a:t>
            </a:r>
            <a:r>
              <a:rPr lang="fr-FR" altLang="fr-FR" dirty="0"/>
              <a:t>= </a:t>
            </a:r>
            <a:r>
              <a:rPr lang="el-GR" altLang="fr-FR" dirty="0">
                <a:solidFill>
                  <a:srgbClr val="FF0000"/>
                </a:solidFill>
              </a:rPr>
              <a:t>β</a:t>
            </a:r>
            <a:r>
              <a:rPr lang="fr-FR" baseline="-25000" dirty="0">
                <a:latin typeface="Cambria Math" panose="02040503050406030204" pitchFamily="18" charset="0"/>
                <a:ea typeface="Cambria Math" panose="02040503050406030204" pitchFamily="18" charset="0"/>
              </a:rPr>
              <a:t>0,i=2 </a:t>
            </a:r>
            <a:r>
              <a:rPr lang="fr-FR" altLang="fr-FR" dirty="0"/>
              <a:t>+</a:t>
            </a:r>
            <a:r>
              <a:rPr lang="el-GR" altLang="fr-FR" dirty="0">
                <a:solidFill>
                  <a:srgbClr val="FF0000"/>
                </a:solidFill>
              </a:rPr>
              <a:t> β</a:t>
            </a:r>
            <a:r>
              <a:rPr lang="fr-FR" altLang="fr-FR" baseline="-25000" dirty="0" err="1">
                <a:latin typeface="Cambria Math" panose="02040503050406030204" pitchFamily="18" charset="0"/>
                <a:ea typeface="Cambria Math" panose="02040503050406030204" pitchFamily="18" charset="0"/>
              </a:rPr>
              <a:t>x</a:t>
            </a:r>
            <a:r>
              <a:rPr lang="fr-FR" baseline="-25000" dirty="0" err="1">
                <a:latin typeface="Cambria Math" panose="02040503050406030204" pitchFamily="18" charset="0"/>
                <a:ea typeface="Cambria Math" panose="02040503050406030204" pitchFamily="18" charset="0"/>
              </a:rPr>
              <a:t>,i</a:t>
            </a:r>
            <a:r>
              <a:rPr lang="fr-FR" baseline="-25000" dirty="0">
                <a:latin typeface="Cambria Math" panose="02040503050406030204" pitchFamily="18" charset="0"/>
                <a:ea typeface="Cambria Math" panose="02040503050406030204" pitchFamily="18" charset="0"/>
              </a:rPr>
              <a:t>=2 </a:t>
            </a:r>
            <a:r>
              <a:rPr lang="fr-FR" altLang="fr-FR" dirty="0"/>
              <a:t>.x</a:t>
            </a:r>
            <a:r>
              <a:rPr lang="fr-FR" baseline="-25000" dirty="0">
                <a:latin typeface="Cambria Math" panose="02040503050406030204" pitchFamily="18" charset="0"/>
                <a:ea typeface="Cambria Math" panose="02040503050406030204" pitchFamily="18" charset="0"/>
              </a:rPr>
              <a:t>i=2,t </a:t>
            </a:r>
            <a:r>
              <a:rPr lang="fr-FR" altLang="fr-FR" dirty="0"/>
              <a:t>+</a:t>
            </a:r>
            <a:r>
              <a:rPr lang="el-GR" altLang="fr-FR" b="1" dirty="0">
                <a:solidFill>
                  <a:srgbClr val="00B050"/>
                </a:solidFill>
              </a:rPr>
              <a:t>α</a:t>
            </a:r>
            <a:r>
              <a:rPr lang="fr-FR" baseline="-25000" dirty="0">
                <a:latin typeface="Cambria Math" panose="02040503050406030204" pitchFamily="18" charset="0"/>
                <a:ea typeface="Cambria Math" panose="02040503050406030204" pitchFamily="18" charset="0"/>
              </a:rPr>
              <a:t>i=2</a:t>
            </a:r>
            <a:r>
              <a:rPr lang="fr-FR" altLang="fr-FR" b="1" dirty="0">
                <a:solidFill>
                  <a:srgbClr val="00B050"/>
                </a:solidFill>
              </a:rPr>
              <a:t>+</a:t>
            </a:r>
            <a:r>
              <a:rPr lang="el-GR" altLang="fr-FR" b="1" strike="sngStrike" dirty="0">
                <a:solidFill>
                  <a:srgbClr val="00B050"/>
                </a:solidFill>
              </a:rPr>
              <a:t>α</a:t>
            </a:r>
            <a:r>
              <a:rPr lang="fr-FR" strike="sngStrike" baseline="-25000" dirty="0">
                <a:latin typeface="Cambria Math" panose="02040503050406030204" pitchFamily="18" charset="0"/>
                <a:ea typeface="Cambria Math" panose="02040503050406030204" pitchFamily="18" charset="0"/>
              </a:rPr>
              <a:t> t</a:t>
            </a:r>
            <a:r>
              <a:rPr lang="fr-FR" altLang="fr-FR" b="1" dirty="0">
                <a:solidFill>
                  <a:srgbClr val="00B050"/>
                </a:solidFill>
              </a:rPr>
              <a:t>+</a:t>
            </a:r>
            <a:r>
              <a:rPr lang="el-GR" altLang="fr-FR" b="1" dirty="0">
                <a:solidFill>
                  <a:srgbClr val="00B050"/>
                </a:solidFill>
              </a:rPr>
              <a:t>ε</a:t>
            </a:r>
            <a:r>
              <a:rPr lang="fr-FR" baseline="-25000" dirty="0">
                <a:latin typeface="Cambria Math" panose="02040503050406030204" pitchFamily="18" charset="0"/>
                <a:ea typeface="Cambria Math" panose="02040503050406030204" pitchFamily="18" charset="0"/>
              </a:rPr>
              <a:t>i=2,t </a:t>
            </a:r>
            <a:endParaRPr lang="fr-FR" altLang="fr-FR" b="1" dirty="0">
              <a:solidFill>
                <a:srgbClr val="00B050"/>
              </a:solidFill>
            </a:endParaRPr>
          </a:p>
          <a:p>
            <a:pPr marL="0" indent="0" algn="just">
              <a:buNone/>
            </a:pPr>
            <a:r>
              <a:rPr lang="fr-FR" altLang="fr-FR" dirty="0" err="1"/>
              <a:t>Fixed</a:t>
            </a:r>
            <a:r>
              <a:rPr lang="fr-FR" altLang="fr-FR" dirty="0"/>
              <a:t> </a:t>
            </a:r>
            <a:r>
              <a:rPr lang="fr-FR" altLang="fr-FR" dirty="0" err="1"/>
              <a:t>effect</a:t>
            </a:r>
            <a:r>
              <a:rPr lang="fr-FR" altLang="fr-FR" dirty="0"/>
              <a:t> (</a:t>
            </a:r>
            <a:r>
              <a:rPr lang="fr-FR" altLang="fr-FR" dirty="0" err="1"/>
              <a:t>Within</a:t>
            </a:r>
            <a:r>
              <a:rPr lang="fr-FR" altLang="fr-FR" dirty="0"/>
              <a:t>), </a:t>
            </a:r>
            <a:r>
              <a:rPr lang="fr-FR" altLang="fr-FR" dirty="0" err="1"/>
              <a:t>Random</a:t>
            </a:r>
            <a:r>
              <a:rPr lang="fr-FR" altLang="fr-FR" dirty="0"/>
              <a:t> </a:t>
            </a:r>
            <a:r>
              <a:rPr lang="fr-FR" altLang="fr-FR" dirty="0" err="1"/>
              <a:t>effects</a:t>
            </a:r>
            <a:r>
              <a:rPr lang="fr-FR" altLang="fr-FR" dirty="0"/>
              <a:t> and </a:t>
            </a:r>
            <a:r>
              <a:rPr lang="fr-FR" altLang="fr-FR" dirty="0" err="1"/>
              <a:t>Between</a:t>
            </a:r>
            <a:r>
              <a:rPr lang="fr-FR" altLang="fr-FR" dirty="0"/>
              <a:t> </a:t>
            </a:r>
            <a:r>
              <a:rPr lang="fr-FR" altLang="fr-FR" dirty="0" err="1"/>
              <a:t>estimators</a:t>
            </a:r>
            <a:r>
              <a:rPr lang="fr-FR" altLang="fr-FR" dirty="0"/>
              <a:t> assumes the restriction of </a:t>
            </a:r>
            <a:r>
              <a:rPr lang="fr-FR" altLang="fr-FR" dirty="0" err="1"/>
              <a:t>common</a:t>
            </a:r>
            <a:r>
              <a:rPr lang="fr-FR" altLang="fr-FR" dirty="0"/>
              <a:t> </a:t>
            </a:r>
            <a:r>
              <a:rPr lang="fr-FR" altLang="fr-FR" dirty="0" err="1"/>
              <a:t>slopes</a:t>
            </a:r>
            <a:r>
              <a:rPr lang="fr-FR" altLang="fr-FR" dirty="0"/>
              <a:t>: </a:t>
            </a:r>
            <a:r>
              <a:rPr lang="el-GR" altLang="fr-FR" dirty="0">
                <a:solidFill>
                  <a:srgbClr val="FF0000"/>
                </a:solidFill>
              </a:rPr>
              <a:t>β</a:t>
            </a:r>
            <a:r>
              <a:rPr lang="fr-FR" altLang="fr-FR" baseline="-25000" dirty="0">
                <a:ea typeface="Cambria Math" panose="02040503050406030204" pitchFamily="18" charset="0"/>
              </a:rPr>
              <a:t>x</a:t>
            </a:r>
            <a:r>
              <a:rPr lang="fr-FR" baseline="-25000" dirty="0">
                <a:ea typeface="Cambria Math" panose="02040503050406030204" pitchFamily="18" charset="0"/>
              </a:rPr>
              <a:t>, i=1 </a:t>
            </a:r>
            <a:r>
              <a:rPr lang="fr-FR" altLang="fr-FR" b="1" dirty="0">
                <a:solidFill>
                  <a:srgbClr val="FF0000"/>
                </a:solidFill>
              </a:rPr>
              <a:t>=</a:t>
            </a:r>
            <a:r>
              <a:rPr lang="el-GR" altLang="fr-FR" dirty="0">
                <a:solidFill>
                  <a:srgbClr val="FF0000"/>
                </a:solidFill>
              </a:rPr>
              <a:t> β</a:t>
            </a:r>
            <a:r>
              <a:rPr lang="fr-FR" altLang="fr-FR" baseline="-25000" dirty="0">
                <a:ea typeface="Cambria Math" panose="02040503050406030204" pitchFamily="18" charset="0"/>
              </a:rPr>
              <a:t>x</a:t>
            </a:r>
            <a:r>
              <a:rPr lang="fr-FR" baseline="-25000" dirty="0">
                <a:ea typeface="Cambria Math" panose="02040503050406030204" pitchFamily="18" charset="0"/>
              </a:rPr>
              <a:t>, i=2</a:t>
            </a:r>
            <a:r>
              <a:rPr lang="fr-FR" baseline="-25000" dirty="0">
                <a:latin typeface="Cambria Math" panose="02040503050406030204" pitchFamily="18" charset="0"/>
                <a:ea typeface="Cambria Math" panose="02040503050406030204" pitchFamily="18" charset="0"/>
              </a:rPr>
              <a:t> </a:t>
            </a:r>
            <a:r>
              <a:rPr lang="fr-FR" altLang="fr-FR" dirty="0">
                <a:solidFill>
                  <a:srgbClr val="FF0000"/>
                </a:solidFill>
              </a:rPr>
              <a:t>, </a:t>
            </a:r>
          </a:p>
          <a:p>
            <a:pPr marL="0" indent="0" algn="just">
              <a:buNone/>
            </a:pPr>
            <a:r>
              <a:rPr lang="fr-FR" altLang="fr-FR" dirty="0" err="1"/>
              <a:t>Pooled</a:t>
            </a:r>
            <a:r>
              <a:rPr lang="fr-FR" altLang="fr-FR" dirty="0"/>
              <a:t> OLS </a:t>
            </a:r>
            <a:r>
              <a:rPr lang="fr-FR" altLang="fr-FR" dirty="0" err="1"/>
              <a:t>also</a:t>
            </a:r>
            <a:r>
              <a:rPr lang="fr-FR" altLang="fr-FR" dirty="0"/>
              <a:t> assumes </a:t>
            </a:r>
            <a:r>
              <a:rPr lang="fr-FR" altLang="fr-FR" dirty="0" err="1"/>
              <a:t>common</a:t>
            </a:r>
            <a:r>
              <a:rPr lang="fr-FR" altLang="fr-FR" dirty="0"/>
              <a:t> </a:t>
            </a:r>
            <a:r>
              <a:rPr lang="fr-FR" altLang="fr-FR" dirty="0" err="1"/>
              <a:t>intercepts</a:t>
            </a:r>
            <a:r>
              <a:rPr lang="fr-FR" altLang="fr-FR" dirty="0"/>
              <a:t>:  </a:t>
            </a:r>
            <a:r>
              <a:rPr lang="el-GR" altLang="fr-FR" dirty="0">
                <a:solidFill>
                  <a:srgbClr val="FF0000"/>
                </a:solidFill>
              </a:rPr>
              <a:t>β</a:t>
            </a:r>
            <a:r>
              <a:rPr lang="fr-FR" altLang="fr-FR" baseline="-25000" dirty="0">
                <a:ea typeface="Cambria Math" panose="02040503050406030204" pitchFamily="18" charset="0"/>
              </a:rPr>
              <a:t>0</a:t>
            </a:r>
            <a:r>
              <a:rPr lang="fr-FR" baseline="-25000" dirty="0">
                <a:ea typeface="Cambria Math" panose="02040503050406030204" pitchFamily="18" charset="0"/>
              </a:rPr>
              <a:t>, i=1 </a:t>
            </a:r>
            <a:r>
              <a:rPr lang="fr-FR" altLang="fr-FR" b="1" dirty="0">
                <a:solidFill>
                  <a:srgbClr val="FF0000"/>
                </a:solidFill>
              </a:rPr>
              <a:t>=</a:t>
            </a:r>
            <a:r>
              <a:rPr lang="el-GR" altLang="fr-FR" dirty="0">
                <a:solidFill>
                  <a:srgbClr val="FF0000"/>
                </a:solidFill>
              </a:rPr>
              <a:t> β</a:t>
            </a:r>
            <a:r>
              <a:rPr lang="fr-FR" altLang="fr-FR" baseline="-25000" dirty="0">
                <a:ea typeface="Cambria Math" panose="02040503050406030204" pitchFamily="18" charset="0"/>
              </a:rPr>
              <a:t>0</a:t>
            </a:r>
            <a:r>
              <a:rPr lang="fr-FR" baseline="-25000" dirty="0">
                <a:ea typeface="Cambria Math" panose="02040503050406030204" pitchFamily="18" charset="0"/>
              </a:rPr>
              <a:t>, i=2</a:t>
            </a:r>
            <a:r>
              <a:rPr lang="fr-FR" baseline="-25000" dirty="0">
                <a:latin typeface="Cambria Math" panose="02040503050406030204" pitchFamily="18" charset="0"/>
                <a:ea typeface="Cambria Math" panose="02040503050406030204" pitchFamily="18" charset="0"/>
              </a:rPr>
              <a:t> </a:t>
            </a:r>
            <a:r>
              <a:rPr lang="fr-FR" dirty="0"/>
              <a:t>.</a:t>
            </a:r>
            <a:r>
              <a:rPr lang="fr-FR" altLang="fr-FR" dirty="0">
                <a:solidFill>
                  <a:srgbClr val="FF0000"/>
                </a:solidFill>
              </a:rPr>
              <a:t> </a:t>
            </a:r>
          </a:p>
        </p:txBody>
      </p:sp>
    </p:spTree>
    <p:extLst>
      <p:ext uri="{BB962C8B-B14F-4D97-AF65-F5344CB8AC3E}">
        <p14:creationId xmlns:p14="http://schemas.microsoft.com/office/powerpoint/2010/main" val="378693898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fr-FR" dirty="0" err="1"/>
              <a:t>Residuals</a:t>
            </a:r>
            <a:r>
              <a:rPr lang="fr-FR" dirty="0"/>
              <a:t> by </a:t>
            </a:r>
            <a:r>
              <a:rPr lang="fr-FR" dirty="0" err="1"/>
              <a:t>individuals</a:t>
            </a:r>
            <a:r>
              <a:rPr lang="fr-FR" dirty="0"/>
              <a:t>, </a:t>
            </a:r>
            <a:br>
              <a:rPr lang="fr-FR" dirty="0"/>
            </a:br>
            <a:r>
              <a:rPr lang="fr-FR" dirty="0" err="1"/>
              <a:t>next</a:t>
            </a:r>
            <a:r>
              <a:rPr lang="fr-FR" dirty="0"/>
              <a:t> </a:t>
            </a:r>
            <a:r>
              <a:rPr lang="fr-FR" dirty="0" err="1"/>
              <a:t>three</a:t>
            </a:r>
            <a:r>
              <a:rPr lang="fr-FR" dirty="0"/>
              <a:t> slides</a:t>
            </a:r>
          </a:p>
        </p:txBody>
      </p:sp>
      <p:graphicFrame>
        <p:nvGraphicFramePr>
          <p:cNvPr id="7" name="Espace réservé du contenu 6"/>
          <p:cNvGraphicFramePr>
            <a:graphicFrameLocks noGrp="1"/>
          </p:cNvGraphicFramePr>
          <p:nvPr>
            <p:ph idx="1"/>
            <p:extLst>
              <p:ext uri="{D42A27DB-BD31-4B8C-83A1-F6EECF244321}">
                <p14:modId xmlns:p14="http://schemas.microsoft.com/office/powerpoint/2010/main" val="2193301978"/>
              </p:ext>
            </p:extLst>
          </p:nvPr>
        </p:nvGraphicFramePr>
        <p:xfrm>
          <a:off x="457200" y="1600200"/>
          <a:ext cx="8291265" cy="4480560"/>
        </p:xfrm>
        <a:graphic>
          <a:graphicData uri="http://schemas.openxmlformats.org/drawingml/2006/table">
            <a:tbl>
              <a:tblPr firstRow="1" bandRow="1">
                <a:tableStyleId>{5940675A-B579-460E-94D1-54222C63F5DA}</a:tableStyleId>
              </a:tblPr>
              <a:tblGrid>
                <a:gridCol w="2763755">
                  <a:extLst>
                    <a:ext uri="{9D8B030D-6E8A-4147-A177-3AD203B41FA5}">
                      <a16:colId xmlns:a16="http://schemas.microsoft.com/office/drawing/2014/main" val="20000"/>
                    </a:ext>
                  </a:extLst>
                </a:gridCol>
                <a:gridCol w="2763755">
                  <a:extLst>
                    <a:ext uri="{9D8B030D-6E8A-4147-A177-3AD203B41FA5}">
                      <a16:colId xmlns:a16="http://schemas.microsoft.com/office/drawing/2014/main" val="20001"/>
                    </a:ext>
                  </a:extLst>
                </a:gridCol>
                <a:gridCol w="2763755">
                  <a:extLst>
                    <a:ext uri="{9D8B030D-6E8A-4147-A177-3AD203B41FA5}">
                      <a16:colId xmlns:a16="http://schemas.microsoft.com/office/drawing/2014/main" val="20002"/>
                    </a:ext>
                  </a:extLst>
                </a:gridCol>
              </a:tblGrid>
              <a:tr h="604664">
                <a:tc>
                  <a:txBody>
                    <a:bodyPr/>
                    <a:lstStyle/>
                    <a:p>
                      <a:r>
                        <a:rPr lang="fr-FR" sz="1800" dirty="0"/>
                        <a:t>Estimations</a:t>
                      </a:r>
                    </a:p>
                  </a:txBody>
                  <a:tcPr/>
                </a:tc>
                <a:tc>
                  <a:txBody>
                    <a:bodyPr/>
                    <a:lstStyle/>
                    <a:p>
                      <a:r>
                        <a:rPr lang="fr-FR" sz="1800" dirty="0" err="1"/>
                        <a:t>Slopes</a:t>
                      </a:r>
                      <a:r>
                        <a:rPr lang="fr-FR" sz="1800" dirty="0"/>
                        <a:t>: for </a:t>
                      </a:r>
                      <a:r>
                        <a:rPr lang="fr-FR" sz="1800" dirty="0" err="1"/>
                        <a:t>each</a:t>
                      </a:r>
                      <a:r>
                        <a:rPr lang="fr-FR" sz="1800" baseline="0" dirty="0"/>
                        <a:t> </a:t>
                      </a:r>
                      <a:r>
                        <a:rPr lang="fr-FR" sz="1800" baseline="0" dirty="0" err="1"/>
                        <a:t>explanatory</a:t>
                      </a:r>
                      <a:r>
                        <a:rPr lang="fr-FR" sz="1800" baseline="0" dirty="0"/>
                        <a:t> variable</a:t>
                      </a:r>
                      <a:endParaRPr lang="fr-FR" sz="1800" dirty="0"/>
                    </a:p>
                  </a:txBody>
                  <a:tcPr/>
                </a:tc>
                <a:tc>
                  <a:txBody>
                    <a:bodyPr/>
                    <a:lstStyle/>
                    <a:p>
                      <a:r>
                        <a:rPr lang="fr-FR" sz="1800" dirty="0" err="1"/>
                        <a:t>Intercepts</a:t>
                      </a:r>
                      <a:endParaRPr lang="fr-FR" sz="1800" dirty="0"/>
                    </a:p>
                  </a:txBody>
                  <a:tcPr/>
                </a:tc>
                <a:extLst>
                  <a:ext uri="{0D108BD9-81ED-4DB2-BD59-A6C34878D82A}">
                    <a16:rowId xmlns:a16="http://schemas.microsoft.com/office/drawing/2014/main" val="10000"/>
                  </a:ext>
                </a:extLst>
              </a:tr>
              <a:tr h="1105272">
                <a:tc>
                  <a:txBody>
                    <a:bodyPr/>
                    <a:lstStyle/>
                    <a:p>
                      <a:r>
                        <a:rPr lang="fr-FR" sz="1800" dirty="0"/>
                        <a:t>Time </a:t>
                      </a:r>
                      <a:r>
                        <a:rPr lang="fr-FR" sz="1800" dirty="0" err="1"/>
                        <a:t>series</a:t>
                      </a:r>
                      <a:r>
                        <a:rPr lang="fr-FR" sz="1800" dirty="0"/>
                        <a:t> for </a:t>
                      </a:r>
                      <a:r>
                        <a:rPr lang="fr-FR" sz="1800" dirty="0" err="1"/>
                        <a:t>each</a:t>
                      </a:r>
                      <a:r>
                        <a:rPr lang="fr-FR" sz="1800" dirty="0"/>
                        <a:t> </a:t>
                      </a:r>
                      <a:r>
                        <a:rPr lang="fr-FR" sz="1800" dirty="0" err="1"/>
                        <a:t>individual</a:t>
                      </a:r>
                      <a:r>
                        <a:rPr lang="fr-FR" sz="1800" baseline="0" dirty="0"/>
                        <a:t> or </a:t>
                      </a:r>
                    </a:p>
                    <a:p>
                      <a:r>
                        <a:rPr lang="fr-FR" sz="1800" baseline="0" dirty="0" err="1"/>
                        <a:t>seemingly</a:t>
                      </a:r>
                      <a:r>
                        <a:rPr lang="fr-FR" sz="1800" baseline="0" dirty="0"/>
                        <a:t> </a:t>
                      </a:r>
                      <a:r>
                        <a:rPr lang="fr-FR" sz="1800" baseline="0" dirty="0" err="1"/>
                        <a:t>unrelated</a:t>
                      </a:r>
                      <a:r>
                        <a:rPr lang="fr-FR" sz="1800" baseline="0" dirty="0"/>
                        <a:t> </a:t>
                      </a:r>
                      <a:r>
                        <a:rPr lang="fr-FR" sz="1800" baseline="0" dirty="0" err="1"/>
                        <a:t>regression</a:t>
                      </a:r>
                      <a:r>
                        <a:rPr lang="fr-FR" sz="1800" baseline="0" dirty="0"/>
                        <a:t> </a:t>
                      </a:r>
                      <a:r>
                        <a:rPr lang="fr-FR" sz="1800" baseline="0" dirty="0" err="1"/>
                        <a:t>estimator</a:t>
                      </a:r>
                      <a:r>
                        <a:rPr lang="fr-FR" sz="1800" baseline="0" dirty="0"/>
                        <a:t> of  a system of </a:t>
                      </a:r>
                      <a:r>
                        <a:rPr lang="fr-FR" sz="1800" baseline="0" dirty="0" err="1"/>
                        <a:t>equations</a:t>
                      </a:r>
                      <a:r>
                        <a:rPr lang="fr-FR" sz="1800" baseline="0" dirty="0"/>
                        <a:t>.</a:t>
                      </a:r>
                      <a:endParaRPr lang="fr-FR" sz="1800" dirty="0"/>
                    </a:p>
                  </a:txBody>
                  <a:tcPr/>
                </a:tc>
                <a:tc>
                  <a:txBody>
                    <a:bodyPr/>
                    <a:lstStyle/>
                    <a:p>
                      <a:r>
                        <a:rPr lang="fr-FR" sz="1800" dirty="0"/>
                        <a:t>N </a:t>
                      </a:r>
                      <a:r>
                        <a:rPr lang="fr-FR" sz="1800" dirty="0" err="1"/>
                        <a:t>estimated</a:t>
                      </a:r>
                      <a:r>
                        <a:rPr lang="fr-FR" sz="1800" baseline="0" dirty="0"/>
                        <a:t> </a:t>
                      </a:r>
                      <a:r>
                        <a:rPr lang="fr-FR" sz="1800" baseline="0" dirty="0" err="1"/>
                        <a:t>parameters</a:t>
                      </a:r>
                      <a:r>
                        <a:rPr lang="fr-FR" sz="1800" baseline="0" dirty="0"/>
                        <a:t> </a:t>
                      </a:r>
                      <a:r>
                        <a:rPr lang="fr-FR" sz="1800" dirty="0" err="1"/>
                        <a:t>Specific</a:t>
                      </a:r>
                      <a:r>
                        <a:rPr lang="fr-FR" sz="1800" dirty="0"/>
                        <a:t> to </a:t>
                      </a:r>
                      <a:r>
                        <a:rPr lang="fr-FR" sz="1800" dirty="0" err="1"/>
                        <a:t>each</a:t>
                      </a:r>
                      <a:r>
                        <a:rPr lang="fr-FR" sz="1800" dirty="0"/>
                        <a:t> </a:t>
                      </a:r>
                      <a:r>
                        <a:rPr lang="fr-FR" sz="1800" dirty="0" err="1"/>
                        <a:t>individual</a:t>
                      </a:r>
                      <a:endParaRPr lang="fr-FR" sz="1800" dirty="0"/>
                    </a:p>
                  </a:txBody>
                  <a:tcPr/>
                </a:tc>
                <a:tc>
                  <a:txBody>
                    <a:bodyPr/>
                    <a:lstStyle/>
                    <a:p>
                      <a:r>
                        <a:rPr lang="fr-FR" sz="1800" dirty="0"/>
                        <a:t>N </a:t>
                      </a:r>
                      <a:r>
                        <a:rPr lang="fr-FR" sz="1800" dirty="0" err="1"/>
                        <a:t>estimated</a:t>
                      </a:r>
                      <a:r>
                        <a:rPr lang="fr-FR" sz="1800" dirty="0"/>
                        <a:t> </a:t>
                      </a:r>
                      <a:r>
                        <a:rPr lang="fr-FR" sz="1800" dirty="0" err="1"/>
                        <a:t>parameters</a:t>
                      </a:r>
                      <a:r>
                        <a:rPr lang="fr-FR" sz="1800" dirty="0"/>
                        <a:t> </a:t>
                      </a:r>
                      <a:r>
                        <a:rPr lang="fr-FR" sz="1800" dirty="0" err="1"/>
                        <a:t>specific</a:t>
                      </a:r>
                      <a:r>
                        <a:rPr lang="fr-FR" sz="1800" dirty="0"/>
                        <a:t> to </a:t>
                      </a:r>
                      <a:r>
                        <a:rPr lang="fr-FR" sz="1800" dirty="0" err="1"/>
                        <a:t>each</a:t>
                      </a:r>
                      <a:r>
                        <a:rPr lang="fr-FR" sz="1800" dirty="0"/>
                        <a:t> </a:t>
                      </a:r>
                      <a:r>
                        <a:rPr lang="fr-FR" sz="1800" dirty="0" err="1"/>
                        <a:t>individual</a:t>
                      </a:r>
                      <a:endParaRPr lang="fr-FR" sz="1800" dirty="0"/>
                    </a:p>
                  </a:txBody>
                  <a:tcPr/>
                </a:tc>
                <a:extLst>
                  <a:ext uri="{0D108BD9-81ED-4DB2-BD59-A6C34878D82A}">
                    <a16:rowId xmlns:a16="http://schemas.microsoft.com/office/drawing/2014/main" val="10001"/>
                  </a:ext>
                </a:extLst>
              </a:tr>
              <a:tr h="1105272">
                <a:tc>
                  <a:txBody>
                    <a:bodyPr/>
                    <a:lstStyle/>
                    <a:p>
                      <a:r>
                        <a:rPr lang="fr-FR" sz="1800" dirty="0" err="1"/>
                        <a:t>Pooled</a:t>
                      </a:r>
                      <a:r>
                        <a:rPr lang="fr-FR" sz="1800" dirty="0"/>
                        <a:t> OLS: </a:t>
                      </a:r>
                      <a:r>
                        <a:rPr lang="fr-FR" sz="1800" dirty="0" err="1"/>
                        <a:t>too</a:t>
                      </a:r>
                      <a:r>
                        <a:rPr lang="fr-FR" sz="1800" dirty="0"/>
                        <a:t> </a:t>
                      </a:r>
                      <a:r>
                        <a:rPr lang="fr-FR" sz="1800" dirty="0" err="1"/>
                        <a:t>many</a:t>
                      </a:r>
                      <a:r>
                        <a:rPr lang="fr-FR" sz="1800" dirty="0"/>
                        <a:t> restrictions: do not report </a:t>
                      </a:r>
                      <a:r>
                        <a:rPr lang="fr-FR" sz="1800" dirty="0" err="1"/>
                        <a:t>this</a:t>
                      </a:r>
                      <a:r>
                        <a:rPr lang="fr-FR" sz="1800" dirty="0"/>
                        <a:t> estimation.</a:t>
                      </a:r>
                    </a:p>
                  </a:txBody>
                  <a:tcPr/>
                </a:tc>
                <a:tc>
                  <a:txBody>
                    <a:bodyPr/>
                    <a:lstStyle/>
                    <a:p>
                      <a:r>
                        <a:rPr lang="fr-FR" sz="1800" b="1" dirty="0"/>
                        <a:t>Restriction:</a:t>
                      </a:r>
                      <a:r>
                        <a:rPr lang="fr-FR" sz="1800" dirty="0"/>
                        <a:t> </a:t>
                      </a:r>
                    </a:p>
                    <a:p>
                      <a:r>
                        <a:rPr lang="fr-FR" sz="1800" dirty="0"/>
                        <a:t>1 single </a:t>
                      </a:r>
                      <a:r>
                        <a:rPr lang="fr-FR" sz="1800" dirty="0" err="1"/>
                        <a:t>parameter</a:t>
                      </a:r>
                      <a:r>
                        <a:rPr lang="fr-FR" sz="1800" dirty="0"/>
                        <a:t> </a:t>
                      </a:r>
                      <a:r>
                        <a:rPr lang="fr-FR" sz="1800" dirty="0" err="1"/>
                        <a:t>common</a:t>
                      </a:r>
                      <a:r>
                        <a:rPr lang="fr-FR" sz="1800" dirty="0"/>
                        <a:t> to all </a:t>
                      </a:r>
                      <a:r>
                        <a:rPr lang="fr-FR" sz="1800" dirty="0" err="1"/>
                        <a:t>individuals</a:t>
                      </a:r>
                      <a:endParaRPr lang="fr-FR"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dirty="0"/>
                        <a:t>Restriction:</a:t>
                      </a:r>
                    </a:p>
                    <a:p>
                      <a:pPr marL="0" marR="0" indent="0" algn="l" defTabSz="914400" rtl="0" eaLnBrk="1" fontAlgn="auto" latinLnBrk="0" hangingPunct="1">
                        <a:lnSpc>
                          <a:spcPct val="100000"/>
                        </a:lnSpc>
                        <a:spcBef>
                          <a:spcPts val="0"/>
                        </a:spcBef>
                        <a:spcAft>
                          <a:spcPts val="0"/>
                        </a:spcAft>
                        <a:buClrTx/>
                        <a:buSzTx/>
                        <a:buFontTx/>
                        <a:buNone/>
                        <a:tabLst/>
                        <a:defRPr/>
                      </a:pPr>
                      <a:r>
                        <a:rPr lang="fr-FR" sz="1800" dirty="0"/>
                        <a:t>1 single </a:t>
                      </a:r>
                      <a:r>
                        <a:rPr lang="fr-FR" sz="1800" dirty="0" err="1"/>
                        <a:t>parameter</a:t>
                      </a:r>
                      <a:r>
                        <a:rPr lang="fr-FR" sz="1800" dirty="0"/>
                        <a:t> </a:t>
                      </a:r>
                      <a:r>
                        <a:rPr lang="fr-FR" sz="1800" dirty="0" err="1"/>
                        <a:t>common</a:t>
                      </a:r>
                      <a:r>
                        <a:rPr lang="fr-FR" sz="1800" dirty="0"/>
                        <a:t> to all </a:t>
                      </a:r>
                      <a:r>
                        <a:rPr lang="fr-FR" sz="1800" dirty="0" err="1"/>
                        <a:t>individuals</a:t>
                      </a:r>
                      <a:endParaRPr lang="fr-FR" sz="1800" dirty="0"/>
                    </a:p>
                    <a:p>
                      <a:endParaRPr lang="fr-FR" sz="1800" dirty="0"/>
                    </a:p>
                  </a:txBody>
                  <a:tcPr/>
                </a:tc>
                <a:extLst>
                  <a:ext uri="{0D108BD9-81ED-4DB2-BD59-A6C34878D82A}">
                    <a16:rowId xmlns:a16="http://schemas.microsoft.com/office/drawing/2014/main" val="10002"/>
                  </a:ext>
                </a:extLst>
              </a:tr>
              <a:tr h="1105272">
                <a:tc>
                  <a:txBody>
                    <a:bodyPr/>
                    <a:lstStyle/>
                    <a:p>
                      <a:r>
                        <a:rPr lang="fr-FR" sz="1800" dirty="0" err="1"/>
                        <a:t>Fixed</a:t>
                      </a:r>
                      <a:r>
                        <a:rPr lang="fr-FR" sz="1800" dirty="0"/>
                        <a:t> </a:t>
                      </a:r>
                      <a:r>
                        <a:rPr lang="fr-FR" sz="1800" dirty="0" err="1"/>
                        <a:t>effects</a:t>
                      </a:r>
                      <a:endParaRPr lang="fr-FR"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dirty="0"/>
                        <a:t>Restriction:</a:t>
                      </a:r>
                    </a:p>
                    <a:p>
                      <a:pPr marL="0" marR="0" indent="0" algn="l" defTabSz="914400" rtl="0" eaLnBrk="1" fontAlgn="auto" latinLnBrk="0" hangingPunct="1">
                        <a:lnSpc>
                          <a:spcPct val="100000"/>
                        </a:lnSpc>
                        <a:spcBef>
                          <a:spcPts val="0"/>
                        </a:spcBef>
                        <a:spcAft>
                          <a:spcPts val="0"/>
                        </a:spcAft>
                        <a:buClrTx/>
                        <a:buSzTx/>
                        <a:buFontTx/>
                        <a:buNone/>
                        <a:tabLst/>
                        <a:defRPr/>
                      </a:pPr>
                      <a:r>
                        <a:rPr lang="fr-FR" sz="1800" dirty="0"/>
                        <a:t>1 single </a:t>
                      </a:r>
                      <a:r>
                        <a:rPr lang="fr-FR" sz="1800" dirty="0" err="1"/>
                        <a:t>parameter</a:t>
                      </a:r>
                      <a:r>
                        <a:rPr lang="fr-FR" sz="1800" dirty="0"/>
                        <a:t> </a:t>
                      </a:r>
                      <a:r>
                        <a:rPr lang="fr-FR" sz="1800" dirty="0" err="1"/>
                        <a:t>common</a:t>
                      </a:r>
                      <a:r>
                        <a:rPr lang="fr-FR" sz="1800" dirty="0"/>
                        <a:t> to all </a:t>
                      </a:r>
                      <a:r>
                        <a:rPr lang="fr-FR" sz="1800" dirty="0" err="1"/>
                        <a:t>individuals</a:t>
                      </a:r>
                      <a:endParaRPr lang="fr-FR" sz="1800" dirty="0"/>
                    </a:p>
                    <a:p>
                      <a:endParaRPr lang="fr-FR"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dirty="0"/>
                        <a:t>NO</a:t>
                      </a:r>
                      <a:r>
                        <a:rPr lang="fr-FR" sz="1800" b="1" baseline="0" dirty="0"/>
                        <a:t> restriction</a:t>
                      </a:r>
                      <a:endParaRPr lang="fr-FR" sz="1800" b="1" dirty="0"/>
                    </a:p>
                    <a:p>
                      <a:pPr marL="0" marR="0" indent="0" algn="l" defTabSz="914400" rtl="0" eaLnBrk="1" fontAlgn="auto" latinLnBrk="0" hangingPunct="1">
                        <a:lnSpc>
                          <a:spcPct val="100000"/>
                        </a:lnSpc>
                        <a:spcBef>
                          <a:spcPts val="0"/>
                        </a:spcBef>
                        <a:spcAft>
                          <a:spcPts val="0"/>
                        </a:spcAft>
                        <a:buClrTx/>
                        <a:buSzTx/>
                        <a:buFontTx/>
                        <a:buNone/>
                        <a:tabLst/>
                        <a:defRPr/>
                      </a:pPr>
                      <a:r>
                        <a:rPr lang="fr-FR" sz="1800" b="0" dirty="0"/>
                        <a:t>N </a:t>
                      </a:r>
                      <a:r>
                        <a:rPr lang="fr-FR" sz="1800" b="0" dirty="0" err="1"/>
                        <a:t>estimated</a:t>
                      </a:r>
                      <a:r>
                        <a:rPr lang="fr-FR" sz="1800" b="0" dirty="0"/>
                        <a:t> </a:t>
                      </a:r>
                      <a:r>
                        <a:rPr lang="fr-FR" sz="1800" b="0" dirty="0" err="1"/>
                        <a:t>parameters</a:t>
                      </a:r>
                      <a:r>
                        <a:rPr lang="fr-FR" sz="1800" b="0" dirty="0"/>
                        <a:t> </a:t>
                      </a:r>
                      <a:r>
                        <a:rPr lang="fr-FR" sz="1800" b="0" dirty="0" err="1"/>
                        <a:t>specific</a:t>
                      </a:r>
                      <a:r>
                        <a:rPr lang="fr-FR" sz="1800" b="0" dirty="0"/>
                        <a:t> to </a:t>
                      </a:r>
                      <a:r>
                        <a:rPr lang="fr-FR" sz="1800" b="0" dirty="0" err="1"/>
                        <a:t>each</a:t>
                      </a:r>
                      <a:r>
                        <a:rPr lang="fr-FR" sz="1800" b="0" dirty="0"/>
                        <a:t> </a:t>
                      </a:r>
                      <a:r>
                        <a:rPr lang="fr-FR" sz="1800" b="0" dirty="0" err="1"/>
                        <a:t>individual</a:t>
                      </a:r>
                      <a:endParaRPr lang="fr-FR" sz="1800" b="0" dirty="0"/>
                    </a:p>
                    <a:p>
                      <a:endParaRPr lang="fr-FR" sz="1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179200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ox Plot for uolsPool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592448"/>
            <a:ext cx="6592554" cy="4944416"/>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p:cNvSpPr>
            <a:spLocks noGrp="1"/>
          </p:cNvSpPr>
          <p:nvPr>
            <p:ph type="title"/>
          </p:nvPr>
        </p:nvSpPr>
        <p:spPr/>
        <p:txBody>
          <a:bodyPr>
            <a:normAutofit fontScale="90000"/>
          </a:bodyPr>
          <a:lstStyle/>
          <a:p>
            <a:r>
              <a:rPr lang="fr-FR" sz="3600" dirty="0" err="1"/>
              <a:t>Pooled</a:t>
            </a:r>
            <a:r>
              <a:rPr lang="fr-FR" sz="3600" dirty="0"/>
              <a:t> OLS </a:t>
            </a:r>
            <a:r>
              <a:rPr lang="fr-FR" sz="3600" dirty="0" err="1"/>
              <a:t>residuals</a:t>
            </a:r>
            <a:r>
              <a:rPr lang="fr-FR" sz="3600" dirty="0"/>
              <a:t> by country</a:t>
            </a:r>
            <a:br>
              <a:rPr lang="fr-FR" sz="3600" dirty="0"/>
            </a:br>
            <a:r>
              <a:rPr lang="fr-FR" sz="3600" dirty="0"/>
              <a:t>Common </a:t>
            </a:r>
            <a:r>
              <a:rPr lang="fr-FR" sz="3600" dirty="0" err="1"/>
              <a:t>slopes</a:t>
            </a:r>
            <a:r>
              <a:rPr lang="fr-FR" sz="3600" dirty="0"/>
              <a:t>, </a:t>
            </a:r>
            <a:r>
              <a:rPr lang="fr-FR" sz="3600" dirty="0" err="1"/>
              <a:t>common</a:t>
            </a:r>
            <a:r>
              <a:rPr lang="fr-FR" sz="3600" dirty="0"/>
              <a:t> </a:t>
            </a:r>
            <a:r>
              <a:rPr lang="fr-FR" sz="3600" dirty="0" err="1"/>
              <a:t>intercepts</a:t>
            </a:r>
            <a:endParaRPr lang="fr-FR" sz="3600" dirty="0"/>
          </a:p>
        </p:txBody>
      </p:sp>
    </p:spTree>
    <p:extLst>
      <p:ext uri="{BB962C8B-B14F-4D97-AF65-F5344CB8AC3E}">
        <p14:creationId xmlns:p14="http://schemas.microsoft.com/office/powerpoint/2010/main" val="217565653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dirty="0" err="1"/>
              <a:t>Comments</a:t>
            </a:r>
            <a:r>
              <a:rPr lang="fr-FR" dirty="0"/>
              <a:t> on </a:t>
            </a:r>
            <a:r>
              <a:rPr lang="fr-FR" dirty="0" err="1"/>
              <a:t>pooled</a:t>
            </a:r>
            <a:r>
              <a:rPr lang="fr-FR" dirty="0"/>
              <a:t> OLS </a:t>
            </a:r>
            <a:r>
              <a:rPr lang="fr-FR" dirty="0" err="1"/>
              <a:t>residual</a:t>
            </a:r>
            <a:r>
              <a:rPr lang="fr-FR" dirty="0"/>
              <a:t> by country</a:t>
            </a:r>
          </a:p>
        </p:txBody>
      </p:sp>
      <p:sp>
        <p:nvSpPr>
          <p:cNvPr id="4" name="Espace réservé du contenu 3"/>
          <p:cNvSpPr>
            <a:spLocks noGrp="1"/>
          </p:cNvSpPr>
          <p:nvPr>
            <p:ph idx="1"/>
          </p:nvPr>
        </p:nvSpPr>
        <p:spPr/>
        <p:txBody>
          <a:bodyPr/>
          <a:lstStyle/>
          <a:p>
            <a:pPr marL="514350" indent="-514350">
              <a:buFont typeface="+mj-lt"/>
              <a:buAutoNum type="arabicPeriod"/>
            </a:pPr>
            <a:r>
              <a:rPr lang="fr-FR" sz="2400" dirty="0"/>
              <a:t>The </a:t>
            </a:r>
            <a:r>
              <a:rPr lang="fr-FR" sz="2400" dirty="0" err="1"/>
              <a:t>mean</a:t>
            </a:r>
            <a:r>
              <a:rPr lang="fr-FR" sz="2400" dirty="0"/>
              <a:t> of all </a:t>
            </a:r>
            <a:r>
              <a:rPr lang="fr-FR" sz="2400" dirty="0" err="1"/>
              <a:t>residuals</a:t>
            </a:r>
            <a:r>
              <a:rPr lang="fr-FR" sz="2400" dirty="0"/>
              <a:t> </a:t>
            </a:r>
            <a:r>
              <a:rPr lang="fr-FR" sz="2400" dirty="0" err="1"/>
              <a:t>is</a:t>
            </a:r>
            <a:r>
              <a:rPr lang="fr-FR" sz="2400" dirty="0"/>
              <a:t> ZERO, as </a:t>
            </a:r>
            <a:r>
              <a:rPr lang="fr-FR" sz="2400" dirty="0" err="1"/>
              <a:t>soon</a:t>
            </a:r>
            <a:r>
              <a:rPr lang="fr-FR" sz="2400" dirty="0"/>
              <a:t> as </a:t>
            </a:r>
            <a:r>
              <a:rPr lang="fr-FR" sz="2400" dirty="0" err="1"/>
              <a:t>there</a:t>
            </a:r>
            <a:r>
              <a:rPr lang="fr-FR" sz="2400" dirty="0"/>
              <a:t> </a:t>
            </a:r>
            <a:r>
              <a:rPr lang="fr-FR" sz="2400" dirty="0" err="1"/>
              <a:t>is</a:t>
            </a:r>
            <a:r>
              <a:rPr lang="fr-FR" sz="2400" dirty="0"/>
              <a:t> an </a:t>
            </a:r>
            <a:r>
              <a:rPr lang="fr-FR" sz="2400" dirty="0" err="1"/>
              <a:t>intercept</a:t>
            </a:r>
            <a:r>
              <a:rPr lang="fr-FR" sz="2400" dirty="0"/>
              <a:t> in the </a:t>
            </a:r>
            <a:r>
              <a:rPr lang="fr-FR" sz="2400" dirty="0" err="1"/>
              <a:t>regression</a:t>
            </a:r>
            <a:r>
              <a:rPr lang="fr-FR" sz="2400" dirty="0"/>
              <a:t>.</a:t>
            </a:r>
          </a:p>
          <a:p>
            <a:pPr marL="514350" indent="-514350">
              <a:buFont typeface="+mj-lt"/>
              <a:buAutoNum type="arabicPeriod"/>
            </a:pPr>
            <a:r>
              <a:rPr lang="fr-FR" sz="2400" dirty="0"/>
              <a:t>The </a:t>
            </a:r>
            <a:r>
              <a:rPr lang="fr-FR" sz="2400" dirty="0" err="1"/>
              <a:t>means</a:t>
            </a:r>
            <a:r>
              <a:rPr lang="fr-FR" sz="2400" dirty="0"/>
              <a:t> of </a:t>
            </a:r>
            <a:r>
              <a:rPr lang="fr-FR" sz="2400" dirty="0" err="1"/>
              <a:t>residuals</a:t>
            </a:r>
            <a:r>
              <a:rPr lang="fr-FR" sz="2400" dirty="0"/>
              <a:t> for </a:t>
            </a:r>
            <a:r>
              <a:rPr lang="fr-FR" sz="2400" dirty="0" err="1"/>
              <a:t>each</a:t>
            </a:r>
            <a:r>
              <a:rPr lang="fr-FR" sz="2400" dirty="0"/>
              <a:t> country </a:t>
            </a:r>
            <a:r>
              <a:rPr lang="fr-FR" sz="2400" dirty="0" err="1"/>
              <a:t>is</a:t>
            </a:r>
            <a:r>
              <a:rPr lang="fr-FR" sz="2400" dirty="0"/>
              <a:t> NOT </a:t>
            </a:r>
            <a:r>
              <a:rPr lang="fr-FR" sz="2400" dirty="0" err="1"/>
              <a:t>zero</a:t>
            </a:r>
            <a:r>
              <a:rPr lang="fr-FR" sz="2400" dirty="0"/>
              <a:t>. A mixture of  distribution </a:t>
            </a:r>
            <a:r>
              <a:rPr lang="fr-FR" sz="2400" dirty="0" err="1"/>
              <a:t>implies</a:t>
            </a:r>
            <a:r>
              <a:rPr lang="fr-FR" sz="2400" dirty="0"/>
              <a:t> non </a:t>
            </a:r>
            <a:r>
              <a:rPr lang="fr-FR" sz="2400" dirty="0" err="1"/>
              <a:t>normality</a:t>
            </a:r>
            <a:r>
              <a:rPr lang="fr-FR" sz="2400" dirty="0"/>
              <a:t>.</a:t>
            </a:r>
          </a:p>
          <a:p>
            <a:pPr marL="514350" indent="-514350">
              <a:buFont typeface="+mj-lt"/>
              <a:buAutoNum type="arabicPeriod"/>
            </a:pPr>
            <a:r>
              <a:rPr lang="fr-FR" sz="2400" dirty="0" err="1"/>
              <a:t>Skewness</a:t>
            </a:r>
            <a:r>
              <a:rPr lang="fr-FR" sz="2400" dirty="0"/>
              <a:t> of </a:t>
            </a:r>
            <a:r>
              <a:rPr lang="fr-FR" sz="2400" dirty="0" err="1"/>
              <a:t>some</a:t>
            </a:r>
            <a:r>
              <a:rPr lang="fr-FR" sz="2400" dirty="0"/>
              <a:t> distributions by country </a:t>
            </a:r>
            <a:r>
              <a:rPr lang="fr-FR" sz="2400" dirty="0" err="1"/>
              <a:t>implies</a:t>
            </a:r>
            <a:r>
              <a:rPr lang="fr-FR" sz="2400" dirty="0"/>
              <a:t> non-</a:t>
            </a:r>
            <a:r>
              <a:rPr lang="fr-FR" sz="2400" dirty="0" err="1"/>
              <a:t>normality</a:t>
            </a:r>
            <a:r>
              <a:rPr lang="fr-FR" sz="2400" dirty="0"/>
              <a:t>.</a:t>
            </a:r>
          </a:p>
          <a:p>
            <a:pPr marL="514350" indent="-514350">
              <a:buFont typeface="+mj-lt"/>
              <a:buAutoNum type="arabicPeriod"/>
            </a:pPr>
            <a:r>
              <a:rPr lang="fr-FR" sz="2400" dirty="0"/>
              <a:t>Large </a:t>
            </a:r>
            <a:r>
              <a:rPr lang="fr-FR" sz="2400" dirty="0" err="1"/>
              <a:t>differences</a:t>
            </a:r>
            <a:r>
              <a:rPr lang="fr-FR" sz="2400" dirty="0"/>
              <a:t> of standard </a:t>
            </a:r>
            <a:r>
              <a:rPr lang="fr-FR" sz="2400" dirty="0" err="1"/>
              <a:t>errors</a:t>
            </a:r>
            <a:r>
              <a:rPr lang="fr-FR" sz="2400" dirty="0"/>
              <a:t> by country (</a:t>
            </a:r>
            <a:r>
              <a:rPr lang="fr-FR" sz="2400" dirty="0" err="1"/>
              <a:t>Hetero-scedasticity</a:t>
            </a:r>
            <a:r>
              <a:rPr lang="fr-FR" sz="2400" dirty="0"/>
              <a:t> by country). </a:t>
            </a:r>
          </a:p>
          <a:p>
            <a:pPr marL="514350" indent="-514350">
              <a:buFont typeface="+mj-lt"/>
              <a:buAutoNum type="arabicPeriod"/>
            </a:pPr>
            <a:r>
              <a:rPr lang="fr-FR" sz="2400" dirty="0"/>
              <a:t>Range of </a:t>
            </a:r>
            <a:r>
              <a:rPr lang="fr-FR" sz="2400" dirty="0" err="1"/>
              <a:t>extreme</a:t>
            </a:r>
            <a:r>
              <a:rPr lang="fr-FR" sz="2400" dirty="0"/>
              <a:t> values: -0.3 to 0.6. A plot of </a:t>
            </a:r>
            <a:r>
              <a:rPr lang="fr-FR" sz="2400" dirty="0" err="1"/>
              <a:t>studentized</a:t>
            </a:r>
            <a:r>
              <a:rPr lang="fr-FR" sz="2400" dirty="0"/>
              <a:t> </a:t>
            </a:r>
            <a:r>
              <a:rPr lang="fr-FR" sz="2400" dirty="0" err="1"/>
              <a:t>residuals</a:t>
            </a:r>
            <a:r>
              <a:rPr lang="fr-FR" sz="2400" dirty="0"/>
              <a:t>  </a:t>
            </a:r>
            <a:r>
              <a:rPr lang="fr-FR" sz="2400" dirty="0" err="1"/>
              <a:t>would</a:t>
            </a:r>
            <a:r>
              <a:rPr lang="fr-FR" sz="2400" dirty="0"/>
              <a:t> have </a:t>
            </a:r>
            <a:r>
              <a:rPr lang="fr-FR" sz="2400" dirty="0" err="1"/>
              <a:t>highlighted</a:t>
            </a:r>
            <a:r>
              <a:rPr lang="fr-FR" sz="2400" dirty="0"/>
              <a:t> </a:t>
            </a:r>
            <a:r>
              <a:rPr lang="fr-FR" sz="2400" dirty="0" err="1"/>
              <a:t>residual</a:t>
            </a:r>
            <a:r>
              <a:rPr lang="fr-FR" sz="2400" dirty="0"/>
              <a:t> </a:t>
            </a:r>
            <a:r>
              <a:rPr lang="fr-FR" sz="2400" dirty="0" err="1"/>
              <a:t>outliers</a:t>
            </a:r>
            <a:r>
              <a:rPr lang="fr-FR" sz="2400" dirty="0"/>
              <a:t> </a:t>
            </a:r>
            <a:r>
              <a:rPr lang="fr-FR" sz="2400" dirty="0" err="1"/>
              <a:t>outside</a:t>
            </a:r>
            <a:r>
              <a:rPr lang="fr-FR" sz="2400" dirty="0"/>
              <a:t> [-2,+2].</a:t>
            </a:r>
          </a:p>
          <a:p>
            <a:pPr marL="0" indent="0">
              <a:buNone/>
            </a:pPr>
            <a:endParaRPr lang="fr-FR" dirty="0"/>
          </a:p>
        </p:txBody>
      </p:sp>
    </p:spTree>
    <p:extLst>
      <p:ext uri="{BB962C8B-B14F-4D97-AF65-F5344CB8AC3E}">
        <p14:creationId xmlns:p14="http://schemas.microsoft.com/office/powerpoint/2010/main" val="280759708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Box Plot for uo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55" y="1348572"/>
            <a:ext cx="7344816" cy="5508613"/>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p:cNvSpPr>
            <a:spLocks noGrp="1"/>
          </p:cNvSpPr>
          <p:nvPr>
            <p:ph type="title"/>
          </p:nvPr>
        </p:nvSpPr>
        <p:spPr/>
        <p:txBody>
          <a:bodyPr>
            <a:normAutofit fontScale="90000"/>
          </a:bodyPr>
          <a:lstStyle/>
          <a:p>
            <a:r>
              <a:rPr lang="fr-FR" sz="4000" dirty="0" err="1"/>
              <a:t>Fixed</a:t>
            </a:r>
            <a:r>
              <a:rPr lang="fr-FR" sz="4000" dirty="0"/>
              <a:t> </a:t>
            </a:r>
            <a:r>
              <a:rPr lang="fr-FR" sz="4000" dirty="0" err="1"/>
              <a:t>effects</a:t>
            </a:r>
            <a:r>
              <a:rPr lang="fr-FR" sz="4000" dirty="0"/>
              <a:t> = </a:t>
            </a:r>
            <a:r>
              <a:rPr lang="fr-FR" sz="4000" dirty="0" err="1"/>
              <a:t>Within</a:t>
            </a:r>
            <a:r>
              <a:rPr lang="fr-FR" sz="4000" dirty="0"/>
              <a:t> </a:t>
            </a:r>
            <a:r>
              <a:rPr lang="fr-FR" sz="4000" dirty="0" err="1"/>
              <a:t>residuals</a:t>
            </a:r>
            <a:br>
              <a:rPr lang="fr-FR" sz="4000" dirty="0"/>
            </a:br>
            <a:r>
              <a:rPr lang="fr-FR" sz="4000" dirty="0"/>
              <a:t>Common </a:t>
            </a:r>
            <a:r>
              <a:rPr lang="fr-FR" sz="4000" dirty="0" err="1"/>
              <a:t>slopes</a:t>
            </a:r>
            <a:r>
              <a:rPr lang="fr-FR" sz="4000" dirty="0"/>
              <a:t>, distinct </a:t>
            </a:r>
            <a:r>
              <a:rPr lang="fr-FR" sz="4000" dirty="0" err="1"/>
              <a:t>intercepts</a:t>
            </a:r>
            <a:endParaRPr lang="fr-FR" sz="4000" dirty="0"/>
          </a:p>
        </p:txBody>
      </p:sp>
    </p:spTree>
    <p:extLst>
      <p:ext uri="{BB962C8B-B14F-4D97-AF65-F5344CB8AC3E}">
        <p14:creationId xmlns:p14="http://schemas.microsoft.com/office/powerpoint/2010/main" val="244391702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dirty="0" err="1"/>
              <a:t>Comments</a:t>
            </a:r>
            <a:r>
              <a:rPr lang="fr-FR" dirty="0"/>
              <a:t> on </a:t>
            </a:r>
            <a:r>
              <a:rPr lang="fr-FR" dirty="0" err="1"/>
              <a:t>Fixed</a:t>
            </a:r>
            <a:r>
              <a:rPr lang="fr-FR" dirty="0"/>
              <a:t> </a:t>
            </a:r>
            <a:r>
              <a:rPr lang="fr-FR" dirty="0" err="1"/>
              <a:t>Effects</a:t>
            </a:r>
            <a:r>
              <a:rPr lang="fr-FR" dirty="0"/>
              <a:t> or </a:t>
            </a:r>
            <a:r>
              <a:rPr lang="fr-FR" dirty="0" err="1"/>
              <a:t>Within</a:t>
            </a:r>
            <a:r>
              <a:rPr lang="fr-FR" dirty="0"/>
              <a:t> </a:t>
            </a:r>
            <a:r>
              <a:rPr lang="fr-FR" dirty="0" err="1"/>
              <a:t>residuals</a:t>
            </a:r>
            <a:r>
              <a:rPr lang="fr-FR" dirty="0"/>
              <a:t> by country</a:t>
            </a:r>
          </a:p>
        </p:txBody>
      </p:sp>
      <p:sp>
        <p:nvSpPr>
          <p:cNvPr id="4" name="Espace réservé du contenu 3"/>
          <p:cNvSpPr>
            <a:spLocks noGrp="1"/>
          </p:cNvSpPr>
          <p:nvPr>
            <p:ph idx="1"/>
          </p:nvPr>
        </p:nvSpPr>
        <p:spPr/>
        <p:txBody>
          <a:bodyPr>
            <a:normAutofit lnSpcReduction="10000"/>
          </a:bodyPr>
          <a:lstStyle/>
          <a:p>
            <a:pPr marL="514350" indent="-514350">
              <a:buFont typeface="+mj-lt"/>
              <a:buAutoNum type="arabicPeriod"/>
            </a:pPr>
            <a:r>
              <a:rPr lang="fr-FR" sz="2400" dirty="0"/>
              <a:t>The </a:t>
            </a:r>
            <a:r>
              <a:rPr lang="fr-FR" sz="2400" dirty="0" err="1"/>
              <a:t>mean</a:t>
            </a:r>
            <a:r>
              <a:rPr lang="fr-FR" sz="2400" dirty="0"/>
              <a:t> of all </a:t>
            </a:r>
            <a:r>
              <a:rPr lang="fr-FR" sz="2400" dirty="0" err="1"/>
              <a:t>residuals</a:t>
            </a:r>
            <a:r>
              <a:rPr lang="fr-FR" sz="2400" dirty="0"/>
              <a:t> </a:t>
            </a:r>
            <a:r>
              <a:rPr lang="fr-FR" sz="2400" dirty="0" err="1"/>
              <a:t>is</a:t>
            </a:r>
            <a:r>
              <a:rPr lang="fr-FR" sz="2400" dirty="0"/>
              <a:t> ZERO, as </a:t>
            </a:r>
            <a:r>
              <a:rPr lang="fr-FR" sz="2400" dirty="0" err="1"/>
              <a:t>soon</a:t>
            </a:r>
            <a:r>
              <a:rPr lang="fr-FR" sz="2400" dirty="0"/>
              <a:t> as </a:t>
            </a:r>
            <a:r>
              <a:rPr lang="fr-FR" sz="2400" dirty="0" err="1"/>
              <a:t>there</a:t>
            </a:r>
            <a:r>
              <a:rPr lang="fr-FR" sz="2400" dirty="0"/>
              <a:t> </a:t>
            </a:r>
            <a:r>
              <a:rPr lang="fr-FR" sz="2400" dirty="0" err="1"/>
              <a:t>is</a:t>
            </a:r>
            <a:r>
              <a:rPr lang="fr-FR" sz="2400" dirty="0"/>
              <a:t> an </a:t>
            </a:r>
            <a:r>
              <a:rPr lang="fr-FR" sz="2400" dirty="0" err="1"/>
              <a:t>intercept</a:t>
            </a:r>
            <a:r>
              <a:rPr lang="fr-FR" sz="2400" dirty="0"/>
              <a:t> in the </a:t>
            </a:r>
            <a:r>
              <a:rPr lang="fr-FR" sz="2400" dirty="0" err="1"/>
              <a:t>regression</a:t>
            </a:r>
            <a:r>
              <a:rPr lang="fr-FR" sz="2400" dirty="0"/>
              <a:t>.</a:t>
            </a:r>
          </a:p>
          <a:p>
            <a:pPr marL="514350" indent="-514350">
              <a:buFont typeface="+mj-lt"/>
              <a:buAutoNum type="arabicPeriod"/>
            </a:pPr>
            <a:r>
              <a:rPr lang="fr-FR" sz="2400" dirty="0"/>
              <a:t>The </a:t>
            </a:r>
            <a:r>
              <a:rPr lang="fr-FR" sz="2400" dirty="0" err="1"/>
              <a:t>means</a:t>
            </a:r>
            <a:r>
              <a:rPr lang="fr-FR" sz="2400" dirty="0"/>
              <a:t> of </a:t>
            </a:r>
            <a:r>
              <a:rPr lang="fr-FR" sz="2400" dirty="0" err="1"/>
              <a:t>residuals</a:t>
            </a:r>
            <a:r>
              <a:rPr lang="fr-FR" sz="2400" dirty="0"/>
              <a:t> for </a:t>
            </a:r>
            <a:r>
              <a:rPr lang="fr-FR" sz="2400" dirty="0" err="1"/>
              <a:t>each</a:t>
            </a:r>
            <a:r>
              <a:rPr lang="fr-FR" sz="2400" dirty="0"/>
              <a:t> country </a:t>
            </a:r>
            <a:r>
              <a:rPr lang="fr-FR" sz="2400" dirty="0" err="1"/>
              <a:t>is</a:t>
            </a:r>
            <a:r>
              <a:rPr lang="fr-FR" sz="2400" dirty="0"/>
              <a:t> </a:t>
            </a:r>
            <a:r>
              <a:rPr lang="fr-FR" sz="2400" dirty="0" err="1"/>
              <a:t>zero</a:t>
            </a:r>
            <a:r>
              <a:rPr lang="fr-FR" sz="2400" dirty="0"/>
              <a:t>. The </a:t>
            </a:r>
            <a:r>
              <a:rPr lang="fr-FR" sz="2400" dirty="0" err="1"/>
              <a:t>intercepts</a:t>
            </a:r>
            <a:r>
              <a:rPr lang="fr-FR" sz="2400" dirty="0"/>
              <a:t> by country </a:t>
            </a:r>
            <a:r>
              <a:rPr lang="fr-FR" sz="2400" dirty="0" err="1"/>
              <a:t>picked</a:t>
            </a:r>
            <a:r>
              <a:rPr lang="fr-FR" sz="2400" dirty="0"/>
              <a:t> the </a:t>
            </a:r>
            <a:r>
              <a:rPr lang="fr-FR" sz="2400" dirty="0" err="1"/>
              <a:t>means</a:t>
            </a:r>
            <a:r>
              <a:rPr lang="fr-FR" sz="2400" dirty="0"/>
              <a:t> of </a:t>
            </a:r>
            <a:r>
              <a:rPr lang="fr-FR" sz="2400" dirty="0" err="1"/>
              <a:t>residuals</a:t>
            </a:r>
            <a:r>
              <a:rPr lang="fr-FR" sz="2400" dirty="0"/>
              <a:t> by country of </a:t>
            </a:r>
            <a:r>
              <a:rPr lang="fr-FR" sz="2400" dirty="0" err="1"/>
              <a:t>pooled</a:t>
            </a:r>
            <a:r>
              <a:rPr lang="fr-FR" sz="2400" dirty="0"/>
              <a:t> OLS.</a:t>
            </a:r>
          </a:p>
          <a:p>
            <a:pPr marL="514350" indent="-514350">
              <a:buFont typeface="+mj-lt"/>
              <a:buAutoNum type="arabicPeriod"/>
            </a:pPr>
            <a:r>
              <a:rPr lang="fr-FR" sz="2400" dirty="0" err="1"/>
              <a:t>Skewness</a:t>
            </a:r>
            <a:r>
              <a:rPr lang="fr-FR" sz="2400" dirty="0"/>
              <a:t> of </a:t>
            </a:r>
            <a:r>
              <a:rPr lang="fr-FR" sz="2400" dirty="0" err="1"/>
              <a:t>some</a:t>
            </a:r>
            <a:r>
              <a:rPr lang="fr-FR" sz="2400" dirty="0"/>
              <a:t> distributions (</a:t>
            </a:r>
            <a:r>
              <a:rPr lang="fr-FR" sz="2400" dirty="0" err="1"/>
              <a:t>mean</a:t>
            </a:r>
            <a:r>
              <a:rPr lang="fr-FR" sz="2400" dirty="0"/>
              <a:t> </a:t>
            </a:r>
            <a:r>
              <a:rPr lang="fr-FR" sz="2400" dirty="0" err="1"/>
              <a:t>different</a:t>
            </a:r>
            <a:r>
              <a:rPr lang="fr-FR" sz="2400" dirty="0"/>
              <a:t> </a:t>
            </a:r>
            <a:r>
              <a:rPr lang="fr-FR" sz="2400" dirty="0" err="1"/>
              <a:t>from</a:t>
            </a:r>
            <a:r>
              <a:rPr lang="fr-FR" sz="2400" dirty="0"/>
              <a:t> </a:t>
            </a:r>
            <a:r>
              <a:rPr lang="fr-FR" sz="2400" dirty="0" err="1"/>
              <a:t>median</a:t>
            </a:r>
            <a:r>
              <a:rPr lang="fr-FR" sz="2400" dirty="0"/>
              <a:t>) by country </a:t>
            </a:r>
            <a:r>
              <a:rPr lang="fr-FR" sz="2400" dirty="0" err="1"/>
              <a:t>implies</a:t>
            </a:r>
            <a:r>
              <a:rPr lang="fr-FR" sz="2400" dirty="0"/>
              <a:t> non-</a:t>
            </a:r>
            <a:r>
              <a:rPr lang="fr-FR" sz="2400" dirty="0" err="1"/>
              <a:t>normality</a:t>
            </a:r>
            <a:r>
              <a:rPr lang="fr-FR" sz="2400" dirty="0"/>
              <a:t>.</a:t>
            </a:r>
          </a:p>
          <a:p>
            <a:pPr marL="514350" indent="-514350">
              <a:buFont typeface="+mj-lt"/>
              <a:buAutoNum type="arabicPeriod"/>
            </a:pPr>
            <a:r>
              <a:rPr lang="fr-FR" sz="2400" dirty="0"/>
              <a:t>Large </a:t>
            </a:r>
            <a:r>
              <a:rPr lang="fr-FR" sz="2400" dirty="0" err="1"/>
              <a:t>differences</a:t>
            </a:r>
            <a:r>
              <a:rPr lang="fr-FR" sz="2400" dirty="0"/>
              <a:t> of standard </a:t>
            </a:r>
            <a:r>
              <a:rPr lang="fr-FR" sz="2400" dirty="0" err="1"/>
              <a:t>errors</a:t>
            </a:r>
            <a:r>
              <a:rPr lang="fr-FR" sz="2400" dirty="0"/>
              <a:t> by country (</a:t>
            </a:r>
            <a:r>
              <a:rPr lang="fr-FR" sz="2400" dirty="0" err="1"/>
              <a:t>Hetero-scedasticity</a:t>
            </a:r>
            <a:r>
              <a:rPr lang="fr-FR" sz="2400" dirty="0"/>
              <a:t> by country). </a:t>
            </a:r>
          </a:p>
          <a:p>
            <a:pPr marL="514350" indent="-514350">
              <a:buFont typeface="+mj-lt"/>
              <a:buAutoNum type="arabicPeriod"/>
            </a:pPr>
            <a:r>
              <a:rPr lang="fr-FR" sz="2400" dirty="0"/>
              <a:t>Range of </a:t>
            </a:r>
            <a:r>
              <a:rPr lang="fr-FR" sz="2400" dirty="0" err="1"/>
              <a:t>extreme</a:t>
            </a:r>
            <a:r>
              <a:rPr lang="fr-FR" sz="2400" dirty="0"/>
              <a:t> values: -0.4 to 0.3. A plot of </a:t>
            </a:r>
            <a:r>
              <a:rPr lang="fr-FR" sz="2400" dirty="0" err="1"/>
              <a:t>studentized</a:t>
            </a:r>
            <a:r>
              <a:rPr lang="fr-FR" sz="2400" dirty="0"/>
              <a:t> </a:t>
            </a:r>
            <a:r>
              <a:rPr lang="fr-FR" sz="2400" dirty="0" err="1"/>
              <a:t>residuals</a:t>
            </a:r>
            <a:r>
              <a:rPr lang="fr-FR" sz="2400" dirty="0"/>
              <a:t>  </a:t>
            </a:r>
            <a:r>
              <a:rPr lang="fr-FR" sz="2400" dirty="0" err="1"/>
              <a:t>would</a:t>
            </a:r>
            <a:r>
              <a:rPr lang="fr-FR" sz="2400" dirty="0"/>
              <a:t> have </a:t>
            </a:r>
            <a:r>
              <a:rPr lang="fr-FR" sz="2400" dirty="0" err="1"/>
              <a:t>highlighted</a:t>
            </a:r>
            <a:r>
              <a:rPr lang="fr-FR" sz="2400" dirty="0"/>
              <a:t> </a:t>
            </a:r>
            <a:r>
              <a:rPr lang="fr-FR" sz="2400" dirty="0" err="1"/>
              <a:t>residual</a:t>
            </a:r>
            <a:r>
              <a:rPr lang="fr-FR" sz="2400" dirty="0"/>
              <a:t> </a:t>
            </a:r>
            <a:r>
              <a:rPr lang="fr-FR" sz="2400" dirty="0" err="1"/>
              <a:t>outliers</a:t>
            </a:r>
            <a:r>
              <a:rPr lang="fr-FR" sz="2400" dirty="0"/>
              <a:t> </a:t>
            </a:r>
            <a:r>
              <a:rPr lang="fr-FR" sz="2400" dirty="0" err="1"/>
              <a:t>outside</a:t>
            </a:r>
            <a:r>
              <a:rPr lang="fr-FR" sz="2400" dirty="0"/>
              <a:t> [-2,+2].</a:t>
            </a:r>
          </a:p>
          <a:p>
            <a:pPr marL="0" indent="0">
              <a:buNone/>
            </a:pPr>
            <a:endParaRPr lang="fr-FR" dirty="0"/>
          </a:p>
        </p:txBody>
      </p:sp>
    </p:spTree>
    <p:extLst>
      <p:ext uri="{BB962C8B-B14F-4D97-AF65-F5344CB8AC3E}">
        <p14:creationId xmlns:p14="http://schemas.microsoft.com/office/powerpoint/2010/main" val="193262538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ox Plot for uolsPool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61840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Box Plot for uo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49991"/>
            <a:ext cx="9144000" cy="3507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76179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Visual conclusion: Do not </a:t>
            </a:r>
            <a:r>
              <a:rPr lang="fr-FR" dirty="0" err="1"/>
              <a:t>waste</a:t>
            </a:r>
            <a:r>
              <a:rPr lang="fr-FR" dirty="0"/>
              <a:t> time, NEVER REPORT POOLED OLS</a:t>
            </a:r>
            <a:endParaRPr lang="en-GB" dirty="0"/>
          </a:p>
        </p:txBody>
      </p:sp>
      <p:sp>
        <p:nvSpPr>
          <p:cNvPr id="3" name="Espace réservé du contenu 2"/>
          <p:cNvSpPr>
            <a:spLocks noGrp="1"/>
          </p:cNvSpPr>
          <p:nvPr>
            <p:ph idx="1"/>
          </p:nvPr>
        </p:nvSpPr>
        <p:spPr/>
        <p:txBody>
          <a:bodyPr/>
          <a:lstStyle/>
          <a:p>
            <a:pPr marL="0" indent="0">
              <a:buNone/>
            </a:pPr>
            <a:r>
              <a:rPr lang="fr-FR" b="1" dirty="0"/>
              <a:t>It </a:t>
            </a:r>
            <a:r>
              <a:rPr lang="fr-FR" b="1" dirty="0" err="1"/>
              <a:t>is</a:t>
            </a:r>
            <a:r>
              <a:rPr lang="fr-FR" b="1" dirty="0"/>
              <a:t> a </a:t>
            </a:r>
            <a:r>
              <a:rPr lang="fr-FR" b="1" dirty="0" err="1"/>
              <a:t>disaster</a:t>
            </a:r>
            <a:r>
              <a:rPr lang="fr-FR" b="1" dirty="0"/>
              <a:t> </a:t>
            </a:r>
            <a:r>
              <a:rPr lang="fr-FR" b="1" dirty="0" err="1"/>
              <a:t>with</a:t>
            </a:r>
            <a:r>
              <a:rPr lang="fr-FR" b="1" dirty="0"/>
              <a:t> </a:t>
            </a:r>
            <a:r>
              <a:rPr lang="fr-FR" b="1" dirty="0" err="1"/>
              <a:t>too</a:t>
            </a:r>
            <a:r>
              <a:rPr lang="fr-FR" b="1" dirty="0"/>
              <a:t> </a:t>
            </a:r>
            <a:r>
              <a:rPr lang="fr-FR" b="1" dirty="0" err="1"/>
              <a:t>many</a:t>
            </a:r>
            <a:r>
              <a:rPr lang="fr-FR" b="1" dirty="0"/>
              <a:t> restrictions.</a:t>
            </a:r>
          </a:p>
          <a:p>
            <a:pPr marL="0" indent="0">
              <a:buNone/>
            </a:pPr>
            <a:r>
              <a:rPr lang="fr-FR" dirty="0"/>
              <a:t>Report </a:t>
            </a:r>
            <a:r>
              <a:rPr lang="fr-FR" dirty="0" err="1"/>
              <a:t>instead</a:t>
            </a:r>
            <a:r>
              <a:rPr lang="fr-FR" dirty="0"/>
              <a:t>: </a:t>
            </a:r>
          </a:p>
          <a:p>
            <a:pPr marL="0" indent="0">
              <a:buNone/>
            </a:pPr>
            <a:r>
              <a:rPr lang="fr-FR" dirty="0"/>
              <a:t>One-</a:t>
            </a:r>
            <a:r>
              <a:rPr lang="fr-FR" dirty="0" err="1"/>
              <a:t>way</a:t>
            </a:r>
            <a:r>
              <a:rPr lang="fr-FR" dirty="0"/>
              <a:t> </a:t>
            </a:r>
            <a:r>
              <a:rPr lang="fr-FR" dirty="0" err="1"/>
              <a:t>fixed</a:t>
            </a:r>
            <a:r>
              <a:rPr lang="fr-FR" dirty="0"/>
              <a:t> </a:t>
            </a:r>
            <a:r>
              <a:rPr lang="fr-FR" dirty="0" err="1"/>
              <a:t>effects</a:t>
            </a:r>
            <a:r>
              <a:rPr lang="fr-FR" dirty="0"/>
              <a:t> (</a:t>
            </a:r>
            <a:r>
              <a:rPr lang="fr-FR" dirty="0" err="1"/>
              <a:t>dummy</a:t>
            </a:r>
            <a:r>
              <a:rPr lang="fr-FR" dirty="0"/>
              <a:t> for </a:t>
            </a:r>
            <a:r>
              <a:rPr lang="fr-FR" dirty="0" err="1"/>
              <a:t>individuals</a:t>
            </a:r>
            <a:r>
              <a:rPr lang="fr-FR" dirty="0"/>
              <a:t>)</a:t>
            </a:r>
          </a:p>
          <a:p>
            <a:pPr marL="0" indent="0">
              <a:buNone/>
            </a:pPr>
            <a:r>
              <a:rPr lang="fr-FR" dirty="0" err="1"/>
              <a:t>Two-way</a:t>
            </a:r>
            <a:r>
              <a:rPr lang="fr-FR" dirty="0"/>
              <a:t> </a:t>
            </a:r>
            <a:r>
              <a:rPr lang="fr-FR" dirty="0" err="1"/>
              <a:t>fixed</a:t>
            </a:r>
            <a:r>
              <a:rPr lang="fr-FR" dirty="0"/>
              <a:t> </a:t>
            </a:r>
            <a:r>
              <a:rPr lang="fr-FR" dirty="0" err="1"/>
              <a:t>effects</a:t>
            </a:r>
            <a:r>
              <a:rPr lang="fr-FR" dirty="0"/>
              <a:t> (</a:t>
            </a:r>
            <a:r>
              <a:rPr lang="fr-FR" dirty="0" err="1"/>
              <a:t>dummy</a:t>
            </a:r>
            <a:r>
              <a:rPr lang="fr-FR" dirty="0"/>
              <a:t> for </a:t>
            </a:r>
            <a:r>
              <a:rPr lang="fr-FR" dirty="0" err="1"/>
              <a:t>individuals</a:t>
            </a:r>
            <a:r>
              <a:rPr lang="fr-FR" dirty="0"/>
              <a:t> and </a:t>
            </a:r>
            <a:r>
              <a:rPr lang="fr-FR" dirty="0" err="1"/>
              <a:t>periods</a:t>
            </a:r>
            <a:r>
              <a:rPr lang="fr-FR" dirty="0"/>
              <a:t>)</a:t>
            </a:r>
          </a:p>
          <a:p>
            <a:pPr marL="0" indent="0">
              <a:buNone/>
            </a:pPr>
            <a:r>
              <a:rPr lang="fr-FR" dirty="0"/>
              <a:t>First </a:t>
            </a:r>
            <a:r>
              <a:rPr lang="fr-FR" dirty="0" err="1"/>
              <a:t>differences</a:t>
            </a:r>
            <a:endParaRPr lang="fr-FR" dirty="0"/>
          </a:p>
          <a:p>
            <a:pPr marL="0" indent="0">
              <a:buNone/>
            </a:pPr>
            <a:r>
              <a:rPr lang="fr-FR" dirty="0"/>
              <a:t>And </a:t>
            </a:r>
            <a:r>
              <a:rPr lang="fr-FR" dirty="0" err="1"/>
              <a:t>other</a:t>
            </a:r>
            <a:r>
              <a:rPr lang="fr-FR" dirty="0"/>
              <a:t> instrumental variables of </a:t>
            </a:r>
            <a:r>
              <a:rPr lang="fr-FR" dirty="0" err="1"/>
              <a:t>these</a:t>
            </a:r>
            <a:r>
              <a:rPr lang="fr-FR" dirty="0"/>
              <a:t> </a:t>
            </a:r>
            <a:r>
              <a:rPr lang="fr-FR" dirty="0" err="1"/>
              <a:t>models</a:t>
            </a:r>
            <a:r>
              <a:rPr lang="fr-FR" dirty="0"/>
              <a:t>, and </a:t>
            </a:r>
            <a:r>
              <a:rPr lang="fr-FR" dirty="0" err="1"/>
              <a:t>diff</a:t>
            </a:r>
            <a:r>
              <a:rPr lang="fr-FR" dirty="0"/>
              <a:t> and </a:t>
            </a:r>
            <a:r>
              <a:rPr lang="fr-FR" dirty="0" err="1"/>
              <a:t>diff</a:t>
            </a:r>
            <a:r>
              <a:rPr lang="fr-FR" dirty="0"/>
              <a:t>, and </a:t>
            </a:r>
            <a:r>
              <a:rPr lang="fr-FR" dirty="0" err="1"/>
              <a:t>so</a:t>
            </a:r>
            <a:r>
              <a:rPr lang="fr-FR" dirty="0"/>
              <a:t> on.</a:t>
            </a:r>
            <a:endParaRPr lang="en-GB" dirty="0"/>
          </a:p>
        </p:txBody>
      </p:sp>
    </p:spTree>
    <p:extLst>
      <p:ext uri="{BB962C8B-B14F-4D97-AF65-F5344CB8AC3E}">
        <p14:creationId xmlns:p14="http://schemas.microsoft.com/office/powerpoint/2010/main" val="43434354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ox Plot for uols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412776"/>
            <a:ext cx="6840760" cy="5130571"/>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normAutofit fontScale="90000"/>
          </a:bodyPr>
          <a:lstStyle/>
          <a:p>
            <a:r>
              <a:rPr lang="fr-FR" sz="4000" dirty="0"/>
              <a:t>Time </a:t>
            </a:r>
            <a:r>
              <a:rPr lang="fr-FR" sz="4000" dirty="0" err="1"/>
              <a:t>series</a:t>
            </a:r>
            <a:r>
              <a:rPr lang="fr-FR" sz="4000" dirty="0"/>
              <a:t> </a:t>
            </a:r>
            <a:r>
              <a:rPr lang="fr-FR" sz="4000" dirty="0" err="1"/>
              <a:t>residuals</a:t>
            </a:r>
            <a:r>
              <a:rPr lang="fr-FR" sz="4000" dirty="0"/>
              <a:t> by country</a:t>
            </a:r>
            <a:br>
              <a:rPr lang="fr-FR" sz="4000" dirty="0"/>
            </a:br>
            <a:r>
              <a:rPr lang="fr-FR" sz="4000" dirty="0"/>
              <a:t>Distinct </a:t>
            </a:r>
            <a:r>
              <a:rPr lang="fr-FR" sz="4000" dirty="0" err="1"/>
              <a:t>slopes</a:t>
            </a:r>
            <a:r>
              <a:rPr lang="fr-FR" sz="4000" dirty="0"/>
              <a:t>, distinct </a:t>
            </a:r>
            <a:r>
              <a:rPr lang="fr-FR" sz="4000" dirty="0" err="1"/>
              <a:t>intercepts</a:t>
            </a:r>
            <a:endParaRPr lang="fr-FR" sz="4000" dirty="0"/>
          </a:p>
        </p:txBody>
      </p:sp>
    </p:spTree>
    <p:extLst>
      <p:ext uri="{BB962C8B-B14F-4D97-AF65-F5344CB8AC3E}">
        <p14:creationId xmlns:p14="http://schemas.microsoft.com/office/powerpoint/2010/main" val="335567627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dirty="0"/>
              <a:t>Time </a:t>
            </a:r>
            <a:r>
              <a:rPr lang="fr-FR" dirty="0" err="1"/>
              <a:t>Series</a:t>
            </a:r>
            <a:r>
              <a:rPr lang="fr-FR" dirty="0"/>
              <a:t> by country </a:t>
            </a:r>
            <a:r>
              <a:rPr lang="fr-FR" dirty="0" err="1"/>
              <a:t>residuals</a:t>
            </a:r>
            <a:r>
              <a:rPr lang="fr-FR" dirty="0"/>
              <a:t> by country</a:t>
            </a:r>
          </a:p>
        </p:txBody>
      </p:sp>
      <p:sp>
        <p:nvSpPr>
          <p:cNvPr id="4" name="Espace réservé du contenu 3"/>
          <p:cNvSpPr>
            <a:spLocks noGrp="1"/>
          </p:cNvSpPr>
          <p:nvPr>
            <p:ph idx="1"/>
          </p:nvPr>
        </p:nvSpPr>
        <p:spPr/>
        <p:txBody>
          <a:bodyPr/>
          <a:lstStyle/>
          <a:p>
            <a:pPr marL="514350" indent="-514350">
              <a:buFont typeface="+mj-lt"/>
              <a:buAutoNum type="arabicPeriod"/>
            </a:pPr>
            <a:r>
              <a:rPr lang="fr-FR" sz="2000" dirty="0"/>
              <a:t>The </a:t>
            </a:r>
            <a:r>
              <a:rPr lang="fr-FR" sz="2000" dirty="0" err="1"/>
              <a:t>mean</a:t>
            </a:r>
            <a:r>
              <a:rPr lang="fr-FR" sz="2000" dirty="0"/>
              <a:t> of all </a:t>
            </a:r>
            <a:r>
              <a:rPr lang="fr-FR" sz="2000" dirty="0" err="1"/>
              <a:t>residuals</a:t>
            </a:r>
            <a:r>
              <a:rPr lang="fr-FR" sz="2000" dirty="0"/>
              <a:t> </a:t>
            </a:r>
            <a:r>
              <a:rPr lang="fr-FR" sz="2000" dirty="0" err="1"/>
              <a:t>is</a:t>
            </a:r>
            <a:r>
              <a:rPr lang="fr-FR" sz="2000" dirty="0"/>
              <a:t> ZERO, as </a:t>
            </a:r>
            <a:r>
              <a:rPr lang="fr-FR" sz="2000" dirty="0" err="1"/>
              <a:t>soon</a:t>
            </a:r>
            <a:r>
              <a:rPr lang="fr-FR" sz="2000" dirty="0"/>
              <a:t> as </a:t>
            </a:r>
            <a:r>
              <a:rPr lang="fr-FR" sz="2000" dirty="0" err="1"/>
              <a:t>there</a:t>
            </a:r>
            <a:r>
              <a:rPr lang="fr-FR" sz="2000" dirty="0"/>
              <a:t> </a:t>
            </a:r>
            <a:r>
              <a:rPr lang="fr-FR" sz="2000" dirty="0" err="1"/>
              <a:t>is</a:t>
            </a:r>
            <a:r>
              <a:rPr lang="fr-FR" sz="2000" dirty="0"/>
              <a:t> an </a:t>
            </a:r>
            <a:r>
              <a:rPr lang="fr-FR" sz="2000" dirty="0" err="1"/>
              <a:t>intercept</a:t>
            </a:r>
            <a:r>
              <a:rPr lang="fr-FR" sz="2000" dirty="0"/>
              <a:t> in </a:t>
            </a:r>
            <a:r>
              <a:rPr lang="fr-FR" sz="2000" dirty="0" err="1"/>
              <a:t>each</a:t>
            </a:r>
            <a:r>
              <a:rPr lang="fr-FR" sz="2000" dirty="0"/>
              <a:t> </a:t>
            </a:r>
            <a:r>
              <a:rPr lang="fr-FR" sz="2000" dirty="0" err="1"/>
              <a:t>regression</a:t>
            </a:r>
            <a:r>
              <a:rPr lang="fr-FR" sz="2000" dirty="0"/>
              <a:t>.</a:t>
            </a:r>
          </a:p>
          <a:p>
            <a:pPr marL="514350" indent="-514350">
              <a:buFont typeface="+mj-lt"/>
              <a:buAutoNum type="arabicPeriod"/>
            </a:pPr>
            <a:r>
              <a:rPr lang="fr-FR" sz="2000" dirty="0"/>
              <a:t>The </a:t>
            </a:r>
            <a:r>
              <a:rPr lang="fr-FR" sz="2000" dirty="0" err="1"/>
              <a:t>means</a:t>
            </a:r>
            <a:r>
              <a:rPr lang="fr-FR" sz="2000" dirty="0"/>
              <a:t> of </a:t>
            </a:r>
            <a:r>
              <a:rPr lang="fr-FR" sz="2000" dirty="0" err="1"/>
              <a:t>residuals</a:t>
            </a:r>
            <a:r>
              <a:rPr lang="fr-FR" sz="2000" dirty="0"/>
              <a:t> for </a:t>
            </a:r>
            <a:r>
              <a:rPr lang="fr-FR" sz="2000" dirty="0" err="1"/>
              <a:t>each</a:t>
            </a:r>
            <a:r>
              <a:rPr lang="fr-FR" sz="2000" dirty="0"/>
              <a:t> country </a:t>
            </a:r>
            <a:r>
              <a:rPr lang="fr-FR" sz="2000" dirty="0" err="1"/>
              <a:t>is</a:t>
            </a:r>
            <a:r>
              <a:rPr lang="fr-FR" sz="2000" dirty="0"/>
              <a:t> </a:t>
            </a:r>
            <a:r>
              <a:rPr lang="fr-FR" sz="2000" dirty="0" err="1"/>
              <a:t>zero</a:t>
            </a:r>
            <a:r>
              <a:rPr lang="fr-FR" sz="2000" dirty="0"/>
              <a:t>. The </a:t>
            </a:r>
            <a:r>
              <a:rPr lang="fr-FR" sz="2000" dirty="0" err="1"/>
              <a:t>intercepts</a:t>
            </a:r>
            <a:r>
              <a:rPr lang="fr-FR" sz="2000" dirty="0"/>
              <a:t> by country « </a:t>
            </a:r>
            <a:r>
              <a:rPr lang="fr-FR" sz="2000" dirty="0" err="1"/>
              <a:t>captured</a:t>
            </a:r>
            <a:r>
              <a:rPr lang="fr-FR" sz="2000" dirty="0"/>
              <a:t> » the </a:t>
            </a:r>
            <a:r>
              <a:rPr lang="fr-FR" sz="2000" dirty="0" err="1"/>
              <a:t>means</a:t>
            </a:r>
            <a:r>
              <a:rPr lang="fr-FR" sz="2000" dirty="0"/>
              <a:t> of </a:t>
            </a:r>
            <a:r>
              <a:rPr lang="fr-FR" sz="2000" dirty="0" err="1"/>
              <a:t>residuals</a:t>
            </a:r>
            <a:r>
              <a:rPr lang="fr-FR" sz="2000" dirty="0"/>
              <a:t> by country of </a:t>
            </a:r>
            <a:r>
              <a:rPr lang="fr-FR" sz="2000" dirty="0" err="1"/>
              <a:t>pooled</a:t>
            </a:r>
            <a:r>
              <a:rPr lang="fr-FR" sz="2000" dirty="0"/>
              <a:t> OLS but are DIFFERENT for </a:t>
            </a:r>
            <a:r>
              <a:rPr lang="fr-FR" sz="2000" dirty="0" err="1"/>
              <a:t>intercepts</a:t>
            </a:r>
            <a:r>
              <a:rPr lang="fr-FR" sz="2000" dirty="0"/>
              <a:t> </a:t>
            </a:r>
            <a:r>
              <a:rPr lang="fr-FR" sz="2000" dirty="0" err="1"/>
              <a:t>estimates</a:t>
            </a:r>
            <a:r>
              <a:rPr lang="fr-FR" sz="2000" dirty="0"/>
              <a:t> by </a:t>
            </a:r>
            <a:r>
              <a:rPr lang="fr-FR" sz="2000" dirty="0" err="1"/>
              <a:t>Fixed</a:t>
            </a:r>
            <a:r>
              <a:rPr lang="fr-FR" sz="2000" dirty="0"/>
              <a:t> </a:t>
            </a:r>
            <a:r>
              <a:rPr lang="fr-FR" sz="2000" dirty="0" err="1"/>
              <a:t>effects</a:t>
            </a:r>
            <a:r>
              <a:rPr lang="fr-FR" sz="2000" dirty="0"/>
              <a:t>.</a:t>
            </a:r>
          </a:p>
          <a:p>
            <a:pPr marL="514350" indent="-514350">
              <a:buFont typeface="+mj-lt"/>
              <a:buAutoNum type="arabicPeriod"/>
            </a:pPr>
            <a:r>
              <a:rPr lang="fr-FR" sz="2000" dirty="0" err="1"/>
              <a:t>Skewness</a:t>
            </a:r>
            <a:r>
              <a:rPr lang="fr-FR" sz="2000" dirty="0"/>
              <a:t> of </a:t>
            </a:r>
            <a:r>
              <a:rPr lang="fr-FR" sz="2000" dirty="0" err="1"/>
              <a:t>some</a:t>
            </a:r>
            <a:r>
              <a:rPr lang="fr-FR" sz="2000" dirty="0"/>
              <a:t> distributions (</a:t>
            </a:r>
            <a:r>
              <a:rPr lang="fr-FR" sz="2000" dirty="0" err="1"/>
              <a:t>mean</a:t>
            </a:r>
            <a:r>
              <a:rPr lang="fr-FR" sz="2000" dirty="0"/>
              <a:t> </a:t>
            </a:r>
            <a:r>
              <a:rPr lang="fr-FR" sz="2000" dirty="0" err="1"/>
              <a:t>different</a:t>
            </a:r>
            <a:r>
              <a:rPr lang="fr-FR" sz="2000" dirty="0"/>
              <a:t> </a:t>
            </a:r>
            <a:r>
              <a:rPr lang="fr-FR" sz="2000" dirty="0" err="1"/>
              <a:t>from</a:t>
            </a:r>
            <a:r>
              <a:rPr lang="fr-FR" sz="2000" dirty="0"/>
              <a:t> </a:t>
            </a:r>
            <a:r>
              <a:rPr lang="fr-FR" sz="2000" dirty="0" err="1"/>
              <a:t>median</a:t>
            </a:r>
            <a:r>
              <a:rPr lang="fr-FR" sz="2000" dirty="0"/>
              <a:t>) by country </a:t>
            </a:r>
            <a:r>
              <a:rPr lang="fr-FR" sz="2000" dirty="0" err="1"/>
              <a:t>implies</a:t>
            </a:r>
            <a:r>
              <a:rPr lang="fr-FR" sz="2000" dirty="0"/>
              <a:t> non-</a:t>
            </a:r>
            <a:r>
              <a:rPr lang="fr-FR" sz="2000" dirty="0" err="1"/>
              <a:t>normality</a:t>
            </a:r>
            <a:r>
              <a:rPr lang="fr-FR" sz="2000" dirty="0"/>
              <a:t>.</a:t>
            </a:r>
          </a:p>
          <a:p>
            <a:pPr marL="514350" indent="-514350">
              <a:buFont typeface="+mj-lt"/>
              <a:buAutoNum type="arabicPeriod"/>
            </a:pPr>
            <a:r>
              <a:rPr lang="fr-FR" sz="2000" dirty="0"/>
              <a:t>Large </a:t>
            </a:r>
            <a:r>
              <a:rPr lang="fr-FR" sz="2000" dirty="0" err="1"/>
              <a:t>differences</a:t>
            </a:r>
            <a:r>
              <a:rPr lang="fr-FR" sz="2000" dirty="0"/>
              <a:t> of standard </a:t>
            </a:r>
            <a:r>
              <a:rPr lang="fr-FR" sz="2000" dirty="0" err="1"/>
              <a:t>errors</a:t>
            </a:r>
            <a:r>
              <a:rPr lang="fr-FR" sz="2000" dirty="0"/>
              <a:t> by country (</a:t>
            </a:r>
            <a:r>
              <a:rPr lang="fr-FR" sz="2000" dirty="0" err="1"/>
              <a:t>Hetero-scedasticity</a:t>
            </a:r>
            <a:r>
              <a:rPr lang="fr-FR" sz="2000" dirty="0"/>
              <a:t> by country). </a:t>
            </a:r>
          </a:p>
          <a:p>
            <a:pPr marL="514350" indent="-514350">
              <a:buFont typeface="+mj-lt"/>
              <a:buAutoNum type="arabicPeriod"/>
            </a:pPr>
            <a:r>
              <a:rPr lang="fr-FR" sz="2000" b="1" dirty="0"/>
              <a:t>SMALLER range of </a:t>
            </a:r>
            <a:r>
              <a:rPr lang="fr-FR" sz="2000" b="1" dirty="0" err="1"/>
              <a:t>extreme</a:t>
            </a:r>
            <a:r>
              <a:rPr lang="fr-FR" sz="2000" b="1" dirty="0"/>
              <a:t> values: -0.2 to 0.2.</a:t>
            </a:r>
            <a:r>
              <a:rPr lang="fr-FR" sz="2000" dirty="0"/>
              <a:t> A plot of </a:t>
            </a:r>
            <a:r>
              <a:rPr lang="fr-FR" sz="2000" dirty="0" err="1"/>
              <a:t>studentized</a:t>
            </a:r>
            <a:r>
              <a:rPr lang="fr-FR" sz="2000" dirty="0"/>
              <a:t> </a:t>
            </a:r>
            <a:r>
              <a:rPr lang="fr-FR" sz="2000" dirty="0" err="1"/>
              <a:t>residuals</a:t>
            </a:r>
            <a:r>
              <a:rPr lang="fr-FR" sz="2000" dirty="0"/>
              <a:t>  </a:t>
            </a:r>
            <a:r>
              <a:rPr lang="fr-FR" sz="2000" dirty="0" err="1"/>
              <a:t>would</a:t>
            </a:r>
            <a:r>
              <a:rPr lang="fr-FR" sz="2000" dirty="0"/>
              <a:t> have </a:t>
            </a:r>
            <a:r>
              <a:rPr lang="fr-FR" sz="2000" dirty="0" err="1"/>
              <a:t>highlighted</a:t>
            </a:r>
            <a:r>
              <a:rPr lang="fr-FR" sz="2000" dirty="0"/>
              <a:t> </a:t>
            </a:r>
            <a:r>
              <a:rPr lang="fr-FR" sz="2000" dirty="0" err="1"/>
              <a:t>residual</a:t>
            </a:r>
            <a:r>
              <a:rPr lang="fr-FR" sz="2000" dirty="0"/>
              <a:t> </a:t>
            </a:r>
            <a:r>
              <a:rPr lang="fr-FR" sz="2000" dirty="0" err="1"/>
              <a:t>outliers</a:t>
            </a:r>
            <a:r>
              <a:rPr lang="fr-FR" sz="2000" dirty="0"/>
              <a:t> </a:t>
            </a:r>
            <a:r>
              <a:rPr lang="fr-FR" sz="2000" dirty="0" err="1"/>
              <a:t>outside</a:t>
            </a:r>
            <a:r>
              <a:rPr lang="fr-FR" sz="2000" dirty="0"/>
              <a:t> [-2,+2].</a:t>
            </a:r>
          </a:p>
          <a:p>
            <a:pPr marL="0" indent="0">
              <a:buNone/>
            </a:pPr>
            <a:endParaRPr lang="fr-FR" dirty="0"/>
          </a:p>
        </p:txBody>
      </p:sp>
    </p:spTree>
    <p:extLst>
      <p:ext uri="{BB962C8B-B14F-4D97-AF65-F5344CB8AC3E}">
        <p14:creationId xmlns:p14="http://schemas.microsoft.com/office/powerpoint/2010/main" val="214811896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ox Plot for uo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49991"/>
            <a:ext cx="9144000" cy="350719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Box Plot for uols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518"/>
            <a:ext cx="9144000" cy="3338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491821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Visual conclusion: if T&gt;80 and N&lt;20: Stick to time </a:t>
            </a:r>
            <a:r>
              <a:rPr lang="fr-FR" dirty="0" err="1"/>
              <a:t>series</a:t>
            </a:r>
            <a:r>
              <a:rPr lang="fr-FR" dirty="0"/>
              <a:t> </a:t>
            </a:r>
            <a:r>
              <a:rPr lang="fr-FR" dirty="0" err="1"/>
              <a:t>instead</a:t>
            </a:r>
            <a:r>
              <a:rPr lang="fr-FR" dirty="0"/>
              <a:t> of panel.</a:t>
            </a:r>
            <a:endParaRPr lang="en-GB" dirty="0"/>
          </a:p>
        </p:txBody>
      </p:sp>
      <p:sp>
        <p:nvSpPr>
          <p:cNvPr id="3" name="Espace réservé du contenu 2"/>
          <p:cNvSpPr>
            <a:spLocks noGrp="1"/>
          </p:cNvSpPr>
          <p:nvPr>
            <p:ph idx="1"/>
          </p:nvPr>
        </p:nvSpPr>
        <p:spPr/>
        <p:txBody>
          <a:bodyPr>
            <a:normAutofit lnSpcReduction="10000"/>
          </a:bodyPr>
          <a:lstStyle/>
          <a:p>
            <a:pPr marL="0" indent="0" algn="just">
              <a:buNone/>
            </a:pPr>
            <a:r>
              <a:rPr lang="fr-FR" dirty="0"/>
              <a:t>You </a:t>
            </a:r>
            <a:r>
              <a:rPr lang="fr-FR" dirty="0" err="1"/>
              <a:t>avoid</a:t>
            </a:r>
            <a:r>
              <a:rPr lang="fr-FR" dirty="0"/>
              <a:t> the </a:t>
            </a:r>
            <a:r>
              <a:rPr lang="fr-FR" dirty="0" err="1"/>
              <a:t>bias</a:t>
            </a:r>
            <a:r>
              <a:rPr lang="fr-FR" dirty="0"/>
              <a:t> of the </a:t>
            </a:r>
            <a:r>
              <a:rPr lang="fr-FR" dirty="0" err="1"/>
              <a:t>intercept</a:t>
            </a:r>
            <a:r>
              <a:rPr lang="fr-FR" dirty="0"/>
              <a:t> and the </a:t>
            </a:r>
            <a:r>
              <a:rPr lang="fr-FR" dirty="0" err="1"/>
              <a:t>increase</a:t>
            </a:r>
            <a:r>
              <a:rPr lang="fr-FR" dirty="0"/>
              <a:t> of the </a:t>
            </a:r>
            <a:r>
              <a:rPr lang="fr-FR" dirty="0" err="1"/>
              <a:t>Sum</a:t>
            </a:r>
            <a:r>
              <a:rPr lang="fr-FR" dirty="0"/>
              <a:t> of Squares of the </a:t>
            </a:r>
            <a:r>
              <a:rPr lang="fr-FR" dirty="0" err="1"/>
              <a:t>Residuals</a:t>
            </a:r>
            <a:r>
              <a:rPr lang="fr-FR" dirty="0"/>
              <a:t>.</a:t>
            </a:r>
          </a:p>
          <a:p>
            <a:pPr marL="0" indent="0">
              <a:buNone/>
            </a:pPr>
            <a:r>
              <a:rPr lang="fr-FR" dirty="0"/>
              <a:t>UNLESS </a:t>
            </a:r>
            <a:r>
              <a:rPr lang="fr-FR" dirty="0" err="1"/>
              <a:t>you</a:t>
            </a:r>
            <a:r>
              <a:rPr lang="fr-FR" dirty="0"/>
              <a:t> manage to </a:t>
            </a:r>
            <a:r>
              <a:rPr lang="fr-FR" dirty="0" err="1"/>
              <a:t>find</a:t>
            </a:r>
            <a:r>
              <a:rPr lang="fr-FR" dirty="0"/>
              <a:t>:</a:t>
            </a:r>
          </a:p>
          <a:p>
            <a:pPr marL="0" indent="0">
              <a:buNone/>
            </a:pPr>
            <a:r>
              <a:rPr lang="fr-FR" dirty="0"/>
              <a:t>(1) 4 </a:t>
            </a:r>
            <a:r>
              <a:rPr lang="fr-FR" dirty="0" err="1"/>
              <a:t>subgroups</a:t>
            </a:r>
            <a:r>
              <a:rPr lang="fr-FR" dirty="0"/>
              <a:t> (</a:t>
            </a:r>
            <a:r>
              <a:rPr lang="fr-FR" dirty="0" err="1"/>
              <a:t>treated</a:t>
            </a:r>
            <a:r>
              <a:rPr lang="fr-FR" dirty="0"/>
              <a:t> vs not </a:t>
            </a:r>
            <a:r>
              <a:rPr lang="fr-FR" dirty="0" err="1"/>
              <a:t>treated</a:t>
            </a:r>
            <a:r>
              <a:rPr lang="fr-FR" dirty="0"/>
              <a:t> / </a:t>
            </a:r>
            <a:r>
              <a:rPr lang="fr-FR" dirty="0" err="1"/>
              <a:t>before</a:t>
            </a:r>
            <a:r>
              <a:rPr lang="fr-FR" dirty="0"/>
              <a:t> </a:t>
            </a:r>
            <a:r>
              <a:rPr lang="fr-FR" dirty="0" err="1"/>
              <a:t>after</a:t>
            </a:r>
            <a:r>
              <a:rPr lang="fr-FR" dirty="0"/>
              <a:t> an </a:t>
            </a:r>
            <a:r>
              <a:rPr lang="fr-FR" b="1" dirty="0" err="1"/>
              <a:t>event</a:t>
            </a:r>
            <a:r>
              <a:rPr lang="fr-FR" dirty="0"/>
              <a:t>) </a:t>
            </a:r>
            <a:r>
              <a:rPr lang="fr-FR" dirty="0" err="1"/>
              <a:t>with</a:t>
            </a:r>
            <a:r>
              <a:rPr lang="fr-FR" dirty="0"/>
              <a:t> </a:t>
            </a:r>
            <a:r>
              <a:rPr lang="fr-FR" dirty="0" err="1"/>
              <a:t>slope</a:t>
            </a:r>
            <a:r>
              <a:rPr lang="fr-FR" dirty="0"/>
              <a:t> </a:t>
            </a:r>
            <a:r>
              <a:rPr lang="fr-FR" dirty="0" err="1"/>
              <a:t>parameters</a:t>
            </a:r>
            <a:r>
              <a:rPr lang="fr-FR" dirty="0"/>
              <a:t> not </a:t>
            </a:r>
            <a:r>
              <a:rPr lang="fr-FR" dirty="0" err="1"/>
              <a:t>too</a:t>
            </a:r>
            <a:r>
              <a:rPr lang="fr-FR" dirty="0"/>
              <a:t> far </a:t>
            </a:r>
            <a:r>
              <a:rPr lang="fr-FR" dirty="0" err="1"/>
              <a:t>away</a:t>
            </a:r>
            <a:r>
              <a:rPr lang="fr-FR" dirty="0"/>
              <a:t>:</a:t>
            </a:r>
          </a:p>
          <a:p>
            <a:pPr marL="0" indent="0">
              <a:buNone/>
            </a:pPr>
            <a:r>
              <a:rPr lang="fr-FR" dirty="0"/>
              <a:t>(2) A </a:t>
            </a:r>
            <a:r>
              <a:rPr lang="fr-FR" dirty="0" err="1"/>
              <a:t>common</a:t>
            </a:r>
            <a:r>
              <a:rPr lang="fr-FR" dirty="0"/>
              <a:t> trend for </a:t>
            </a:r>
            <a:r>
              <a:rPr lang="fr-FR" dirty="0" err="1"/>
              <a:t>treated</a:t>
            </a:r>
            <a:r>
              <a:rPr lang="fr-FR" dirty="0"/>
              <a:t>/not </a:t>
            </a:r>
            <a:r>
              <a:rPr lang="fr-FR" dirty="0" err="1"/>
              <a:t>treated</a:t>
            </a:r>
            <a:r>
              <a:rPr lang="fr-FR" dirty="0"/>
              <a:t>.</a:t>
            </a:r>
          </a:p>
          <a:p>
            <a:pPr marL="0" indent="0">
              <a:buNone/>
            </a:pPr>
            <a:r>
              <a:rPr lang="fr-FR" dirty="0"/>
              <a:t>In </a:t>
            </a:r>
            <a:r>
              <a:rPr lang="fr-FR" dirty="0" err="1"/>
              <a:t>order</a:t>
            </a:r>
            <a:r>
              <a:rPr lang="fr-FR" dirty="0"/>
              <a:t> to </a:t>
            </a:r>
            <a:r>
              <a:rPr lang="fr-FR" dirty="0" err="1"/>
              <a:t>apply</a:t>
            </a:r>
            <a:r>
              <a:rPr lang="fr-FR" dirty="0"/>
              <a:t> « </a:t>
            </a:r>
            <a:r>
              <a:rPr lang="fr-FR" dirty="0" err="1"/>
              <a:t>diff</a:t>
            </a:r>
            <a:r>
              <a:rPr lang="fr-FR" dirty="0"/>
              <a:t> and </a:t>
            </a:r>
            <a:r>
              <a:rPr lang="fr-FR" dirty="0" err="1"/>
              <a:t>diff</a:t>
            </a:r>
            <a:r>
              <a:rPr lang="fr-FR" dirty="0"/>
              <a:t> ».</a:t>
            </a:r>
          </a:p>
          <a:p>
            <a:pPr marL="0" indent="0">
              <a:buNone/>
            </a:pPr>
            <a:endParaRPr lang="en-GB" dirty="0"/>
          </a:p>
        </p:txBody>
      </p:sp>
    </p:spTree>
    <p:extLst>
      <p:ext uri="{BB962C8B-B14F-4D97-AF65-F5344CB8AC3E}">
        <p14:creationId xmlns:p14="http://schemas.microsoft.com/office/powerpoint/2010/main" val="119355811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Common </a:t>
            </a:r>
            <a:r>
              <a:rPr lang="fr-FR" dirty="0" err="1"/>
              <a:t>slopes</a:t>
            </a:r>
            <a:r>
              <a:rPr lang="fr-FR" dirty="0"/>
              <a:t> </a:t>
            </a:r>
            <a:r>
              <a:rPr lang="fr-FR" dirty="0" err="1"/>
              <a:t>estimate</a:t>
            </a:r>
            <a:endParaRPr lang="fr-FR" dirty="0"/>
          </a:p>
        </p:txBody>
      </p:sp>
      <p:sp>
        <p:nvSpPr>
          <p:cNvPr id="3" name="Espace réservé du contenu 2"/>
          <p:cNvSpPr>
            <a:spLocks noGrp="1"/>
          </p:cNvSpPr>
          <p:nvPr>
            <p:ph idx="1"/>
          </p:nvPr>
        </p:nvSpPr>
        <p:spPr/>
        <p:txBody>
          <a:bodyPr>
            <a:normAutofit fontScale="92500"/>
          </a:bodyPr>
          <a:lstStyle/>
          <a:p>
            <a:pPr marL="0" indent="0">
              <a:buNone/>
            </a:pPr>
            <a:r>
              <a:rPr lang="fr-FR" dirty="0"/>
              <a:t>For </a:t>
            </a:r>
            <a:r>
              <a:rPr lang="fr-FR" dirty="0" err="1"/>
              <a:t>pooled</a:t>
            </a:r>
            <a:r>
              <a:rPr lang="fr-FR" dirty="0"/>
              <a:t> OLS, </a:t>
            </a:r>
          </a:p>
          <a:p>
            <a:pPr marL="0" indent="0">
              <a:buNone/>
            </a:pPr>
            <a:r>
              <a:rPr lang="fr-FR" dirty="0" err="1"/>
              <a:t>Within-fixed</a:t>
            </a:r>
            <a:r>
              <a:rPr lang="fr-FR" dirty="0"/>
              <a:t> </a:t>
            </a:r>
            <a:r>
              <a:rPr lang="fr-FR" dirty="0" err="1"/>
              <a:t>effects</a:t>
            </a:r>
            <a:r>
              <a:rPr lang="fr-FR" dirty="0"/>
              <a:t> or </a:t>
            </a:r>
          </a:p>
          <a:p>
            <a:pPr marL="0" indent="0">
              <a:buNone/>
            </a:pPr>
            <a:r>
              <a:rPr lang="fr-FR" dirty="0" err="1"/>
              <a:t>Generalized</a:t>
            </a:r>
            <a:r>
              <a:rPr lang="fr-FR" dirty="0"/>
              <a:t> Least Squares (GLS)-</a:t>
            </a:r>
            <a:r>
              <a:rPr lang="fr-FR" dirty="0" err="1"/>
              <a:t>random</a:t>
            </a:r>
            <a:r>
              <a:rPr lang="fr-FR" dirty="0"/>
              <a:t> </a:t>
            </a:r>
            <a:r>
              <a:rPr lang="fr-FR" dirty="0" err="1"/>
              <a:t>effects</a:t>
            </a:r>
            <a:r>
              <a:rPr lang="fr-FR" dirty="0"/>
              <a:t>:</a:t>
            </a:r>
          </a:p>
          <a:p>
            <a:pPr marL="0" indent="0">
              <a:buNone/>
            </a:pPr>
            <a:endParaRPr lang="fr-FR" dirty="0"/>
          </a:p>
          <a:p>
            <a:pPr marL="0" indent="0">
              <a:buNone/>
            </a:pPr>
            <a:r>
              <a:rPr lang="fr-FR" dirty="0"/>
              <a:t>The </a:t>
            </a:r>
            <a:r>
              <a:rPr lang="fr-FR" dirty="0" err="1"/>
              <a:t>common</a:t>
            </a:r>
            <a:r>
              <a:rPr lang="fr-FR" dirty="0"/>
              <a:t> </a:t>
            </a:r>
            <a:r>
              <a:rPr lang="fr-FR" dirty="0" err="1"/>
              <a:t>slope</a:t>
            </a:r>
            <a:r>
              <a:rPr lang="fr-FR" dirty="0"/>
              <a:t> </a:t>
            </a:r>
            <a:r>
              <a:rPr lang="fr-FR" dirty="0" err="1"/>
              <a:t>estimate</a:t>
            </a:r>
            <a:r>
              <a:rPr lang="fr-FR" dirty="0"/>
              <a:t> </a:t>
            </a:r>
            <a:r>
              <a:rPr lang="fr-FR" dirty="0" err="1"/>
              <a:t>is</a:t>
            </a:r>
            <a:r>
              <a:rPr lang="fr-FR" dirty="0"/>
              <a:t> a </a:t>
            </a:r>
            <a:r>
              <a:rPr lang="fr-FR" dirty="0" err="1"/>
              <a:t>weighted</a:t>
            </a:r>
            <a:r>
              <a:rPr lang="fr-FR" dirty="0"/>
              <a:t> </a:t>
            </a:r>
            <a:r>
              <a:rPr lang="fr-FR" dirty="0" err="1"/>
              <a:t>average</a:t>
            </a:r>
            <a:r>
              <a:rPr lang="fr-FR" dirty="0"/>
              <a:t> of time-</a:t>
            </a:r>
            <a:r>
              <a:rPr lang="fr-FR" dirty="0" err="1"/>
              <a:t>series</a:t>
            </a:r>
            <a:r>
              <a:rPr lang="fr-FR" dirty="0"/>
              <a:t> </a:t>
            </a:r>
            <a:r>
              <a:rPr lang="fr-FR" dirty="0" err="1"/>
              <a:t>slopes</a:t>
            </a:r>
            <a:r>
              <a:rPr lang="fr-FR" dirty="0"/>
              <a:t> by </a:t>
            </a:r>
            <a:r>
              <a:rPr lang="fr-FR" dirty="0" err="1"/>
              <a:t>individuals</a:t>
            </a:r>
            <a:r>
              <a:rPr lang="fr-FR" dirty="0"/>
              <a:t>, </a:t>
            </a:r>
          </a:p>
          <a:p>
            <a:pPr marL="0" indent="0">
              <a:buNone/>
            </a:pPr>
            <a:r>
              <a:rPr lang="fr-FR" dirty="0" err="1"/>
              <a:t>With</a:t>
            </a:r>
            <a:r>
              <a:rPr lang="fr-FR" dirty="0"/>
              <a:t> </a:t>
            </a:r>
            <a:r>
              <a:rPr lang="fr-FR" dirty="0" err="1"/>
              <a:t>different</a:t>
            </a:r>
            <a:r>
              <a:rPr lang="fr-FR" dirty="0"/>
              <a:t> </a:t>
            </a:r>
            <a:r>
              <a:rPr lang="fr-FR" dirty="0" err="1"/>
              <a:t>weigths</a:t>
            </a:r>
            <a:r>
              <a:rPr lang="fr-FR" dirty="0"/>
              <a:t> </a:t>
            </a:r>
            <a:r>
              <a:rPr lang="fr-FR" dirty="0" err="1"/>
              <a:t>depending</a:t>
            </a:r>
            <a:r>
              <a:rPr lang="fr-FR" dirty="0"/>
              <a:t> on </a:t>
            </a:r>
            <a:r>
              <a:rPr lang="fr-FR" dirty="0" err="1"/>
              <a:t>estimators</a:t>
            </a:r>
            <a:r>
              <a:rPr lang="fr-FR" dirty="0"/>
              <a:t>.</a:t>
            </a:r>
          </a:p>
        </p:txBody>
      </p:sp>
    </p:spTree>
    <p:extLst>
      <p:ext uri="{BB962C8B-B14F-4D97-AF65-F5344CB8AC3E}">
        <p14:creationId xmlns:p14="http://schemas.microsoft.com/office/powerpoint/2010/main" val="259845901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Investigating</a:t>
            </a:r>
            <a:r>
              <a:rPr lang="fr-FR" dirty="0"/>
              <a:t> </a:t>
            </a:r>
            <a:r>
              <a:rPr lang="fr-FR" dirty="0" err="1"/>
              <a:t>into</a:t>
            </a:r>
            <a:r>
              <a:rPr lang="fr-FR" dirty="0"/>
              <a:t> </a:t>
            </a:r>
            <a:r>
              <a:rPr lang="fr-FR" dirty="0" err="1"/>
              <a:t>details</a:t>
            </a:r>
            <a:r>
              <a:rPr lang="fr-FR" dirty="0"/>
              <a:t> the </a:t>
            </a:r>
            <a:r>
              <a:rPr lang="fr-FR" dirty="0" err="1"/>
              <a:t>consequences</a:t>
            </a:r>
            <a:r>
              <a:rPr lang="fr-FR" dirty="0"/>
              <a:t> of </a:t>
            </a:r>
            <a:r>
              <a:rPr lang="fr-FR" dirty="0" err="1"/>
              <a:t>common</a:t>
            </a:r>
            <a:r>
              <a:rPr lang="fr-FR" dirty="0"/>
              <a:t> </a:t>
            </a:r>
            <a:r>
              <a:rPr lang="fr-FR" dirty="0" err="1"/>
              <a:t>slopes</a:t>
            </a:r>
            <a:endParaRPr lang="en-GB" dirty="0"/>
          </a:p>
        </p:txBody>
      </p:sp>
      <p:sp>
        <p:nvSpPr>
          <p:cNvPr id="3" name="Espace réservé du contenu 2"/>
          <p:cNvSpPr>
            <a:spLocks noGrp="1"/>
          </p:cNvSpPr>
          <p:nvPr>
            <p:ph idx="1"/>
          </p:nvPr>
        </p:nvSpPr>
        <p:spPr/>
        <p:txBody>
          <a:bodyPr/>
          <a:lstStyle/>
          <a:p>
            <a:pPr marL="0" indent="0">
              <a:buNone/>
            </a:pPr>
            <a:r>
              <a:rPr lang="fr-FR" dirty="0" err="1"/>
              <a:t>We</a:t>
            </a:r>
            <a:r>
              <a:rPr lang="fr-FR" dirty="0"/>
              <a:t> </a:t>
            </a:r>
            <a:r>
              <a:rPr lang="fr-FR" dirty="0" err="1"/>
              <a:t>can</a:t>
            </a:r>
            <a:r>
              <a:rPr lang="fr-FR" dirty="0"/>
              <a:t> </a:t>
            </a:r>
            <a:r>
              <a:rPr lang="fr-FR" dirty="0" err="1"/>
              <a:t>find</a:t>
            </a:r>
            <a:r>
              <a:rPr lang="fr-FR" dirty="0"/>
              <a:t> </a:t>
            </a:r>
            <a:r>
              <a:rPr lang="fr-FR" dirty="0" err="1"/>
              <a:t>mathematically</a:t>
            </a:r>
            <a:r>
              <a:rPr lang="fr-FR" dirty="0"/>
              <a:t>:</a:t>
            </a:r>
          </a:p>
          <a:p>
            <a:pPr marL="514350" indent="-514350">
              <a:buAutoNum type="arabicParenBoth"/>
            </a:pPr>
            <a:r>
              <a:rPr lang="fr-FR" dirty="0"/>
              <a:t>How </a:t>
            </a:r>
            <a:r>
              <a:rPr lang="fr-FR" dirty="0" err="1"/>
              <a:t>much</a:t>
            </a:r>
            <a:r>
              <a:rPr lang="fr-FR" dirty="0"/>
              <a:t> the </a:t>
            </a:r>
            <a:r>
              <a:rPr lang="fr-FR" dirty="0" err="1"/>
              <a:t>intercepts</a:t>
            </a:r>
            <a:r>
              <a:rPr lang="fr-FR" dirty="0"/>
              <a:t> are </a:t>
            </a:r>
            <a:r>
              <a:rPr lang="fr-FR" dirty="0" err="1"/>
              <a:t>biased</a:t>
            </a:r>
            <a:r>
              <a:rPr lang="fr-FR" dirty="0"/>
              <a:t>.</a:t>
            </a:r>
          </a:p>
          <a:p>
            <a:pPr marL="514350" indent="-514350">
              <a:buAutoNum type="arabicParenBoth"/>
            </a:pPr>
            <a:r>
              <a:rPr lang="fr-FR" dirty="0"/>
              <a:t>How </a:t>
            </a:r>
            <a:r>
              <a:rPr lang="fr-FR" dirty="0" err="1"/>
              <a:t>much</a:t>
            </a:r>
            <a:r>
              <a:rPr lang="fr-FR" dirty="0"/>
              <a:t> the </a:t>
            </a:r>
            <a:r>
              <a:rPr lang="fr-FR" dirty="0" err="1"/>
              <a:t>sum</a:t>
            </a:r>
            <a:r>
              <a:rPr lang="fr-FR" dirty="0"/>
              <a:t> of squares of </a:t>
            </a:r>
            <a:r>
              <a:rPr lang="fr-FR" dirty="0" err="1"/>
              <a:t>residuals</a:t>
            </a:r>
            <a:r>
              <a:rPr lang="fr-FR" dirty="0"/>
              <a:t> are </a:t>
            </a:r>
            <a:r>
              <a:rPr lang="fr-FR" dirty="0" err="1"/>
              <a:t>increased</a:t>
            </a:r>
            <a:r>
              <a:rPr lang="fr-FR" dirty="0"/>
              <a:t>, country by country.</a:t>
            </a:r>
          </a:p>
          <a:p>
            <a:pPr marL="514350" indent="-514350">
              <a:buAutoNum type="arabicParenBoth"/>
            </a:pPr>
            <a:r>
              <a:rPr lang="fr-FR" dirty="0" err="1"/>
              <a:t>Then</a:t>
            </a:r>
            <a:r>
              <a:rPr lang="fr-FR" dirty="0"/>
              <a:t>, </a:t>
            </a:r>
            <a:r>
              <a:rPr lang="fr-FR" dirty="0" err="1"/>
              <a:t>we</a:t>
            </a:r>
            <a:r>
              <a:rPr lang="fr-FR" dirty="0"/>
              <a:t> </a:t>
            </a:r>
            <a:r>
              <a:rPr lang="fr-FR" dirty="0" err="1"/>
              <a:t>can</a:t>
            </a:r>
            <a:r>
              <a:rPr lang="fr-FR" dirty="0"/>
              <a:t> </a:t>
            </a:r>
            <a:r>
              <a:rPr lang="fr-FR" dirty="0" err="1"/>
              <a:t>better</a:t>
            </a:r>
            <a:r>
              <a:rPr lang="fr-FR" dirty="0"/>
              <a:t> </a:t>
            </a:r>
            <a:r>
              <a:rPr lang="fr-FR" dirty="0" err="1"/>
              <a:t>understand</a:t>
            </a:r>
            <a:r>
              <a:rPr lang="fr-FR" dirty="0"/>
              <a:t> the Fisher test of </a:t>
            </a:r>
            <a:r>
              <a:rPr lang="fr-FR" dirty="0" err="1"/>
              <a:t>poolability</a:t>
            </a:r>
            <a:r>
              <a:rPr lang="fr-FR" dirty="0"/>
              <a:t>: </a:t>
            </a:r>
            <a:r>
              <a:rPr lang="fr-FR" dirty="0" err="1"/>
              <a:t>this</a:t>
            </a:r>
            <a:r>
              <a:rPr lang="fr-FR" dirty="0"/>
              <a:t> test </a:t>
            </a:r>
            <a:r>
              <a:rPr lang="fr-FR" dirty="0" err="1"/>
              <a:t>is</a:t>
            </a:r>
            <a:r>
              <a:rPr lang="fr-FR" dirty="0"/>
              <a:t> </a:t>
            </a:r>
            <a:r>
              <a:rPr lang="fr-FR" dirty="0" err="1"/>
              <a:t>very</a:t>
            </a:r>
            <a:r>
              <a:rPr lang="fr-FR" dirty="0"/>
              <a:t> </a:t>
            </a:r>
            <a:r>
              <a:rPr lang="fr-FR" dirty="0" err="1"/>
              <a:t>rarely</a:t>
            </a:r>
            <a:r>
              <a:rPr lang="fr-FR" dirty="0"/>
              <a:t> </a:t>
            </a:r>
            <a:r>
              <a:rPr lang="fr-FR" dirty="0" err="1"/>
              <a:t>shown</a:t>
            </a:r>
            <a:r>
              <a:rPr lang="fr-FR" dirty="0"/>
              <a:t>, </a:t>
            </a:r>
            <a:r>
              <a:rPr lang="fr-FR" dirty="0" err="1"/>
              <a:t>because</a:t>
            </a:r>
            <a:r>
              <a:rPr lang="fr-FR" dirty="0"/>
              <a:t> </a:t>
            </a:r>
            <a:r>
              <a:rPr lang="fr-FR" dirty="0" err="1"/>
              <a:t>it</a:t>
            </a:r>
            <a:r>
              <a:rPr lang="fr-FR" dirty="0"/>
              <a:t> </a:t>
            </a:r>
            <a:r>
              <a:rPr lang="fr-FR" dirty="0" err="1"/>
              <a:t>usually</a:t>
            </a:r>
            <a:r>
              <a:rPr lang="fr-FR" dirty="0"/>
              <a:t> </a:t>
            </a:r>
            <a:r>
              <a:rPr lang="fr-FR" dirty="0" err="1"/>
              <a:t>rejects</a:t>
            </a:r>
            <a:r>
              <a:rPr lang="fr-FR" dirty="0"/>
              <a:t> the </a:t>
            </a:r>
            <a:r>
              <a:rPr lang="fr-FR" dirty="0" err="1"/>
              <a:t>null</a:t>
            </a:r>
            <a:r>
              <a:rPr lang="fr-FR" dirty="0"/>
              <a:t> </a:t>
            </a:r>
            <a:r>
              <a:rPr lang="fr-FR" dirty="0" err="1"/>
              <a:t>hypothesis</a:t>
            </a:r>
            <a:r>
              <a:rPr lang="fr-FR" dirty="0"/>
              <a:t> of </a:t>
            </a:r>
            <a:r>
              <a:rPr lang="fr-FR" dirty="0" err="1"/>
              <a:t>common</a:t>
            </a:r>
            <a:r>
              <a:rPr lang="fr-FR" dirty="0"/>
              <a:t> </a:t>
            </a:r>
            <a:r>
              <a:rPr lang="fr-FR" dirty="0" err="1"/>
              <a:t>slopes</a:t>
            </a:r>
            <a:r>
              <a:rPr lang="fr-FR" dirty="0"/>
              <a:t>.</a:t>
            </a:r>
            <a:endParaRPr lang="en-GB" dirty="0"/>
          </a:p>
        </p:txBody>
      </p:sp>
    </p:spTree>
    <p:extLst>
      <p:ext uri="{BB962C8B-B14F-4D97-AF65-F5344CB8AC3E}">
        <p14:creationId xmlns:p14="http://schemas.microsoft.com/office/powerpoint/2010/main" val="230175602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16" y="188640"/>
            <a:ext cx="8508448" cy="6553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6448886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sz="2800" dirty="0"/>
              <a:t>Table: </a:t>
            </a:r>
            <a:r>
              <a:rPr lang="fr-FR" sz="2800" dirty="0" err="1"/>
              <a:t>Within</a:t>
            </a:r>
            <a:r>
              <a:rPr lang="fr-FR" sz="2800" dirty="0"/>
              <a:t> (</a:t>
            </a:r>
            <a:r>
              <a:rPr lang="fr-FR" sz="2800" dirty="0" err="1"/>
              <a:t>common</a:t>
            </a:r>
            <a:r>
              <a:rPr lang="fr-FR" sz="2800" dirty="0"/>
              <a:t> </a:t>
            </a:r>
            <a:r>
              <a:rPr lang="fr-FR" sz="2800" dirty="0" err="1"/>
              <a:t>slopes</a:t>
            </a:r>
            <a:r>
              <a:rPr lang="fr-FR" sz="2800" dirty="0"/>
              <a:t>, </a:t>
            </a:r>
            <a:r>
              <a:rPr lang="fr-FR" sz="2800" dirty="0" err="1"/>
              <a:t>different</a:t>
            </a:r>
            <a:r>
              <a:rPr lang="fr-FR" sz="2800" dirty="0"/>
              <a:t> </a:t>
            </a:r>
            <a:r>
              <a:rPr lang="fr-FR" sz="2800" dirty="0" err="1"/>
              <a:t>intercepts</a:t>
            </a:r>
            <a:r>
              <a:rPr lang="fr-FR" sz="2800" dirty="0"/>
              <a:t>) versus (</a:t>
            </a:r>
            <a:r>
              <a:rPr lang="fr-FR" sz="2800" dirty="0" err="1"/>
              <a:t>different</a:t>
            </a:r>
            <a:r>
              <a:rPr lang="fr-FR" sz="2800" dirty="0"/>
              <a:t> </a:t>
            </a:r>
            <a:r>
              <a:rPr lang="fr-FR" sz="2800" dirty="0" err="1"/>
              <a:t>slopes</a:t>
            </a:r>
            <a:r>
              <a:rPr lang="fr-FR" sz="2800" dirty="0"/>
              <a:t> and </a:t>
            </a:r>
            <a:r>
              <a:rPr lang="fr-FR" sz="2800" dirty="0" err="1"/>
              <a:t>intercepts</a:t>
            </a:r>
            <a:r>
              <a:rPr lang="fr-FR" sz="2800" dirty="0"/>
              <a:t>)</a:t>
            </a:r>
          </a:p>
        </p:txBody>
      </p:sp>
      <p:sp>
        <p:nvSpPr>
          <p:cNvPr id="4" name="Espace réservé du contenu 3"/>
          <p:cNvSpPr>
            <a:spLocks noGrp="1"/>
          </p:cNvSpPr>
          <p:nvPr>
            <p:ph idx="1"/>
          </p:nvPr>
        </p:nvSpPr>
        <p:spPr/>
        <p:txBody>
          <a:bodyPr>
            <a:normAutofit lnSpcReduction="10000"/>
          </a:bodyPr>
          <a:lstStyle/>
          <a:p>
            <a:pPr marL="514350" indent="-514350">
              <a:buFont typeface="+mj-lt"/>
              <a:buAutoNum type="arabicPeriod"/>
            </a:pPr>
            <a:r>
              <a:rPr lang="fr-FR" dirty="0" err="1"/>
              <a:t>Contrast</a:t>
            </a:r>
            <a:r>
              <a:rPr lang="fr-FR" dirty="0"/>
              <a:t> confidence </a:t>
            </a:r>
            <a:r>
              <a:rPr lang="fr-FR" dirty="0" err="1"/>
              <a:t>interval</a:t>
            </a:r>
            <a:r>
              <a:rPr lang="fr-FR" dirty="0"/>
              <a:t> for </a:t>
            </a:r>
            <a:r>
              <a:rPr lang="fr-FR" dirty="0" err="1"/>
              <a:t>common</a:t>
            </a:r>
            <a:r>
              <a:rPr lang="fr-FR" dirty="0"/>
              <a:t> </a:t>
            </a:r>
            <a:r>
              <a:rPr lang="fr-FR" dirty="0" err="1"/>
              <a:t>slopes</a:t>
            </a:r>
            <a:r>
              <a:rPr lang="fr-FR" dirty="0"/>
              <a:t> versus time </a:t>
            </a:r>
            <a:r>
              <a:rPr lang="fr-FR" dirty="0" err="1"/>
              <a:t>series</a:t>
            </a:r>
            <a:r>
              <a:rPr lang="fr-FR" dirty="0"/>
              <a:t>.</a:t>
            </a:r>
          </a:p>
          <a:p>
            <a:pPr marL="514350" indent="-514350">
              <a:buFont typeface="+mj-lt"/>
              <a:buAutoNum type="arabicPeriod"/>
            </a:pPr>
            <a:r>
              <a:rPr lang="fr-FR" dirty="0" err="1"/>
              <a:t>Contrast</a:t>
            </a:r>
            <a:r>
              <a:rPr lang="fr-FR" dirty="0"/>
              <a:t> </a:t>
            </a:r>
            <a:r>
              <a:rPr lang="fr-FR" dirty="0" err="1"/>
              <a:t>intercept</a:t>
            </a:r>
            <a:r>
              <a:rPr lang="fr-FR" dirty="0"/>
              <a:t> </a:t>
            </a:r>
            <a:r>
              <a:rPr lang="fr-FR" dirty="0" err="1"/>
              <a:t>estimates</a:t>
            </a:r>
            <a:r>
              <a:rPr lang="fr-FR" dirty="0"/>
              <a:t> for </a:t>
            </a:r>
            <a:r>
              <a:rPr lang="fr-FR" dirty="0" err="1"/>
              <a:t>fixed</a:t>
            </a:r>
            <a:r>
              <a:rPr lang="fr-FR" dirty="0"/>
              <a:t> </a:t>
            </a:r>
            <a:r>
              <a:rPr lang="fr-FR" dirty="0" err="1"/>
              <a:t>effects</a:t>
            </a:r>
            <a:r>
              <a:rPr lang="fr-FR" dirty="0"/>
              <a:t> versus time </a:t>
            </a:r>
            <a:r>
              <a:rPr lang="fr-FR" dirty="0" err="1"/>
              <a:t>series</a:t>
            </a:r>
            <a:r>
              <a:rPr lang="fr-FR" dirty="0"/>
              <a:t>.</a:t>
            </a:r>
          </a:p>
          <a:p>
            <a:pPr marL="514350" indent="-514350">
              <a:buFont typeface="+mj-lt"/>
              <a:buAutoNum type="arabicPeriod"/>
            </a:pPr>
            <a:r>
              <a:rPr lang="fr-FR" dirty="0" err="1"/>
              <a:t>Contrast</a:t>
            </a:r>
            <a:r>
              <a:rPr lang="fr-FR" dirty="0"/>
              <a:t> RMSE (</a:t>
            </a:r>
            <a:r>
              <a:rPr lang="fr-FR" dirty="0" err="1"/>
              <a:t>restricted</a:t>
            </a:r>
            <a:r>
              <a:rPr lang="fr-FR" dirty="0"/>
              <a:t> SSR) for </a:t>
            </a:r>
            <a:r>
              <a:rPr lang="fr-FR" dirty="0" err="1"/>
              <a:t>fixed</a:t>
            </a:r>
            <a:r>
              <a:rPr lang="fr-FR" dirty="0"/>
              <a:t> </a:t>
            </a:r>
            <a:r>
              <a:rPr lang="fr-FR" dirty="0" err="1"/>
              <a:t>effects</a:t>
            </a:r>
            <a:r>
              <a:rPr lang="fr-FR" dirty="0"/>
              <a:t> versus time-</a:t>
            </a:r>
            <a:r>
              <a:rPr lang="fr-FR" dirty="0" err="1"/>
              <a:t>series</a:t>
            </a:r>
            <a:r>
              <a:rPr lang="fr-FR" dirty="0"/>
              <a:t>, </a:t>
            </a:r>
          </a:p>
          <a:p>
            <a:pPr marL="514350" indent="-514350">
              <a:buFont typeface="+mj-lt"/>
              <a:buAutoNum type="arabicPeriod"/>
            </a:pPr>
            <a:r>
              <a:rPr lang="fr-FR" dirty="0"/>
              <a:t>Chow (1960) or Fisher ANCOVA test (1936) of </a:t>
            </a:r>
            <a:r>
              <a:rPr lang="fr-FR" dirty="0" err="1"/>
              <a:t>poolability</a:t>
            </a:r>
            <a:r>
              <a:rPr lang="fr-FR" dirty="0"/>
              <a:t>: </a:t>
            </a:r>
            <a:r>
              <a:rPr lang="fr-FR" dirty="0" err="1"/>
              <a:t>Kuh</a:t>
            </a:r>
            <a:r>
              <a:rPr lang="fr-FR" dirty="0"/>
              <a:t> (1963) </a:t>
            </a:r>
            <a:r>
              <a:rPr lang="fr-FR" dirty="0" err="1"/>
              <a:t>copied</a:t>
            </a:r>
            <a:r>
              <a:rPr lang="fr-FR" dirty="0"/>
              <a:t> in </a:t>
            </a:r>
            <a:r>
              <a:rPr lang="fr-FR" dirty="0" err="1"/>
              <a:t>Hsiaoh</a:t>
            </a:r>
            <a:r>
              <a:rPr lang="fr-FR" dirty="0"/>
              <a:t> (1986) </a:t>
            </a:r>
            <a:r>
              <a:rPr lang="fr-FR" dirty="0" err="1"/>
              <a:t>textbook</a:t>
            </a:r>
            <a:r>
              <a:rPr lang="fr-FR" dirty="0"/>
              <a:t>.</a:t>
            </a:r>
          </a:p>
        </p:txBody>
      </p:sp>
    </p:spTree>
    <p:extLst>
      <p:ext uri="{BB962C8B-B14F-4D97-AF65-F5344CB8AC3E}">
        <p14:creationId xmlns:p14="http://schemas.microsoft.com/office/powerpoint/2010/main" val="148304914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sz="2800" dirty="0"/>
              <a:t>(1) </a:t>
            </a:r>
            <a:r>
              <a:rPr lang="fr-FR" sz="2800" dirty="0" err="1"/>
              <a:t>Within</a:t>
            </a:r>
            <a:r>
              <a:rPr lang="fr-FR" sz="2800" dirty="0"/>
              <a:t> (</a:t>
            </a:r>
            <a:r>
              <a:rPr lang="fr-FR" sz="2800" dirty="0" err="1"/>
              <a:t>common</a:t>
            </a:r>
            <a:r>
              <a:rPr lang="fr-FR" sz="2800" dirty="0"/>
              <a:t> </a:t>
            </a:r>
            <a:r>
              <a:rPr lang="fr-FR" sz="2800" dirty="0" err="1"/>
              <a:t>slopes</a:t>
            </a:r>
            <a:r>
              <a:rPr lang="fr-FR" sz="2800" dirty="0"/>
              <a:t>, </a:t>
            </a:r>
            <a:r>
              <a:rPr lang="fr-FR" sz="2800" dirty="0" err="1"/>
              <a:t>different</a:t>
            </a:r>
            <a:r>
              <a:rPr lang="fr-FR" sz="2800" dirty="0"/>
              <a:t> </a:t>
            </a:r>
            <a:r>
              <a:rPr lang="fr-FR" sz="2800" dirty="0" err="1"/>
              <a:t>intercepts</a:t>
            </a:r>
            <a:r>
              <a:rPr lang="fr-FR" sz="2800" dirty="0"/>
              <a:t>) </a:t>
            </a:r>
            <a:r>
              <a:rPr lang="fr-FR" sz="2800" b="1" dirty="0" err="1"/>
              <a:t>slopes</a:t>
            </a:r>
            <a:r>
              <a:rPr lang="fr-FR" sz="2800" b="1" dirty="0"/>
              <a:t> confidence </a:t>
            </a:r>
            <a:r>
              <a:rPr lang="fr-FR" sz="2800" b="1" dirty="0" err="1"/>
              <a:t>interval</a:t>
            </a:r>
            <a:r>
              <a:rPr lang="fr-FR" sz="2800" dirty="0"/>
              <a:t> versus (</a:t>
            </a:r>
            <a:r>
              <a:rPr lang="fr-FR" sz="2800" dirty="0" err="1"/>
              <a:t>different</a:t>
            </a:r>
            <a:r>
              <a:rPr lang="fr-FR" sz="2800" dirty="0"/>
              <a:t> </a:t>
            </a:r>
            <a:r>
              <a:rPr lang="fr-FR" sz="2800" dirty="0" err="1"/>
              <a:t>slopes</a:t>
            </a:r>
            <a:r>
              <a:rPr lang="fr-FR" sz="2800" dirty="0"/>
              <a:t> and </a:t>
            </a:r>
            <a:r>
              <a:rPr lang="fr-FR" sz="2800" dirty="0" err="1"/>
              <a:t>intercepts</a:t>
            </a:r>
            <a:r>
              <a:rPr lang="fr-FR" sz="2800" dirty="0"/>
              <a:t>)</a:t>
            </a:r>
          </a:p>
        </p:txBody>
      </p:sp>
      <p:sp>
        <p:nvSpPr>
          <p:cNvPr id="4" name="Espace réservé du contenu 3"/>
          <p:cNvSpPr>
            <a:spLocks noGrp="1"/>
          </p:cNvSpPr>
          <p:nvPr>
            <p:ph idx="1"/>
          </p:nvPr>
        </p:nvSpPr>
        <p:spPr/>
        <p:txBody>
          <a:bodyPr>
            <a:normAutofit lnSpcReduction="10000"/>
          </a:bodyPr>
          <a:lstStyle/>
          <a:p>
            <a:pPr marL="0" indent="0">
              <a:buNone/>
            </a:pPr>
            <a:r>
              <a:rPr lang="fr-FR" sz="2800" dirty="0"/>
              <a:t>3 </a:t>
            </a:r>
            <a:r>
              <a:rPr lang="fr-FR" sz="2800" dirty="0" err="1"/>
              <a:t>columns</a:t>
            </a:r>
            <a:r>
              <a:rPr lang="fr-FR" sz="2800" dirty="0"/>
              <a:t> for </a:t>
            </a:r>
            <a:r>
              <a:rPr lang="fr-FR" sz="2800" dirty="0" err="1"/>
              <a:t>slope</a:t>
            </a:r>
            <a:r>
              <a:rPr lang="fr-FR" sz="2800" dirty="0"/>
              <a:t> </a:t>
            </a:r>
            <a:r>
              <a:rPr lang="fr-FR" sz="2800" dirty="0" err="1"/>
              <a:t>parameters</a:t>
            </a:r>
            <a:r>
              <a:rPr lang="fr-FR" sz="2800" dirty="0"/>
              <a:t>: </a:t>
            </a:r>
            <a:r>
              <a:rPr lang="fr-FR" sz="2800" dirty="0" err="1"/>
              <a:t>common</a:t>
            </a:r>
            <a:r>
              <a:rPr lang="fr-FR" sz="2800" dirty="0"/>
              <a:t> (</a:t>
            </a:r>
            <a:r>
              <a:rPr lang="fr-FR" sz="2800" dirty="0" err="1"/>
              <a:t>within</a:t>
            </a:r>
            <a:r>
              <a:rPr lang="fr-FR" sz="2800" dirty="0"/>
              <a:t>=</a:t>
            </a:r>
            <a:r>
              <a:rPr lang="fr-FR" sz="2800" dirty="0" err="1"/>
              <a:t>fixed</a:t>
            </a:r>
            <a:r>
              <a:rPr lang="fr-FR" sz="2800" dirty="0"/>
              <a:t> </a:t>
            </a:r>
            <a:r>
              <a:rPr lang="fr-FR" sz="2800" dirty="0" err="1"/>
              <a:t>effects</a:t>
            </a:r>
            <a:r>
              <a:rPr lang="fr-FR" sz="2800" dirty="0"/>
              <a:t>) versus time-</a:t>
            </a:r>
            <a:r>
              <a:rPr lang="fr-FR" sz="2800" dirty="0" err="1"/>
              <a:t>series</a:t>
            </a:r>
            <a:r>
              <a:rPr lang="fr-FR" sz="2800" dirty="0"/>
              <a:t> country </a:t>
            </a:r>
            <a:r>
              <a:rPr lang="fr-FR" sz="2800" dirty="0" err="1"/>
              <a:t>specific</a:t>
            </a:r>
            <a:r>
              <a:rPr lang="fr-FR" sz="2800" dirty="0"/>
              <a:t> </a:t>
            </a:r>
            <a:r>
              <a:rPr lang="fr-FR" sz="2800" dirty="0" err="1"/>
              <a:t>with</a:t>
            </a:r>
            <a:r>
              <a:rPr lang="fr-FR" sz="2800" dirty="0"/>
              <a:t> </a:t>
            </a:r>
            <a:r>
              <a:rPr lang="fr-FR" sz="2800" b="1" dirty="0" err="1"/>
              <a:t>very</a:t>
            </a:r>
            <a:r>
              <a:rPr lang="fr-FR" sz="2800" b="1" dirty="0"/>
              <a:t> NARROW confidence </a:t>
            </a:r>
            <a:r>
              <a:rPr lang="fr-FR" sz="2800" b="1" dirty="0" err="1"/>
              <a:t>interval</a:t>
            </a:r>
            <a:r>
              <a:rPr lang="fr-FR" sz="2800" dirty="0"/>
              <a:t>:</a:t>
            </a:r>
          </a:p>
          <a:p>
            <a:pPr marL="0" indent="0">
              <a:buNone/>
            </a:pPr>
            <a:r>
              <a:rPr lang="fr-FR" sz="2800" dirty="0"/>
              <a:t>For ln(Y/L): the </a:t>
            </a:r>
            <a:r>
              <a:rPr lang="fr-FR" sz="2800" dirty="0" err="1"/>
              <a:t>estimates</a:t>
            </a:r>
            <a:r>
              <a:rPr lang="fr-FR" sz="2800" dirty="0"/>
              <a:t> (in </a:t>
            </a:r>
            <a:r>
              <a:rPr lang="fr-FR" sz="2800" dirty="0" err="1"/>
              <a:t>bold</a:t>
            </a:r>
            <a:r>
              <a:rPr lang="fr-FR" sz="2800" dirty="0"/>
              <a:t>) of 4 countries over 18 are in the confidence </a:t>
            </a:r>
            <a:r>
              <a:rPr lang="fr-FR" sz="2800" dirty="0" err="1"/>
              <a:t>interval</a:t>
            </a:r>
            <a:r>
              <a:rPr lang="fr-FR" sz="2800" dirty="0"/>
              <a:t> (95%), </a:t>
            </a:r>
            <a:r>
              <a:rPr lang="fr-FR" sz="2800" dirty="0" err="1"/>
              <a:t>instead</a:t>
            </a:r>
            <a:r>
              <a:rPr lang="fr-FR" sz="2800" dirty="0"/>
              <a:t> of </a:t>
            </a:r>
            <a:r>
              <a:rPr lang="fr-FR" sz="2800" dirty="0" err="1"/>
              <a:t>around</a:t>
            </a:r>
            <a:r>
              <a:rPr lang="fr-FR" sz="2800" dirty="0"/>
              <a:t> 17/18 </a:t>
            </a:r>
            <a:r>
              <a:rPr lang="fr-FR" sz="2800" dirty="0" err="1"/>
              <a:t>expected</a:t>
            </a:r>
            <a:r>
              <a:rPr lang="fr-FR" sz="2800" dirty="0"/>
              <a:t> (19/20 = 95%).</a:t>
            </a:r>
          </a:p>
          <a:p>
            <a:pPr marL="0" indent="0">
              <a:buNone/>
            </a:pPr>
            <a:r>
              <a:rPr lang="fr-FR" sz="2800" dirty="0"/>
              <a:t>For ln(</a:t>
            </a:r>
            <a:r>
              <a:rPr lang="fr-FR" sz="2800" dirty="0" err="1"/>
              <a:t>pg</a:t>
            </a:r>
            <a:r>
              <a:rPr lang="fr-FR" sz="2800" dirty="0"/>
              <a:t>/</a:t>
            </a:r>
            <a:r>
              <a:rPr lang="fr-FR" sz="2800" dirty="0" err="1"/>
              <a:t>cpi</a:t>
            </a:r>
            <a:r>
              <a:rPr lang="fr-FR" sz="2800" dirty="0"/>
              <a:t>): 8 countries over 18 </a:t>
            </a:r>
            <a:r>
              <a:rPr lang="fr-FR" sz="2800" dirty="0" err="1"/>
              <a:t>estimate</a:t>
            </a:r>
            <a:r>
              <a:rPr lang="fr-FR" sz="2800" dirty="0"/>
              <a:t> in the confidence </a:t>
            </a:r>
            <a:r>
              <a:rPr lang="fr-FR" sz="2800" dirty="0" err="1"/>
              <a:t>interval</a:t>
            </a:r>
            <a:r>
              <a:rPr lang="fr-FR" sz="2800" dirty="0"/>
              <a:t> (95%), </a:t>
            </a:r>
            <a:r>
              <a:rPr lang="fr-FR" sz="2800" dirty="0" err="1"/>
              <a:t>instead</a:t>
            </a:r>
            <a:r>
              <a:rPr lang="fr-FR" sz="2800" dirty="0"/>
              <a:t> of 17 </a:t>
            </a:r>
            <a:r>
              <a:rPr lang="fr-FR" sz="2800" dirty="0" err="1"/>
              <a:t>expected</a:t>
            </a:r>
            <a:r>
              <a:rPr lang="fr-FR" sz="2800" dirty="0"/>
              <a:t>.</a:t>
            </a:r>
          </a:p>
          <a:p>
            <a:pPr marL="0" indent="0">
              <a:buNone/>
            </a:pPr>
            <a:r>
              <a:rPr lang="fr-FR" sz="2800" dirty="0"/>
              <a:t>For ln(car/L): 5 countries over 18 </a:t>
            </a:r>
            <a:r>
              <a:rPr lang="fr-FR" sz="2800" dirty="0" err="1"/>
              <a:t>estimate</a:t>
            </a:r>
            <a:r>
              <a:rPr lang="fr-FR" sz="2800" dirty="0"/>
              <a:t> in the confidence </a:t>
            </a:r>
            <a:r>
              <a:rPr lang="fr-FR" sz="2800" dirty="0" err="1"/>
              <a:t>interval</a:t>
            </a:r>
            <a:r>
              <a:rPr lang="fr-FR" sz="2800" dirty="0"/>
              <a:t> (95%), </a:t>
            </a:r>
            <a:r>
              <a:rPr lang="fr-FR" sz="2800" dirty="0" err="1"/>
              <a:t>instead</a:t>
            </a:r>
            <a:r>
              <a:rPr lang="fr-FR" sz="2800" dirty="0"/>
              <a:t> of 17 </a:t>
            </a:r>
            <a:r>
              <a:rPr lang="fr-FR" sz="2800" dirty="0" err="1"/>
              <a:t>expected</a:t>
            </a:r>
            <a:r>
              <a:rPr lang="fr-FR" sz="2800" dirty="0"/>
              <a:t>.</a:t>
            </a:r>
          </a:p>
        </p:txBody>
      </p:sp>
    </p:spTree>
    <p:extLst>
      <p:ext uri="{BB962C8B-B14F-4D97-AF65-F5344CB8AC3E}">
        <p14:creationId xmlns:p14="http://schemas.microsoft.com/office/powerpoint/2010/main" val="360975999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2. </a:t>
            </a:r>
            <a:r>
              <a:rPr lang="fr-FR" dirty="0" err="1"/>
              <a:t>Intercept</a:t>
            </a:r>
            <a:r>
              <a:rPr lang="fr-FR" dirty="0"/>
              <a:t> </a:t>
            </a:r>
            <a:r>
              <a:rPr lang="fr-FR" dirty="0" err="1"/>
              <a:t>estimates</a:t>
            </a:r>
            <a:r>
              <a:rPr lang="fr-FR" dirty="0"/>
              <a:t> </a:t>
            </a:r>
            <a:r>
              <a:rPr lang="fr-FR" dirty="0" err="1"/>
              <a:t>bias</a:t>
            </a:r>
            <a:r>
              <a:rPr lang="fr-FR" dirty="0"/>
              <a:t>.</a:t>
            </a:r>
          </a:p>
        </p:txBody>
      </p:sp>
      <p:sp>
        <p:nvSpPr>
          <p:cNvPr id="3" name="Espace réservé du contenu 2"/>
          <p:cNvSpPr>
            <a:spLocks noGrp="1"/>
          </p:cNvSpPr>
          <p:nvPr>
            <p:ph idx="1"/>
          </p:nvPr>
        </p:nvSpPr>
        <p:spPr/>
        <p:txBody>
          <a:bodyPr>
            <a:normAutofit fontScale="92500" lnSpcReduction="20000"/>
          </a:bodyPr>
          <a:lstStyle/>
          <a:p>
            <a:pPr marL="514350" indent="-514350" algn="just">
              <a:buAutoNum type="arabicPeriod"/>
            </a:pPr>
            <a:r>
              <a:rPr lang="fr-FR" dirty="0"/>
              <a:t>The </a:t>
            </a:r>
            <a:r>
              <a:rPr lang="fr-FR" dirty="0" err="1"/>
              <a:t>unbiased</a:t>
            </a:r>
            <a:r>
              <a:rPr lang="fr-FR" dirty="0"/>
              <a:t> « </a:t>
            </a:r>
            <a:r>
              <a:rPr lang="fr-FR" dirty="0" err="1"/>
              <a:t>fixed</a:t>
            </a:r>
            <a:r>
              <a:rPr lang="fr-FR" dirty="0"/>
              <a:t> </a:t>
            </a:r>
            <a:r>
              <a:rPr lang="fr-FR" dirty="0" err="1"/>
              <a:t>effects</a:t>
            </a:r>
            <a:r>
              <a:rPr lang="fr-FR" dirty="0"/>
              <a:t> » </a:t>
            </a:r>
            <a:r>
              <a:rPr lang="fr-FR" dirty="0" err="1"/>
              <a:t>estimates</a:t>
            </a:r>
            <a:r>
              <a:rPr lang="fr-FR" dirty="0"/>
              <a:t> of </a:t>
            </a:r>
            <a:r>
              <a:rPr lang="fr-FR" dirty="0" err="1"/>
              <a:t>intercepts</a:t>
            </a:r>
            <a:r>
              <a:rPr lang="fr-FR" dirty="0"/>
              <a:t> are the </a:t>
            </a:r>
            <a:r>
              <a:rPr lang="fr-FR" dirty="0" err="1"/>
              <a:t>ones</a:t>
            </a:r>
            <a:r>
              <a:rPr lang="fr-FR" dirty="0"/>
              <a:t> of time-</a:t>
            </a:r>
            <a:r>
              <a:rPr lang="fr-FR" dirty="0" err="1"/>
              <a:t>series</a:t>
            </a:r>
            <a:r>
              <a:rPr lang="fr-FR" dirty="0"/>
              <a:t> not of « </a:t>
            </a:r>
            <a:r>
              <a:rPr lang="fr-FR" dirty="0" err="1"/>
              <a:t>fixed</a:t>
            </a:r>
            <a:r>
              <a:rPr lang="fr-FR" dirty="0"/>
              <a:t> </a:t>
            </a:r>
            <a:r>
              <a:rPr lang="fr-FR" dirty="0" err="1"/>
              <a:t>effects</a:t>
            </a:r>
            <a:r>
              <a:rPr lang="fr-FR" dirty="0"/>
              <a:t> ».</a:t>
            </a:r>
          </a:p>
          <a:p>
            <a:pPr marL="514350" indent="-514350" algn="just">
              <a:buAutoNum type="arabicPeriod"/>
            </a:pPr>
            <a:r>
              <a:rPr lang="fr-FR" dirty="0"/>
              <a:t>The </a:t>
            </a:r>
            <a:r>
              <a:rPr lang="fr-FR" dirty="0" err="1"/>
              <a:t>bias</a:t>
            </a:r>
            <a:r>
              <a:rPr lang="fr-FR" dirty="0"/>
              <a:t> due to the « report » of the constant </a:t>
            </a:r>
            <a:r>
              <a:rPr lang="fr-FR" dirty="0" err="1"/>
              <a:t>slope</a:t>
            </a:r>
            <a:r>
              <a:rPr lang="fr-FR" dirty="0"/>
              <a:t> </a:t>
            </a:r>
            <a:r>
              <a:rPr lang="fr-FR" dirty="0" err="1"/>
              <a:t>constraints</a:t>
            </a:r>
            <a:r>
              <a:rPr lang="fr-FR" dirty="0"/>
              <a:t> on the </a:t>
            </a:r>
            <a:r>
              <a:rPr lang="fr-FR" dirty="0" err="1"/>
              <a:t>intercept</a:t>
            </a:r>
            <a:r>
              <a:rPr lang="fr-FR" dirty="0"/>
              <a:t> </a:t>
            </a:r>
            <a:r>
              <a:rPr lang="fr-FR" dirty="0" err="1"/>
              <a:t>is</a:t>
            </a:r>
            <a:r>
              <a:rPr lang="fr-FR" dirty="0"/>
              <a:t> large </a:t>
            </a:r>
            <a:r>
              <a:rPr lang="fr-FR" dirty="0" err="1"/>
              <a:t>upwards</a:t>
            </a:r>
            <a:r>
              <a:rPr lang="fr-FR" dirty="0"/>
              <a:t> and </a:t>
            </a:r>
            <a:r>
              <a:rPr lang="fr-FR" dirty="0" err="1"/>
              <a:t>downwards</a:t>
            </a:r>
            <a:r>
              <a:rPr lang="fr-FR" dirty="0"/>
              <a:t>: </a:t>
            </a:r>
            <a:r>
              <a:rPr lang="fr-FR" dirty="0" err="1"/>
              <a:t>largest</a:t>
            </a:r>
            <a:r>
              <a:rPr lang="fr-FR" dirty="0"/>
              <a:t> </a:t>
            </a:r>
            <a:r>
              <a:rPr lang="fr-FR" dirty="0" err="1"/>
              <a:t>bias</a:t>
            </a:r>
            <a:r>
              <a:rPr lang="fr-FR" dirty="0"/>
              <a:t> : </a:t>
            </a:r>
            <a:r>
              <a:rPr lang="fr-FR" dirty="0" err="1"/>
              <a:t>Sweden</a:t>
            </a:r>
            <a:r>
              <a:rPr lang="fr-FR" dirty="0"/>
              <a:t>= -2.8 </a:t>
            </a:r>
            <a:r>
              <a:rPr lang="fr-FR" dirty="0" err="1"/>
              <a:t>unbiased</a:t>
            </a:r>
            <a:r>
              <a:rPr lang="fr-FR" dirty="0"/>
              <a:t>, </a:t>
            </a:r>
            <a:r>
              <a:rPr lang="fr-FR" dirty="0" err="1"/>
              <a:t>biased</a:t>
            </a:r>
            <a:r>
              <a:rPr lang="fr-FR" dirty="0"/>
              <a:t>: -2.8+5.9=+3: </a:t>
            </a:r>
            <a:r>
              <a:rPr lang="fr-FR" b="1" dirty="0"/>
              <a:t>Forget </a:t>
            </a:r>
            <a:r>
              <a:rPr lang="fr-FR" b="1" dirty="0" err="1"/>
              <a:t>any</a:t>
            </a:r>
            <a:r>
              <a:rPr lang="fr-FR" b="1" dirty="0"/>
              <a:t> </a:t>
            </a:r>
            <a:r>
              <a:rPr lang="fr-FR" b="1" dirty="0" err="1"/>
              <a:t>interpretation</a:t>
            </a:r>
            <a:r>
              <a:rPr lang="fr-FR" b="1" dirty="0"/>
              <a:t> of « </a:t>
            </a:r>
            <a:r>
              <a:rPr lang="fr-FR" b="1" dirty="0" err="1"/>
              <a:t>fixed</a:t>
            </a:r>
            <a:r>
              <a:rPr lang="fr-FR" b="1" dirty="0"/>
              <a:t> </a:t>
            </a:r>
            <a:r>
              <a:rPr lang="fr-FR" b="1" dirty="0" err="1"/>
              <a:t>effects</a:t>
            </a:r>
            <a:r>
              <a:rPr lang="fr-FR" b="1" dirty="0"/>
              <a:t> » </a:t>
            </a:r>
            <a:r>
              <a:rPr lang="fr-FR" b="1" dirty="0" err="1"/>
              <a:t>with</a:t>
            </a:r>
            <a:r>
              <a:rPr lang="fr-FR" b="1" dirty="0"/>
              <a:t> </a:t>
            </a:r>
            <a:r>
              <a:rPr lang="fr-FR" b="1" dirty="0" err="1"/>
              <a:t>such</a:t>
            </a:r>
            <a:r>
              <a:rPr lang="fr-FR" b="1" dirty="0"/>
              <a:t> a </a:t>
            </a:r>
            <a:r>
              <a:rPr lang="fr-FR" b="1" dirty="0" err="1"/>
              <a:t>bias</a:t>
            </a:r>
            <a:r>
              <a:rPr lang="fr-FR" b="1" dirty="0"/>
              <a:t> (and </a:t>
            </a:r>
            <a:r>
              <a:rPr lang="fr-FR" b="1" dirty="0" err="1"/>
              <a:t>remove</a:t>
            </a:r>
            <a:r>
              <a:rPr lang="fr-FR" b="1" dirty="0"/>
              <a:t> </a:t>
            </a:r>
            <a:r>
              <a:rPr lang="fr-FR" b="1" dirty="0" err="1"/>
              <a:t>near-multicollinearity</a:t>
            </a:r>
            <a:r>
              <a:rPr lang="fr-FR" b="1" dirty="0"/>
              <a:t> first in the </a:t>
            </a:r>
            <a:r>
              <a:rPr lang="fr-FR" b="1" dirty="0" err="1"/>
              <a:t>specification</a:t>
            </a:r>
            <a:r>
              <a:rPr lang="fr-FR" b="1" dirty="0"/>
              <a:t>).</a:t>
            </a:r>
          </a:p>
        </p:txBody>
      </p:sp>
    </p:spTree>
    <p:extLst>
      <p:ext uri="{BB962C8B-B14F-4D97-AF65-F5344CB8AC3E}">
        <p14:creationId xmlns:p14="http://schemas.microsoft.com/office/powerpoint/2010/main" val="235163276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altLang="fr-FR" sz="3200" dirty="0" err="1"/>
              <a:t>Restricting</a:t>
            </a:r>
            <a:r>
              <a:rPr lang="fr-FR" altLang="fr-FR" sz="3200" dirty="0"/>
              <a:t> the </a:t>
            </a:r>
            <a:r>
              <a:rPr lang="fr-FR" altLang="fr-FR" sz="3200" dirty="0" err="1"/>
              <a:t>slopes</a:t>
            </a:r>
            <a:r>
              <a:rPr lang="fr-FR" altLang="fr-FR" sz="3200" dirty="0"/>
              <a:t> to </a:t>
            </a:r>
            <a:r>
              <a:rPr lang="fr-FR" altLang="fr-FR" sz="3200" dirty="0" err="1"/>
              <a:t>be</a:t>
            </a:r>
            <a:r>
              <a:rPr lang="fr-FR" altLang="fr-FR" sz="3200" dirty="0"/>
              <a:t> the </a:t>
            </a:r>
            <a:r>
              <a:rPr lang="fr-FR" altLang="fr-FR" sz="3200" dirty="0" err="1"/>
              <a:t>same</a:t>
            </a:r>
            <a:br>
              <a:rPr lang="fr-FR" altLang="fr-FR" sz="3200" dirty="0"/>
            </a:br>
            <a:r>
              <a:rPr lang="fr-FR" altLang="fr-FR" sz="3200" dirty="0"/>
              <a:t> </a:t>
            </a:r>
            <a:r>
              <a:rPr lang="fr-FR" altLang="fr-FR" sz="3200" dirty="0" err="1"/>
              <a:t>when</a:t>
            </a:r>
            <a:r>
              <a:rPr lang="fr-FR" altLang="fr-FR" sz="3200" dirty="0"/>
              <a:t> </a:t>
            </a:r>
            <a:r>
              <a:rPr lang="fr-FR" altLang="fr-FR" sz="3200" dirty="0" err="1"/>
              <a:t>they</a:t>
            </a:r>
            <a:r>
              <a:rPr lang="fr-FR" altLang="fr-FR" sz="3200" dirty="0"/>
              <a:t> are </a:t>
            </a:r>
            <a:r>
              <a:rPr lang="fr-FR" altLang="fr-FR" sz="3200" dirty="0" err="1"/>
              <a:t>different</a:t>
            </a:r>
            <a:endParaRPr lang="fr-FR" sz="3200" dirty="0"/>
          </a:p>
        </p:txBody>
      </p:sp>
      <p:sp>
        <p:nvSpPr>
          <p:cNvPr id="3" name="Espace réservé du contenu 2"/>
          <p:cNvSpPr>
            <a:spLocks noGrp="1"/>
          </p:cNvSpPr>
          <p:nvPr>
            <p:ph idx="1"/>
          </p:nvPr>
        </p:nvSpPr>
        <p:spPr/>
        <p:txBody>
          <a:bodyPr>
            <a:normAutofit/>
          </a:bodyPr>
          <a:lstStyle/>
          <a:p>
            <a:pPr marL="0" indent="0">
              <a:buNone/>
            </a:pPr>
            <a:r>
              <a:rPr lang="el-GR" altLang="fr-FR" b="1" dirty="0">
                <a:solidFill>
                  <a:srgbClr val="FF0000"/>
                </a:solidFill>
              </a:rPr>
              <a:t>β</a:t>
            </a:r>
            <a:r>
              <a:rPr lang="fr-FR" baseline="-25000" dirty="0" err="1">
                <a:latin typeface="Cambria Math" panose="02040503050406030204" pitchFamily="18" charset="0"/>
                <a:ea typeface="Cambria Math" panose="02040503050406030204" pitchFamily="18" charset="0"/>
              </a:rPr>
              <a:t>x,i</a:t>
            </a:r>
            <a:r>
              <a:rPr lang="fr-FR" baseline="-25000" dirty="0">
                <a:latin typeface="Cambria Math" panose="02040503050406030204" pitchFamily="18" charset="0"/>
                <a:ea typeface="Cambria Math" panose="02040503050406030204" pitchFamily="18" charset="0"/>
              </a:rPr>
              <a:t>=1, time </a:t>
            </a:r>
            <a:r>
              <a:rPr lang="fr-FR" baseline="-25000" dirty="0" err="1">
                <a:latin typeface="Cambria Math" panose="02040503050406030204" pitchFamily="18" charset="0"/>
                <a:ea typeface="Cambria Math" panose="02040503050406030204" pitchFamily="18" charset="0"/>
              </a:rPr>
              <a:t>series</a:t>
            </a:r>
            <a:r>
              <a:rPr lang="fr-FR" baseline="-25000" dirty="0">
                <a:latin typeface="Cambria Math" panose="02040503050406030204" pitchFamily="18" charset="0"/>
                <a:ea typeface="Cambria Math" panose="02040503050406030204" pitchFamily="18" charset="0"/>
              </a:rPr>
              <a:t>  </a:t>
            </a:r>
          </a:p>
          <a:p>
            <a:pPr marL="0" indent="0">
              <a:buNone/>
            </a:pPr>
            <a:r>
              <a:rPr lang="fr-FR" altLang="fr-FR" dirty="0">
                <a:solidFill>
                  <a:srgbClr val="FF0000"/>
                </a:solidFill>
              </a:rPr>
              <a:t>&lt; </a:t>
            </a:r>
            <a:r>
              <a:rPr lang="el-GR" altLang="fr-FR" b="1" dirty="0">
                <a:solidFill>
                  <a:srgbClr val="FF0000"/>
                </a:solidFill>
              </a:rPr>
              <a:t>β</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x,panel</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fixed</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effects</a:t>
            </a:r>
            <a:r>
              <a:rPr lang="fr-FR" baseline="-25000" dirty="0">
                <a:latin typeface="Cambria Math" panose="02040503050406030204" pitchFamily="18" charset="0"/>
                <a:ea typeface="Cambria Math" panose="02040503050406030204" pitchFamily="18" charset="0"/>
              </a:rPr>
              <a:t> </a:t>
            </a:r>
            <a:endParaRPr lang="fr-FR" altLang="fr-FR" dirty="0">
              <a:solidFill>
                <a:srgbClr val="FF0000"/>
              </a:solidFill>
            </a:endParaRPr>
          </a:p>
          <a:p>
            <a:pPr marL="0" indent="0">
              <a:buNone/>
            </a:pPr>
            <a:r>
              <a:rPr lang="fr-FR" altLang="fr-FR" b="1" dirty="0">
                <a:solidFill>
                  <a:srgbClr val="FF0000"/>
                </a:solidFill>
              </a:rPr>
              <a:t>=</a:t>
            </a:r>
            <a:r>
              <a:rPr lang="el-GR" altLang="fr-FR" b="1" dirty="0">
                <a:solidFill>
                  <a:srgbClr val="FF0000"/>
                </a:solidFill>
              </a:rPr>
              <a:t> </a:t>
            </a:r>
            <a:r>
              <a:rPr lang="fr-FR" altLang="fr-FR" b="1" dirty="0">
                <a:solidFill>
                  <a:srgbClr val="FF0000"/>
                </a:solidFill>
              </a:rPr>
              <a:t> w</a:t>
            </a:r>
            <a:r>
              <a:rPr lang="fr-FR" altLang="fr-FR" b="1" baseline="-25000" dirty="0">
                <a:solidFill>
                  <a:srgbClr val="FF0000"/>
                </a:solidFill>
              </a:rPr>
              <a:t>1</a:t>
            </a:r>
            <a:r>
              <a:rPr lang="fr-FR" altLang="fr-FR" b="1" dirty="0">
                <a:solidFill>
                  <a:srgbClr val="FF0000"/>
                </a:solidFill>
              </a:rPr>
              <a:t>. </a:t>
            </a:r>
            <a:r>
              <a:rPr lang="el-GR" altLang="fr-FR" b="1" dirty="0">
                <a:solidFill>
                  <a:srgbClr val="FF0000"/>
                </a:solidFill>
              </a:rPr>
              <a:t>β</a:t>
            </a:r>
            <a:r>
              <a:rPr lang="fr-FR" baseline="-25000" dirty="0" err="1">
                <a:latin typeface="Cambria Math" panose="02040503050406030204" pitchFamily="18" charset="0"/>
                <a:ea typeface="Cambria Math" panose="02040503050406030204" pitchFamily="18" charset="0"/>
              </a:rPr>
              <a:t>x,i</a:t>
            </a:r>
            <a:r>
              <a:rPr lang="fr-FR" baseline="-25000" dirty="0">
                <a:latin typeface="Cambria Math" panose="02040503050406030204" pitchFamily="18" charset="0"/>
                <a:ea typeface="Cambria Math" panose="02040503050406030204" pitchFamily="18" charset="0"/>
              </a:rPr>
              <a:t>=1, time </a:t>
            </a:r>
            <a:r>
              <a:rPr lang="fr-FR" baseline="-25000" dirty="0" err="1">
                <a:latin typeface="Cambria Math" panose="02040503050406030204" pitchFamily="18" charset="0"/>
                <a:ea typeface="Cambria Math" panose="02040503050406030204" pitchFamily="18" charset="0"/>
              </a:rPr>
              <a:t>series</a:t>
            </a:r>
            <a:r>
              <a:rPr lang="fr-FR" altLang="fr-FR" dirty="0">
                <a:solidFill>
                  <a:srgbClr val="FF0000"/>
                </a:solidFill>
              </a:rPr>
              <a:t> +</a:t>
            </a:r>
            <a:r>
              <a:rPr lang="fr-FR" altLang="fr-FR" b="1" dirty="0">
                <a:solidFill>
                  <a:srgbClr val="FF0000"/>
                </a:solidFill>
              </a:rPr>
              <a:t> (1-w</a:t>
            </a:r>
            <a:r>
              <a:rPr lang="fr-FR" altLang="fr-FR" b="1" baseline="-25000" dirty="0">
                <a:solidFill>
                  <a:srgbClr val="FF0000"/>
                </a:solidFill>
              </a:rPr>
              <a:t>1</a:t>
            </a:r>
            <a:r>
              <a:rPr lang="fr-FR" altLang="fr-FR" b="1" dirty="0">
                <a:solidFill>
                  <a:srgbClr val="FF0000"/>
                </a:solidFill>
              </a:rPr>
              <a:t>). </a:t>
            </a:r>
            <a:r>
              <a:rPr lang="el-GR" altLang="fr-FR" b="1" dirty="0">
                <a:solidFill>
                  <a:srgbClr val="FF0000"/>
                </a:solidFill>
              </a:rPr>
              <a:t>β</a:t>
            </a:r>
            <a:r>
              <a:rPr lang="fr-FR" baseline="-25000" dirty="0" err="1">
                <a:latin typeface="Cambria Math" panose="02040503050406030204" pitchFamily="18" charset="0"/>
                <a:ea typeface="Cambria Math" panose="02040503050406030204" pitchFamily="18" charset="0"/>
              </a:rPr>
              <a:t>x,i</a:t>
            </a:r>
            <a:r>
              <a:rPr lang="fr-FR" baseline="-25000" dirty="0">
                <a:latin typeface="Cambria Math" panose="02040503050406030204" pitchFamily="18" charset="0"/>
                <a:ea typeface="Cambria Math" panose="02040503050406030204" pitchFamily="18" charset="0"/>
              </a:rPr>
              <a:t>=2, time </a:t>
            </a:r>
            <a:r>
              <a:rPr lang="fr-FR" baseline="-25000" dirty="0" err="1">
                <a:latin typeface="Cambria Math" panose="02040503050406030204" pitchFamily="18" charset="0"/>
                <a:ea typeface="Cambria Math" panose="02040503050406030204" pitchFamily="18" charset="0"/>
              </a:rPr>
              <a:t>series</a:t>
            </a:r>
            <a:r>
              <a:rPr lang="fr-FR" baseline="-25000" dirty="0">
                <a:latin typeface="Cambria Math" panose="02040503050406030204" pitchFamily="18" charset="0"/>
                <a:ea typeface="Cambria Math" panose="02040503050406030204" pitchFamily="18" charset="0"/>
              </a:rPr>
              <a:t> </a:t>
            </a:r>
          </a:p>
          <a:p>
            <a:pPr marL="0" indent="0">
              <a:buNone/>
            </a:pPr>
            <a:r>
              <a:rPr lang="fr-FR" altLang="fr-FR" dirty="0">
                <a:solidFill>
                  <a:srgbClr val="FF0000"/>
                </a:solidFill>
              </a:rPr>
              <a:t>&lt; </a:t>
            </a:r>
            <a:r>
              <a:rPr lang="el-GR" altLang="fr-FR" b="1" dirty="0">
                <a:solidFill>
                  <a:srgbClr val="FF0000"/>
                </a:solidFill>
              </a:rPr>
              <a:t>β</a:t>
            </a:r>
            <a:r>
              <a:rPr lang="fr-FR" baseline="-25000" dirty="0" err="1">
                <a:latin typeface="Cambria Math" panose="02040503050406030204" pitchFamily="18" charset="0"/>
                <a:ea typeface="Cambria Math" panose="02040503050406030204" pitchFamily="18" charset="0"/>
              </a:rPr>
              <a:t>x,i</a:t>
            </a:r>
            <a:r>
              <a:rPr lang="fr-FR" baseline="-25000" dirty="0">
                <a:latin typeface="Cambria Math" panose="02040503050406030204" pitchFamily="18" charset="0"/>
                <a:ea typeface="Cambria Math" panose="02040503050406030204" pitchFamily="18" charset="0"/>
              </a:rPr>
              <a:t>=2, time </a:t>
            </a:r>
            <a:r>
              <a:rPr lang="fr-FR" baseline="-25000" dirty="0" err="1">
                <a:latin typeface="Cambria Math" panose="02040503050406030204" pitchFamily="18" charset="0"/>
                <a:ea typeface="Cambria Math" panose="02040503050406030204" pitchFamily="18" charset="0"/>
              </a:rPr>
              <a:t>series</a:t>
            </a:r>
            <a:endParaRPr lang="fr-FR" baseline="-25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16456654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For </a:t>
            </a:r>
            <a:r>
              <a:rPr lang="fr-FR" dirty="0" err="1"/>
              <a:t>fixed</a:t>
            </a:r>
            <a:r>
              <a:rPr lang="fr-FR" dirty="0"/>
              <a:t> </a:t>
            </a:r>
            <a:r>
              <a:rPr lang="fr-FR" dirty="0" err="1"/>
              <a:t>effects</a:t>
            </a:r>
            <a:r>
              <a:rPr lang="fr-FR" dirty="0"/>
              <a:t> </a:t>
            </a:r>
            <a:br>
              <a:rPr lang="fr-FR" dirty="0"/>
            </a:br>
            <a:r>
              <a:rPr lang="fr-FR" dirty="0" err="1"/>
              <a:t>with</a:t>
            </a:r>
            <a:r>
              <a:rPr lang="fr-FR" dirty="0"/>
              <a:t> </a:t>
            </a:r>
            <a:r>
              <a:rPr lang="fr-FR" dirty="0" err="1"/>
              <a:t>individual</a:t>
            </a:r>
            <a:r>
              <a:rPr lang="fr-FR" dirty="0"/>
              <a:t> </a:t>
            </a:r>
            <a:r>
              <a:rPr lang="fr-FR" dirty="0" err="1"/>
              <a:t>intercepts</a:t>
            </a:r>
            <a:endParaRPr lang="fr-FR" dirty="0"/>
          </a:p>
        </p:txBody>
      </p:sp>
      <p:sp>
        <p:nvSpPr>
          <p:cNvPr id="3" name="Espace réservé du contenu 2"/>
          <p:cNvSpPr>
            <a:spLocks noGrp="1"/>
          </p:cNvSpPr>
          <p:nvPr>
            <p:ph idx="1"/>
          </p:nvPr>
        </p:nvSpPr>
        <p:spPr/>
        <p:txBody>
          <a:bodyPr>
            <a:normAutofit/>
          </a:bodyPr>
          <a:lstStyle/>
          <a:p>
            <a:pPr marL="0" indent="0" algn="just">
              <a:buNone/>
            </a:pPr>
            <a:r>
              <a:rPr lang="fr-FR" dirty="0" err="1"/>
              <a:t>Spillover</a:t>
            </a:r>
            <a:r>
              <a:rPr lang="fr-FR" dirty="0"/>
              <a:t> of the </a:t>
            </a:r>
            <a:r>
              <a:rPr lang="fr-FR" dirty="0" err="1"/>
              <a:t>common</a:t>
            </a:r>
            <a:r>
              <a:rPr lang="fr-FR" dirty="0"/>
              <a:t> </a:t>
            </a:r>
            <a:r>
              <a:rPr lang="fr-FR" dirty="0" err="1"/>
              <a:t>slope</a:t>
            </a:r>
            <a:r>
              <a:rPr lang="fr-FR" dirty="0"/>
              <a:t> restriction for variable x </a:t>
            </a:r>
            <a:r>
              <a:rPr lang="fr-FR" dirty="0" err="1"/>
              <a:t>which</a:t>
            </a:r>
            <a:r>
              <a:rPr lang="fr-FR" dirty="0"/>
              <a:t> </a:t>
            </a:r>
            <a:r>
              <a:rPr lang="fr-FR" dirty="0" err="1"/>
              <a:t>adds</a:t>
            </a:r>
            <a:r>
              <a:rPr lang="fr-FR" dirty="0"/>
              <a:t> on the </a:t>
            </a:r>
            <a:r>
              <a:rPr lang="fr-FR" dirty="0" err="1"/>
              <a:t>intercept</a:t>
            </a:r>
            <a:r>
              <a:rPr lang="fr-FR" dirty="0"/>
              <a:t>: </a:t>
            </a:r>
          </a:p>
          <a:p>
            <a:pPr marL="0" indent="0" algn="just">
              <a:buNone/>
            </a:pPr>
            <a:r>
              <a:rPr lang="fr-FR" b="1" dirty="0"/>
              <a:t>(</a:t>
            </a:r>
            <a:r>
              <a:rPr lang="el-GR" altLang="fr-FR" b="1" dirty="0">
                <a:solidFill>
                  <a:srgbClr val="FF0000"/>
                </a:solidFill>
              </a:rPr>
              <a:t>β</a:t>
            </a:r>
            <a:r>
              <a:rPr lang="fr-FR" baseline="-25000" dirty="0" err="1">
                <a:latin typeface="Cambria Math" panose="02040503050406030204" pitchFamily="18" charset="0"/>
                <a:ea typeface="Cambria Math" panose="02040503050406030204" pitchFamily="18" charset="0"/>
              </a:rPr>
              <a:t>x,i</a:t>
            </a:r>
            <a:r>
              <a:rPr lang="fr-FR" baseline="-25000" dirty="0">
                <a:latin typeface="Cambria Math" panose="02040503050406030204" pitchFamily="18" charset="0"/>
                <a:ea typeface="Cambria Math" panose="02040503050406030204" pitchFamily="18" charset="0"/>
              </a:rPr>
              <a:t>=1, time </a:t>
            </a:r>
            <a:r>
              <a:rPr lang="fr-FR" baseline="-25000" dirty="0" err="1">
                <a:latin typeface="Cambria Math" panose="02040503050406030204" pitchFamily="18" charset="0"/>
                <a:ea typeface="Cambria Math" panose="02040503050406030204" pitchFamily="18" charset="0"/>
              </a:rPr>
              <a:t>series</a:t>
            </a:r>
            <a:r>
              <a:rPr lang="fr-FR" baseline="-25000" dirty="0">
                <a:latin typeface="Cambria Math" panose="02040503050406030204" pitchFamily="18" charset="0"/>
                <a:ea typeface="Cambria Math" panose="02040503050406030204" pitchFamily="18" charset="0"/>
              </a:rPr>
              <a:t>  </a:t>
            </a:r>
            <a:r>
              <a:rPr lang="fr-FR" altLang="fr-FR" b="1" dirty="0">
                <a:solidFill>
                  <a:srgbClr val="FF0000"/>
                </a:solidFill>
              </a:rPr>
              <a:t>- </a:t>
            </a:r>
            <a:r>
              <a:rPr lang="el-GR" altLang="fr-FR" b="1" dirty="0">
                <a:solidFill>
                  <a:srgbClr val="FF0000"/>
                </a:solidFill>
              </a:rPr>
              <a:t>β</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x,panel</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fixed</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effects</a:t>
            </a:r>
            <a:r>
              <a:rPr lang="fr-FR" dirty="0">
                <a:latin typeface="Cambria Math" panose="02040503050406030204" pitchFamily="18" charset="0"/>
                <a:ea typeface="Cambria Math" panose="02040503050406030204" pitchFamily="18" charset="0"/>
              </a:rPr>
              <a:t> </a:t>
            </a:r>
            <a:r>
              <a:rPr lang="fr-FR" altLang="fr-FR" b="1" dirty="0"/>
              <a:t>)*x</a:t>
            </a:r>
            <a:r>
              <a:rPr lang="fr-FR" baseline="-25000" dirty="0">
                <a:latin typeface="Cambria Math" panose="02040503050406030204" pitchFamily="18" charset="0"/>
                <a:ea typeface="Cambria Math" panose="02040503050406030204" pitchFamily="18" charset="0"/>
              </a:rPr>
              <a:t>i=1,. </a:t>
            </a:r>
            <a:endParaRPr lang="fr-FR" altLang="fr-FR" b="1" dirty="0"/>
          </a:p>
          <a:p>
            <a:pPr marL="0" indent="0" algn="just">
              <a:buNone/>
            </a:pPr>
            <a:r>
              <a:rPr lang="fr-FR" altLang="fr-FR" b="1" dirty="0"/>
              <a:t>x</a:t>
            </a:r>
            <a:r>
              <a:rPr lang="fr-FR" baseline="-25000" dirty="0">
                <a:latin typeface="Cambria Math" panose="02040503050406030204" pitchFamily="18" charset="0"/>
                <a:ea typeface="Cambria Math" panose="02040503050406030204" pitchFamily="18" charset="0"/>
              </a:rPr>
              <a:t>i=1,. </a:t>
            </a:r>
            <a:r>
              <a:rPr lang="fr-FR" altLang="fr-FR" dirty="0" err="1"/>
              <a:t>reads</a:t>
            </a:r>
            <a:r>
              <a:rPr lang="fr-FR" altLang="fr-FR" dirty="0"/>
              <a:t> « x (i, dot) ». This NOTATION </a:t>
            </a:r>
            <a:r>
              <a:rPr lang="fr-FR" dirty="0" err="1"/>
              <a:t>i</a:t>
            </a:r>
            <a:r>
              <a:rPr lang="fr-FR" altLang="fr-FR" dirty="0" err="1"/>
              <a:t>s</a:t>
            </a:r>
            <a:r>
              <a:rPr lang="fr-FR" altLang="fr-FR" dirty="0"/>
              <a:t> the </a:t>
            </a:r>
            <a:r>
              <a:rPr lang="fr-FR" altLang="fr-FR" dirty="0" err="1"/>
              <a:t>average</a:t>
            </a:r>
            <a:r>
              <a:rPr lang="fr-FR" altLang="fr-FR" dirty="0"/>
              <a:t> of the observations of the variable x for the </a:t>
            </a:r>
            <a:r>
              <a:rPr lang="fr-FR" altLang="fr-FR" dirty="0" err="1"/>
              <a:t>individual</a:t>
            </a:r>
            <a:r>
              <a:rPr lang="fr-FR" altLang="fr-FR" dirty="0"/>
              <a:t> i=1, or the BETWEEN transformation of the variable x.</a:t>
            </a:r>
          </a:p>
          <a:p>
            <a:pPr marL="0" indent="0">
              <a:buNone/>
            </a:pPr>
            <a:endParaRPr lang="fr-FR" altLang="fr-FR" dirty="0"/>
          </a:p>
          <a:p>
            <a:pPr marL="0" indent="0">
              <a:buNone/>
            </a:pPr>
            <a:endParaRPr lang="fr-FR" dirty="0"/>
          </a:p>
        </p:txBody>
      </p:sp>
    </p:spTree>
    <p:extLst>
      <p:ext uri="{BB962C8B-B14F-4D97-AF65-F5344CB8AC3E}">
        <p14:creationId xmlns:p14="http://schemas.microsoft.com/office/powerpoint/2010/main" val="342079498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Bias</a:t>
            </a:r>
            <a:r>
              <a:rPr lang="fr-FR" dirty="0"/>
              <a:t> of the « </a:t>
            </a:r>
            <a:r>
              <a:rPr lang="fr-FR" dirty="0" err="1"/>
              <a:t>fixed</a:t>
            </a:r>
            <a:r>
              <a:rPr lang="fr-FR" dirty="0"/>
              <a:t> </a:t>
            </a:r>
            <a:r>
              <a:rPr lang="fr-FR" dirty="0" err="1"/>
              <a:t>effects</a:t>
            </a:r>
            <a:r>
              <a:rPr lang="fr-FR" dirty="0"/>
              <a:t> » </a:t>
            </a:r>
            <a:r>
              <a:rPr lang="fr-FR" dirty="0" err="1"/>
              <a:t>intercept</a:t>
            </a:r>
            <a:r>
              <a:rPr lang="fr-FR" dirty="0"/>
              <a:t> </a:t>
            </a:r>
            <a:r>
              <a:rPr lang="fr-FR" dirty="0" err="1"/>
              <a:t>estimate</a:t>
            </a:r>
            <a:r>
              <a:rPr lang="fr-FR" dirty="0"/>
              <a:t> for </a:t>
            </a:r>
            <a:r>
              <a:rPr lang="fr-FR" dirty="0" err="1"/>
              <a:t>Sweden</a:t>
            </a:r>
            <a:endParaRPr lang="fr-FR"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2276872"/>
            <a:ext cx="8229600" cy="1084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599195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Interpretation</a:t>
            </a:r>
            <a:r>
              <a:rPr lang="fr-FR" dirty="0"/>
              <a:t> of </a:t>
            </a:r>
            <a:r>
              <a:rPr lang="fr-FR" dirty="0" err="1"/>
              <a:t>fixed</a:t>
            </a:r>
            <a:r>
              <a:rPr lang="fr-FR" dirty="0"/>
              <a:t> </a:t>
            </a:r>
            <a:r>
              <a:rPr lang="fr-FR" dirty="0" err="1"/>
              <a:t>effects</a:t>
            </a:r>
            <a:endParaRPr lang="en-GB" dirty="0"/>
          </a:p>
        </p:txBody>
      </p:sp>
      <p:sp>
        <p:nvSpPr>
          <p:cNvPr id="3" name="Espace réservé du contenu 2"/>
          <p:cNvSpPr>
            <a:spLocks noGrp="1"/>
          </p:cNvSpPr>
          <p:nvPr>
            <p:ph idx="1"/>
          </p:nvPr>
        </p:nvSpPr>
        <p:spPr/>
        <p:txBody>
          <a:bodyPr>
            <a:normAutofit fontScale="92500" lnSpcReduction="10000"/>
          </a:bodyPr>
          <a:lstStyle/>
          <a:p>
            <a:pPr marL="0" indent="0" algn="just">
              <a:buNone/>
            </a:pPr>
            <a:r>
              <a:rPr lang="fr-FR" dirty="0"/>
              <a:t>The « </a:t>
            </a:r>
            <a:r>
              <a:rPr lang="fr-FR" dirty="0" err="1"/>
              <a:t>fixed</a:t>
            </a:r>
            <a:r>
              <a:rPr lang="fr-FR" dirty="0"/>
              <a:t> </a:t>
            </a:r>
            <a:r>
              <a:rPr lang="fr-FR" dirty="0" err="1"/>
              <a:t>effects</a:t>
            </a:r>
            <a:r>
              <a:rPr lang="fr-FR" dirty="0"/>
              <a:t> » model </a:t>
            </a:r>
            <a:r>
              <a:rPr lang="fr-FR" dirty="0" err="1"/>
              <a:t>is</a:t>
            </a:r>
            <a:r>
              <a:rPr lang="fr-FR" dirty="0"/>
              <a:t> NOT GOOD for </a:t>
            </a:r>
            <a:r>
              <a:rPr lang="fr-FR" dirty="0" err="1"/>
              <a:t>estimating</a:t>
            </a:r>
            <a:r>
              <a:rPr lang="fr-FR" dirty="0"/>
              <a:t> « </a:t>
            </a:r>
            <a:r>
              <a:rPr lang="fr-FR" dirty="0" err="1"/>
              <a:t>fixed</a:t>
            </a:r>
            <a:r>
              <a:rPr lang="fr-FR" dirty="0"/>
              <a:t> </a:t>
            </a:r>
            <a:r>
              <a:rPr lang="fr-FR" dirty="0" err="1"/>
              <a:t>effects</a:t>
            </a:r>
            <a:r>
              <a:rPr lang="fr-FR" dirty="0"/>
              <a:t> » (</a:t>
            </a:r>
            <a:r>
              <a:rPr lang="fr-FR" dirty="0" err="1"/>
              <a:t>intercepts</a:t>
            </a:r>
            <a:r>
              <a:rPr lang="fr-FR" dirty="0"/>
              <a:t> for </a:t>
            </a:r>
            <a:r>
              <a:rPr lang="fr-FR" dirty="0" err="1"/>
              <a:t>each</a:t>
            </a:r>
            <a:r>
              <a:rPr lang="fr-FR" dirty="0"/>
              <a:t> </a:t>
            </a:r>
            <a:r>
              <a:rPr lang="fr-FR" dirty="0" err="1"/>
              <a:t>individuals</a:t>
            </a:r>
            <a:r>
              <a:rPr lang="fr-FR" dirty="0"/>
              <a:t>) </a:t>
            </a:r>
            <a:r>
              <a:rPr lang="fr-FR" dirty="0" err="1"/>
              <a:t>with</a:t>
            </a:r>
            <a:r>
              <a:rPr lang="fr-FR" dirty="0"/>
              <a:t> respect to un-</a:t>
            </a:r>
            <a:r>
              <a:rPr lang="fr-FR" dirty="0" err="1"/>
              <a:t>pooled</a:t>
            </a:r>
            <a:r>
              <a:rPr lang="fr-FR" dirty="0"/>
              <a:t> time </a:t>
            </a:r>
            <a:r>
              <a:rPr lang="fr-FR" dirty="0" err="1"/>
              <a:t>series</a:t>
            </a:r>
            <a:r>
              <a:rPr lang="fr-FR" dirty="0"/>
              <a:t> </a:t>
            </a:r>
            <a:r>
              <a:rPr lang="fr-FR" dirty="0" err="1"/>
              <a:t>intercepts</a:t>
            </a:r>
            <a:r>
              <a:rPr lang="fr-FR" dirty="0"/>
              <a:t>.</a:t>
            </a:r>
          </a:p>
          <a:p>
            <a:pPr marL="0" indent="0" algn="just">
              <a:buNone/>
            </a:pPr>
            <a:r>
              <a:rPr lang="fr-FR" dirty="0"/>
              <a:t>The </a:t>
            </a:r>
            <a:r>
              <a:rPr lang="fr-FR" dirty="0" err="1"/>
              <a:t>genuine</a:t>
            </a:r>
            <a:r>
              <a:rPr lang="fr-FR" dirty="0"/>
              <a:t> </a:t>
            </a:r>
            <a:r>
              <a:rPr lang="fr-FR" dirty="0" err="1"/>
              <a:t>fixed</a:t>
            </a:r>
            <a:r>
              <a:rPr lang="fr-FR" dirty="0"/>
              <a:t> </a:t>
            </a:r>
            <a:r>
              <a:rPr lang="fr-FR" dirty="0" err="1"/>
              <a:t>effect</a:t>
            </a:r>
            <a:r>
              <a:rPr lang="fr-FR" dirty="0"/>
              <a:t> </a:t>
            </a:r>
            <a:r>
              <a:rPr lang="fr-FR" dirty="0" err="1"/>
              <a:t>is</a:t>
            </a:r>
            <a:r>
              <a:rPr lang="fr-FR" dirty="0"/>
              <a:t> the </a:t>
            </a:r>
            <a:r>
              <a:rPr lang="fr-FR" dirty="0" err="1"/>
              <a:t>intercept</a:t>
            </a:r>
            <a:r>
              <a:rPr lang="fr-FR" dirty="0"/>
              <a:t> of time </a:t>
            </a:r>
            <a:r>
              <a:rPr lang="fr-FR" dirty="0" err="1"/>
              <a:t>series</a:t>
            </a:r>
            <a:r>
              <a:rPr lang="fr-FR" dirty="0"/>
              <a:t>, </a:t>
            </a:r>
            <a:r>
              <a:rPr lang="fr-FR" dirty="0" err="1"/>
              <a:t>without</a:t>
            </a:r>
            <a:r>
              <a:rPr lang="fr-FR" dirty="0"/>
              <a:t> the </a:t>
            </a:r>
            <a:r>
              <a:rPr lang="fr-FR" dirty="0" err="1"/>
              <a:t>identical</a:t>
            </a:r>
            <a:r>
              <a:rPr lang="fr-FR" dirty="0"/>
              <a:t> </a:t>
            </a:r>
            <a:r>
              <a:rPr lang="fr-FR" dirty="0" err="1"/>
              <a:t>slopes</a:t>
            </a:r>
            <a:r>
              <a:rPr lang="fr-FR" dirty="0"/>
              <a:t> restriction.</a:t>
            </a:r>
          </a:p>
          <a:p>
            <a:pPr marL="0" indent="0" algn="just">
              <a:buNone/>
            </a:pPr>
            <a:r>
              <a:rPr lang="fr-FR" dirty="0"/>
              <a:t>This </a:t>
            </a:r>
            <a:r>
              <a:rPr lang="fr-FR" dirty="0" err="1"/>
              <a:t>fixed</a:t>
            </a:r>
            <a:r>
              <a:rPr lang="fr-FR" dirty="0"/>
              <a:t> </a:t>
            </a:r>
            <a:r>
              <a:rPr lang="fr-FR" dirty="0" err="1"/>
              <a:t>effect</a:t>
            </a:r>
            <a:r>
              <a:rPr lang="fr-FR" dirty="0"/>
              <a:t> captures ALL the </a:t>
            </a:r>
            <a:r>
              <a:rPr lang="fr-FR" dirty="0" err="1"/>
              <a:t>unmeasured</a:t>
            </a:r>
            <a:r>
              <a:rPr lang="fr-FR" dirty="0"/>
              <a:t> </a:t>
            </a:r>
            <a:r>
              <a:rPr lang="fr-FR" dirty="0" err="1"/>
              <a:t>characteristics</a:t>
            </a:r>
            <a:r>
              <a:rPr lang="fr-FR" dirty="0"/>
              <a:t> of the </a:t>
            </a:r>
            <a:r>
              <a:rPr lang="fr-FR" dirty="0" err="1"/>
              <a:t>individual</a:t>
            </a:r>
            <a:r>
              <a:rPr lang="fr-FR" dirty="0"/>
              <a:t> </a:t>
            </a:r>
            <a:r>
              <a:rPr lang="fr-FR" dirty="0" err="1"/>
              <a:t>which</a:t>
            </a:r>
            <a:r>
              <a:rPr lang="fr-FR" dirty="0"/>
              <a:t> </a:t>
            </a:r>
            <a:r>
              <a:rPr lang="fr-FR" dirty="0" err="1"/>
              <a:t>did</a:t>
            </a:r>
            <a:r>
              <a:rPr lang="fr-FR" dirty="0"/>
              <a:t> not </a:t>
            </a:r>
            <a:r>
              <a:rPr lang="fr-FR" dirty="0" err="1"/>
              <a:t>vary</a:t>
            </a:r>
            <a:r>
              <a:rPr lang="fr-FR" dirty="0"/>
              <a:t> over time </a:t>
            </a:r>
            <a:r>
              <a:rPr lang="fr-FR" dirty="0" err="1"/>
              <a:t>during</a:t>
            </a:r>
            <a:r>
              <a:rPr lang="fr-FR" dirty="0"/>
              <a:t> the </a:t>
            </a:r>
            <a:r>
              <a:rPr lang="fr-FR" dirty="0" err="1"/>
              <a:t>period</a:t>
            </a:r>
            <a:r>
              <a:rPr lang="fr-FR" dirty="0"/>
              <a:t> of the </a:t>
            </a:r>
            <a:r>
              <a:rPr lang="fr-FR" dirty="0" err="1"/>
              <a:t>sample</a:t>
            </a:r>
            <a:r>
              <a:rPr lang="fr-FR" dirty="0"/>
              <a:t> </a:t>
            </a:r>
            <a:r>
              <a:rPr lang="fr-FR" dirty="0" err="1"/>
              <a:t>that</a:t>
            </a:r>
            <a:r>
              <a:rPr lang="fr-FR" dirty="0"/>
              <a:t> have an </a:t>
            </a:r>
            <a:r>
              <a:rPr lang="fr-FR" dirty="0" err="1"/>
              <a:t>effect</a:t>
            </a:r>
            <a:r>
              <a:rPr lang="fr-FR" dirty="0"/>
              <a:t> on the </a:t>
            </a:r>
            <a:r>
              <a:rPr lang="fr-FR" dirty="0" err="1"/>
              <a:t>dependent</a:t>
            </a:r>
            <a:r>
              <a:rPr lang="fr-FR" dirty="0"/>
              <a:t> variable.</a:t>
            </a:r>
          </a:p>
          <a:p>
            <a:pPr marL="0" indent="0">
              <a:buNone/>
            </a:pPr>
            <a:endParaRPr lang="en-GB" dirty="0"/>
          </a:p>
        </p:txBody>
      </p:sp>
    </p:spTree>
    <p:extLst>
      <p:ext uri="{BB962C8B-B14F-4D97-AF65-F5344CB8AC3E}">
        <p14:creationId xmlns:p14="http://schemas.microsoft.com/office/powerpoint/2010/main" val="402380911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err="1"/>
              <a:t>Interpretation</a:t>
            </a:r>
            <a:r>
              <a:rPr lang="fr-FR" sz="3200" dirty="0"/>
              <a:t> of the « </a:t>
            </a:r>
            <a:r>
              <a:rPr lang="fr-FR" sz="3200" dirty="0" err="1"/>
              <a:t>fixed</a:t>
            </a:r>
            <a:r>
              <a:rPr lang="fr-FR" sz="3200" dirty="0"/>
              <a:t> </a:t>
            </a:r>
            <a:r>
              <a:rPr lang="fr-FR" sz="3200" dirty="0" err="1"/>
              <a:t>effects</a:t>
            </a:r>
            <a:r>
              <a:rPr lang="fr-FR" sz="3200" dirty="0"/>
              <a:t> » </a:t>
            </a:r>
            <a:r>
              <a:rPr lang="fr-FR" sz="3200" dirty="0" err="1"/>
              <a:t>intercepts</a:t>
            </a:r>
            <a:r>
              <a:rPr lang="fr-FR" sz="3200" dirty="0"/>
              <a:t> of the </a:t>
            </a:r>
            <a:r>
              <a:rPr lang="fr-FR" sz="3200" dirty="0" err="1"/>
              <a:t>fixed</a:t>
            </a:r>
            <a:r>
              <a:rPr lang="fr-FR" sz="3200" dirty="0"/>
              <a:t> </a:t>
            </a:r>
            <a:r>
              <a:rPr lang="fr-FR" sz="3200" dirty="0" err="1"/>
              <a:t>effects</a:t>
            </a:r>
            <a:r>
              <a:rPr lang="fr-FR" sz="3200" dirty="0"/>
              <a:t> </a:t>
            </a:r>
            <a:r>
              <a:rPr lang="fr-FR" sz="3200" dirty="0" err="1"/>
              <a:t>estimator</a:t>
            </a:r>
            <a:endParaRPr lang="fr-FR" sz="3200" dirty="0"/>
          </a:p>
        </p:txBody>
      </p:sp>
      <p:sp>
        <p:nvSpPr>
          <p:cNvPr id="3" name="Espace réservé du contenu 2"/>
          <p:cNvSpPr>
            <a:spLocks noGrp="1"/>
          </p:cNvSpPr>
          <p:nvPr>
            <p:ph idx="1"/>
          </p:nvPr>
        </p:nvSpPr>
        <p:spPr/>
        <p:txBody>
          <a:bodyPr/>
          <a:lstStyle/>
          <a:p>
            <a:pPr marL="0" indent="0">
              <a:buNone/>
            </a:pPr>
            <a:r>
              <a:rPr lang="fr-FR" dirty="0"/>
              <a:t>This </a:t>
            </a:r>
            <a:r>
              <a:rPr lang="fr-FR" dirty="0" err="1"/>
              <a:t>fixed</a:t>
            </a:r>
            <a:r>
              <a:rPr lang="fr-FR" dirty="0"/>
              <a:t> </a:t>
            </a:r>
            <a:r>
              <a:rPr lang="fr-FR" dirty="0" err="1"/>
              <a:t>effect</a:t>
            </a:r>
            <a:r>
              <a:rPr lang="fr-FR" dirty="0"/>
              <a:t> captures ALL the </a:t>
            </a:r>
            <a:r>
              <a:rPr lang="fr-FR" dirty="0" err="1"/>
              <a:t>unmeasured</a:t>
            </a:r>
            <a:r>
              <a:rPr lang="fr-FR" dirty="0"/>
              <a:t> </a:t>
            </a:r>
            <a:r>
              <a:rPr lang="fr-FR" dirty="0" err="1"/>
              <a:t>characteristics</a:t>
            </a:r>
            <a:r>
              <a:rPr lang="fr-FR" dirty="0"/>
              <a:t> of the </a:t>
            </a:r>
            <a:r>
              <a:rPr lang="fr-FR" dirty="0" err="1"/>
              <a:t>individual</a:t>
            </a:r>
            <a:r>
              <a:rPr lang="fr-FR" dirty="0"/>
              <a:t> </a:t>
            </a:r>
            <a:r>
              <a:rPr lang="fr-FR" dirty="0" err="1"/>
              <a:t>which</a:t>
            </a:r>
            <a:r>
              <a:rPr lang="fr-FR" dirty="0"/>
              <a:t> </a:t>
            </a:r>
            <a:r>
              <a:rPr lang="fr-FR" dirty="0" err="1"/>
              <a:t>did</a:t>
            </a:r>
            <a:r>
              <a:rPr lang="fr-FR" dirty="0"/>
              <a:t> not </a:t>
            </a:r>
            <a:r>
              <a:rPr lang="fr-FR" dirty="0" err="1"/>
              <a:t>vary</a:t>
            </a:r>
            <a:r>
              <a:rPr lang="fr-FR" dirty="0"/>
              <a:t> over time </a:t>
            </a:r>
            <a:r>
              <a:rPr lang="fr-FR" dirty="0" err="1"/>
              <a:t>during</a:t>
            </a:r>
            <a:r>
              <a:rPr lang="fr-FR" dirty="0"/>
              <a:t> the </a:t>
            </a:r>
            <a:r>
              <a:rPr lang="fr-FR" dirty="0" err="1"/>
              <a:t>period</a:t>
            </a:r>
            <a:r>
              <a:rPr lang="fr-FR" dirty="0"/>
              <a:t> of the </a:t>
            </a:r>
            <a:r>
              <a:rPr lang="fr-FR" dirty="0" err="1"/>
              <a:t>sample</a:t>
            </a:r>
            <a:r>
              <a:rPr lang="fr-FR" dirty="0"/>
              <a:t>.</a:t>
            </a:r>
          </a:p>
          <a:p>
            <a:pPr marL="0" indent="0">
              <a:buNone/>
            </a:pPr>
            <a:r>
              <a:rPr lang="fr-FR" b="1" dirty="0"/>
              <a:t>PLUS</a:t>
            </a:r>
            <a:r>
              <a:rPr lang="fr-FR" dirty="0"/>
              <a:t> the </a:t>
            </a:r>
            <a:r>
              <a:rPr lang="fr-FR" dirty="0" err="1"/>
              <a:t>sum</a:t>
            </a:r>
            <a:r>
              <a:rPr lang="fr-FR" dirty="0"/>
              <a:t> for </a:t>
            </a:r>
            <a:r>
              <a:rPr lang="fr-FR" dirty="0" err="1"/>
              <a:t>each</a:t>
            </a:r>
            <a:r>
              <a:rPr lang="fr-FR" dirty="0"/>
              <a:t> </a:t>
            </a:r>
            <a:r>
              <a:rPr lang="fr-FR" dirty="0" err="1"/>
              <a:t>explanatory</a:t>
            </a:r>
            <a:r>
              <a:rPr lang="fr-FR" dirty="0"/>
              <a:t> variable x of all the </a:t>
            </a:r>
            <a:r>
              <a:rPr lang="fr-FR" dirty="0" err="1"/>
              <a:t>terms</a:t>
            </a:r>
            <a:r>
              <a:rPr lang="fr-FR" dirty="0"/>
              <a:t> due to the </a:t>
            </a:r>
            <a:r>
              <a:rPr lang="fr-FR" dirty="0" err="1"/>
              <a:t>common</a:t>
            </a:r>
            <a:r>
              <a:rPr lang="fr-FR" dirty="0"/>
              <a:t> </a:t>
            </a:r>
            <a:r>
              <a:rPr lang="fr-FR" dirty="0" err="1"/>
              <a:t>slope</a:t>
            </a:r>
            <a:r>
              <a:rPr lang="fr-FR" dirty="0"/>
              <a:t> </a:t>
            </a:r>
            <a:r>
              <a:rPr lang="fr-FR" dirty="0" err="1"/>
              <a:t>constraints</a:t>
            </a:r>
            <a:r>
              <a:rPr lang="fr-FR" dirty="0"/>
              <a:t>: </a:t>
            </a:r>
          </a:p>
          <a:p>
            <a:pPr marL="0" indent="0">
              <a:buNone/>
            </a:pPr>
            <a:r>
              <a:rPr lang="fr-FR" b="1" dirty="0"/>
              <a:t>(</a:t>
            </a:r>
            <a:r>
              <a:rPr lang="el-GR" altLang="fr-FR" b="1" dirty="0">
                <a:solidFill>
                  <a:srgbClr val="FF0000"/>
                </a:solidFill>
              </a:rPr>
              <a:t>β</a:t>
            </a:r>
            <a:r>
              <a:rPr lang="fr-FR" altLang="fr-FR" b="1" dirty="0">
                <a:solidFill>
                  <a:srgbClr val="FF0000"/>
                </a:solidFill>
              </a:rPr>
              <a:t>(</a:t>
            </a:r>
            <a:r>
              <a:rPr lang="fr-FR" altLang="fr-FR" b="1" dirty="0" err="1">
                <a:solidFill>
                  <a:srgbClr val="FF0000"/>
                </a:solidFill>
              </a:rPr>
              <a:t>x,i</a:t>
            </a:r>
            <a:r>
              <a:rPr lang="fr-FR" altLang="fr-FR" b="1" dirty="0">
                <a:solidFill>
                  <a:srgbClr val="FF0000"/>
                </a:solidFill>
              </a:rPr>
              <a:t>)-</a:t>
            </a:r>
            <a:r>
              <a:rPr lang="el-GR" altLang="fr-FR" b="1" dirty="0">
                <a:solidFill>
                  <a:srgbClr val="FF0000"/>
                </a:solidFill>
              </a:rPr>
              <a:t>β</a:t>
            </a:r>
            <a:r>
              <a:rPr lang="fr-FR" altLang="fr-FR" b="1" dirty="0">
                <a:solidFill>
                  <a:srgbClr val="FF0000"/>
                </a:solidFill>
              </a:rPr>
              <a:t>(</a:t>
            </a:r>
            <a:r>
              <a:rPr lang="fr-FR" altLang="fr-FR" b="1" dirty="0" err="1">
                <a:solidFill>
                  <a:srgbClr val="FF0000"/>
                </a:solidFill>
              </a:rPr>
              <a:t>x,panel</a:t>
            </a:r>
            <a:r>
              <a:rPr lang="fr-FR" altLang="fr-FR" b="1" dirty="0">
                <a:solidFill>
                  <a:srgbClr val="FF0000"/>
                </a:solidFill>
              </a:rPr>
              <a:t>)</a:t>
            </a:r>
            <a:r>
              <a:rPr lang="fr-FR" altLang="fr-FR" b="1" dirty="0"/>
              <a:t>)*x(i.)</a:t>
            </a:r>
            <a:endParaRPr lang="fr-FR" dirty="0"/>
          </a:p>
        </p:txBody>
      </p:sp>
    </p:spTree>
    <p:extLst>
      <p:ext uri="{BB962C8B-B14F-4D97-AF65-F5344CB8AC3E}">
        <p14:creationId xmlns:p14="http://schemas.microsoft.com/office/powerpoint/2010/main" val="181211106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sz="3200" dirty="0" err="1"/>
              <a:t>Interpretation</a:t>
            </a:r>
            <a:r>
              <a:rPr lang="fr-FR" sz="3200" dirty="0"/>
              <a:t> of </a:t>
            </a:r>
            <a:r>
              <a:rPr lang="fr-FR" sz="3200" dirty="0" err="1"/>
              <a:t>fixed</a:t>
            </a:r>
            <a:r>
              <a:rPr lang="fr-FR" sz="3200" dirty="0"/>
              <a:t> </a:t>
            </a:r>
            <a:r>
              <a:rPr lang="fr-FR" sz="3200" dirty="0" err="1"/>
              <a:t>effects</a:t>
            </a:r>
            <a:r>
              <a:rPr lang="fr-FR" sz="3200" dirty="0"/>
              <a:t>: </a:t>
            </a:r>
            <a:br>
              <a:rPr lang="fr-FR" sz="3200" dirty="0"/>
            </a:br>
            <a:r>
              <a:rPr lang="fr-FR" sz="3200" dirty="0"/>
              <a:t>cross section&lt; panel data &lt;time </a:t>
            </a:r>
            <a:r>
              <a:rPr lang="fr-FR" sz="3200" dirty="0" err="1"/>
              <a:t>series</a:t>
            </a:r>
            <a:endParaRPr lang="fr-FR" sz="3200" dirty="0"/>
          </a:p>
        </p:txBody>
      </p:sp>
      <p:sp>
        <p:nvSpPr>
          <p:cNvPr id="5" name="Espace réservé du contenu 4"/>
          <p:cNvSpPr>
            <a:spLocks noGrp="1"/>
          </p:cNvSpPr>
          <p:nvPr>
            <p:ph idx="1"/>
          </p:nvPr>
        </p:nvSpPr>
        <p:spPr/>
        <p:txBody>
          <a:bodyPr/>
          <a:lstStyle/>
          <a:p>
            <a:pPr marL="0" indent="0" algn="just">
              <a:buNone/>
            </a:pPr>
            <a:r>
              <a:rPr lang="fr-FR" sz="2800" dirty="0" err="1"/>
              <a:t>Fixed</a:t>
            </a:r>
            <a:r>
              <a:rPr lang="fr-FR" sz="2800" dirty="0"/>
              <a:t> </a:t>
            </a:r>
            <a:r>
              <a:rPr lang="fr-FR" sz="2800" dirty="0" err="1"/>
              <a:t>effect</a:t>
            </a:r>
            <a:r>
              <a:rPr lang="fr-FR" sz="2800" dirty="0"/>
              <a:t> captures ALL the </a:t>
            </a:r>
            <a:r>
              <a:rPr lang="fr-FR" sz="2800" dirty="0" err="1"/>
              <a:t>unmeasured</a:t>
            </a:r>
            <a:r>
              <a:rPr lang="fr-FR" sz="2800" dirty="0"/>
              <a:t> (OMITTED) </a:t>
            </a:r>
            <a:r>
              <a:rPr lang="fr-FR" sz="2800" dirty="0" err="1"/>
              <a:t>characteristics</a:t>
            </a:r>
            <a:r>
              <a:rPr lang="fr-FR" sz="2800" dirty="0"/>
              <a:t> of the </a:t>
            </a:r>
            <a:r>
              <a:rPr lang="fr-FR" sz="2800" dirty="0" err="1"/>
              <a:t>individual</a:t>
            </a:r>
            <a:r>
              <a:rPr lang="fr-FR" sz="2800" dirty="0"/>
              <a:t> </a:t>
            </a:r>
            <a:r>
              <a:rPr lang="fr-FR" sz="2800" dirty="0" err="1"/>
              <a:t>which</a:t>
            </a:r>
            <a:r>
              <a:rPr lang="fr-FR" sz="2800" dirty="0"/>
              <a:t> </a:t>
            </a:r>
            <a:r>
              <a:rPr lang="fr-FR" sz="2800" dirty="0" err="1"/>
              <a:t>did</a:t>
            </a:r>
            <a:r>
              <a:rPr lang="fr-FR" sz="2800" dirty="0"/>
              <a:t> not </a:t>
            </a:r>
            <a:r>
              <a:rPr lang="fr-FR" sz="2800" dirty="0" err="1"/>
              <a:t>vary</a:t>
            </a:r>
            <a:r>
              <a:rPr lang="fr-FR" sz="2800" dirty="0"/>
              <a:t> over time </a:t>
            </a:r>
            <a:r>
              <a:rPr lang="fr-FR" sz="2800" dirty="0" err="1"/>
              <a:t>during</a:t>
            </a:r>
            <a:r>
              <a:rPr lang="fr-FR" sz="2800" dirty="0"/>
              <a:t> the </a:t>
            </a:r>
            <a:r>
              <a:rPr lang="fr-FR" sz="2800" dirty="0" err="1"/>
              <a:t>period</a:t>
            </a:r>
            <a:r>
              <a:rPr lang="fr-FR" sz="2800" dirty="0"/>
              <a:t> of the </a:t>
            </a:r>
            <a:r>
              <a:rPr lang="fr-FR" sz="2800" dirty="0" err="1"/>
              <a:t>sample</a:t>
            </a:r>
            <a:r>
              <a:rPr lang="fr-FR" sz="2800" dirty="0"/>
              <a:t>. This </a:t>
            </a:r>
            <a:r>
              <a:rPr lang="fr-FR" sz="2800" dirty="0" err="1"/>
              <a:t>is</a:t>
            </a:r>
            <a:r>
              <a:rPr lang="fr-FR" sz="2800" dirty="0"/>
              <a:t> </a:t>
            </a:r>
            <a:r>
              <a:rPr lang="fr-FR" sz="2800" dirty="0" err="1"/>
              <a:t>true</a:t>
            </a:r>
            <a:r>
              <a:rPr lang="fr-FR" sz="2800" dirty="0"/>
              <a:t> </a:t>
            </a:r>
            <a:r>
              <a:rPr lang="fr-FR" sz="2800" dirty="0" err="1"/>
              <a:t>with</a:t>
            </a:r>
            <a:r>
              <a:rPr lang="fr-FR" sz="2800" dirty="0"/>
              <a:t> respect to a cross section.</a:t>
            </a:r>
          </a:p>
          <a:p>
            <a:pPr marL="0" indent="0" algn="just">
              <a:buNone/>
            </a:pPr>
            <a:r>
              <a:rPr lang="fr-FR" sz="2800" dirty="0"/>
              <a:t>But a time </a:t>
            </a:r>
            <a:r>
              <a:rPr lang="fr-FR" sz="2800" dirty="0" err="1"/>
              <a:t>series</a:t>
            </a:r>
            <a:r>
              <a:rPr lang="fr-FR" sz="2800" dirty="0"/>
              <a:t> estimation </a:t>
            </a:r>
            <a:r>
              <a:rPr lang="fr-FR" sz="2800" dirty="0" err="1"/>
              <a:t>does</a:t>
            </a:r>
            <a:r>
              <a:rPr lang="fr-FR" sz="2800" dirty="0"/>
              <a:t> </a:t>
            </a:r>
            <a:r>
              <a:rPr lang="fr-FR" sz="2800" dirty="0" err="1"/>
              <a:t>it</a:t>
            </a:r>
            <a:r>
              <a:rPr lang="fr-FR" sz="2800" dirty="0"/>
              <a:t> </a:t>
            </a:r>
            <a:r>
              <a:rPr lang="fr-FR" sz="2800" dirty="0" err="1"/>
              <a:t>much</a:t>
            </a:r>
            <a:r>
              <a:rPr lang="fr-FR" sz="2800" dirty="0"/>
              <a:t> more </a:t>
            </a:r>
            <a:r>
              <a:rPr lang="fr-FR" sz="2800" dirty="0" err="1"/>
              <a:t>precisely</a:t>
            </a:r>
            <a:r>
              <a:rPr lang="fr-FR" sz="2800" dirty="0"/>
              <a:t>, </a:t>
            </a:r>
            <a:r>
              <a:rPr lang="fr-FR" sz="2800" dirty="0" err="1"/>
              <a:t>so</a:t>
            </a:r>
            <a:r>
              <a:rPr lang="fr-FR" sz="2800" dirty="0"/>
              <a:t> </a:t>
            </a:r>
            <a:r>
              <a:rPr lang="fr-FR" sz="2800" dirty="0" err="1"/>
              <a:t>that</a:t>
            </a:r>
            <a:r>
              <a:rPr lang="fr-FR" sz="2800" dirty="0"/>
              <a:t> </a:t>
            </a:r>
            <a:r>
              <a:rPr lang="fr-FR" sz="2800" dirty="0" err="1"/>
              <a:t>capturing</a:t>
            </a:r>
            <a:r>
              <a:rPr lang="fr-FR" sz="2800" dirty="0"/>
              <a:t> all </a:t>
            </a:r>
            <a:r>
              <a:rPr lang="fr-FR" sz="2800" dirty="0" err="1"/>
              <a:t>omitted</a:t>
            </a:r>
            <a:r>
              <a:rPr lang="fr-FR" sz="2800" dirty="0"/>
              <a:t> time-invariant </a:t>
            </a:r>
            <a:r>
              <a:rPr lang="fr-FR" sz="2800" dirty="0" err="1"/>
              <a:t>characteristics</a:t>
            </a:r>
            <a:r>
              <a:rPr lang="fr-FR" sz="2800" dirty="0"/>
              <a:t> (« UNOBSERVED HETEROGENEITY ») </a:t>
            </a:r>
            <a:r>
              <a:rPr lang="fr-FR" sz="2800" dirty="0" err="1"/>
              <a:t>is</a:t>
            </a:r>
            <a:r>
              <a:rPr lang="fr-FR" sz="2800" dirty="0"/>
              <a:t> NOT a </a:t>
            </a:r>
            <a:r>
              <a:rPr lang="fr-FR" sz="2800" dirty="0" err="1"/>
              <a:t>benefit</a:t>
            </a:r>
            <a:r>
              <a:rPr lang="fr-FR" sz="2800" dirty="0"/>
              <a:t> of panel data </a:t>
            </a:r>
            <a:r>
              <a:rPr lang="fr-FR" sz="2800" dirty="0" err="1"/>
              <a:t>with</a:t>
            </a:r>
            <a:r>
              <a:rPr lang="fr-FR" sz="2800" dirty="0"/>
              <a:t> respect to time-</a:t>
            </a:r>
            <a:r>
              <a:rPr lang="fr-FR" sz="2800" dirty="0" err="1"/>
              <a:t>series</a:t>
            </a:r>
            <a:r>
              <a:rPr lang="fr-FR" sz="2800" dirty="0"/>
              <a:t>. </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63832816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3. </a:t>
            </a:r>
            <a:r>
              <a:rPr lang="fr-FR" dirty="0" err="1"/>
              <a:t>Bias</a:t>
            </a:r>
            <a:r>
              <a:rPr lang="fr-FR" dirty="0"/>
              <a:t> </a:t>
            </a:r>
            <a:r>
              <a:rPr lang="fr-FR" dirty="0" err="1"/>
              <a:t>increasing</a:t>
            </a:r>
            <a:r>
              <a:rPr lang="fr-FR" dirty="0"/>
              <a:t> the </a:t>
            </a:r>
            <a:r>
              <a:rPr lang="fr-FR" dirty="0" err="1"/>
              <a:t>restricted</a:t>
            </a:r>
            <a:r>
              <a:rPr lang="fr-FR" dirty="0"/>
              <a:t> SSR</a:t>
            </a:r>
            <a:br>
              <a:rPr lang="fr-FR" dirty="0"/>
            </a:br>
            <a:r>
              <a:rPr lang="fr-FR" dirty="0" err="1"/>
              <a:t>with</a:t>
            </a:r>
            <a:r>
              <a:rPr lang="fr-FR" dirty="0"/>
              <a:t> respect to </a:t>
            </a:r>
            <a:r>
              <a:rPr lang="fr-FR" dirty="0" err="1"/>
              <a:t>unrestricted</a:t>
            </a:r>
            <a:r>
              <a:rPr lang="fr-FR" dirty="0"/>
              <a:t> SSR</a:t>
            </a:r>
          </a:p>
        </p:txBody>
      </p:sp>
      <p:sp>
        <p:nvSpPr>
          <p:cNvPr id="3" name="Espace réservé du contenu 2"/>
          <p:cNvSpPr>
            <a:spLocks noGrp="1"/>
          </p:cNvSpPr>
          <p:nvPr>
            <p:ph idx="1"/>
          </p:nvPr>
        </p:nvSpPr>
        <p:spPr/>
        <p:txBody>
          <a:bodyPr/>
          <a:lstStyle/>
          <a:p>
            <a:pPr marL="0" indent="0">
              <a:buNone/>
            </a:pPr>
            <a:r>
              <a:rPr lang="fr-FR" dirty="0"/>
              <a:t>6th </a:t>
            </a:r>
            <a:r>
              <a:rPr lang="fr-FR" dirty="0" err="1"/>
              <a:t>column</a:t>
            </a:r>
            <a:r>
              <a:rPr lang="fr-FR" dirty="0"/>
              <a:t>: ratio of RMSE (square </a:t>
            </a:r>
            <a:r>
              <a:rPr lang="fr-FR" dirty="0" err="1"/>
              <a:t>root</a:t>
            </a:r>
            <a:r>
              <a:rPr lang="fr-FR" dirty="0"/>
              <a:t> of the </a:t>
            </a:r>
            <a:r>
              <a:rPr lang="fr-FR" dirty="0" err="1"/>
              <a:t>sum</a:t>
            </a:r>
            <a:r>
              <a:rPr lang="fr-FR" dirty="0"/>
              <a:t> of square of </a:t>
            </a:r>
            <a:r>
              <a:rPr lang="fr-FR" dirty="0" err="1"/>
              <a:t>residuals</a:t>
            </a:r>
            <a:r>
              <a:rPr lang="fr-FR" dirty="0"/>
              <a:t> SSR) </a:t>
            </a:r>
            <a:r>
              <a:rPr lang="fr-FR" dirty="0" err="1"/>
              <a:t>constrained</a:t>
            </a:r>
            <a:r>
              <a:rPr lang="fr-FR" dirty="0"/>
              <a:t> versus </a:t>
            </a:r>
            <a:r>
              <a:rPr lang="fr-FR" dirty="0" err="1"/>
              <a:t>unconstrained</a:t>
            </a:r>
            <a:r>
              <a:rPr lang="fr-FR" dirty="0"/>
              <a:t> &gt; +45% but for </a:t>
            </a:r>
            <a:r>
              <a:rPr lang="fr-FR" dirty="0" err="1"/>
              <a:t>two</a:t>
            </a:r>
            <a:r>
              <a:rPr lang="fr-FR" dirty="0"/>
              <a:t> countries.</a:t>
            </a:r>
          </a:p>
          <a:p>
            <a:pPr marL="0" indent="0">
              <a:buNone/>
            </a:pPr>
            <a:r>
              <a:rPr lang="fr-FR" dirty="0"/>
              <a:t>Record: </a:t>
            </a:r>
            <a:r>
              <a:rPr lang="fr-FR" dirty="0" err="1"/>
              <a:t>multiplied</a:t>
            </a:r>
            <a:r>
              <a:rPr lang="fr-FR" dirty="0"/>
              <a:t> by 9 for </a:t>
            </a:r>
            <a:r>
              <a:rPr lang="fr-FR" dirty="0" err="1"/>
              <a:t>Japan</a:t>
            </a:r>
            <a:r>
              <a:rPr lang="fr-FR" dirty="0"/>
              <a:t>.</a:t>
            </a:r>
          </a:p>
          <a:p>
            <a:pPr marL="0" indent="0">
              <a:buNone/>
            </a:pPr>
            <a:endParaRPr lang="fr-FR" dirty="0"/>
          </a:p>
        </p:txBody>
      </p:sp>
    </p:spTree>
    <p:extLst>
      <p:ext uri="{BB962C8B-B14F-4D97-AF65-F5344CB8AC3E}">
        <p14:creationId xmlns:p14="http://schemas.microsoft.com/office/powerpoint/2010/main" val="428077772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Countries </a:t>
            </a:r>
            <a:r>
              <a:rPr lang="fr-FR" dirty="0" err="1"/>
              <a:t>sorted</a:t>
            </a:r>
            <a:r>
              <a:rPr lang="fr-FR" dirty="0"/>
              <a:t> by RSSR/SSR </a:t>
            </a:r>
            <a:br>
              <a:rPr lang="fr-FR" dirty="0"/>
            </a:br>
            <a:r>
              <a:rPr lang="fr-FR" dirty="0"/>
              <a:t>in </a:t>
            </a:r>
            <a:r>
              <a:rPr lang="fr-FR" dirty="0" err="1"/>
              <a:t>this</a:t>
            </a:r>
            <a:r>
              <a:rPr lang="fr-FR" dirty="0"/>
              <a:t> table. </a:t>
            </a:r>
          </a:p>
        </p:txBody>
      </p:sp>
      <p:sp>
        <p:nvSpPr>
          <p:cNvPr id="3" name="Espace réservé du contenu 2"/>
          <p:cNvSpPr>
            <a:spLocks noGrp="1"/>
          </p:cNvSpPr>
          <p:nvPr>
            <p:ph idx="1"/>
          </p:nvPr>
        </p:nvSpPr>
        <p:spPr/>
        <p:txBody>
          <a:bodyPr/>
          <a:lstStyle/>
          <a:p>
            <a:pPr marL="0" indent="0">
              <a:buNone/>
            </a:pPr>
            <a:r>
              <a:rPr lang="fr-FR" dirty="0" err="1"/>
              <a:t>Whenever</a:t>
            </a:r>
            <a:r>
              <a:rPr lang="fr-FR" dirty="0"/>
              <a:t> </a:t>
            </a:r>
            <a:r>
              <a:rPr lang="fr-FR" dirty="0" err="1"/>
              <a:t>you</a:t>
            </a:r>
            <a:r>
              <a:rPr lang="fr-FR" dirty="0"/>
              <a:t> </a:t>
            </a:r>
            <a:r>
              <a:rPr lang="fr-FR" dirty="0" err="1"/>
              <a:t>can</a:t>
            </a:r>
            <a:r>
              <a:rPr lang="fr-FR" dirty="0"/>
              <a:t> in </a:t>
            </a:r>
            <a:r>
              <a:rPr lang="fr-FR" b="1" dirty="0"/>
              <a:t>tables or graphs</a:t>
            </a:r>
            <a:r>
              <a:rPr lang="fr-FR" dirty="0"/>
              <a:t>, </a:t>
            </a:r>
            <a:r>
              <a:rPr lang="fr-FR" dirty="0" err="1"/>
              <a:t>avoid</a:t>
            </a:r>
            <a:r>
              <a:rPr lang="fr-FR" dirty="0"/>
              <a:t> to </a:t>
            </a:r>
            <a:r>
              <a:rPr lang="fr-FR" dirty="0" err="1"/>
              <a:t>present</a:t>
            </a:r>
            <a:r>
              <a:rPr lang="fr-FR" dirty="0"/>
              <a:t> observations </a:t>
            </a:r>
            <a:r>
              <a:rPr lang="fr-FR" dirty="0" err="1"/>
              <a:t>sorted</a:t>
            </a:r>
            <a:r>
              <a:rPr lang="fr-FR" dirty="0"/>
              <a:t> in </a:t>
            </a:r>
            <a:r>
              <a:rPr lang="fr-FR" dirty="0" err="1"/>
              <a:t>alphabetic</a:t>
            </a:r>
            <a:r>
              <a:rPr lang="fr-FR" dirty="0"/>
              <a:t> </a:t>
            </a:r>
            <a:r>
              <a:rPr lang="fr-FR" dirty="0" err="1"/>
              <a:t>order</a:t>
            </a:r>
            <a:r>
              <a:rPr lang="fr-FR" dirty="0"/>
              <a:t> or </a:t>
            </a:r>
            <a:r>
              <a:rPr lang="fr-FR" dirty="0" err="1"/>
              <a:t>any</a:t>
            </a:r>
            <a:r>
              <a:rPr lang="fr-FR" dirty="0"/>
              <a:t> </a:t>
            </a:r>
            <a:r>
              <a:rPr lang="fr-FR" dirty="0" err="1"/>
              <a:t>other</a:t>
            </a:r>
            <a:r>
              <a:rPr lang="fr-FR" dirty="0"/>
              <a:t> </a:t>
            </a:r>
            <a:r>
              <a:rPr lang="fr-FR" dirty="0" err="1"/>
              <a:t>exogenous</a:t>
            </a:r>
            <a:r>
              <a:rPr lang="fr-FR" dirty="0"/>
              <a:t> </a:t>
            </a:r>
            <a:r>
              <a:rPr lang="fr-FR" dirty="0" err="1"/>
              <a:t>order</a:t>
            </a:r>
            <a:r>
              <a:rPr lang="fr-FR" dirty="0"/>
              <a:t>.</a:t>
            </a:r>
          </a:p>
          <a:p>
            <a:pPr marL="0" indent="0">
              <a:buNone/>
            </a:pPr>
            <a:endParaRPr lang="fr-FR" dirty="0"/>
          </a:p>
          <a:p>
            <a:pPr marL="0" indent="0">
              <a:buNone/>
            </a:pPr>
            <a:r>
              <a:rPr lang="fr-FR" dirty="0"/>
              <a:t>Sort </a:t>
            </a:r>
            <a:r>
              <a:rPr lang="fr-FR" dirty="0" err="1"/>
              <a:t>your</a:t>
            </a:r>
            <a:r>
              <a:rPr lang="fr-FR" dirty="0"/>
              <a:t> observations data by a key variable of </a:t>
            </a:r>
            <a:r>
              <a:rPr lang="fr-FR" dirty="0" err="1"/>
              <a:t>interest</a:t>
            </a:r>
            <a:r>
              <a:rPr lang="fr-FR" dirty="0"/>
              <a:t>.</a:t>
            </a:r>
          </a:p>
        </p:txBody>
      </p:sp>
    </p:spTree>
    <p:extLst>
      <p:ext uri="{BB962C8B-B14F-4D97-AF65-F5344CB8AC3E}">
        <p14:creationId xmlns:p14="http://schemas.microsoft.com/office/powerpoint/2010/main" val="259643134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For </a:t>
            </a:r>
            <a:r>
              <a:rPr lang="fr-FR" dirty="0" err="1"/>
              <a:t>fixed</a:t>
            </a:r>
            <a:r>
              <a:rPr lang="fr-FR" dirty="0"/>
              <a:t> </a:t>
            </a:r>
            <a:r>
              <a:rPr lang="fr-FR" dirty="0" err="1"/>
              <a:t>effects</a:t>
            </a:r>
            <a:r>
              <a:rPr lang="fr-FR" dirty="0"/>
              <a:t> </a:t>
            </a:r>
            <a:r>
              <a:rPr lang="fr-FR" dirty="0" err="1"/>
              <a:t>with</a:t>
            </a:r>
            <a:r>
              <a:rPr lang="fr-FR" dirty="0"/>
              <a:t> </a:t>
            </a:r>
            <a:r>
              <a:rPr lang="fr-FR" dirty="0" err="1"/>
              <a:t>individual</a:t>
            </a:r>
            <a:r>
              <a:rPr lang="fr-FR" dirty="0"/>
              <a:t> </a:t>
            </a:r>
            <a:r>
              <a:rPr lang="fr-FR" dirty="0" err="1"/>
              <a:t>intercepts</a:t>
            </a:r>
            <a:endParaRPr lang="fr-FR" dirty="0"/>
          </a:p>
        </p:txBody>
      </p:sp>
      <p:sp>
        <p:nvSpPr>
          <p:cNvPr id="3" name="Espace réservé du contenu 2"/>
          <p:cNvSpPr>
            <a:spLocks noGrp="1"/>
          </p:cNvSpPr>
          <p:nvPr>
            <p:ph idx="1"/>
          </p:nvPr>
        </p:nvSpPr>
        <p:spPr/>
        <p:txBody>
          <a:bodyPr>
            <a:normAutofit lnSpcReduction="10000"/>
          </a:bodyPr>
          <a:lstStyle/>
          <a:p>
            <a:pPr marL="0" indent="0">
              <a:buNone/>
            </a:pPr>
            <a:r>
              <a:rPr lang="fr-FR" dirty="0" err="1"/>
              <a:t>What</a:t>
            </a:r>
            <a:r>
              <a:rPr lang="fr-FR" dirty="0"/>
              <a:t> has gone </a:t>
            </a:r>
            <a:r>
              <a:rPr lang="fr-FR" dirty="0" err="1"/>
              <a:t>into</a:t>
            </a:r>
            <a:r>
              <a:rPr lang="fr-FR" dirty="0"/>
              <a:t> the </a:t>
            </a:r>
            <a:r>
              <a:rPr lang="fr-FR" dirty="0" err="1"/>
              <a:t>residuals</a:t>
            </a:r>
            <a:r>
              <a:rPr lang="fr-FR" dirty="0"/>
              <a:t> </a:t>
            </a:r>
            <a:r>
              <a:rPr lang="fr-FR" dirty="0" err="1"/>
              <a:t>is</a:t>
            </a:r>
            <a:r>
              <a:rPr lang="fr-FR" dirty="0"/>
              <a:t> for EACH of the </a:t>
            </a:r>
            <a:r>
              <a:rPr lang="fr-FR" dirty="0" err="1"/>
              <a:t>three</a:t>
            </a:r>
            <a:r>
              <a:rPr lang="fr-FR" dirty="0"/>
              <a:t> </a:t>
            </a:r>
            <a:r>
              <a:rPr lang="fr-FR" dirty="0" err="1"/>
              <a:t>explanatory</a:t>
            </a:r>
            <a:r>
              <a:rPr lang="fr-FR" dirty="0"/>
              <a:t> variables x:</a:t>
            </a:r>
          </a:p>
          <a:p>
            <a:pPr marL="0" indent="0">
              <a:buNone/>
            </a:pPr>
            <a:r>
              <a:rPr lang="fr-FR" b="1" dirty="0"/>
              <a:t>(</a:t>
            </a:r>
            <a:r>
              <a:rPr lang="el-GR" altLang="fr-FR" b="1" dirty="0">
                <a:solidFill>
                  <a:srgbClr val="FF0000"/>
                </a:solidFill>
              </a:rPr>
              <a:t>β</a:t>
            </a:r>
            <a:r>
              <a:rPr lang="fr-FR" altLang="fr-FR" b="1" dirty="0">
                <a:solidFill>
                  <a:srgbClr val="FF0000"/>
                </a:solidFill>
              </a:rPr>
              <a:t>(</a:t>
            </a:r>
            <a:r>
              <a:rPr lang="fr-FR" altLang="fr-FR" b="1" dirty="0" err="1">
                <a:solidFill>
                  <a:srgbClr val="FF0000"/>
                </a:solidFill>
              </a:rPr>
              <a:t>x,i</a:t>
            </a:r>
            <a:r>
              <a:rPr lang="fr-FR" altLang="fr-FR" b="1" dirty="0">
                <a:solidFill>
                  <a:srgbClr val="FF0000"/>
                </a:solidFill>
              </a:rPr>
              <a:t>)-</a:t>
            </a:r>
            <a:r>
              <a:rPr lang="el-GR" altLang="fr-FR" b="1" dirty="0">
                <a:solidFill>
                  <a:srgbClr val="FF0000"/>
                </a:solidFill>
              </a:rPr>
              <a:t>β</a:t>
            </a:r>
            <a:r>
              <a:rPr lang="fr-FR" altLang="fr-FR" b="1" dirty="0">
                <a:solidFill>
                  <a:srgbClr val="FF0000"/>
                </a:solidFill>
              </a:rPr>
              <a:t>(</a:t>
            </a:r>
            <a:r>
              <a:rPr lang="fr-FR" altLang="fr-FR" b="1" dirty="0" err="1">
                <a:solidFill>
                  <a:srgbClr val="FF0000"/>
                </a:solidFill>
              </a:rPr>
              <a:t>x,panel</a:t>
            </a:r>
            <a:r>
              <a:rPr lang="fr-FR" altLang="fr-FR" b="1" dirty="0">
                <a:solidFill>
                  <a:srgbClr val="FF0000"/>
                </a:solidFill>
              </a:rPr>
              <a:t>)</a:t>
            </a:r>
            <a:r>
              <a:rPr lang="fr-FR" altLang="fr-FR" b="1" dirty="0"/>
              <a:t>)*(x(</a:t>
            </a:r>
            <a:r>
              <a:rPr lang="fr-FR" altLang="fr-FR" b="1" dirty="0" err="1"/>
              <a:t>it</a:t>
            </a:r>
            <a:r>
              <a:rPr lang="fr-FR" altLang="fr-FR" b="1" dirty="0"/>
              <a:t>)-x(i.))</a:t>
            </a:r>
          </a:p>
          <a:p>
            <a:pPr marL="0" indent="0">
              <a:buNone/>
            </a:pPr>
            <a:r>
              <a:rPr lang="fr-FR" dirty="0"/>
              <a:t>The </a:t>
            </a:r>
            <a:r>
              <a:rPr lang="fr-FR" dirty="0" err="1"/>
              <a:t>individual</a:t>
            </a:r>
            <a:r>
              <a:rPr lang="fr-FR" dirty="0"/>
              <a:t> </a:t>
            </a:r>
            <a:r>
              <a:rPr lang="fr-FR" dirty="0" err="1"/>
              <a:t>mean</a:t>
            </a:r>
            <a:r>
              <a:rPr lang="fr-FR" dirty="0"/>
              <a:t> over time </a:t>
            </a:r>
            <a:r>
              <a:rPr lang="fr-FR" dirty="0" err="1"/>
              <a:t>is</a:t>
            </a:r>
            <a:r>
              <a:rPr lang="fr-FR" dirty="0"/>
              <a:t> </a:t>
            </a:r>
            <a:r>
              <a:rPr lang="fr-FR" dirty="0" err="1"/>
              <a:t>different</a:t>
            </a:r>
            <a:r>
              <a:rPr lang="fr-FR" dirty="0"/>
              <a:t> of </a:t>
            </a:r>
            <a:r>
              <a:rPr lang="fr-FR" dirty="0" err="1"/>
              <a:t>zero</a:t>
            </a:r>
            <a:r>
              <a:rPr lang="fr-FR" dirty="0"/>
              <a:t>:</a:t>
            </a:r>
          </a:p>
          <a:p>
            <a:pPr marL="0" indent="0">
              <a:buNone/>
            </a:pPr>
            <a:r>
              <a:rPr lang="fr-FR" b="1" dirty="0"/>
              <a:t>(</a:t>
            </a:r>
            <a:r>
              <a:rPr lang="el-GR" altLang="fr-FR" b="1" dirty="0">
                <a:solidFill>
                  <a:srgbClr val="FF0000"/>
                </a:solidFill>
              </a:rPr>
              <a:t>β</a:t>
            </a:r>
            <a:r>
              <a:rPr lang="fr-FR" altLang="fr-FR" b="1" dirty="0">
                <a:solidFill>
                  <a:srgbClr val="FF0000"/>
                </a:solidFill>
              </a:rPr>
              <a:t>(</a:t>
            </a:r>
            <a:r>
              <a:rPr lang="fr-FR" altLang="fr-FR" b="1" dirty="0" err="1">
                <a:solidFill>
                  <a:srgbClr val="FF0000"/>
                </a:solidFill>
              </a:rPr>
              <a:t>x,i</a:t>
            </a:r>
            <a:r>
              <a:rPr lang="fr-FR" altLang="fr-FR" b="1" dirty="0">
                <a:solidFill>
                  <a:srgbClr val="FF0000"/>
                </a:solidFill>
              </a:rPr>
              <a:t>)-</a:t>
            </a:r>
            <a:r>
              <a:rPr lang="el-GR" altLang="fr-FR" b="1" dirty="0">
                <a:solidFill>
                  <a:srgbClr val="FF0000"/>
                </a:solidFill>
              </a:rPr>
              <a:t>β</a:t>
            </a:r>
            <a:r>
              <a:rPr lang="fr-FR" altLang="fr-FR" b="1" dirty="0">
                <a:solidFill>
                  <a:srgbClr val="FF0000"/>
                </a:solidFill>
              </a:rPr>
              <a:t>(</a:t>
            </a:r>
            <a:r>
              <a:rPr lang="fr-FR" altLang="fr-FR" b="1" dirty="0" err="1">
                <a:solidFill>
                  <a:srgbClr val="FF0000"/>
                </a:solidFill>
              </a:rPr>
              <a:t>x,panel</a:t>
            </a:r>
            <a:r>
              <a:rPr lang="fr-FR" altLang="fr-FR" b="1" dirty="0">
                <a:solidFill>
                  <a:srgbClr val="FF0000"/>
                </a:solidFill>
              </a:rPr>
              <a:t>)</a:t>
            </a:r>
            <a:r>
              <a:rPr lang="fr-FR" altLang="fr-FR" b="1" dirty="0"/>
              <a:t>)*(x(i.)-x(i.)) </a:t>
            </a:r>
            <a:r>
              <a:rPr lang="fr-FR" altLang="fr-FR" b="1" dirty="0" err="1"/>
              <a:t>is</a:t>
            </a:r>
            <a:r>
              <a:rPr lang="fr-FR" altLang="fr-FR" b="1" dirty="0"/>
              <a:t> </a:t>
            </a:r>
            <a:r>
              <a:rPr lang="fr-FR" altLang="fr-FR" b="1" dirty="0" err="1"/>
              <a:t>zero</a:t>
            </a:r>
            <a:r>
              <a:rPr lang="fr-FR" altLang="fr-FR" b="1" dirty="0"/>
              <a:t>. </a:t>
            </a:r>
          </a:p>
          <a:p>
            <a:pPr marL="0" indent="0">
              <a:buNone/>
            </a:pPr>
            <a:r>
              <a:rPr lang="fr-FR" dirty="0"/>
              <a:t>So </a:t>
            </a:r>
            <a:r>
              <a:rPr lang="fr-FR" dirty="0" err="1"/>
              <a:t>that</a:t>
            </a:r>
            <a:r>
              <a:rPr lang="fr-FR" dirty="0"/>
              <a:t> the </a:t>
            </a:r>
            <a:r>
              <a:rPr lang="fr-FR" dirty="0" err="1"/>
              <a:t>individual</a:t>
            </a:r>
            <a:r>
              <a:rPr lang="fr-FR" dirty="0"/>
              <a:t> </a:t>
            </a:r>
            <a:r>
              <a:rPr lang="fr-FR" dirty="0" err="1"/>
              <a:t>residuals</a:t>
            </a:r>
            <a:r>
              <a:rPr lang="fr-FR" dirty="0"/>
              <a:t> do have a </a:t>
            </a:r>
            <a:r>
              <a:rPr lang="fr-FR" dirty="0" err="1"/>
              <a:t>mean</a:t>
            </a:r>
            <a:r>
              <a:rPr lang="fr-FR" dirty="0"/>
              <a:t> of </a:t>
            </a:r>
            <a:r>
              <a:rPr lang="fr-FR" dirty="0" err="1"/>
              <a:t>zero</a:t>
            </a:r>
            <a:r>
              <a:rPr lang="fr-FR" dirty="0"/>
              <a:t>, as </a:t>
            </a:r>
            <a:r>
              <a:rPr lang="fr-FR" dirty="0" err="1"/>
              <a:t>well</a:t>
            </a:r>
            <a:r>
              <a:rPr lang="fr-FR" dirty="0"/>
              <a:t> as the </a:t>
            </a:r>
            <a:r>
              <a:rPr lang="fr-FR" dirty="0" err="1"/>
              <a:t>sum</a:t>
            </a:r>
            <a:r>
              <a:rPr lang="fr-FR" dirty="0"/>
              <a:t> of ALL </a:t>
            </a:r>
            <a:r>
              <a:rPr lang="fr-FR" dirty="0" err="1"/>
              <a:t>residuals</a:t>
            </a:r>
            <a:r>
              <a:rPr lang="fr-FR" dirty="0"/>
              <a:t> for ALL </a:t>
            </a:r>
            <a:r>
              <a:rPr lang="fr-FR" dirty="0" err="1"/>
              <a:t>individuals</a:t>
            </a:r>
            <a:r>
              <a:rPr lang="fr-FR" dirty="0"/>
              <a:t> </a:t>
            </a:r>
            <a:r>
              <a:rPr lang="fr-FR" dirty="0" err="1"/>
              <a:t>is</a:t>
            </a:r>
            <a:r>
              <a:rPr lang="fr-FR" dirty="0"/>
              <a:t> </a:t>
            </a:r>
            <a:r>
              <a:rPr lang="fr-FR" dirty="0" err="1"/>
              <a:t>zero</a:t>
            </a:r>
            <a:r>
              <a:rPr lang="fr-FR" dirty="0"/>
              <a:t>.</a:t>
            </a:r>
          </a:p>
          <a:p>
            <a:pPr marL="0" indent="0">
              <a:buNone/>
            </a:pPr>
            <a:endParaRPr lang="fr-FR" dirty="0"/>
          </a:p>
        </p:txBody>
      </p:sp>
    </p:spTree>
    <p:extLst>
      <p:ext uri="{BB962C8B-B14F-4D97-AF65-F5344CB8AC3E}">
        <p14:creationId xmlns:p14="http://schemas.microsoft.com/office/powerpoint/2010/main" val="158342092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Autofit/>
          </a:bodyPr>
          <a:lstStyle/>
          <a:p>
            <a:r>
              <a:rPr lang="fr-FR" sz="3200" dirty="0" err="1"/>
              <a:t>Bias</a:t>
            </a:r>
            <a:r>
              <a:rPr lang="fr-FR" sz="3200" dirty="0"/>
              <a:t> of the </a:t>
            </a:r>
            <a:r>
              <a:rPr lang="fr-FR" sz="3200" dirty="0" err="1"/>
              <a:t>restricted</a:t>
            </a:r>
            <a:r>
              <a:rPr lang="fr-FR" sz="3200" dirty="0"/>
              <a:t> variance of </a:t>
            </a:r>
            <a:r>
              <a:rPr lang="fr-FR" sz="3200" dirty="0" err="1"/>
              <a:t>residuals</a:t>
            </a:r>
            <a:r>
              <a:rPr lang="fr-FR" sz="3200" dirty="0"/>
              <a:t> (RMSE) due to </a:t>
            </a:r>
            <a:r>
              <a:rPr lang="fr-FR" sz="3200" dirty="0" err="1"/>
              <a:t>common</a:t>
            </a:r>
            <a:r>
              <a:rPr lang="fr-FR" sz="3200" dirty="0"/>
              <a:t> </a:t>
            </a:r>
            <a:r>
              <a:rPr lang="fr-FR" sz="3200" dirty="0" err="1"/>
              <a:t>slope</a:t>
            </a:r>
            <a:r>
              <a:rPr lang="fr-FR" sz="3200" dirty="0"/>
              <a:t> restriction</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3037104"/>
            <a:ext cx="8229600" cy="1652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342145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4. </a:t>
            </a:r>
            <a:r>
              <a:rPr lang="fr-FR" dirty="0" err="1"/>
              <a:t>Poolability</a:t>
            </a:r>
            <a:r>
              <a:rPr lang="fr-FR" dirty="0"/>
              <a:t> F-tests cf. F-test for restrictions on </a:t>
            </a:r>
            <a:r>
              <a:rPr lang="fr-FR" dirty="0" err="1"/>
              <a:t>parameters</a:t>
            </a:r>
            <a:endParaRPr lang="fr-FR" dirty="0"/>
          </a:p>
        </p:txBody>
      </p:sp>
      <p:sp>
        <p:nvSpPr>
          <p:cNvPr id="3" name="Espace réservé du contenu 2"/>
          <p:cNvSpPr>
            <a:spLocks noGrp="1"/>
          </p:cNvSpPr>
          <p:nvPr>
            <p:ph idx="1"/>
          </p:nvPr>
        </p:nvSpPr>
        <p:spPr/>
        <p:txBody>
          <a:bodyPr>
            <a:normAutofit lnSpcReduction="10000"/>
          </a:bodyPr>
          <a:lstStyle/>
          <a:p>
            <a:pPr marL="0" indent="0" algn="just">
              <a:buNone/>
            </a:pPr>
            <a:r>
              <a:rPr lang="fr-FR" dirty="0"/>
              <a:t>F-tests </a:t>
            </a:r>
            <a:r>
              <a:rPr lang="fr-FR" dirty="0" err="1"/>
              <a:t>include</a:t>
            </a:r>
            <a:r>
              <a:rPr lang="fr-FR" dirty="0"/>
              <a:t> the </a:t>
            </a:r>
            <a:r>
              <a:rPr lang="fr-FR" dirty="0" err="1"/>
              <a:t>difference</a:t>
            </a:r>
            <a:r>
              <a:rPr lang="fr-FR" dirty="0"/>
              <a:t> </a:t>
            </a:r>
            <a:r>
              <a:rPr lang="fr-FR" dirty="0" err="1"/>
              <a:t>between</a:t>
            </a:r>
            <a:r>
              <a:rPr lang="fr-FR" dirty="0"/>
              <a:t> the </a:t>
            </a:r>
            <a:r>
              <a:rPr lang="fr-FR" dirty="0" err="1"/>
              <a:t>sum</a:t>
            </a:r>
            <a:r>
              <a:rPr lang="fr-FR" dirty="0"/>
              <a:t> of squares of </a:t>
            </a:r>
            <a:r>
              <a:rPr lang="fr-FR" dirty="0" err="1"/>
              <a:t>residuals</a:t>
            </a:r>
            <a:r>
              <a:rPr lang="fr-FR" dirty="0"/>
              <a:t> (</a:t>
            </a:r>
            <a:r>
              <a:rPr lang="fr-FR" dirty="0" err="1"/>
              <a:t>with</a:t>
            </a:r>
            <a:r>
              <a:rPr lang="fr-FR" dirty="0"/>
              <a:t> restriction of </a:t>
            </a:r>
            <a:r>
              <a:rPr lang="fr-FR" dirty="0" err="1"/>
              <a:t>equality</a:t>
            </a:r>
            <a:r>
              <a:rPr lang="fr-FR" dirty="0"/>
              <a:t> of </a:t>
            </a:r>
            <a:r>
              <a:rPr lang="fr-FR" dirty="0" err="1"/>
              <a:t>slopes</a:t>
            </a:r>
            <a:r>
              <a:rPr lang="fr-FR" dirty="0"/>
              <a:t>) </a:t>
            </a:r>
            <a:r>
              <a:rPr lang="fr-FR" dirty="0" err="1"/>
              <a:t>less</a:t>
            </a:r>
            <a:r>
              <a:rPr lang="fr-FR" dirty="0"/>
              <a:t> </a:t>
            </a:r>
            <a:r>
              <a:rPr lang="fr-FR" dirty="0" err="1"/>
              <a:t>without</a:t>
            </a:r>
            <a:r>
              <a:rPr lang="fr-FR" dirty="0"/>
              <a:t> restriction, </a:t>
            </a:r>
            <a:r>
              <a:rPr lang="fr-FR" dirty="0" err="1"/>
              <a:t>divided</a:t>
            </a:r>
            <a:r>
              <a:rPr lang="fr-FR" dirty="0"/>
              <a:t> by the </a:t>
            </a:r>
            <a:r>
              <a:rPr lang="fr-FR" dirty="0" err="1"/>
              <a:t>sum</a:t>
            </a:r>
            <a:r>
              <a:rPr lang="fr-FR" dirty="0"/>
              <a:t> of squares.</a:t>
            </a:r>
          </a:p>
          <a:p>
            <a:pPr marL="0" indent="0" algn="just">
              <a:buNone/>
            </a:pPr>
            <a:r>
              <a:rPr lang="fr-FR" dirty="0"/>
              <a:t>JBC-KR propose to split F-tests by </a:t>
            </a:r>
            <a:r>
              <a:rPr lang="fr-FR" dirty="0" err="1"/>
              <a:t>individuals</a:t>
            </a:r>
            <a:r>
              <a:rPr lang="fr-FR" dirty="0"/>
              <a:t>, and </a:t>
            </a:r>
            <a:r>
              <a:rPr lang="fr-FR" dirty="0" err="1"/>
              <a:t>then</a:t>
            </a:r>
            <a:r>
              <a:rPr lang="fr-FR" dirty="0"/>
              <a:t> pool </a:t>
            </a:r>
            <a:r>
              <a:rPr lang="fr-FR" dirty="0" err="1"/>
              <a:t>together</a:t>
            </a:r>
            <a:r>
              <a:rPr lang="fr-FR" dirty="0"/>
              <a:t> </a:t>
            </a:r>
            <a:r>
              <a:rPr lang="fr-FR" dirty="0" err="1"/>
              <a:t>homogeneous</a:t>
            </a:r>
            <a:r>
              <a:rPr lang="fr-FR" dirty="0"/>
              <a:t> for a F-test </a:t>
            </a:r>
            <a:r>
              <a:rPr lang="fr-FR" dirty="0" err="1"/>
              <a:t>including</a:t>
            </a:r>
            <a:r>
              <a:rPr lang="fr-FR" dirty="0"/>
              <a:t> a </a:t>
            </a:r>
            <a:r>
              <a:rPr lang="fr-FR" dirty="0" err="1"/>
              <a:t>sub</a:t>
            </a:r>
            <a:r>
              <a:rPr lang="fr-FR" dirty="0"/>
              <a:t>-group. This </a:t>
            </a:r>
            <a:r>
              <a:rPr lang="fr-FR" dirty="0" err="1"/>
              <a:t>is</a:t>
            </a:r>
            <a:r>
              <a:rPr lang="fr-FR" dirty="0"/>
              <a:t> </a:t>
            </a:r>
            <a:r>
              <a:rPr lang="fr-FR" dirty="0" err="1"/>
              <a:t>related</a:t>
            </a:r>
            <a:r>
              <a:rPr lang="fr-FR" dirty="0"/>
              <a:t> to the ratio of standard </a:t>
            </a:r>
            <a:r>
              <a:rPr lang="fr-FR" dirty="0" err="1"/>
              <a:t>error</a:t>
            </a:r>
            <a:r>
              <a:rPr lang="fr-FR" dirty="0"/>
              <a:t> of </a:t>
            </a:r>
            <a:r>
              <a:rPr lang="fr-FR" dirty="0" err="1"/>
              <a:t>residuals</a:t>
            </a:r>
            <a:r>
              <a:rPr lang="fr-FR" dirty="0"/>
              <a:t> </a:t>
            </a:r>
            <a:r>
              <a:rPr lang="fr-FR" dirty="0" err="1"/>
              <a:t>with</a:t>
            </a:r>
            <a:r>
              <a:rPr lang="fr-FR" dirty="0"/>
              <a:t> restriction/</a:t>
            </a:r>
            <a:r>
              <a:rPr lang="fr-FR" dirty="0" err="1"/>
              <a:t>without</a:t>
            </a:r>
            <a:r>
              <a:rPr lang="fr-FR" dirty="0"/>
              <a:t>.</a:t>
            </a:r>
          </a:p>
        </p:txBody>
      </p:sp>
    </p:spTree>
    <p:extLst>
      <p:ext uri="{BB962C8B-B14F-4D97-AF65-F5344CB8AC3E}">
        <p14:creationId xmlns:p14="http://schemas.microsoft.com/office/powerpoint/2010/main" val="385673881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26539"/>
            <a:ext cx="8892480" cy="4450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re 3"/>
          <p:cNvSpPr>
            <a:spLocks noGrp="1"/>
          </p:cNvSpPr>
          <p:nvPr>
            <p:ph type="title"/>
          </p:nvPr>
        </p:nvSpPr>
        <p:spPr/>
        <p:txBody>
          <a:bodyPr>
            <a:normAutofit/>
          </a:bodyPr>
          <a:lstStyle/>
          <a:p>
            <a:r>
              <a:rPr lang="fr-FR" dirty="0"/>
              <a:t>« </a:t>
            </a:r>
            <a:r>
              <a:rPr lang="fr-FR" dirty="0" err="1"/>
              <a:t>Individual</a:t>
            </a:r>
            <a:r>
              <a:rPr lang="fr-FR" dirty="0"/>
              <a:t> » F test</a:t>
            </a:r>
          </a:p>
        </p:txBody>
      </p:sp>
    </p:spTree>
    <p:extLst>
      <p:ext uri="{BB962C8B-B14F-4D97-AF65-F5344CB8AC3E}">
        <p14:creationId xmlns:p14="http://schemas.microsoft.com/office/powerpoint/2010/main" val="290903504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Table</a:t>
            </a:r>
          </a:p>
        </p:txBody>
      </p:sp>
      <p:sp>
        <p:nvSpPr>
          <p:cNvPr id="4" name="Espace réservé du contenu 3"/>
          <p:cNvSpPr>
            <a:spLocks noGrp="1"/>
          </p:cNvSpPr>
          <p:nvPr>
            <p:ph idx="1"/>
          </p:nvPr>
        </p:nvSpPr>
        <p:spPr/>
        <p:txBody>
          <a:bodyPr/>
          <a:lstStyle/>
          <a:p>
            <a:pPr marL="0" indent="0">
              <a:buNone/>
            </a:pPr>
            <a:r>
              <a:rPr lang="fr-FR" dirty="0"/>
              <a:t>7th </a:t>
            </a:r>
            <a:r>
              <a:rPr lang="fr-FR" dirty="0" err="1"/>
              <a:t>column</a:t>
            </a:r>
            <a:r>
              <a:rPr lang="fr-FR" dirty="0"/>
              <a:t>: value of F(i) </a:t>
            </a:r>
            <a:r>
              <a:rPr lang="fr-FR" dirty="0" err="1"/>
              <a:t>statistics</a:t>
            </a:r>
            <a:r>
              <a:rPr lang="fr-FR" dirty="0"/>
              <a:t>, </a:t>
            </a:r>
            <a:r>
              <a:rPr lang="fr-FR" dirty="0" err="1"/>
              <a:t>increasing</a:t>
            </a:r>
            <a:r>
              <a:rPr lang="fr-FR" dirty="0"/>
              <a:t> </a:t>
            </a:r>
            <a:r>
              <a:rPr lang="fr-FR" dirty="0" err="1"/>
              <a:t>function</a:t>
            </a:r>
            <a:r>
              <a:rPr lang="fr-FR" dirty="0"/>
              <a:t> of the ratio of </a:t>
            </a:r>
          </a:p>
          <a:p>
            <a:pPr marL="0" indent="0">
              <a:buNone/>
            </a:pPr>
            <a:r>
              <a:rPr lang="fr-FR" dirty="0"/>
              <a:t>SSR(</a:t>
            </a:r>
            <a:r>
              <a:rPr lang="fr-FR" dirty="0" err="1"/>
              <a:t>restricted</a:t>
            </a:r>
            <a:r>
              <a:rPr lang="fr-FR" dirty="0"/>
              <a:t>)/SSR(</a:t>
            </a:r>
            <a:r>
              <a:rPr lang="fr-FR" dirty="0" err="1"/>
              <a:t>unrestricted</a:t>
            </a:r>
            <a:r>
              <a:rPr lang="fr-FR" dirty="0"/>
              <a:t>).</a:t>
            </a:r>
          </a:p>
          <a:p>
            <a:pPr marL="0" indent="0">
              <a:buNone/>
            </a:pPr>
            <a:endParaRPr lang="fr-FR" dirty="0"/>
          </a:p>
          <a:p>
            <a:pPr marL="0" indent="0">
              <a:buNone/>
            </a:pPr>
            <a:r>
              <a:rPr lang="fr-FR" dirty="0"/>
              <a:t>8th: R2 of time </a:t>
            </a:r>
            <a:r>
              <a:rPr lang="fr-FR" dirty="0" err="1"/>
              <a:t>series</a:t>
            </a:r>
            <a:r>
              <a:rPr lang="fr-FR" dirty="0"/>
              <a:t> </a:t>
            </a:r>
            <a:r>
              <a:rPr lang="fr-FR" dirty="0" err="1"/>
              <a:t>regression</a:t>
            </a:r>
            <a:r>
              <a:rPr lang="fr-FR" dirty="0"/>
              <a:t> for </a:t>
            </a:r>
            <a:r>
              <a:rPr lang="fr-FR" dirty="0" err="1"/>
              <a:t>each</a:t>
            </a:r>
            <a:r>
              <a:rPr lang="fr-FR" dirty="0"/>
              <a:t> country.</a:t>
            </a:r>
          </a:p>
        </p:txBody>
      </p:sp>
    </p:spTree>
    <p:extLst>
      <p:ext uri="{BB962C8B-B14F-4D97-AF65-F5344CB8AC3E}">
        <p14:creationId xmlns:p14="http://schemas.microsoft.com/office/powerpoint/2010/main" val="353087487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Usual</a:t>
            </a:r>
            <a:r>
              <a:rPr lang="fr-FR" dirty="0"/>
              <a:t> Global F test (</a:t>
            </a:r>
            <a:r>
              <a:rPr lang="fr-FR" dirty="0" err="1"/>
              <a:t>Kuh</a:t>
            </a:r>
            <a:r>
              <a:rPr lang="fr-FR" dirty="0"/>
              <a:t> (1963)). (</a:t>
            </a:r>
            <a:r>
              <a:rPr lang="fr-FR" dirty="0" err="1"/>
              <a:t>Hsiaoh</a:t>
            </a:r>
            <a:r>
              <a:rPr lang="fr-FR" dirty="0"/>
              <a:t> (1986)).</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510424"/>
            <a:ext cx="9144000" cy="213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156808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a:t>P-value&lt;&lt;5%, (</a:t>
            </a:r>
            <a:r>
              <a:rPr lang="fr-FR" sz="3200" dirty="0" err="1"/>
              <a:t>result</a:t>
            </a:r>
            <a:r>
              <a:rPr lang="fr-FR" sz="3200" dirty="0"/>
              <a:t> </a:t>
            </a:r>
            <a:r>
              <a:rPr lang="fr-FR" sz="3200" dirty="0" err="1"/>
              <a:t>published</a:t>
            </a:r>
            <a:r>
              <a:rPr lang="fr-FR" sz="3200" dirty="0"/>
              <a:t> in 1983).</a:t>
            </a:r>
            <a:br>
              <a:rPr lang="fr-FR" sz="3200" dirty="0"/>
            </a:br>
            <a:r>
              <a:rPr lang="fr-FR" sz="3200" dirty="0" err="1"/>
              <a:t>Reject</a:t>
            </a:r>
            <a:r>
              <a:rPr lang="fr-FR" sz="3200" dirty="0"/>
              <a:t> the </a:t>
            </a:r>
            <a:r>
              <a:rPr lang="fr-FR" sz="3200" dirty="0" err="1"/>
              <a:t>null</a:t>
            </a:r>
            <a:r>
              <a:rPr lang="fr-FR" sz="3200" dirty="0"/>
              <a:t> </a:t>
            </a:r>
            <a:r>
              <a:rPr lang="fr-FR" sz="3200" dirty="0" err="1"/>
              <a:t>hypothesis</a:t>
            </a:r>
            <a:r>
              <a:rPr lang="fr-FR" sz="3200" dirty="0"/>
              <a:t> of </a:t>
            </a:r>
            <a:r>
              <a:rPr lang="fr-FR" sz="3200" dirty="0" err="1"/>
              <a:t>common</a:t>
            </a:r>
            <a:r>
              <a:rPr lang="fr-FR" sz="3200" dirty="0"/>
              <a:t> </a:t>
            </a:r>
            <a:r>
              <a:rPr lang="fr-FR" sz="3200" dirty="0" err="1"/>
              <a:t>slope</a:t>
            </a:r>
            <a:endParaRPr lang="fr-FR" sz="32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276872"/>
            <a:ext cx="8892480" cy="2961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166722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t>H0: </a:t>
            </a:r>
            <a:r>
              <a:rPr lang="fr-FR" sz="3600" dirty="0" err="1"/>
              <a:t>Equal</a:t>
            </a:r>
            <a:r>
              <a:rPr lang="fr-FR" sz="3600" dirty="0"/>
              <a:t> variances, Ha: RSSR&gt;SSR </a:t>
            </a:r>
            <a:br>
              <a:rPr lang="fr-FR" sz="3600" dirty="0"/>
            </a:br>
            <a:r>
              <a:rPr lang="fr-FR" sz="3600" dirty="0"/>
              <a:t>F(5%) = 1.39 &lt;&lt;&lt; F = 27.33</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700808"/>
            <a:ext cx="6943725" cy="463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40822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err="1"/>
              <a:t>Baltagi</a:t>
            </a:r>
            <a:r>
              <a:rPr lang="fr-FR" sz="3200" dirty="0"/>
              <a:t> (1983), « </a:t>
            </a:r>
            <a:r>
              <a:rPr lang="fr-FR" sz="3200" dirty="0" err="1"/>
              <a:t>even</a:t>
            </a:r>
            <a:r>
              <a:rPr lang="fr-FR" sz="3200" dirty="0"/>
              <a:t> </a:t>
            </a:r>
            <a:r>
              <a:rPr lang="fr-FR" sz="3200" dirty="0" err="1"/>
              <a:t>though</a:t>
            </a:r>
            <a:r>
              <a:rPr lang="fr-FR" sz="3200" dirty="0"/>
              <a:t> » the high power of the test F=27.33, p=10</a:t>
            </a:r>
            <a:r>
              <a:rPr lang="fr-FR" sz="3200" baseline="30000" dirty="0"/>
              <a:t>-10</a:t>
            </a:r>
            <a:r>
              <a:rPr lang="fr-FR" sz="3200" dirty="0"/>
              <a:t>&lt;5%</a:t>
            </a:r>
            <a:endParaRPr lang="fr-FR" sz="3200" baseline="30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44824"/>
            <a:ext cx="8347062" cy="4349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123967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Baltagi</a:t>
            </a:r>
            <a:r>
              <a:rPr lang="fr-FR" dirty="0"/>
              <a:t> (2005) </a:t>
            </a:r>
            <a:r>
              <a:rPr lang="fr-FR" dirty="0" err="1"/>
              <a:t>textbook</a:t>
            </a:r>
            <a:r>
              <a:rPr lang="fr-FR" dirty="0"/>
              <a:t>, </a:t>
            </a:r>
            <a:r>
              <a:rPr lang="fr-FR" dirty="0" err="1"/>
              <a:t>see</a:t>
            </a:r>
            <a:r>
              <a:rPr lang="fr-FR" dirty="0"/>
              <a:t> </a:t>
            </a:r>
            <a:r>
              <a:rPr lang="fr-FR" dirty="0" err="1"/>
              <a:t>also</a:t>
            </a:r>
            <a:r>
              <a:rPr lang="fr-FR" dirty="0"/>
              <a:t> </a:t>
            </a:r>
            <a:r>
              <a:rPr lang="fr-FR" dirty="0" err="1"/>
              <a:t>updated</a:t>
            </a:r>
            <a:r>
              <a:rPr lang="fr-FR" dirty="0"/>
              <a:t> </a:t>
            </a:r>
            <a:r>
              <a:rPr lang="fr-FR" dirty="0" err="1"/>
              <a:t>editions</a:t>
            </a:r>
            <a:endParaRPr lang="fr-FR"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44824"/>
            <a:ext cx="8676456" cy="4346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787703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err="1"/>
              <a:t>Following</a:t>
            </a:r>
            <a:r>
              <a:rPr lang="fr-FR" sz="3200" dirty="0"/>
              <a:t> the rejection of the </a:t>
            </a:r>
            <a:r>
              <a:rPr lang="fr-FR" sz="3200" dirty="0" err="1"/>
              <a:t>null</a:t>
            </a:r>
            <a:r>
              <a:rPr lang="fr-FR" sz="3200" dirty="0"/>
              <a:t> </a:t>
            </a:r>
            <a:r>
              <a:rPr lang="fr-FR" sz="3200" dirty="0" err="1"/>
              <a:t>hypothesis</a:t>
            </a:r>
            <a:r>
              <a:rPr lang="fr-FR" sz="3200" dirty="0"/>
              <a:t> of </a:t>
            </a:r>
            <a:r>
              <a:rPr lang="fr-FR" sz="3200" dirty="0" err="1"/>
              <a:t>common</a:t>
            </a:r>
            <a:r>
              <a:rPr lang="fr-FR" sz="3200" dirty="0"/>
              <a:t> </a:t>
            </a:r>
            <a:r>
              <a:rPr lang="fr-FR" sz="3200" dirty="0" err="1"/>
              <a:t>slopes</a:t>
            </a:r>
            <a:endParaRPr lang="fr-FR" sz="3200" dirty="0"/>
          </a:p>
        </p:txBody>
      </p:sp>
      <p:sp>
        <p:nvSpPr>
          <p:cNvPr id="3" name="Espace réservé du contenu 2"/>
          <p:cNvSpPr>
            <a:spLocks noGrp="1"/>
          </p:cNvSpPr>
          <p:nvPr>
            <p:ph idx="1"/>
          </p:nvPr>
        </p:nvSpPr>
        <p:spPr/>
        <p:txBody>
          <a:bodyPr>
            <a:normAutofit lnSpcReduction="10000"/>
          </a:bodyPr>
          <a:lstStyle/>
          <a:p>
            <a:pPr marL="0" indent="0" algn="just">
              <a:buNone/>
            </a:pPr>
            <a:r>
              <a:rPr lang="fr-FR" sz="2800" dirty="0"/>
              <a:t>At least </a:t>
            </a:r>
            <a:r>
              <a:rPr lang="fr-FR" sz="2800" dirty="0" err="1"/>
              <a:t>three</a:t>
            </a:r>
            <a:r>
              <a:rPr lang="fr-FR" sz="2800" dirty="0"/>
              <a:t> alternatives:</a:t>
            </a:r>
          </a:p>
          <a:p>
            <a:pPr marL="514350" indent="-514350" algn="just">
              <a:buFont typeface="+mj-lt"/>
              <a:buAutoNum type="arabicPeriod"/>
            </a:pPr>
            <a:r>
              <a:rPr lang="fr-FR" sz="2800" dirty="0"/>
              <a:t>Change </a:t>
            </a:r>
            <a:r>
              <a:rPr lang="fr-FR" sz="2800" dirty="0" err="1"/>
              <a:t>specification</a:t>
            </a:r>
            <a:r>
              <a:rPr lang="fr-FR" sz="2800" dirty="0"/>
              <a:t>: in </a:t>
            </a:r>
            <a:r>
              <a:rPr lang="fr-FR" sz="2800" dirty="0" err="1"/>
              <a:t>this</a:t>
            </a:r>
            <a:r>
              <a:rPr lang="fr-FR" sz="2800" dirty="0"/>
              <a:t> </a:t>
            </a:r>
            <a:r>
              <a:rPr lang="fr-FR" sz="2800" dirty="0" err="1"/>
              <a:t>example</a:t>
            </a:r>
            <a:r>
              <a:rPr lang="fr-FR" sz="2800" dirty="0"/>
              <a:t>, </a:t>
            </a:r>
            <a:r>
              <a:rPr lang="fr-FR" sz="2800" dirty="0" err="1"/>
              <a:t>avoid</a:t>
            </a:r>
            <a:r>
              <a:rPr lang="fr-FR" sz="2800" dirty="0"/>
              <a:t> </a:t>
            </a:r>
            <a:r>
              <a:rPr lang="fr-FR" sz="2800" dirty="0" err="1"/>
              <a:t>near</a:t>
            </a:r>
            <a:r>
              <a:rPr lang="fr-FR" sz="2800" dirty="0"/>
              <a:t>-multi-</a:t>
            </a:r>
            <a:r>
              <a:rPr lang="fr-FR" sz="2800" dirty="0" err="1"/>
              <a:t>colinearity</a:t>
            </a:r>
            <a:r>
              <a:rPr lang="fr-FR" sz="2800" dirty="0"/>
              <a:t> of </a:t>
            </a:r>
            <a:r>
              <a:rPr lang="fr-FR" sz="2800" dirty="0" err="1"/>
              <a:t>explanatory</a:t>
            </a:r>
            <a:r>
              <a:rPr lang="fr-FR" sz="2800" dirty="0"/>
              <a:t> variables </a:t>
            </a:r>
            <a:r>
              <a:rPr lang="fr-FR" sz="2800" dirty="0" err="1"/>
              <a:t>with</a:t>
            </a:r>
            <a:r>
              <a:rPr lang="fr-FR" sz="2800" dirty="0"/>
              <a:t> T </a:t>
            </a:r>
            <a:r>
              <a:rPr lang="fr-FR" sz="2800" dirty="0" err="1"/>
              <a:t>small</a:t>
            </a:r>
            <a:r>
              <a:rPr lang="fr-FR" sz="2800" dirty="0"/>
              <a:t>.</a:t>
            </a:r>
          </a:p>
          <a:p>
            <a:pPr marL="514350" indent="-514350" algn="just">
              <a:buFont typeface="+mj-lt"/>
              <a:buAutoNum type="arabicPeriod"/>
            </a:pPr>
            <a:r>
              <a:rPr lang="fr-FR" sz="2800" dirty="0"/>
              <a:t>Check </a:t>
            </a:r>
            <a:r>
              <a:rPr lang="fr-FR" sz="2800" dirty="0" err="1"/>
              <a:t>poolability</a:t>
            </a:r>
            <a:r>
              <a:rPr lang="fr-FR" sz="2800" dirty="0"/>
              <a:t> of a few </a:t>
            </a:r>
            <a:r>
              <a:rPr lang="fr-FR" sz="2800" dirty="0" err="1"/>
              <a:t>sub</a:t>
            </a:r>
            <a:r>
              <a:rPr lang="fr-FR" sz="2800" dirty="0"/>
              <a:t>-groups and a few </a:t>
            </a:r>
            <a:r>
              <a:rPr lang="fr-FR" sz="2800" dirty="0" err="1"/>
              <a:t>sub-periods</a:t>
            </a:r>
            <a:r>
              <a:rPr lang="fr-FR" sz="2800" dirty="0"/>
              <a:t> </a:t>
            </a:r>
            <a:r>
              <a:rPr lang="fr-FR" sz="2800" dirty="0" err="1"/>
              <a:t>with</a:t>
            </a:r>
            <a:r>
              <a:rPr lang="fr-FR" sz="2800" dirty="0"/>
              <a:t> the </a:t>
            </a:r>
            <a:r>
              <a:rPr lang="fr-FR" sz="2800" dirty="0" err="1"/>
              <a:t>differences</a:t>
            </a:r>
            <a:r>
              <a:rPr lang="fr-FR" sz="2800" dirty="0"/>
              <a:t> in </a:t>
            </a:r>
            <a:r>
              <a:rPr lang="fr-FR" sz="2800" dirty="0" err="1"/>
              <a:t>differences</a:t>
            </a:r>
            <a:r>
              <a:rPr lang="fr-FR" sz="2800" dirty="0"/>
              <a:t> </a:t>
            </a:r>
            <a:r>
              <a:rPr lang="fr-FR" sz="2800" dirty="0" err="1"/>
              <a:t>idea</a:t>
            </a:r>
            <a:r>
              <a:rPr lang="fr-FR" sz="2800" dirty="0"/>
              <a:t>.</a:t>
            </a:r>
          </a:p>
          <a:p>
            <a:pPr marL="514350" indent="-514350" algn="just">
              <a:buFont typeface="+mj-lt"/>
              <a:buAutoNum type="arabicPeriod"/>
            </a:pPr>
            <a:r>
              <a:rPr lang="fr-FR" sz="2800" dirty="0" err="1"/>
              <a:t>Keep</a:t>
            </a:r>
            <a:r>
              <a:rPr lang="fr-FR" sz="2800" dirty="0"/>
              <a:t> time </a:t>
            </a:r>
            <a:r>
              <a:rPr lang="fr-FR" sz="2800" dirty="0" err="1"/>
              <a:t>series</a:t>
            </a:r>
            <a:r>
              <a:rPr lang="fr-FR" sz="2800" dirty="0"/>
              <a:t> estimations: </a:t>
            </a:r>
            <a:r>
              <a:rPr lang="fr-FR" sz="2800" dirty="0" err="1"/>
              <a:t>you</a:t>
            </a:r>
            <a:r>
              <a:rPr lang="fr-FR" sz="2800" dirty="0"/>
              <a:t> </a:t>
            </a:r>
            <a:r>
              <a:rPr lang="fr-FR" sz="2800" dirty="0" err="1"/>
              <a:t>can</a:t>
            </a:r>
            <a:r>
              <a:rPr lang="fr-FR" sz="2800" dirty="0"/>
              <a:t> report N&lt;20 </a:t>
            </a:r>
            <a:r>
              <a:rPr lang="fr-FR" sz="2800" dirty="0" err="1"/>
              <a:t>regressions</a:t>
            </a:r>
            <a:r>
              <a:rPr lang="fr-FR" sz="2800" dirty="0"/>
              <a:t> by </a:t>
            </a:r>
            <a:r>
              <a:rPr lang="fr-FR" sz="2800" dirty="0" err="1"/>
              <a:t>individuals</a:t>
            </a:r>
            <a:r>
              <a:rPr lang="fr-FR" sz="2800" dirty="0"/>
              <a:t> in a </a:t>
            </a:r>
            <a:r>
              <a:rPr lang="fr-FR" sz="2800" dirty="0" err="1"/>
              <a:t>paper</a:t>
            </a:r>
            <a:r>
              <a:rPr lang="fr-FR" sz="2800" dirty="0"/>
              <a:t> or master </a:t>
            </a:r>
            <a:r>
              <a:rPr lang="fr-FR" sz="2800" dirty="0" err="1"/>
              <a:t>thesis</a:t>
            </a:r>
            <a:r>
              <a:rPr lang="fr-FR" sz="2800" dirty="0"/>
              <a:t>.</a:t>
            </a:r>
          </a:p>
          <a:p>
            <a:pPr marL="514350" indent="-514350" algn="just">
              <a:buFont typeface="+mj-lt"/>
              <a:buAutoNum type="arabicPeriod"/>
            </a:pPr>
            <a:endParaRPr lang="fr-FR" sz="2800" b="1" dirty="0"/>
          </a:p>
        </p:txBody>
      </p:sp>
    </p:spTree>
    <p:extLst>
      <p:ext uri="{BB962C8B-B14F-4D97-AF65-F5344CB8AC3E}">
        <p14:creationId xmlns:p14="http://schemas.microsoft.com/office/powerpoint/2010/main" val="246110687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fr-FR" u="sng" dirty="0"/>
              <a:t>Use panel data for </a:t>
            </a:r>
            <a:r>
              <a:rPr lang="fr-FR" u="sng" dirty="0" err="1"/>
              <a:t>this</a:t>
            </a:r>
            <a:r>
              <a:rPr lang="fr-FR" u="sng" dirty="0"/>
              <a:t> </a:t>
            </a:r>
            <a:r>
              <a:rPr lang="fr-FR" u="sng" dirty="0" err="1"/>
              <a:t>idea</a:t>
            </a:r>
            <a:r>
              <a:rPr lang="fr-FR" u="sng" dirty="0"/>
              <a:t>:</a:t>
            </a:r>
            <a:br>
              <a:rPr lang="fr-FR" u="sng" dirty="0"/>
            </a:br>
            <a:r>
              <a:rPr lang="fr-FR" dirty="0"/>
              <a:t>distinct groups, distinct </a:t>
            </a:r>
            <a:r>
              <a:rPr lang="fr-FR" dirty="0" err="1"/>
              <a:t>periods</a:t>
            </a:r>
            <a:r>
              <a:rPr lang="fr-FR" dirty="0"/>
              <a:t>.</a:t>
            </a:r>
          </a:p>
        </p:txBody>
      </p:sp>
      <p:pic>
        <p:nvPicPr>
          <p:cNvPr id="104450" name="Picture 2" descr="Illustration of Difference in Differenc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695450"/>
            <a:ext cx="5381625" cy="516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345143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Concluding</a:t>
            </a:r>
            <a:r>
              <a:rPr lang="fr-FR" dirty="0"/>
              <a:t> </a:t>
            </a:r>
            <a:r>
              <a:rPr lang="fr-FR" dirty="0" err="1"/>
              <a:t>remarks</a:t>
            </a:r>
            <a:r>
              <a:rPr lang="fr-FR" dirty="0"/>
              <a:t> on </a:t>
            </a:r>
            <a:br>
              <a:rPr lang="fr-FR" dirty="0"/>
            </a:br>
            <a:r>
              <a:rPr lang="fr-FR" dirty="0" err="1"/>
              <a:t>Poolability</a:t>
            </a:r>
            <a:r>
              <a:rPr lang="fr-FR" dirty="0"/>
              <a:t> in </a:t>
            </a:r>
            <a:r>
              <a:rPr lang="fr-FR" dirty="0" err="1"/>
              <a:t>this</a:t>
            </a:r>
            <a:r>
              <a:rPr lang="fr-FR" dirty="0"/>
              <a:t> section</a:t>
            </a:r>
          </a:p>
        </p:txBody>
      </p:sp>
      <p:sp>
        <p:nvSpPr>
          <p:cNvPr id="3" name="Espace réservé du contenu 2"/>
          <p:cNvSpPr>
            <a:spLocks noGrp="1"/>
          </p:cNvSpPr>
          <p:nvPr>
            <p:ph idx="1"/>
          </p:nvPr>
        </p:nvSpPr>
        <p:spPr/>
        <p:txBody>
          <a:bodyPr/>
          <a:lstStyle/>
          <a:p>
            <a:pPr marL="514350" indent="-514350">
              <a:buFont typeface="+mj-lt"/>
              <a:buAutoNum type="arabicPeriod"/>
            </a:pPr>
            <a:r>
              <a:rPr lang="fr-FR" dirty="0"/>
              <a:t>Be </a:t>
            </a:r>
            <a:r>
              <a:rPr lang="fr-FR" dirty="0" err="1"/>
              <a:t>cautious</a:t>
            </a:r>
            <a:r>
              <a:rPr lang="fr-FR" dirty="0"/>
              <a:t> </a:t>
            </a:r>
            <a:r>
              <a:rPr lang="fr-FR" dirty="0" err="1"/>
              <a:t>with</a:t>
            </a:r>
            <a:r>
              <a:rPr lang="fr-FR" dirty="0"/>
              <a:t> </a:t>
            </a:r>
            <a:r>
              <a:rPr lang="fr-FR" dirty="0" err="1"/>
              <a:t>papers</a:t>
            </a:r>
            <a:r>
              <a:rPr lang="fr-FR" dirty="0"/>
              <a:t> « </a:t>
            </a:r>
            <a:r>
              <a:rPr lang="fr-FR" dirty="0" err="1"/>
              <a:t>forecast</a:t>
            </a:r>
            <a:r>
              <a:rPr lang="fr-FR" dirty="0"/>
              <a:t> </a:t>
            </a:r>
            <a:r>
              <a:rPr lang="fr-FR" dirty="0" err="1"/>
              <a:t>with</a:t>
            </a:r>
            <a:r>
              <a:rPr lang="fr-FR" dirty="0"/>
              <a:t> panel data ». Panel data </a:t>
            </a:r>
            <a:r>
              <a:rPr lang="fr-FR" dirty="0" err="1"/>
              <a:t>common</a:t>
            </a:r>
            <a:r>
              <a:rPr lang="fr-FR" dirty="0"/>
              <a:t> </a:t>
            </a:r>
            <a:r>
              <a:rPr lang="fr-FR" dirty="0" err="1"/>
              <a:t>slope</a:t>
            </a:r>
            <a:r>
              <a:rPr lang="fr-FR" dirty="0"/>
              <a:t> restriction </a:t>
            </a:r>
            <a:r>
              <a:rPr lang="fr-FR" dirty="0" err="1"/>
              <a:t>poor</a:t>
            </a:r>
            <a:r>
              <a:rPr lang="fr-FR" dirty="0"/>
              <a:t> </a:t>
            </a:r>
            <a:r>
              <a:rPr lang="fr-FR" dirty="0" err="1"/>
              <a:t>forecast</a:t>
            </a:r>
            <a:r>
              <a:rPr lang="fr-FR" dirty="0"/>
              <a:t> versus </a:t>
            </a:r>
            <a:r>
              <a:rPr lang="fr-FR" dirty="0" err="1"/>
              <a:t>average</a:t>
            </a:r>
            <a:r>
              <a:rPr lang="fr-FR" dirty="0"/>
              <a:t> </a:t>
            </a:r>
            <a:r>
              <a:rPr lang="fr-FR" dirty="0" err="1"/>
              <a:t>parameter</a:t>
            </a:r>
            <a:r>
              <a:rPr lang="fr-FR" dirty="0"/>
              <a:t> </a:t>
            </a:r>
            <a:r>
              <a:rPr lang="fr-FR" dirty="0" err="1"/>
              <a:t>estimates</a:t>
            </a:r>
            <a:r>
              <a:rPr lang="fr-FR" dirty="0"/>
              <a:t> </a:t>
            </a:r>
            <a:r>
              <a:rPr lang="fr-FR" dirty="0" err="1"/>
              <a:t>with</a:t>
            </a:r>
            <a:r>
              <a:rPr lang="fr-FR" dirty="0"/>
              <a:t> </a:t>
            </a:r>
            <a:r>
              <a:rPr lang="fr-FR" dirty="0" err="1"/>
              <a:t>precision</a:t>
            </a:r>
            <a:r>
              <a:rPr lang="fr-FR" dirty="0"/>
              <a:t>. </a:t>
            </a:r>
          </a:p>
          <a:p>
            <a:pPr marL="514350" indent="-514350">
              <a:buFont typeface="+mj-lt"/>
              <a:buAutoNum type="arabicPeriod"/>
            </a:pPr>
            <a:r>
              <a:rPr lang="fr-FR" dirty="0"/>
              <a:t>Near-</a:t>
            </a:r>
            <a:r>
              <a:rPr lang="fr-FR" dirty="0" err="1"/>
              <a:t>multicollinearity</a:t>
            </a:r>
            <a:r>
              <a:rPr lang="fr-FR" dirty="0"/>
              <a:t>.</a:t>
            </a:r>
          </a:p>
          <a:p>
            <a:pPr marL="514350" indent="-514350">
              <a:buFont typeface="+mj-lt"/>
              <a:buAutoNum type="arabicPeriod"/>
            </a:pPr>
            <a:r>
              <a:rPr lang="fr-FR" dirty="0" err="1"/>
              <a:t>Studentized</a:t>
            </a:r>
            <a:r>
              <a:rPr lang="fr-FR" dirty="0"/>
              <a:t> </a:t>
            </a:r>
            <a:r>
              <a:rPr lang="fr-FR" dirty="0" err="1"/>
              <a:t>boxplots</a:t>
            </a:r>
            <a:r>
              <a:rPr lang="fr-FR" dirty="0"/>
              <a:t> of </a:t>
            </a:r>
            <a:r>
              <a:rPr lang="fr-FR" dirty="0" err="1"/>
              <a:t>residuals</a:t>
            </a:r>
            <a:r>
              <a:rPr lang="fr-FR" dirty="0"/>
              <a:t> by </a:t>
            </a:r>
            <a:r>
              <a:rPr lang="fr-FR" dirty="0" err="1"/>
              <a:t>individuals</a:t>
            </a:r>
            <a:r>
              <a:rPr lang="fr-FR" dirty="0"/>
              <a:t>.</a:t>
            </a:r>
          </a:p>
        </p:txBody>
      </p:sp>
    </p:spTree>
    <p:extLst>
      <p:ext uri="{BB962C8B-B14F-4D97-AF65-F5344CB8AC3E}">
        <p14:creationId xmlns:p14="http://schemas.microsoft.com/office/powerpoint/2010/main" val="93816902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a:solidFill>
                  <a:srgbClr val="00B050"/>
                </a:solidFill>
              </a:rPr>
              <a:t>1. RMSE of </a:t>
            </a:r>
            <a:r>
              <a:rPr lang="fr-FR" b="1" dirty="0" err="1">
                <a:solidFill>
                  <a:srgbClr val="00B050"/>
                </a:solidFill>
              </a:rPr>
              <a:t>residuals</a:t>
            </a:r>
            <a:r>
              <a:rPr lang="fr-FR" b="1" dirty="0">
                <a:solidFill>
                  <a:srgbClr val="00B050"/>
                </a:solidFill>
              </a:rPr>
              <a:t>: </a:t>
            </a:r>
            <a:r>
              <a:rPr lang="fr-FR" b="1" dirty="0" err="1">
                <a:solidFill>
                  <a:srgbClr val="00B050"/>
                </a:solidFill>
              </a:rPr>
              <a:t>poor</a:t>
            </a:r>
            <a:r>
              <a:rPr lang="fr-FR" b="1" dirty="0">
                <a:solidFill>
                  <a:srgbClr val="00B050"/>
                </a:solidFill>
              </a:rPr>
              <a:t> </a:t>
            </a:r>
            <a:r>
              <a:rPr lang="fr-FR" b="1" dirty="0" err="1">
                <a:solidFill>
                  <a:srgbClr val="00B050"/>
                </a:solidFill>
              </a:rPr>
              <a:t>forecast</a:t>
            </a:r>
            <a:r>
              <a:rPr lang="fr-FR" b="1" dirty="0">
                <a:solidFill>
                  <a:srgbClr val="00B050"/>
                </a:solidFill>
              </a:rPr>
              <a:t> </a:t>
            </a:r>
            <a:r>
              <a:rPr lang="fr-FR" dirty="0"/>
              <a:t>vs </a:t>
            </a:r>
            <a:r>
              <a:rPr lang="fr-FR" b="1" dirty="0">
                <a:solidFill>
                  <a:srgbClr val="FF0000"/>
                </a:solidFill>
              </a:rPr>
              <a:t>t-</a:t>
            </a:r>
            <a:r>
              <a:rPr lang="fr-FR" b="1" dirty="0" err="1">
                <a:solidFill>
                  <a:srgbClr val="FF0000"/>
                </a:solidFill>
              </a:rPr>
              <a:t>stats</a:t>
            </a:r>
            <a:r>
              <a:rPr lang="fr-FR" b="1" dirty="0">
                <a:solidFill>
                  <a:srgbClr val="FF0000"/>
                </a:solidFill>
              </a:rPr>
              <a:t>&gt;2</a:t>
            </a:r>
            <a:endParaRPr lang="fr-FR" b="1" dirty="0">
              <a:solidFill>
                <a:srgbClr val="00B050"/>
              </a:solidFill>
            </a:endParaRPr>
          </a:p>
        </p:txBody>
      </p:sp>
      <p:sp>
        <p:nvSpPr>
          <p:cNvPr id="3" name="Espace réservé du contenu 2"/>
          <p:cNvSpPr>
            <a:spLocks noGrp="1"/>
          </p:cNvSpPr>
          <p:nvPr>
            <p:ph idx="1"/>
          </p:nvPr>
        </p:nvSpPr>
        <p:spPr/>
        <p:txBody>
          <a:bodyPr>
            <a:normAutofit lnSpcReduction="10000"/>
          </a:bodyPr>
          <a:lstStyle/>
          <a:p>
            <a:pPr marL="0" indent="0">
              <a:buNone/>
            </a:pPr>
            <a:r>
              <a:rPr lang="fr-FR" dirty="0"/>
              <a:t>Do NOT </a:t>
            </a:r>
            <a:r>
              <a:rPr lang="fr-FR" dirty="0" err="1"/>
              <a:t>be</a:t>
            </a:r>
            <a:r>
              <a:rPr lang="fr-FR" dirty="0"/>
              <a:t> </a:t>
            </a:r>
            <a:r>
              <a:rPr lang="fr-FR" dirty="0" err="1"/>
              <a:t>fooled</a:t>
            </a:r>
            <a:r>
              <a:rPr lang="fr-FR" dirty="0"/>
              <a:t> by LARGE t-</a:t>
            </a:r>
            <a:r>
              <a:rPr lang="fr-FR" dirty="0" err="1"/>
              <a:t>stats</a:t>
            </a:r>
            <a:r>
              <a:rPr lang="fr-FR" dirty="0"/>
              <a:t> </a:t>
            </a:r>
            <a:r>
              <a:rPr lang="fr-FR" dirty="0" err="1"/>
              <a:t>with</a:t>
            </a:r>
            <a:r>
              <a:rPr lang="fr-FR" dirty="0"/>
              <a:t> </a:t>
            </a:r>
            <a:r>
              <a:rPr lang="fr-FR" dirty="0" err="1"/>
              <a:t>fixed</a:t>
            </a:r>
            <a:r>
              <a:rPr lang="fr-FR" dirty="0"/>
              <a:t> </a:t>
            </a:r>
            <a:r>
              <a:rPr lang="fr-FR" dirty="0" err="1"/>
              <a:t>effects</a:t>
            </a:r>
            <a:r>
              <a:rPr lang="fr-FR" dirty="0"/>
              <a:t> panel data (</a:t>
            </a:r>
            <a:r>
              <a:rPr lang="fr-FR" dirty="0" err="1"/>
              <a:t>with</a:t>
            </a:r>
            <a:r>
              <a:rPr lang="fr-FR" dirty="0"/>
              <a:t> NT-k-N </a:t>
            </a:r>
            <a:r>
              <a:rPr lang="fr-FR" dirty="0" err="1"/>
              <a:t>degrees</a:t>
            </a:r>
            <a:r>
              <a:rPr lang="fr-FR" dirty="0"/>
              <a:t> of </a:t>
            </a:r>
            <a:r>
              <a:rPr lang="fr-FR" dirty="0" err="1"/>
              <a:t>freedom</a:t>
            </a:r>
            <a:r>
              <a:rPr lang="fr-FR" dirty="0"/>
              <a:t>).</a:t>
            </a:r>
          </a:p>
          <a:p>
            <a:pPr marL="0" indent="0">
              <a:buNone/>
            </a:pPr>
            <a:r>
              <a:rPr lang="fr-FR" dirty="0"/>
              <a:t>Time </a:t>
            </a:r>
            <a:r>
              <a:rPr lang="fr-FR" dirty="0" err="1"/>
              <a:t>series</a:t>
            </a:r>
            <a:r>
              <a:rPr lang="fr-FR" dirty="0"/>
              <a:t> </a:t>
            </a:r>
            <a:r>
              <a:rPr lang="fr-FR" dirty="0" err="1"/>
              <a:t>estimates</a:t>
            </a:r>
            <a:r>
              <a:rPr lang="fr-FR" dirty="0"/>
              <a:t> </a:t>
            </a:r>
            <a:r>
              <a:rPr lang="fr-FR" dirty="0" err="1"/>
              <a:t>with</a:t>
            </a:r>
            <a:r>
              <a:rPr lang="fr-FR" dirty="0"/>
              <a:t> </a:t>
            </a:r>
            <a:r>
              <a:rPr lang="fr-FR" dirty="0" err="1"/>
              <a:t>poor</a:t>
            </a:r>
            <a:r>
              <a:rPr lang="fr-FR" dirty="0"/>
              <a:t> t-</a:t>
            </a:r>
            <a:r>
              <a:rPr lang="fr-FR" dirty="0" err="1"/>
              <a:t>stats</a:t>
            </a:r>
            <a:r>
              <a:rPr lang="fr-FR" dirty="0"/>
              <a:t> (</a:t>
            </a:r>
            <a:r>
              <a:rPr lang="fr-FR" dirty="0" err="1"/>
              <a:t>with</a:t>
            </a:r>
            <a:r>
              <a:rPr lang="fr-FR" dirty="0"/>
              <a:t> T-k-1 </a:t>
            </a:r>
            <a:r>
              <a:rPr lang="fr-FR" dirty="0" err="1"/>
              <a:t>degrees</a:t>
            </a:r>
            <a:r>
              <a:rPr lang="fr-FR" dirty="0"/>
              <a:t> of </a:t>
            </a:r>
            <a:r>
              <a:rPr lang="fr-FR" dirty="0" err="1"/>
              <a:t>freedom</a:t>
            </a:r>
            <a:r>
              <a:rPr lang="fr-FR" dirty="0"/>
              <a:t>) have a </a:t>
            </a:r>
            <a:r>
              <a:rPr lang="fr-FR" dirty="0" err="1"/>
              <a:t>much</a:t>
            </a:r>
            <a:r>
              <a:rPr lang="fr-FR" dirty="0"/>
              <a:t> </a:t>
            </a:r>
            <a:r>
              <a:rPr lang="fr-FR" dirty="0" err="1"/>
              <a:t>better</a:t>
            </a:r>
            <a:r>
              <a:rPr lang="fr-FR" dirty="0"/>
              <a:t> fit and </a:t>
            </a:r>
            <a:r>
              <a:rPr lang="fr-FR" dirty="0" err="1"/>
              <a:t>forecast</a:t>
            </a:r>
            <a:r>
              <a:rPr lang="fr-FR" dirty="0"/>
              <a:t> </a:t>
            </a:r>
            <a:r>
              <a:rPr lang="fr-FR" dirty="0" err="1"/>
              <a:t>than</a:t>
            </a:r>
            <a:r>
              <a:rPr lang="fr-FR" dirty="0"/>
              <a:t> </a:t>
            </a:r>
            <a:r>
              <a:rPr lang="fr-FR" dirty="0" err="1"/>
              <a:t>common</a:t>
            </a:r>
            <a:r>
              <a:rPr lang="fr-FR" dirty="0"/>
              <a:t> </a:t>
            </a:r>
            <a:r>
              <a:rPr lang="fr-FR" dirty="0" err="1"/>
              <a:t>slope</a:t>
            </a:r>
            <a:r>
              <a:rPr lang="fr-FR" dirty="0"/>
              <a:t> panel </a:t>
            </a:r>
            <a:r>
              <a:rPr lang="fr-FR" dirty="0" err="1"/>
              <a:t>models</a:t>
            </a:r>
            <a:r>
              <a:rPr lang="fr-FR" dirty="0"/>
              <a:t>.</a:t>
            </a:r>
          </a:p>
          <a:p>
            <a:pPr marL="0" indent="0">
              <a:buNone/>
            </a:pPr>
            <a:r>
              <a:rPr lang="fr-FR" dirty="0"/>
              <a:t>Compare </a:t>
            </a:r>
            <a:r>
              <a:rPr lang="fr-FR" dirty="0" err="1"/>
              <a:t>also</a:t>
            </a:r>
            <a:r>
              <a:rPr lang="fr-FR" dirty="0"/>
              <a:t> the RMSE of </a:t>
            </a:r>
            <a:r>
              <a:rPr lang="fr-FR" dirty="0" err="1"/>
              <a:t>residuals</a:t>
            </a:r>
            <a:r>
              <a:rPr lang="fr-FR" dirty="0"/>
              <a:t> for </a:t>
            </a:r>
            <a:r>
              <a:rPr lang="fr-FR" dirty="0" err="1"/>
              <a:t>each</a:t>
            </a:r>
            <a:r>
              <a:rPr lang="fr-FR" dirty="0"/>
              <a:t> </a:t>
            </a:r>
            <a:r>
              <a:rPr lang="fr-FR" dirty="0" err="1"/>
              <a:t>individuals</a:t>
            </a:r>
            <a:r>
              <a:rPr lang="fr-FR" dirty="0"/>
              <a:t> (</a:t>
            </a:r>
            <a:r>
              <a:rPr lang="fr-FR" dirty="0" err="1"/>
              <a:t>using</a:t>
            </a:r>
            <a:r>
              <a:rPr lang="fr-FR" dirty="0"/>
              <a:t> </a:t>
            </a:r>
            <a:r>
              <a:rPr lang="fr-FR" dirty="0" err="1"/>
              <a:t>boxplots</a:t>
            </a:r>
            <a:r>
              <a:rPr lang="fr-FR" dirty="0"/>
              <a:t>).</a:t>
            </a:r>
          </a:p>
        </p:txBody>
      </p:sp>
    </p:spTree>
    <p:extLst>
      <p:ext uri="{BB962C8B-B14F-4D97-AF65-F5344CB8AC3E}">
        <p14:creationId xmlns:p14="http://schemas.microsoft.com/office/powerpoint/2010/main" val="115812233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4000" i="1" dirty="0">
                <a:solidFill>
                  <a:schemeClr val="tx1"/>
                </a:solidFill>
              </a:rPr>
              <a:t>Horse race</a:t>
            </a:r>
            <a:r>
              <a:rPr lang="fr-FR" sz="4000" dirty="0"/>
              <a:t> </a:t>
            </a:r>
            <a:r>
              <a:rPr lang="fr-FR" sz="4000" dirty="0" err="1"/>
              <a:t>across</a:t>
            </a:r>
            <a:r>
              <a:rPr lang="fr-FR" sz="4000" dirty="0"/>
              <a:t> </a:t>
            </a:r>
            <a:r>
              <a:rPr lang="fr-FR" sz="4000" dirty="0" err="1"/>
              <a:t>specifications</a:t>
            </a:r>
            <a:r>
              <a:rPr lang="fr-FR" sz="4000" dirty="0"/>
              <a:t>: </a:t>
            </a:r>
            <a:r>
              <a:rPr lang="fr-FR" sz="4000" b="1" dirty="0">
                <a:solidFill>
                  <a:srgbClr val="FF0000"/>
                </a:solidFill>
              </a:rPr>
              <a:t>y^ </a:t>
            </a:r>
            <a:r>
              <a:rPr lang="fr-FR" sz="4000" dirty="0" err="1">
                <a:solidFill>
                  <a:srgbClr val="FF0000"/>
                </a:solidFill>
              </a:rPr>
              <a:t>forecast</a:t>
            </a:r>
            <a:r>
              <a:rPr lang="fr-FR" sz="4000" dirty="0"/>
              <a:t> versus </a:t>
            </a:r>
            <a:r>
              <a:rPr lang="el-GR" sz="4000" b="1" dirty="0">
                <a:solidFill>
                  <a:srgbClr val="FF0000"/>
                </a:solidFill>
              </a:rPr>
              <a:t>β</a:t>
            </a:r>
            <a:r>
              <a:rPr lang="fr-FR" sz="4000" b="1" dirty="0">
                <a:solidFill>
                  <a:srgbClr val="FF0000"/>
                </a:solidFill>
              </a:rPr>
              <a:t>^</a:t>
            </a:r>
            <a:r>
              <a:rPr lang="fr-FR" sz="4000" dirty="0">
                <a:solidFill>
                  <a:srgbClr val="FF0000"/>
                </a:solidFill>
              </a:rPr>
              <a:t> </a:t>
            </a:r>
            <a:r>
              <a:rPr lang="fr-FR" sz="4000" dirty="0" err="1">
                <a:solidFill>
                  <a:srgbClr val="FF0000"/>
                </a:solidFill>
              </a:rPr>
              <a:t>effect</a:t>
            </a:r>
            <a:r>
              <a:rPr lang="fr-FR" sz="4000" dirty="0"/>
              <a:t>. </a:t>
            </a:r>
          </a:p>
        </p:txBody>
      </p:sp>
      <p:sp>
        <p:nvSpPr>
          <p:cNvPr id="3" name="Espace réservé du contenu 2"/>
          <p:cNvSpPr>
            <a:spLocks noGrp="1"/>
          </p:cNvSpPr>
          <p:nvPr>
            <p:ph idx="1"/>
          </p:nvPr>
        </p:nvSpPr>
        <p:spPr/>
        <p:txBody>
          <a:bodyPr>
            <a:normAutofit lnSpcReduction="10000"/>
          </a:bodyPr>
          <a:lstStyle/>
          <a:p>
            <a:pPr marL="0" indent="0" algn="just">
              <a:buNone/>
            </a:pPr>
            <a:r>
              <a:rPr lang="fr-FR" dirty="0" err="1"/>
              <a:t>Scoring</a:t>
            </a:r>
            <a:r>
              <a:rPr lang="fr-FR" dirty="0"/>
              <a:t>: Out of </a:t>
            </a:r>
            <a:r>
              <a:rPr lang="fr-FR" dirty="0" err="1"/>
              <a:t>sample</a:t>
            </a:r>
            <a:r>
              <a:rPr lang="fr-FR" dirty="0"/>
              <a:t> </a:t>
            </a:r>
            <a:r>
              <a:rPr lang="fr-FR" dirty="0" err="1"/>
              <a:t>forecast</a:t>
            </a:r>
            <a:r>
              <a:rPr lang="fr-FR" dirty="0"/>
              <a:t> (</a:t>
            </a:r>
            <a:r>
              <a:rPr lang="fr-FR" b="1" dirty="0"/>
              <a:t>y^</a:t>
            </a:r>
            <a:r>
              <a:rPr lang="fr-FR" dirty="0"/>
              <a:t>) in cross sections: </a:t>
            </a:r>
            <a:r>
              <a:rPr lang="fr-FR" dirty="0">
                <a:solidFill>
                  <a:srgbClr val="FF0000"/>
                </a:solidFill>
              </a:rPr>
              <a:t>out of </a:t>
            </a:r>
            <a:r>
              <a:rPr lang="fr-FR" dirty="0" err="1">
                <a:solidFill>
                  <a:srgbClr val="FF0000"/>
                </a:solidFill>
              </a:rPr>
              <a:t>sample</a:t>
            </a:r>
            <a:r>
              <a:rPr lang="fr-FR" dirty="0"/>
              <a:t> of estimation </a:t>
            </a:r>
            <a:r>
              <a:rPr lang="fr-FR" dirty="0" err="1"/>
              <a:t>root</a:t>
            </a:r>
            <a:r>
              <a:rPr lang="fr-FR" dirty="0"/>
              <a:t> of </a:t>
            </a:r>
            <a:r>
              <a:rPr lang="fr-FR" dirty="0" err="1"/>
              <a:t>sum</a:t>
            </a:r>
            <a:r>
              <a:rPr lang="fr-FR" dirty="0"/>
              <a:t> of squares of </a:t>
            </a:r>
            <a:r>
              <a:rPr lang="fr-FR" dirty="0" err="1"/>
              <a:t>residuals</a:t>
            </a:r>
            <a:r>
              <a:rPr lang="fr-FR" dirty="0"/>
              <a:t> (</a:t>
            </a:r>
            <a:r>
              <a:rPr lang="fr-FR" dirty="0">
                <a:solidFill>
                  <a:srgbClr val="FF0000"/>
                </a:solidFill>
              </a:rPr>
              <a:t>RMSE</a:t>
            </a:r>
            <a:r>
              <a:rPr lang="fr-FR" dirty="0"/>
              <a:t>) of the </a:t>
            </a:r>
            <a:r>
              <a:rPr lang="fr-FR" dirty="0" err="1">
                <a:solidFill>
                  <a:srgbClr val="FF0000"/>
                </a:solidFill>
              </a:rPr>
              <a:t>whole</a:t>
            </a:r>
            <a:r>
              <a:rPr lang="fr-FR" dirty="0">
                <a:solidFill>
                  <a:srgbClr val="FF0000"/>
                </a:solidFill>
              </a:rPr>
              <a:t> </a:t>
            </a:r>
            <a:r>
              <a:rPr lang="fr-FR" dirty="0" err="1">
                <a:solidFill>
                  <a:srgbClr val="FF0000"/>
                </a:solidFill>
              </a:rPr>
              <a:t>equation</a:t>
            </a:r>
            <a:r>
              <a:rPr lang="fr-FR" dirty="0"/>
              <a:t>, </a:t>
            </a:r>
            <a:r>
              <a:rPr lang="fr-FR" dirty="0" err="1"/>
              <a:t>cautious</a:t>
            </a:r>
            <a:r>
              <a:rPr lang="fr-FR" dirty="0"/>
              <a:t> about </a:t>
            </a:r>
            <a:r>
              <a:rPr lang="fr-FR" dirty="0">
                <a:solidFill>
                  <a:srgbClr val="FF0000"/>
                </a:solidFill>
              </a:rPr>
              <a:t>over-</a:t>
            </a:r>
            <a:r>
              <a:rPr lang="fr-FR" dirty="0" err="1">
                <a:solidFill>
                  <a:srgbClr val="FF0000"/>
                </a:solidFill>
              </a:rPr>
              <a:t>fitting</a:t>
            </a:r>
            <a:r>
              <a:rPr lang="fr-FR" dirty="0"/>
              <a:t>, </a:t>
            </a:r>
            <a:r>
              <a:rPr lang="fr-FR" dirty="0" err="1"/>
              <a:t>neglects</a:t>
            </a:r>
            <a:r>
              <a:rPr lang="fr-FR" dirty="0"/>
              <a:t> IV. [Journal of </a:t>
            </a:r>
            <a:r>
              <a:rPr lang="fr-FR" dirty="0" err="1"/>
              <a:t>Forecasting</a:t>
            </a:r>
            <a:r>
              <a:rPr lang="fr-FR" dirty="0"/>
              <a:t>].</a:t>
            </a:r>
          </a:p>
          <a:p>
            <a:pPr marL="0" indent="0" algn="just">
              <a:buNone/>
            </a:pPr>
            <a:r>
              <a:rPr lang="fr-FR" dirty="0" err="1"/>
              <a:t>Effect</a:t>
            </a:r>
            <a:r>
              <a:rPr lang="fr-FR" dirty="0"/>
              <a:t> of X on Y: focus </a:t>
            </a:r>
            <a:r>
              <a:rPr lang="fr-FR" dirty="0" err="1"/>
              <a:t>estimated</a:t>
            </a:r>
            <a:r>
              <a:rPr lang="fr-FR" dirty="0"/>
              <a:t> </a:t>
            </a:r>
            <a:r>
              <a:rPr lang="fr-FR" dirty="0" err="1"/>
              <a:t>parameter</a:t>
            </a:r>
            <a:r>
              <a:rPr lang="fr-FR" dirty="0"/>
              <a:t> (</a:t>
            </a:r>
            <a:r>
              <a:rPr lang="el-GR" b="1" dirty="0"/>
              <a:t>β</a:t>
            </a:r>
            <a:r>
              <a:rPr lang="fr-FR" b="1" dirty="0"/>
              <a:t>^</a:t>
            </a:r>
            <a:r>
              <a:rPr lang="fr-FR" dirty="0"/>
              <a:t>): </a:t>
            </a:r>
            <a:r>
              <a:rPr lang="fr-FR" dirty="0">
                <a:solidFill>
                  <a:srgbClr val="FF0000"/>
                </a:solidFill>
              </a:rPr>
              <a:t>in </a:t>
            </a:r>
            <a:r>
              <a:rPr lang="fr-FR" dirty="0" err="1">
                <a:solidFill>
                  <a:srgbClr val="FF0000"/>
                </a:solidFill>
              </a:rPr>
              <a:t>sample</a:t>
            </a:r>
            <a:r>
              <a:rPr lang="fr-FR" dirty="0"/>
              <a:t> of estimation </a:t>
            </a:r>
            <a:r>
              <a:rPr lang="fr-FR" dirty="0">
                <a:solidFill>
                  <a:srgbClr val="FF0000"/>
                </a:solidFill>
              </a:rPr>
              <a:t>t-stat&gt;2</a:t>
            </a:r>
            <a:r>
              <a:rPr lang="fr-FR" dirty="0"/>
              <a:t> for </a:t>
            </a:r>
            <a:r>
              <a:rPr lang="fr-FR" dirty="0" err="1">
                <a:solidFill>
                  <a:srgbClr val="FF0000"/>
                </a:solidFill>
              </a:rPr>
              <a:t>each</a:t>
            </a:r>
            <a:r>
              <a:rPr lang="fr-FR" dirty="0"/>
              <a:t> </a:t>
            </a:r>
            <a:r>
              <a:rPr lang="fr-FR" dirty="0" err="1"/>
              <a:t>explanatory</a:t>
            </a:r>
            <a:r>
              <a:rPr lang="fr-FR" dirty="0"/>
              <a:t> variables, </a:t>
            </a:r>
            <a:r>
              <a:rPr lang="fr-FR" dirty="0" err="1"/>
              <a:t>neglects</a:t>
            </a:r>
            <a:r>
              <a:rPr lang="fr-FR" dirty="0"/>
              <a:t> over-</a:t>
            </a:r>
            <a:r>
              <a:rPr lang="fr-FR" dirty="0" err="1"/>
              <a:t>fitting</a:t>
            </a:r>
            <a:r>
              <a:rPr lang="fr-FR" dirty="0"/>
              <a:t>, focus </a:t>
            </a:r>
            <a:r>
              <a:rPr lang="fr-FR" dirty="0" err="1">
                <a:solidFill>
                  <a:srgbClr val="FF0000"/>
                </a:solidFill>
              </a:rPr>
              <a:t>biases</a:t>
            </a:r>
            <a:r>
              <a:rPr lang="fr-FR" dirty="0"/>
              <a:t>: </a:t>
            </a:r>
            <a:r>
              <a:rPr lang="fr-FR" dirty="0">
                <a:solidFill>
                  <a:srgbClr val="FF0000"/>
                </a:solidFill>
              </a:rPr>
              <a:t>instrumental variables</a:t>
            </a:r>
            <a:r>
              <a:rPr lang="fr-FR" dirty="0"/>
              <a:t>.</a:t>
            </a:r>
          </a:p>
        </p:txBody>
      </p:sp>
    </p:spTree>
    <p:extLst>
      <p:ext uri="{BB962C8B-B14F-4D97-AF65-F5344CB8AC3E}">
        <p14:creationId xmlns:p14="http://schemas.microsoft.com/office/powerpoint/2010/main" val="39632288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Common </a:t>
            </a:r>
            <a:r>
              <a:rPr lang="fr-FR" dirty="0" err="1"/>
              <a:t>slopes</a:t>
            </a:r>
            <a:r>
              <a:rPr lang="fr-FR" dirty="0"/>
              <a:t> </a:t>
            </a:r>
            <a:r>
              <a:rPr lang="fr-FR" dirty="0" err="1"/>
              <a:t>constraint</a:t>
            </a:r>
            <a:r>
              <a:rPr lang="fr-FR" dirty="0"/>
              <a:t> </a:t>
            </a:r>
            <a:br>
              <a:rPr lang="fr-FR" dirty="0"/>
            </a:br>
            <a:r>
              <a:rPr lang="fr-FR" dirty="0"/>
              <a:t>in panel</a:t>
            </a:r>
          </a:p>
        </p:txBody>
      </p:sp>
      <p:sp>
        <p:nvSpPr>
          <p:cNvPr id="3" name="Espace réservé du contenu 2"/>
          <p:cNvSpPr>
            <a:spLocks noGrp="1"/>
          </p:cNvSpPr>
          <p:nvPr>
            <p:ph idx="1"/>
          </p:nvPr>
        </p:nvSpPr>
        <p:spPr/>
        <p:txBody>
          <a:bodyPr/>
          <a:lstStyle/>
          <a:p>
            <a:pPr marL="0" indent="0">
              <a:buNone/>
            </a:pPr>
            <a:r>
              <a:rPr lang="fr-FR" dirty="0"/>
              <a:t>(</a:t>
            </a:r>
            <a:r>
              <a:rPr lang="el-GR" b="1" dirty="0"/>
              <a:t>β</a:t>
            </a:r>
            <a:r>
              <a:rPr lang="fr-FR" b="1" dirty="0"/>
              <a:t>^</a:t>
            </a:r>
            <a:r>
              <a:rPr lang="fr-FR" dirty="0"/>
              <a:t>) performance </a:t>
            </a:r>
            <a:r>
              <a:rPr lang="fr-FR" dirty="0" err="1"/>
              <a:t>is</a:t>
            </a:r>
            <a:r>
              <a:rPr lang="fr-FR" dirty="0"/>
              <a:t> </a:t>
            </a:r>
            <a:r>
              <a:rPr lang="fr-FR" dirty="0" err="1"/>
              <a:t>measured</a:t>
            </a:r>
            <a:r>
              <a:rPr lang="fr-FR" dirty="0"/>
              <a:t> by </a:t>
            </a:r>
            <a:r>
              <a:rPr lang="fr-FR" b="1" dirty="0"/>
              <a:t>t-stat</a:t>
            </a:r>
            <a:r>
              <a:rPr lang="fr-FR" dirty="0"/>
              <a:t> </a:t>
            </a:r>
            <a:r>
              <a:rPr lang="fr-FR" dirty="0" err="1"/>
              <a:t>which</a:t>
            </a:r>
            <a:r>
              <a:rPr lang="fr-FR" dirty="0"/>
              <a:t> </a:t>
            </a:r>
            <a:r>
              <a:rPr lang="fr-FR" dirty="0" err="1"/>
              <a:t>depends</a:t>
            </a:r>
            <a:r>
              <a:rPr lang="fr-FR" dirty="0"/>
              <a:t> on </a:t>
            </a:r>
            <a:r>
              <a:rPr lang="fr-FR" dirty="0" err="1"/>
              <a:t>degrees</a:t>
            </a:r>
            <a:r>
              <a:rPr lang="fr-FR" dirty="0"/>
              <a:t> of </a:t>
            </a:r>
            <a:r>
              <a:rPr lang="fr-FR" dirty="0" err="1"/>
              <a:t>freedom</a:t>
            </a:r>
            <a:r>
              <a:rPr lang="fr-FR" dirty="0"/>
              <a:t>.</a:t>
            </a:r>
          </a:p>
          <a:p>
            <a:pPr marL="0" indent="0">
              <a:buNone/>
            </a:pPr>
            <a:r>
              <a:rPr lang="fr-FR" dirty="0"/>
              <a:t>Panel &gt; non-</a:t>
            </a:r>
            <a:r>
              <a:rPr lang="fr-FR" dirty="0" err="1"/>
              <a:t>pooled</a:t>
            </a:r>
            <a:r>
              <a:rPr lang="fr-FR" dirty="0"/>
              <a:t> time </a:t>
            </a:r>
            <a:r>
              <a:rPr lang="fr-FR" dirty="0" err="1"/>
              <a:t>series</a:t>
            </a:r>
            <a:r>
              <a:rPr lang="fr-FR" dirty="0"/>
              <a:t>.</a:t>
            </a:r>
          </a:p>
          <a:p>
            <a:pPr marL="0" indent="0">
              <a:buNone/>
            </a:pPr>
            <a:r>
              <a:rPr lang="fr-FR" dirty="0"/>
              <a:t>(</a:t>
            </a:r>
            <a:r>
              <a:rPr lang="fr-FR" b="1" dirty="0"/>
              <a:t>y^</a:t>
            </a:r>
            <a:r>
              <a:rPr lang="fr-FR" dirty="0"/>
              <a:t>) performance: </a:t>
            </a:r>
            <a:r>
              <a:rPr lang="fr-FR" b="1" dirty="0"/>
              <a:t>out-of-</a:t>
            </a:r>
            <a:r>
              <a:rPr lang="fr-FR" b="1" dirty="0" err="1"/>
              <a:t>sample</a:t>
            </a:r>
            <a:r>
              <a:rPr lang="fr-FR" b="1" dirty="0"/>
              <a:t> (of estimation RMSE</a:t>
            </a:r>
            <a:r>
              <a:rPr lang="fr-FR" dirty="0"/>
              <a:t> of panel </a:t>
            </a:r>
            <a:r>
              <a:rPr lang="fr-FR" dirty="0" err="1"/>
              <a:t>estimators</a:t>
            </a:r>
            <a:r>
              <a:rPr lang="fr-FR" dirty="0"/>
              <a:t> </a:t>
            </a:r>
            <a:r>
              <a:rPr lang="fr-FR" dirty="0" err="1"/>
              <a:t>much</a:t>
            </a:r>
            <a:r>
              <a:rPr lang="fr-FR" dirty="0"/>
              <a:t> </a:t>
            </a:r>
            <a:r>
              <a:rPr lang="fr-FR" dirty="0" err="1"/>
              <a:t>larger</a:t>
            </a:r>
            <a:r>
              <a:rPr lang="fr-FR" dirty="0"/>
              <a:t> by </a:t>
            </a:r>
            <a:r>
              <a:rPr lang="fr-FR" dirty="0" err="1"/>
              <a:t>individuals</a:t>
            </a:r>
            <a:r>
              <a:rPr lang="fr-FR" dirty="0"/>
              <a:t> </a:t>
            </a:r>
            <a:r>
              <a:rPr lang="fr-FR" dirty="0" err="1"/>
              <a:t>because</a:t>
            </a:r>
            <a:r>
              <a:rPr lang="fr-FR" dirty="0"/>
              <a:t> of </a:t>
            </a:r>
            <a:r>
              <a:rPr lang="fr-FR" dirty="0" err="1"/>
              <a:t>constraining</a:t>
            </a:r>
            <a:r>
              <a:rPr lang="fr-FR" dirty="0"/>
              <a:t> </a:t>
            </a:r>
            <a:r>
              <a:rPr lang="fr-FR" dirty="0" err="1"/>
              <a:t>identical</a:t>
            </a:r>
            <a:r>
              <a:rPr lang="fr-FR" dirty="0"/>
              <a:t> </a:t>
            </a:r>
            <a:r>
              <a:rPr lang="fr-FR" dirty="0" err="1"/>
              <a:t>slopes</a:t>
            </a:r>
            <a:r>
              <a:rPr lang="fr-FR" dirty="0"/>
              <a:t>:</a:t>
            </a:r>
          </a:p>
          <a:p>
            <a:pPr marL="0" indent="0">
              <a:buNone/>
            </a:pPr>
            <a:r>
              <a:rPr lang="fr-FR" dirty="0"/>
              <a:t>Panel &lt; non-</a:t>
            </a:r>
            <a:r>
              <a:rPr lang="fr-FR" dirty="0" err="1"/>
              <a:t>pooled</a:t>
            </a:r>
            <a:r>
              <a:rPr lang="fr-FR" dirty="0"/>
              <a:t> Time </a:t>
            </a:r>
            <a:r>
              <a:rPr lang="fr-FR" dirty="0" err="1"/>
              <a:t>series</a:t>
            </a:r>
            <a:r>
              <a:rPr lang="fr-FR" dirty="0"/>
              <a:t>.</a:t>
            </a:r>
          </a:p>
        </p:txBody>
      </p:sp>
    </p:spTree>
    <p:extLst>
      <p:ext uri="{BB962C8B-B14F-4D97-AF65-F5344CB8AC3E}">
        <p14:creationId xmlns:p14="http://schemas.microsoft.com/office/powerpoint/2010/main" val="348533488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2. Near-</a:t>
            </a:r>
            <a:r>
              <a:rPr lang="fr-FR" dirty="0" err="1"/>
              <a:t>multicollinearity</a:t>
            </a:r>
            <a:r>
              <a:rPr lang="fr-FR" dirty="0"/>
              <a:t> </a:t>
            </a:r>
            <a:r>
              <a:rPr lang="fr-FR" dirty="0" err="1"/>
              <a:t>between</a:t>
            </a:r>
            <a:r>
              <a:rPr lang="fr-FR" dirty="0"/>
              <a:t> </a:t>
            </a:r>
            <a:r>
              <a:rPr lang="fr-FR" dirty="0" err="1"/>
              <a:t>regressors</a:t>
            </a:r>
            <a:endParaRPr lang="fr-FR" dirty="0"/>
          </a:p>
        </p:txBody>
      </p:sp>
      <p:sp>
        <p:nvSpPr>
          <p:cNvPr id="3" name="Espace réservé du contenu 2"/>
          <p:cNvSpPr>
            <a:spLocks noGrp="1"/>
          </p:cNvSpPr>
          <p:nvPr>
            <p:ph idx="1"/>
          </p:nvPr>
        </p:nvSpPr>
        <p:spPr/>
        <p:txBody>
          <a:bodyPr/>
          <a:lstStyle/>
          <a:p>
            <a:pPr marL="0" indent="0">
              <a:buNone/>
            </a:pPr>
            <a:r>
              <a:rPr lang="fr-FR" dirty="0"/>
              <a:t>(</a:t>
            </a:r>
            <a:r>
              <a:rPr lang="el-GR" b="1" dirty="0"/>
              <a:t>β</a:t>
            </a:r>
            <a:r>
              <a:rPr lang="fr-FR" b="1" dirty="0"/>
              <a:t>^</a:t>
            </a:r>
            <a:r>
              <a:rPr lang="fr-FR" dirty="0"/>
              <a:t>) magnitude </a:t>
            </a:r>
            <a:r>
              <a:rPr lang="fr-FR" dirty="0" err="1"/>
              <a:t>increase</a:t>
            </a:r>
            <a:r>
              <a:rPr lang="fr-FR" dirty="0"/>
              <a:t> </a:t>
            </a:r>
            <a:r>
              <a:rPr lang="fr-FR" dirty="0" err="1"/>
              <a:t>with</a:t>
            </a:r>
            <a:r>
              <a:rPr lang="fr-FR" dirty="0"/>
              <a:t> possible (not </a:t>
            </a:r>
            <a:r>
              <a:rPr lang="fr-FR" dirty="0" err="1"/>
              <a:t>always</a:t>
            </a:r>
            <a:r>
              <a:rPr lang="fr-FR" dirty="0"/>
              <a:t>) t-stat&gt;2</a:t>
            </a:r>
          </a:p>
          <a:p>
            <a:pPr marL="0" indent="0">
              <a:buNone/>
            </a:pPr>
            <a:endParaRPr lang="fr-FR" dirty="0"/>
          </a:p>
          <a:p>
            <a:pPr marL="0" indent="0">
              <a:buNone/>
            </a:pPr>
            <a:r>
              <a:rPr lang="fr-FR" dirty="0"/>
              <a:t>(</a:t>
            </a:r>
            <a:r>
              <a:rPr lang="fr-FR" b="1" dirty="0"/>
              <a:t>y^</a:t>
            </a:r>
            <a:r>
              <a:rPr lang="fr-FR" dirty="0"/>
              <a:t>) performance stagnant: the </a:t>
            </a:r>
            <a:r>
              <a:rPr lang="fr-FR" dirty="0" err="1"/>
              <a:t>added</a:t>
            </a:r>
            <a:r>
              <a:rPr lang="fr-FR" dirty="0"/>
              <a:t> </a:t>
            </a:r>
            <a:r>
              <a:rPr lang="fr-FR" dirty="0" err="1"/>
              <a:t>highly</a:t>
            </a:r>
            <a:r>
              <a:rPr lang="fr-FR" dirty="0"/>
              <a:t> </a:t>
            </a:r>
            <a:r>
              <a:rPr lang="fr-FR" dirty="0" err="1"/>
              <a:t>correlated</a:t>
            </a:r>
            <a:r>
              <a:rPr lang="fr-FR" dirty="0"/>
              <a:t> </a:t>
            </a:r>
            <a:r>
              <a:rPr lang="fr-FR" dirty="0" err="1"/>
              <a:t>regressor</a:t>
            </a:r>
            <a:r>
              <a:rPr lang="fr-FR" dirty="0"/>
              <a:t> </a:t>
            </a:r>
            <a:r>
              <a:rPr lang="fr-FR" dirty="0" err="1"/>
              <a:t>reduces</a:t>
            </a:r>
            <a:r>
              <a:rPr lang="fr-FR" dirty="0"/>
              <a:t> </a:t>
            </a:r>
            <a:r>
              <a:rPr lang="fr-FR" dirty="0" err="1"/>
              <a:t>marginally</a:t>
            </a:r>
            <a:r>
              <a:rPr lang="fr-FR" dirty="0"/>
              <a:t> the RMSE.</a:t>
            </a:r>
          </a:p>
        </p:txBody>
      </p:sp>
    </p:spTree>
    <p:extLst>
      <p:ext uri="{BB962C8B-B14F-4D97-AF65-F5344CB8AC3E}">
        <p14:creationId xmlns:p14="http://schemas.microsoft.com/office/powerpoint/2010/main" val="377494066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628800"/>
            <a:ext cx="9020175" cy="496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re 1"/>
          <p:cNvSpPr>
            <a:spLocks noGrp="1"/>
          </p:cNvSpPr>
          <p:nvPr>
            <p:ph type="title"/>
          </p:nvPr>
        </p:nvSpPr>
        <p:spPr>
          <a:xfrm>
            <a:off x="0" y="0"/>
            <a:ext cx="9144000" cy="1268760"/>
          </a:xfrm>
        </p:spPr>
        <p:txBody>
          <a:bodyPr>
            <a:normAutofit fontScale="90000"/>
          </a:bodyPr>
          <a:lstStyle/>
          <a:p>
            <a:r>
              <a:rPr lang="fr-FR" dirty="0"/>
              <a:t>3. </a:t>
            </a:r>
            <a:r>
              <a:rPr lang="fr-FR" dirty="0" err="1"/>
              <a:t>Boxplots</a:t>
            </a:r>
            <a:r>
              <a:rPr lang="fr-FR" dirty="0"/>
              <a:t> of </a:t>
            </a:r>
            <a:r>
              <a:rPr lang="fr-FR" dirty="0" err="1"/>
              <a:t>studentized</a:t>
            </a:r>
            <a:r>
              <a:rPr lang="fr-FR" dirty="0"/>
              <a:t> </a:t>
            </a:r>
            <a:r>
              <a:rPr lang="fr-FR" dirty="0" err="1"/>
              <a:t>residuals</a:t>
            </a:r>
            <a:r>
              <a:rPr lang="fr-FR" dirty="0"/>
              <a:t> per country (i): (i)-</a:t>
            </a:r>
            <a:r>
              <a:rPr lang="fr-FR" dirty="0" err="1"/>
              <a:t>heteroskedasticity</a:t>
            </a:r>
            <a:endParaRPr lang="fr-FR" dirty="0"/>
          </a:p>
        </p:txBody>
      </p:sp>
    </p:spTree>
    <p:extLst>
      <p:ext uri="{BB962C8B-B14F-4D97-AF65-F5344CB8AC3E}">
        <p14:creationId xmlns:p14="http://schemas.microsoft.com/office/powerpoint/2010/main" val="79233724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Boxplots</a:t>
            </a:r>
            <a:r>
              <a:rPr lang="fr-FR" dirty="0"/>
              <a:t> of </a:t>
            </a:r>
            <a:r>
              <a:rPr lang="fr-FR" dirty="0" err="1"/>
              <a:t>studentized</a:t>
            </a:r>
            <a:r>
              <a:rPr lang="fr-FR" dirty="0"/>
              <a:t> </a:t>
            </a:r>
            <a:r>
              <a:rPr lang="fr-FR" dirty="0" err="1"/>
              <a:t>residuals</a:t>
            </a:r>
            <a:r>
              <a:rPr lang="fr-FR" dirty="0"/>
              <a:t> per country (i)</a:t>
            </a:r>
          </a:p>
        </p:txBody>
      </p:sp>
      <p:sp>
        <p:nvSpPr>
          <p:cNvPr id="3" name="Espace réservé du contenu 2"/>
          <p:cNvSpPr>
            <a:spLocks noGrp="1"/>
          </p:cNvSpPr>
          <p:nvPr>
            <p:ph idx="1"/>
          </p:nvPr>
        </p:nvSpPr>
        <p:spPr/>
        <p:txBody>
          <a:bodyPr/>
          <a:lstStyle/>
          <a:p>
            <a:pPr marL="0" indent="0">
              <a:buNone/>
            </a:pPr>
            <a:r>
              <a:rPr lang="fr-FR" dirty="0"/>
              <a:t>In the </a:t>
            </a:r>
            <a:r>
              <a:rPr lang="fr-FR" dirty="0" err="1"/>
              <a:t>previous</a:t>
            </a:r>
            <a:r>
              <a:rPr lang="fr-FR" dirty="0"/>
              <a:t> graph, the </a:t>
            </a:r>
            <a:r>
              <a:rPr lang="fr-FR" dirty="0" err="1"/>
              <a:t>boxplots</a:t>
            </a:r>
            <a:r>
              <a:rPr lang="fr-FR" dirty="0"/>
              <a:t> of the distribution of </a:t>
            </a:r>
            <a:r>
              <a:rPr lang="fr-FR" dirty="0" err="1"/>
              <a:t>residuals</a:t>
            </a:r>
            <a:r>
              <a:rPr lang="fr-FR" dirty="0"/>
              <a:t> of a panel data </a:t>
            </a:r>
            <a:r>
              <a:rPr lang="fr-FR" dirty="0" err="1"/>
              <a:t>regression</a:t>
            </a:r>
            <a:r>
              <a:rPr lang="fr-FR" dirty="0"/>
              <a:t> (</a:t>
            </a:r>
            <a:r>
              <a:rPr lang="fr-FR" dirty="0" err="1"/>
              <a:t>shown</a:t>
            </a:r>
            <a:r>
              <a:rPr lang="fr-FR" dirty="0"/>
              <a:t> </a:t>
            </a:r>
            <a:r>
              <a:rPr lang="fr-FR" dirty="0" err="1"/>
              <a:t>later</a:t>
            </a:r>
            <a:r>
              <a:rPr lang="fr-FR" dirty="0"/>
              <a:t> in the slides) per country are </a:t>
            </a:r>
            <a:r>
              <a:rPr lang="fr-FR" dirty="0" err="1"/>
              <a:t>presented</a:t>
            </a:r>
            <a:r>
              <a:rPr lang="fr-FR" dirty="0"/>
              <a:t> by </a:t>
            </a:r>
            <a:r>
              <a:rPr lang="fr-FR" dirty="0" err="1"/>
              <a:t>alphabetic</a:t>
            </a:r>
            <a:r>
              <a:rPr lang="fr-FR" dirty="0"/>
              <a:t> </a:t>
            </a:r>
            <a:r>
              <a:rPr lang="fr-FR" dirty="0" err="1"/>
              <a:t>order</a:t>
            </a:r>
            <a:r>
              <a:rPr lang="fr-FR" dirty="0"/>
              <a:t> of countries. </a:t>
            </a:r>
          </a:p>
        </p:txBody>
      </p:sp>
    </p:spTree>
    <p:extLst>
      <p:ext uri="{BB962C8B-B14F-4D97-AF65-F5344CB8AC3E}">
        <p14:creationId xmlns:p14="http://schemas.microsoft.com/office/powerpoint/2010/main" val="113349376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Boxplots</a:t>
            </a:r>
            <a:r>
              <a:rPr lang="fr-FR" dirty="0"/>
              <a:t> of </a:t>
            </a:r>
            <a:r>
              <a:rPr lang="fr-FR" dirty="0" err="1"/>
              <a:t>studentized</a:t>
            </a:r>
            <a:r>
              <a:rPr lang="fr-FR" dirty="0"/>
              <a:t> </a:t>
            </a:r>
            <a:r>
              <a:rPr lang="fr-FR" dirty="0" err="1"/>
              <a:t>residuals</a:t>
            </a:r>
            <a:r>
              <a:rPr lang="fr-FR" dirty="0"/>
              <a:t> per country (i)</a:t>
            </a:r>
          </a:p>
        </p:txBody>
      </p:sp>
      <p:sp>
        <p:nvSpPr>
          <p:cNvPr id="3" name="Espace réservé du contenu 2"/>
          <p:cNvSpPr>
            <a:spLocks noGrp="1"/>
          </p:cNvSpPr>
          <p:nvPr>
            <p:ph idx="1"/>
          </p:nvPr>
        </p:nvSpPr>
        <p:spPr/>
        <p:txBody>
          <a:bodyPr/>
          <a:lstStyle/>
          <a:p>
            <a:pPr marL="0" indent="0">
              <a:buNone/>
            </a:pPr>
            <a:r>
              <a:rPr lang="fr-FR" dirty="0"/>
              <a:t>A more informative graph </a:t>
            </a:r>
            <a:r>
              <a:rPr lang="fr-FR" dirty="0" err="1"/>
              <a:t>may</a:t>
            </a:r>
            <a:r>
              <a:rPr lang="fr-FR" dirty="0"/>
              <a:t> show </a:t>
            </a:r>
            <a:r>
              <a:rPr lang="fr-FR" dirty="0" err="1"/>
              <a:t>boxplots</a:t>
            </a:r>
            <a:r>
              <a:rPr lang="fr-FR" dirty="0"/>
              <a:t> </a:t>
            </a:r>
            <a:r>
              <a:rPr lang="fr-FR" dirty="0" err="1"/>
              <a:t>ordered</a:t>
            </a:r>
            <a:r>
              <a:rPr lang="fr-FR" dirty="0"/>
              <a:t> </a:t>
            </a:r>
          </a:p>
          <a:p>
            <a:pPr marL="514350" indent="-514350">
              <a:buAutoNum type="arabicParenR"/>
            </a:pPr>
            <a:r>
              <a:rPr lang="fr-FR" dirty="0"/>
              <a:t>by the </a:t>
            </a:r>
            <a:r>
              <a:rPr lang="fr-FR" dirty="0" err="1"/>
              <a:t>median</a:t>
            </a:r>
            <a:r>
              <a:rPr lang="fr-FR" dirty="0"/>
              <a:t> (or by the </a:t>
            </a:r>
            <a:r>
              <a:rPr lang="fr-FR" dirty="0" err="1"/>
              <a:t>mean</a:t>
            </a:r>
            <a:r>
              <a:rPr lang="fr-FR" dirty="0"/>
              <a:t>) of </a:t>
            </a:r>
            <a:r>
              <a:rPr lang="fr-FR" dirty="0" err="1"/>
              <a:t>residuals</a:t>
            </a:r>
            <a:r>
              <a:rPr lang="fr-FR" dirty="0"/>
              <a:t> per country, </a:t>
            </a:r>
            <a:r>
              <a:rPr lang="fr-FR" dirty="0" err="1"/>
              <a:t>which</a:t>
            </a:r>
            <a:r>
              <a:rPr lang="fr-FR" dirty="0"/>
              <a:t> are NOT </a:t>
            </a:r>
            <a:r>
              <a:rPr lang="fr-FR" dirty="0" err="1"/>
              <a:t>equal</a:t>
            </a:r>
            <a:r>
              <a:rPr lang="fr-FR" dirty="0"/>
              <a:t> to </a:t>
            </a:r>
            <a:r>
              <a:rPr lang="fr-FR" dirty="0" err="1"/>
              <a:t>zero</a:t>
            </a:r>
            <a:r>
              <a:rPr lang="fr-FR" dirty="0"/>
              <a:t> per country. </a:t>
            </a:r>
          </a:p>
          <a:p>
            <a:pPr marL="514350" indent="-514350">
              <a:buAutoNum type="arabicParenR"/>
            </a:pPr>
            <a:r>
              <a:rPr lang="fr-FR" dirty="0"/>
              <a:t>Or by </a:t>
            </a:r>
            <a:r>
              <a:rPr lang="fr-FR" dirty="0" err="1"/>
              <a:t>their</a:t>
            </a:r>
            <a:r>
              <a:rPr lang="fr-FR" dirty="0"/>
              <a:t> standard </a:t>
            </a:r>
            <a:r>
              <a:rPr lang="fr-FR" dirty="0" err="1"/>
              <a:t>errors</a:t>
            </a:r>
            <a:r>
              <a:rPr lang="fr-FR" dirty="0"/>
              <a:t>.</a:t>
            </a:r>
          </a:p>
          <a:p>
            <a:pPr marL="0" indent="0">
              <a:buNone/>
            </a:pPr>
            <a:r>
              <a:rPr lang="fr-FR" dirty="0"/>
              <a:t>The </a:t>
            </a:r>
            <a:r>
              <a:rPr lang="fr-FR" dirty="0" err="1"/>
              <a:t>mean</a:t>
            </a:r>
            <a:r>
              <a:rPr lang="fr-FR" dirty="0"/>
              <a:t> of </a:t>
            </a:r>
            <a:r>
              <a:rPr lang="fr-FR" dirty="0" err="1"/>
              <a:t>residuals</a:t>
            </a:r>
            <a:r>
              <a:rPr lang="fr-FR" dirty="0"/>
              <a:t> </a:t>
            </a:r>
            <a:r>
              <a:rPr lang="fr-FR" dirty="0" err="1"/>
              <a:t>is</a:t>
            </a:r>
            <a:r>
              <a:rPr lang="fr-FR" dirty="0"/>
              <a:t> </a:t>
            </a:r>
            <a:r>
              <a:rPr lang="fr-FR" dirty="0" err="1"/>
              <a:t>only</a:t>
            </a:r>
            <a:r>
              <a:rPr lang="fr-FR" dirty="0"/>
              <a:t> </a:t>
            </a:r>
            <a:r>
              <a:rPr lang="fr-FR" dirty="0" err="1"/>
              <a:t>equal</a:t>
            </a:r>
            <a:r>
              <a:rPr lang="fr-FR" dirty="0"/>
              <a:t> to </a:t>
            </a:r>
            <a:r>
              <a:rPr lang="fr-FR" dirty="0" err="1"/>
              <a:t>zero</a:t>
            </a:r>
            <a:r>
              <a:rPr lang="fr-FR" dirty="0"/>
              <a:t> for ALL countries.</a:t>
            </a:r>
          </a:p>
        </p:txBody>
      </p:sp>
    </p:spTree>
    <p:extLst>
      <p:ext uri="{BB962C8B-B14F-4D97-AF65-F5344CB8AC3E}">
        <p14:creationId xmlns:p14="http://schemas.microsoft.com/office/powerpoint/2010/main" val="330097538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ormAutofit fontScale="90000"/>
          </a:bodyPr>
          <a:lstStyle/>
          <a:p>
            <a:r>
              <a:rPr lang="fr-FR" dirty="0"/>
              <a:t>3. </a:t>
            </a:r>
            <a:r>
              <a:rPr lang="fr-FR" dirty="0" err="1"/>
              <a:t>Yule</a:t>
            </a:r>
            <a:r>
              <a:rPr lang="fr-FR" dirty="0"/>
              <a:t> (1907), Frisch Waugh (1933) Lovell (1964) </a:t>
            </a:r>
            <a:r>
              <a:rPr lang="fr-FR" dirty="0" err="1"/>
              <a:t>theorem</a:t>
            </a:r>
            <a:br>
              <a:rPr lang="fr-FR" dirty="0"/>
            </a:br>
            <a:r>
              <a:rPr lang="fr-FR" dirty="0"/>
              <a:t>(</a:t>
            </a:r>
            <a:r>
              <a:rPr lang="fr-FR" dirty="0" err="1"/>
              <a:t>see</a:t>
            </a:r>
            <a:r>
              <a:rPr lang="fr-FR" dirty="0"/>
              <a:t> </a:t>
            </a:r>
            <a:r>
              <a:rPr lang="fr-FR" dirty="0" err="1"/>
              <a:t>exercise</a:t>
            </a:r>
            <a:r>
              <a:rPr lang="fr-FR" dirty="0"/>
              <a:t>).</a:t>
            </a:r>
          </a:p>
        </p:txBody>
      </p:sp>
    </p:spTree>
    <p:extLst>
      <p:ext uri="{BB962C8B-B14F-4D97-AF65-F5344CB8AC3E}">
        <p14:creationId xmlns:p14="http://schemas.microsoft.com/office/powerpoint/2010/main" val="425937143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en-GB" sz="2400" b="1" dirty="0"/>
              <a:t>Partial correlation</a:t>
            </a:r>
            <a:r>
              <a:rPr lang="en-GB" sz="2400" dirty="0"/>
              <a:t> measures the degree (strength) of association between two random variables y and x, with the effect of a set of controlling random variables Z removed. </a:t>
            </a:r>
          </a:p>
        </p:txBody>
      </p:sp>
      <p:sp>
        <p:nvSpPr>
          <p:cNvPr id="3" name="Espace réservé du contenu 2"/>
          <p:cNvSpPr>
            <a:spLocks noGrp="1"/>
          </p:cNvSpPr>
          <p:nvPr>
            <p:ph idx="1"/>
          </p:nvPr>
        </p:nvSpPr>
        <p:spPr/>
        <p:txBody>
          <a:bodyPr>
            <a:normAutofit/>
          </a:bodyPr>
          <a:lstStyle/>
          <a:p>
            <a:pPr marL="0" indent="0" algn="just">
              <a:buNone/>
            </a:pPr>
            <a:r>
              <a:rPr lang="en-US" dirty="0">
                <a:latin typeface="Cambria Math" panose="02040503050406030204" pitchFamily="18" charset="0"/>
                <a:ea typeface="Cambria Math" panose="02040503050406030204" pitchFamily="18" charset="0"/>
              </a:rPr>
              <a:t>The simple correlation coefficient is r(</a:t>
            </a:r>
            <a:r>
              <a:rPr lang="en-US" dirty="0" err="1">
                <a:latin typeface="Cambria Math" panose="02040503050406030204" pitchFamily="18" charset="0"/>
                <a:ea typeface="Cambria Math" panose="02040503050406030204" pitchFamily="18" charset="0"/>
              </a:rPr>
              <a:t>x,y</a:t>
            </a:r>
            <a:r>
              <a:rPr lang="en-US" dirty="0">
                <a:latin typeface="Cambria Math" panose="02040503050406030204" pitchFamily="18" charset="0"/>
                <a:ea typeface="Cambria Math" panose="02040503050406030204" pitchFamily="18" charset="0"/>
              </a:rPr>
              <a:t>).</a:t>
            </a:r>
            <a:endParaRPr lang="en-US" dirty="0"/>
          </a:p>
          <a:p>
            <a:pPr marL="0" indent="0" algn="just">
              <a:buNone/>
            </a:pPr>
            <a:r>
              <a:rPr lang="en-US" dirty="0"/>
              <a:t>Partial correlation is : r(y, x | Z)=r(y-Z</a:t>
            </a:r>
            <a:r>
              <a:rPr lang="el-GR" dirty="0">
                <a:latin typeface="Cambria Math"/>
                <a:ea typeface="Cambria Math"/>
              </a:rPr>
              <a:t>γ</a:t>
            </a:r>
            <a:r>
              <a:rPr lang="fr-FR" dirty="0">
                <a:latin typeface="Cambria Math"/>
                <a:ea typeface="Cambria Math"/>
              </a:rPr>
              <a:t>’</a:t>
            </a:r>
            <a:r>
              <a:rPr lang="en-US" dirty="0">
                <a:latin typeface="Cambria Math" panose="02040503050406030204" pitchFamily="18" charset="0"/>
                <a:ea typeface="Cambria Math" panose="02040503050406030204" pitchFamily="18" charset="0"/>
              </a:rPr>
              <a:t>, x-Z</a:t>
            </a:r>
            <a:r>
              <a:rPr lang="el-GR" dirty="0">
                <a:latin typeface="Cambria Math"/>
                <a:ea typeface="Cambria Math"/>
              </a:rPr>
              <a:t>γ</a:t>
            </a:r>
            <a:r>
              <a:rPr lang="fr-FR" dirty="0">
                <a:latin typeface="Cambria Math"/>
                <a:ea typeface="Cambria Math"/>
              </a:rPr>
              <a:t>’’</a:t>
            </a:r>
            <a:r>
              <a:rPr lang="en-US" dirty="0">
                <a:latin typeface="Cambria Math" panose="02040503050406030204" pitchFamily="18" charset="0"/>
                <a:ea typeface="Cambria Math" panose="02040503050406030204" pitchFamily="18" charset="0"/>
              </a:rPr>
              <a:t>)</a:t>
            </a:r>
          </a:p>
          <a:p>
            <a:pPr marL="0" indent="0" algn="just">
              <a:buNone/>
            </a:pPr>
            <a:r>
              <a:rPr lang="en-US" dirty="0"/>
              <a:t>y-Z</a:t>
            </a:r>
            <a:r>
              <a:rPr lang="el-GR" dirty="0">
                <a:latin typeface="Cambria Math"/>
                <a:ea typeface="Cambria Math"/>
              </a:rPr>
              <a:t>γ</a:t>
            </a:r>
            <a:r>
              <a:rPr lang="fr-FR" dirty="0">
                <a:latin typeface="Cambria Math"/>
                <a:ea typeface="Cambria Math"/>
              </a:rPr>
              <a:t>’ </a:t>
            </a:r>
            <a:r>
              <a:rPr lang="en-US" dirty="0">
                <a:latin typeface="Cambria Math" panose="02040503050406030204" pitchFamily="18" charset="0"/>
                <a:ea typeface="Cambria Math" panose="02040503050406030204" pitchFamily="18" charset="0"/>
              </a:rPr>
              <a:t> are the residuals of the auxiliary regression of the dependent variable y on the (k-1) other explanatory variables stacked in Z.</a:t>
            </a:r>
          </a:p>
          <a:p>
            <a:pPr marL="0" indent="0" algn="just">
              <a:buNone/>
            </a:pPr>
            <a:r>
              <a:rPr lang="en-US" dirty="0">
                <a:latin typeface="Cambria Math" panose="02040503050406030204" pitchFamily="18" charset="0"/>
                <a:ea typeface="Cambria Math" panose="02040503050406030204" pitchFamily="18" charset="0"/>
              </a:rPr>
              <a:t>x-Z</a:t>
            </a:r>
            <a:r>
              <a:rPr lang="el-GR" dirty="0">
                <a:latin typeface="Cambria Math"/>
                <a:ea typeface="Cambria Math"/>
              </a:rPr>
              <a:t>γ</a:t>
            </a:r>
            <a:r>
              <a:rPr lang="fr-FR" dirty="0">
                <a:latin typeface="Cambria Math"/>
                <a:ea typeface="Cambria Math"/>
              </a:rPr>
              <a:t>’’ </a:t>
            </a:r>
            <a:r>
              <a:rPr lang="en-US" dirty="0">
                <a:latin typeface="Cambria Math" panose="02040503050406030204" pitchFamily="18" charset="0"/>
                <a:ea typeface="Cambria Math" panose="02040503050406030204" pitchFamily="18" charset="0"/>
              </a:rPr>
              <a:t> are the residuals of the auxiliary  regression of the explanatory variable x on the (k-1) other explanatory variables stacked in Z.</a:t>
            </a:r>
            <a:endParaRPr lang="en-US" dirty="0"/>
          </a:p>
        </p:txBody>
      </p:sp>
    </p:spTree>
    <p:extLst>
      <p:ext uri="{BB962C8B-B14F-4D97-AF65-F5344CB8AC3E}">
        <p14:creationId xmlns:p14="http://schemas.microsoft.com/office/powerpoint/2010/main" val="277429699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en-US" dirty="0"/>
              <a:t>Student’s t-stat depends on partial correlation and degrees of freedom</a:t>
            </a:r>
          </a:p>
        </p:txBody>
      </p:sp>
      <p:sp>
        <p:nvSpPr>
          <p:cNvPr id="5" name="Espace réservé du contenu 4"/>
          <p:cNvSpPr>
            <a:spLocks noGrp="1"/>
          </p:cNvSpPr>
          <p:nvPr>
            <p:ph idx="1"/>
          </p:nvPr>
        </p:nvSpPr>
        <p:spPr/>
        <p:txBody>
          <a:bodyPr>
            <a:normAutofit fontScale="92500"/>
          </a:bodyPr>
          <a:lstStyle/>
          <a:p>
            <a:pPr marL="0" indent="0" algn="just">
              <a:buNone/>
            </a:pPr>
            <a:r>
              <a:rPr lang="en-US" dirty="0"/>
              <a:t>For multiple regression (k&gt;1 explanatory variables, including x and other (k-1) explanatory variables stacked in Z) : </a:t>
            </a:r>
          </a:p>
          <a:p>
            <a:pPr marL="0" indent="0" algn="just">
              <a:buNone/>
            </a:pPr>
            <a:r>
              <a:rPr lang="en-US" dirty="0" err="1"/>
              <a:t>r</a:t>
            </a:r>
            <a:r>
              <a:rPr lang="en-US" baseline="-25000" dirty="0" err="1"/>
              <a:t>y,x</a:t>
            </a:r>
            <a:r>
              <a:rPr lang="en-US" baseline="-25000" dirty="0"/>
              <a:t> | Z </a:t>
            </a:r>
            <a:r>
              <a:rPr lang="en-US" dirty="0"/>
              <a:t>= r(y, x | Z)=r(y-Z</a:t>
            </a:r>
            <a:r>
              <a:rPr lang="el-GR" dirty="0">
                <a:latin typeface="Cambria Math"/>
                <a:ea typeface="Cambria Math"/>
              </a:rPr>
              <a:t>γ</a:t>
            </a:r>
            <a:r>
              <a:rPr lang="fr-FR" dirty="0">
                <a:latin typeface="Cambria Math"/>
                <a:ea typeface="Cambria Math"/>
              </a:rPr>
              <a:t>’</a:t>
            </a:r>
            <a:r>
              <a:rPr lang="en-US" dirty="0">
                <a:latin typeface="Cambria Math" panose="02040503050406030204" pitchFamily="18" charset="0"/>
                <a:ea typeface="Cambria Math" panose="02040503050406030204" pitchFamily="18" charset="0"/>
              </a:rPr>
              <a:t>, x-Z</a:t>
            </a:r>
            <a:r>
              <a:rPr lang="el-GR" dirty="0">
                <a:latin typeface="Cambria Math"/>
                <a:ea typeface="Cambria Math"/>
              </a:rPr>
              <a:t>γ</a:t>
            </a:r>
            <a:r>
              <a:rPr lang="fr-FR" dirty="0">
                <a:latin typeface="Cambria Math"/>
                <a:ea typeface="Cambria Math"/>
              </a:rPr>
              <a:t>’’</a:t>
            </a:r>
            <a:r>
              <a:rPr lang="en-US" dirty="0">
                <a:latin typeface="Cambria Math" panose="02040503050406030204" pitchFamily="18" charset="0"/>
                <a:ea typeface="Cambria Math" panose="02040503050406030204" pitchFamily="18" charset="0"/>
              </a:rPr>
              <a:t>)</a:t>
            </a:r>
            <a:endParaRPr lang="en-US" b="1" dirty="0"/>
          </a:p>
          <a:p>
            <a:pPr marL="0" indent="0" algn="just">
              <a:buNone/>
            </a:pPr>
            <a:r>
              <a:rPr lang="en-US" dirty="0"/>
              <a:t>Partial (conditional) correlation coefficient. Degrees of freedom are </a:t>
            </a:r>
            <a:r>
              <a:rPr lang="en-US" b="1" dirty="0"/>
              <a:t>N-k-1</a:t>
            </a:r>
            <a:r>
              <a:rPr lang="en-US" dirty="0"/>
              <a:t>.</a:t>
            </a:r>
          </a:p>
          <a:p>
            <a:pPr marL="0" indent="0" algn="just">
              <a:buNone/>
            </a:pPr>
            <a:r>
              <a:rPr lang="pt-BR" dirty="0">
                <a:latin typeface="Cambria Math" panose="02040503050406030204" pitchFamily="18" charset="0"/>
                <a:ea typeface="Cambria Math" panose="02040503050406030204" pitchFamily="18" charset="0"/>
              </a:rPr>
              <a:t>⇒ </a:t>
            </a:r>
            <a:r>
              <a:rPr lang="en-US" dirty="0"/>
              <a:t>For simple regression (k=1, only one explanatory variable x, Z=0): simple correlation coefficient </a:t>
            </a:r>
            <a:r>
              <a:rPr lang="en-US" b="1" dirty="0"/>
              <a:t>r(</a:t>
            </a:r>
            <a:r>
              <a:rPr lang="en-US" b="1" dirty="0" err="1"/>
              <a:t>x,y</a:t>
            </a:r>
            <a:r>
              <a:rPr lang="en-US" b="1" dirty="0"/>
              <a:t>)</a:t>
            </a:r>
            <a:r>
              <a:rPr lang="en-US" dirty="0"/>
              <a:t>, degrees of freedom </a:t>
            </a:r>
            <a:r>
              <a:rPr lang="en-US" b="1" dirty="0"/>
              <a:t>N-k-1=N-2.</a:t>
            </a:r>
          </a:p>
          <a:p>
            <a:pPr marL="0" indent="0" algn="just">
              <a:buNone/>
            </a:pPr>
            <a:endParaRPr lang="fr-FR" dirty="0"/>
          </a:p>
        </p:txBody>
      </p:sp>
    </p:spTree>
    <p:extLst>
      <p:ext uri="{BB962C8B-B14F-4D97-AF65-F5344CB8AC3E}">
        <p14:creationId xmlns:p14="http://schemas.microsoft.com/office/powerpoint/2010/main" val="230531955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en-GB" sz="2400" dirty="0"/>
              <a:t>Simple = partial correlation for orthogonal (zero covariance) explanatory variables, for example, in a regression on the principal components of explanatory variables</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53121" y="1600200"/>
            <a:ext cx="3837757"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515833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sz="2800" dirty="0"/>
              <a:t>Example where simple </a:t>
            </a:r>
            <a:r>
              <a:rPr lang="fr-FR" sz="2800" dirty="0">
                <a:latin typeface="Cambria Math" panose="02040503050406030204" pitchFamily="18" charset="0"/>
                <a:ea typeface="Cambria Math" panose="02040503050406030204" pitchFamily="18" charset="0"/>
                <a:cs typeface="Times New Roman"/>
                <a:sym typeface="Symbol"/>
              </a:rPr>
              <a:t>≠ partial </a:t>
            </a:r>
            <a:r>
              <a:rPr lang="fr-FR" sz="2800" dirty="0" err="1">
                <a:latin typeface="Cambria Math" panose="02040503050406030204" pitchFamily="18" charset="0"/>
                <a:ea typeface="Cambria Math" panose="02040503050406030204" pitchFamily="18" charset="0"/>
                <a:cs typeface="Times New Roman"/>
                <a:sym typeface="Symbol"/>
              </a:rPr>
              <a:t>correlations</a:t>
            </a:r>
            <a:r>
              <a:rPr lang="fr-FR" sz="2800" dirty="0">
                <a:latin typeface="Cambria Math" panose="02040503050406030204" pitchFamily="18" charset="0"/>
                <a:ea typeface="Cambria Math" panose="02040503050406030204" pitchFamily="18" charset="0"/>
                <a:cs typeface="Times New Roman"/>
                <a:sym typeface="Symbol"/>
              </a:rPr>
              <a:t> (PCC) for non-orthogonal </a:t>
            </a:r>
            <a:r>
              <a:rPr lang="fr-FR" sz="2800" dirty="0" err="1">
                <a:latin typeface="Cambria Math" panose="02040503050406030204" pitchFamily="18" charset="0"/>
                <a:ea typeface="Cambria Math" panose="02040503050406030204" pitchFamily="18" charset="0"/>
                <a:cs typeface="Times New Roman"/>
                <a:sym typeface="Symbol"/>
              </a:rPr>
              <a:t>regressors</a:t>
            </a:r>
            <a:r>
              <a:rPr lang="fr-FR" sz="2800" dirty="0">
                <a:latin typeface="Cambria Math" panose="02040503050406030204" pitchFamily="18" charset="0"/>
                <a:ea typeface="Cambria Math" panose="02040503050406030204" pitchFamily="18" charset="0"/>
                <a:cs typeface="Times New Roman"/>
                <a:sym typeface="Symbol"/>
              </a:rPr>
              <a:t>. PCC </a:t>
            </a:r>
            <a:r>
              <a:rPr lang="fr-FR" sz="2800" dirty="0" err="1">
                <a:latin typeface="Cambria Math" panose="02040503050406030204" pitchFamily="18" charset="0"/>
                <a:ea typeface="Cambria Math" panose="02040503050406030204" pitchFamily="18" charset="0"/>
                <a:cs typeface="Times New Roman"/>
                <a:sym typeface="Symbol"/>
              </a:rPr>
              <a:t>is</a:t>
            </a:r>
            <a:r>
              <a:rPr lang="fr-FR" sz="2800" dirty="0">
                <a:latin typeface="Cambria Math" panose="02040503050406030204" pitchFamily="18" charset="0"/>
                <a:ea typeface="Cambria Math" panose="02040503050406030204" pitchFamily="18" charset="0"/>
                <a:cs typeface="Times New Roman"/>
                <a:sym typeface="Symbol"/>
              </a:rPr>
              <a:t> OK if no high </a:t>
            </a:r>
            <a:r>
              <a:rPr lang="fr-FR" sz="2800" dirty="0" err="1">
                <a:latin typeface="Cambria Math" panose="02040503050406030204" pitchFamily="18" charset="0"/>
                <a:ea typeface="Cambria Math" panose="02040503050406030204" pitchFamily="18" charset="0"/>
                <a:cs typeface="Times New Roman"/>
                <a:sym typeface="Symbol"/>
              </a:rPr>
              <a:t>correlation</a:t>
            </a:r>
            <a:r>
              <a:rPr lang="fr-FR" sz="2800" dirty="0">
                <a:latin typeface="Cambria Math" panose="02040503050406030204" pitchFamily="18" charset="0"/>
                <a:ea typeface="Cambria Math" panose="02040503050406030204" pitchFamily="18" charset="0"/>
                <a:cs typeface="Times New Roman"/>
                <a:sym typeface="Symbol"/>
              </a:rPr>
              <a:t> </a:t>
            </a:r>
            <a:r>
              <a:rPr lang="fr-FR" sz="2800" dirty="0" err="1">
                <a:latin typeface="Cambria Math" panose="02040503050406030204" pitchFamily="18" charset="0"/>
                <a:ea typeface="Cambria Math" panose="02040503050406030204" pitchFamily="18" charset="0"/>
                <a:cs typeface="Times New Roman"/>
                <a:sym typeface="Symbol"/>
              </a:rPr>
              <a:t>among</a:t>
            </a:r>
            <a:r>
              <a:rPr lang="fr-FR" sz="2800" dirty="0">
                <a:latin typeface="Cambria Math" panose="02040503050406030204" pitchFamily="18" charset="0"/>
                <a:ea typeface="Cambria Math" panose="02040503050406030204" pitchFamily="18" charset="0"/>
                <a:cs typeface="Times New Roman"/>
                <a:sym typeface="Symbol"/>
              </a:rPr>
              <a:t> </a:t>
            </a:r>
            <a:r>
              <a:rPr lang="fr-FR" sz="2800" dirty="0" err="1">
                <a:latin typeface="Cambria Math" panose="02040503050406030204" pitchFamily="18" charset="0"/>
                <a:ea typeface="Cambria Math" panose="02040503050406030204" pitchFamily="18" charset="0"/>
                <a:cs typeface="Times New Roman"/>
                <a:sym typeface="Symbol"/>
              </a:rPr>
              <a:t>explanatory</a:t>
            </a:r>
            <a:r>
              <a:rPr lang="fr-FR" sz="2800" dirty="0">
                <a:latin typeface="Cambria Math" panose="02040503050406030204" pitchFamily="18" charset="0"/>
                <a:ea typeface="Cambria Math" panose="02040503050406030204" pitchFamily="18" charset="0"/>
                <a:cs typeface="Times New Roman"/>
                <a:sym typeface="Symbol"/>
              </a:rPr>
              <a:t> variables</a:t>
            </a:r>
            <a:endParaRPr lang="en-GB" sz="28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628800"/>
            <a:ext cx="7627937"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988748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sz="2800" dirty="0"/>
              <a:t>For N=3 observations, the partial correlation coefficient is the cosine of the angle </a:t>
            </a:r>
            <a:r>
              <a:rPr lang="el-GR" sz="2800" dirty="0">
                <a:latin typeface="Cambria Math" panose="02040503050406030204" pitchFamily="18" charset="0"/>
                <a:ea typeface="Cambria Math" panose="02040503050406030204" pitchFamily="18" charset="0"/>
              </a:rPr>
              <a:t>φ</a:t>
            </a:r>
            <a:r>
              <a:rPr lang="fr-FR" sz="2800" dirty="0">
                <a:latin typeface="Cambria Math" panose="02040503050406030204" pitchFamily="18" charset="0"/>
                <a:ea typeface="Cambria Math" panose="02040503050406030204" pitchFamily="18" charset="0"/>
              </a:rPr>
              <a:t> of the </a:t>
            </a:r>
            <a:r>
              <a:rPr lang="fr-FR" sz="2800" dirty="0" err="1">
                <a:latin typeface="Cambria Math" panose="02040503050406030204" pitchFamily="18" charset="0"/>
                <a:ea typeface="Cambria Math" panose="02040503050406030204" pitchFamily="18" charset="0"/>
              </a:rPr>
              <a:t>residuals</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r</a:t>
            </a:r>
            <a:r>
              <a:rPr lang="fr-FR" sz="2800" baseline="-25000" dirty="0" err="1">
                <a:latin typeface="Cambria Math" panose="02040503050406030204" pitchFamily="18" charset="0"/>
                <a:ea typeface="Cambria Math" panose="02040503050406030204" pitchFamily="18" charset="0"/>
              </a:rPr>
              <a:t>x</a:t>
            </a:r>
            <a:r>
              <a:rPr lang="fr-FR" sz="2800" dirty="0">
                <a:latin typeface="Cambria Math" panose="02040503050406030204" pitchFamily="18" charset="0"/>
                <a:ea typeface="Cambria Math" panose="02040503050406030204" pitchFamily="18" charset="0"/>
              </a:rPr>
              <a:t> and </a:t>
            </a:r>
            <a:r>
              <a:rPr lang="fr-FR" sz="2800" dirty="0" err="1">
                <a:latin typeface="Cambria Math" panose="02040503050406030204" pitchFamily="18" charset="0"/>
                <a:ea typeface="Cambria Math" panose="02040503050406030204" pitchFamily="18" charset="0"/>
              </a:rPr>
              <a:t>r</a:t>
            </a:r>
            <a:r>
              <a:rPr lang="fr-FR" sz="2800" baseline="-25000" dirty="0" err="1">
                <a:latin typeface="Cambria Math" panose="02040503050406030204" pitchFamily="18" charset="0"/>
                <a:ea typeface="Cambria Math" panose="02040503050406030204" pitchFamily="18" charset="0"/>
              </a:rPr>
              <a:t>y</a:t>
            </a:r>
            <a:r>
              <a:rPr lang="fr-FR" sz="2800" dirty="0">
                <a:latin typeface="Cambria Math" panose="02040503050406030204" pitchFamily="18" charset="0"/>
                <a:ea typeface="Cambria Math" panose="02040503050406030204" pitchFamily="18" charset="0"/>
              </a:rPr>
              <a:t> in a plane orthogonal z</a:t>
            </a:r>
            <a:r>
              <a:rPr lang="el-GR" sz="2400" baseline="30000" dirty="0">
                <a:latin typeface="Cambria Math"/>
                <a:ea typeface="Cambria Math"/>
              </a:rPr>
              <a:t>⊥</a:t>
            </a:r>
            <a:r>
              <a:rPr lang="fr-FR" sz="2800" dirty="0">
                <a:latin typeface="Cambria Math" panose="02040503050406030204" pitchFamily="18" charset="0"/>
                <a:ea typeface="Cambria Math" panose="02040503050406030204" pitchFamily="18" charset="0"/>
              </a:rPr>
              <a:t>=</a:t>
            </a:r>
            <a:r>
              <a:rPr lang="fr-FR" sz="2800" dirty="0" err="1">
                <a:latin typeface="Cambria Math" panose="02040503050406030204" pitchFamily="18" charset="0"/>
                <a:ea typeface="Cambria Math" panose="02040503050406030204" pitchFamily="18" charset="0"/>
              </a:rPr>
              <a:t>S</a:t>
            </a:r>
            <a:r>
              <a:rPr lang="fr-FR" sz="2800" baseline="-25000" dirty="0" err="1">
                <a:latin typeface="Cambria Math" panose="02040503050406030204" pitchFamily="18" charset="0"/>
                <a:ea typeface="Cambria Math" panose="02040503050406030204" pitchFamily="18" charset="0"/>
              </a:rPr>
              <a:t>z</a:t>
            </a:r>
            <a:r>
              <a:rPr lang="fr-FR" sz="2800" dirty="0">
                <a:latin typeface="Cambria Math" panose="02040503050406030204" pitchFamily="18" charset="0"/>
                <a:ea typeface="Cambria Math" panose="02040503050406030204" pitchFamily="18" charset="0"/>
              </a:rPr>
              <a:t> to the </a:t>
            </a:r>
            <a:r>
              <a:rPr lang="fr-FR" sz="2800" dirty="0" err="1">
                <a:latin typeface="Cambria Math" panose="02040503050406030204" pitchFamily="18" charset="0"/>
                <a:ea typeface="Cambria Math" panose="02040503050406030204" pitchFamily="18" charset="0"/>
              </a:rPr>
              <a:t>vector</a:t>
            </a:r>
            <a:r>
              <a:rPr lang="fr-FR" sz="2800" dirty="0">
                <a:latin typeface="Cambria Math" panose="02040503050406030204" pitchFamily="18" charset="0"/>
                <a:ea typeface="Cambria Math" panose="02040503050406030204" pitchFamily="18" charset="0"/>
              </a:rPr>
              <a:t> z.</a:t>
            </a:r>
            <a:endParaRPr lang="en-GB" sz="2800"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6848" y="1600200"/>
            <a:ext cx="5030303"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633486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GB" sz="3200" dirty="0"/>
              <a:t>A partial correlation coefficient is a function of t statistic and of the degrees of freedom</a:t>
            </a:r>
          </a:p>
        </p:txBody>
      </p:sp>
      <p:sp>
        <p:nvSpPr>
          <p:cNvPr id="3" name="Espace réservé du contenu 2"/>
          <p:cNvSpPr>
            <a:spLocks noGrp="1"/>
          </p:cNvSpPr>
          <p:nvPr>
            <p:ph idx="1"/>
          </p:nvPr>
        </p:nvSpPr>
        <p:spPr/>
        <p:txBody>
          <a:bodyPr/>
          <a:lstStyle/>
          <a:p>
            <a:pPr marL="0" indent="0">
              <a:buNone/>
            </a:pPr>
            <a:r>
              <a:rPr lang="en-US" dirty="0" err="1">
                <a:latin typeface="Cambria Math" panose="02040503050406030204" pitchFamily="18" charset="0"/>
                <a:ea typeface="Cambria Math" panose="02040503050406030204" pitchFamily="18" charset="0"/>
              </a:rPr>
              <a:t>Dof</a:t>
            </a:r>
            <a:r>
              <a:rPr lang="en-US" dirty="0">
                <a:latin typeface="Cambria Math" panose="02040503050406030204" pitchFamily="18" charset="0"/>
                <a:ea typeface="Cambria Math" panose="02040503050406030204" pitchFamily="18" charset="0"/>
              </a:rPr>
              <a:t> = N-k-1</a:t>
            </a:r>
            <a:r>
              <a:rPr lang="el-GR" dirty="0">
                <a:latin typeface="Cambria Math" panose="02040503050406030204" pitchFamily="18" charset="0"/>
                <a:ea typeface="Cambria Math" panose="02040503050406030204" pitchFamily="18" charset="0"/>
                <a:cs typeface="Calibri"/>
              </a:rPr>
              <a:t>≥</a:t>
            </a:r>
            <a:r>
              <a:rPr lang="fr-FR" dirty="0">
                <a:latin typeface="Cambria Math" panose="02040503050406030204" pitchFamily="18" charset="0"/>
                <a:ea typeface="Cambria Math" panose="02040503050406030204" pitchFamily="18" charset="0"/>
                <a:cs typeface="Calibri"/>
              </a:rPr>
              <a:t>1</a:t>
            </a:r>
            <a:r>
              <a:rPr lang="en-US" dirty="0">
                <a:latin typeface="Cambria Math" panose="02040503050406030204" pitchFamily="18" charset="0"/>
                <a:ea typeface="Cambria Math" panose="02040503050406030204" pitchFamily="18" charset="0"/>
              </a:rPr>
              <a:t> with 1 for the intercept, k for the other explanatory variables and N for the number of observations. Denote r</a:t>
            </a:r>
            <a:r>
              <a:rPr lang="fr-FR" dirty="0">
                <a:latin typeface="Cambria Math" panose="02040503050406030204" pitchFamily="18" charset="0"/>
                <a:ea typeface="Cambria Math" panose="02040503050406030204" pitchFamily="18" charset="0"/>
                <a:cs typeface="Times New Roman"/>
                <a:sym typeface="Symbol"/>
              </a:rPr>
              <a:t>≠1 the partial </a:t>
            </a:r>
            <a:r>
              <a:rPr lang="fr-FR" dirty="0" err="1">
                <a:latin typeface="Cambria Math" panose="02040503050406030204" pitchFamily="18" charset="0"/>
                <a:ea typeface="Cambria Math" panose="02040503050406030204" pitchFamily="18" charset="0"/>
                <a:cs typeface="Times New Roman"/>
                <a:sym typeface="Symbol"/>
              </a:rPr>
              <a:t>correlation</a:t>
            </a:r>
            <a:r>
              <a:rPr lang="fr-FR" dirty="0">
                <a:latin typeface="Cambria Math" panose="02040503050406030204" pitchFamily="18" charset="0"/>
                <a:ea typeface="Cambria Math" panose="02040503050406030204" pitchFamily="18" charset="0"/>
                <a:cs typeface="Times New Roman"/>
                <a:sym typeface="Symbol"/>
              </a:rPr>
              <a:t> coefficient. </a:t>
            </a:r>
            <a:r>
              <a:rPr lang="en-US" dirty="0">
                <a:latin typeface="Cambria Math" panose="02040503050406030204" pitchFamily="18" charset="0"/>
                <a:ea typeface="Cambria Math" panose="02040503050406030204" pitchFamily="18" charset="0"/>
              </a:rPr>
              <a:t>Inversion of the function, with sign(t)=sign(r):</a:t>
            </a:r>
          </a:p>
          <a:p>
            <a:pPr marL="0" indent="0">
              <a:buNone/>
            </a:pPr>
            <a:r>
              <a:rPr lang="en-US" dirty="0">
                <a:latin typeface="Cambria Math" panose="02040503050406030204" pitchFamily="18" charset="0"/>
                <a:ea typeface="Cambria Math" panose="02040503050406030204" pitchFamily="18" charset="0"/>
              </a:rPr>
              <a:t>t = </a:t>
            </a:r>
            <a:r>
              <a:rPr lang="en-US" dirty="0"/>
              <a:t>r. </a:t>
            </a:r>
            <a:r>
              <a:rPr lang="en-US" dirty="0" err="1"/>
              <a:t>sqrt</a:t>
            </a:r>
            <a:r>
              <a:rPr lang="en-US" dirty="0"/>
              <a:t>(</a:t>
            </a:r>
            <a:r>
              <a:rPr lang="en-US" dirty="0" err="1"/>
              <a:t>dof</a:t>
            </a:r>
            <a:r>
              <a:rPr lang="en-US" dirty="0"/>
              <a:t>)/ </a:t>
            </a:r>
            <a:r>
              <a:rPr lang="en-US" dirty="0" err="1"/>
              <a:t>sqrt</a:t>
            </a:r>
            <a:r>
              <a:rPr lang="en-US" dirty="0"/>
              <a:t> (1- r</a:t>
            </a:r>
            <a:r>
              <a:rPr lang="en-US" baseline="30000" dirty="0"/>
              <a:t>2 </a:t>
            </a:r>
            <a:r>
              <a:rPr lang="en-GB" dirty="0"/>
              <a:t>)</a:t>
            </a:r>
          </a:p>
          <a:p>
            <a:pPr marL="0" indent="0">
              <a:buNone/>
            </a:pPr>
            <a:r>
              <a:rPr lang="pt-BR" dirty="0">
                <a:latin typeface="Cambria Math" panose="02040503050406030204" pitchFamily="18" charset="0"/>
                <a:ea typeface="Cambria Math" panose="02040503050406030204" pitchFamily="18" charset="0"/>
              </a:rPr>
              <a:t>⇔</a:t>
            </a:r>
            <a:r>
              <a:rPr lang="en-US" dirty="0">
                <a:latin typeface="Cambria Math" panose="02040503050406030204" pitchFamily="18" charset="0"/>
                <a:ea typeface="Cambria Math" panose="02040503050406030204" pitchFamily="18" charset="0"/>
              </a:rPr>
              <a:t> t</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a:t>
            </a:r>
            <a:r>
              <a:rPr lang="en-US" dirty="0" err="1">
                <a:latin typeface="Cambria Math" panose="02040503050406030204" pitchFamily="18" charset="0"/>
                <a:ea typeface="Cambria Math" panose="02040503050406030204" pitchFamily="18" charset="0"/>
              </a:rPr>
              <a:t>dof</a:t>
            </a:r>
            <a:r>
              <a:rPr lang="en-US" dirty="0">
                <a:latin typeface="Cambria Math" panose="02040503050406030204" pitchFamily="18" charset="0"/>
                <a:ea typeface="Cambria Math" panose="02040503050406030204" pitchFamily="18" charset="0"/>
              </a:rPr>
              <a:t> = 1/(-1+1/r</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a:t>
            </a:r>
            <a:r>
              <a:rPr lang="pt-BR"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1/r</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  = 1+dof/t</a:t>
            </a:r>
            <a:r>
              <a:rPr lang="en-US" baseline="30000" dirty="0">
                <a:latin typeface="Cambria Math" panose="02040503050406030204" pitchFamily="18" charset="0"/>
                <a:ea typeface="Cambria Math" panose="02040503050406030204" pitchFamily="18" charset="0"/>
              </a:rPr>
              <a:t>2</a:t>
            </a:r>
          </a:p>
          <a:p>
            <a:pPr marL="0" indent="0">
              <a:buNone/>
            </a:pPr>
            <a:r>
              <a:rPr lang="pt-BR" dirty="0">
                <a:latin typeface="Cambria Math" panose="02040503050406030204" pitchFamily="18" charset="0"/>
                <a:ea typeface="Cambria Math" panose="02040503050406030204" pitchFamily="18" charset="0"/>
              </a:rPr>
              <a:t>⇔</a:t>
            </a:r>
            <a:r>
              <a:rPr lang="en-US" dirty="0">
                <a:latin typeface="Cambria Math" panose="02040503050406030204" pitchFamily="18" charset="0"/>
                <a:ea typeface="Cambria Math" panose="02040503050406030204" pitchFamily="18" charset="0"/>
              </a:rPr>
              <a:t>r</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  = t</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/(t</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+dof)</a:t>
            </a:r>
            <a:r>
              <a:rPr lang="pt-BR"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 r = t/</a:t>
            </a:r>
            <a:r>
              <a:rPr lang="en-US" dirty="0" err="1">
                <a:latin typeface="Cambria Math" panose="02040503050406030204" pitchFamily="18" charset="0"/>
                <a:ea typeface="Cambria Math" panose="02040503050406030204" pitchFamily="18" charset="0"/>
              </a:rPr>
              <a:t>sqrt</a:t>
            </a:r>
            <a:r>
              <a:rPr lang="en-US" dirty="0">
                <a:latin typeface="Cambria Math" panose="02040503050406030204" pitchFamily="18" charset="0"/>
                <a:ea typeface="Cambria Math" panose="02040503050406030204" pitchFamily="18" charset="0"/>
              </a:rPr>
              <a:t>(t</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+dof)</a:t>
            </a:r>
          </a:p>
          <a:p>
            <a:pPr marL="0" indent="0">
              <a:buNone/>
            </a:pPr>
            <a:endParaRPr lang="en-US" baseline="30000" dirty="0">
              <a:latin typeface="Cambria Math" panose="02040503050406030204" pitchFamily="18" charset="0"/>
              <a:ea typeface="Cambria Math" panose="02040503050406030204" pitchFamily="18" charset="0"/>
            </a:endParaRPr>
          </a:p>
          <a:p>
            <a:pPr marL="0" indent="0">
              <a:buNone/>
            </a:pPr>
            <a:endParaRPr lang="en-GB" dirty="0"/>
          </a:p>
        </p:txBody>
      </p:sp>
    </p:spTree>
    <p:extLst>
      <p:ext uri="{BB962C8B-B14F-4D97-AF65-F5344CB8AC3E}">
        <p14:creationId xmlns:p14="http://schemas.microsoft.com/office/powerpoint/2010/main" val="95747240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18491"/>
            <a:ext cx="6342811" cy="3218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987" y="3820946"/>
            <a:ext cx="7115334" cy="2344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41045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323528" y="274638"/>
            <a:ext cx="8363272" cy="1642194"/>
          </a:xfrm>
        </p:spPr>
        <p:txBody>
          <a:bodyPr/>
          <a:lstStyle/>
          <a:p>
            <a:r>
              <a:rPr lang="fr-FR" dirty="0"/>
              <a:t>Critical </a:t>
            </a:r>
            <a:r>
              <a:rPr lang="fr-FR" dirty="0" err="1"/>
              <a:t>region</a:t>
            </a:r>
            <a:r>
              <a:rPr lang="fr-FR" dirty="0"/>
              <a:t> H</a:t>
            </a:r>
            <a:r>
              <a:rPr lang="fr-FR" baseline="-25000" dirty="0"/>
              <a:t>0</a:t>
            </a:r>
            <a:r>
              <a:rPr lang="fr-FR" dirty="0"/>
              <a:t>: r=0 of the t test for n observations.</a:t>
            </a:r>
          </a:p>
        </p:txBody>
      </p:sp>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992" y="2132856"/>
            <a:ext cx="7704856" cy="12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468558"/>
            <a:ext cx="4464546" cy="12933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9652" y="4931881"/>
            <a:ext cx="6192688" cy="1923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367433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dirty="0"/>
              <a:t>Generalization of </a:t>
            </a:r>
            <a:r>
              <a:rPr lang="en-US" dirty="0"/>
              <a:t>r( y , x | Z)</a:t>
            </a:r>
            <a:br>
              <a:rPr lang="en-US" dirty="0"/>
            </a:br>
            <a:r>
              <a:rPr lang="en-US" dirty="0"/>
              <a:t>Yule Frisch-Waugh Lovell theorem</a:t>
            </a:r>
            <a:r>
              <a:rPr lang="en-GB" dirty="0"/>
              <a:t> </a:t>
            </a:r>
          </a:p>
        </p:txBody>
      </p:sp>
      <p:sp>
        <p:nvSpPr>
          <p:cNvPr id="3" name="Espace réservé du contenu 2"/>
          <p:cNvSpPr>
            <a:spLocks noGrp="1"/>
          </p:cNvSpPr>
          <p:nvPr>
            <p:ph idx="1"/>
          </p:nvPr>
        </p:nvSpPr>
        <p:spPr/>
        <p:txBody>
          <a:bodyPr>
            <a:normAutofit fontScale="92500" lnSpcReduction="20000"/>
          </a:bodyPr>
          <a:lstStyle/>
          <a:p>
            <a:pPr marL="0" indent="0" algn="just">
              <a:buNone/>
            </a:pPr>
            <a:r>
              <a:rPr lang="en-US" dirty="0"/>
              <a:t>Instead of a single variable x, consider several variables in X:</a:t>
            </a:r>
          </a:p>
          <a:p>
            <a:pPr marL="0" indent="0" algn="just">
              <a:buNone/>
            </a:pPr>
            <a:r>
              <a:rPr lang="en-US" dirty="0"/>
              <a:t>y = X</a:t>
            </a:r>
            <a:r>
              <a:rPr lang="en-US" b="1" dirty="0">
                <a:latin typeface="Cambria Math" panose="02040503050406030204" pitchFamily="18" charset="0"/>
                <a:ea typeface="Cambria Math" panose="02040503050406030204" pitchFamily="18" charset="0"/>
              </a:rPr>
              <a:t>β</a:t>
            </a:r>
            <a:r>
              <a:rPr lang="en-US" dirty="0"/>
              <a:t> + </a:t>
            </a:r>
            <a:r>
              <a:rPr lang="en-US" dirty="0" err="1"/>
              <a:t>Z</a:t>
            </a:r>
            <a:r>
              <a:rPr lang="en-US" dirty="0" err="1">
                <a:latin typeface="Cambria Math"/>
                <a:ea typeface="Cambria Math"/>
              </a:rPr>
              <a:t>γ</a:t>
            </a:r>
            <a:r>
              <a:rPr lang="en-US" dirty="0">
                <a:latin typeface="Cambria Math"/>
                <a:ea typeface="Cambria Math"/>
              </a:rPr>
              <a:t> + </a:t>
            </a:r>
            <a:r>
              <a:rPr lang="en-US" b="1" dirty="0">
                <a:latin typeface="Cambria Math"/>
                <a:ea typeface="Cambria Math"/>
              </a:rPr>
              <a:t>ε</a:t>
            </a:r>
            <a:r>
              <a:rPr lang="en-US" dirty="0">
                <a:latin typeface="Cambria Math"/>
                <a:ea typeface="Cambria Math"/>
              </a:rPr>
              <a:t> </a:t>
            </a:r>
            <a:r>
              <a:rPr lang="pt-BR" dirty="0">
                <a:latin typeface="Cambria Math" panose="02040503050406030204" pitchFamily="18" charset="0"/>
                <a:ea typeface="Cambria Math" panose="02040503050406030204" pitchFamily="18" charset="0"/>
              </a:rPr>
              <a:t>⇔ </a:t>
            </a:r>
            <a:r>
              <a:rPr lang="en-US" dirty="0"/>
              <a:t>y – </a:t>
            </a:r>
            <a:r>
              <a:rPr lang="en-US" dirty="0" err="1"/>
              <a:t>Z</a:t>
            </a:r>
            <a:r>
              <a:rPr lang="en-US" dirty="0" err="1">
                <a:latin typeface="Cambria Math"/>
                <a:ea typeface="Cambria Math"/>
              </a:rPr>
              <a:t>γ</a:t>
            </a:r>
            <a:r>
              <a:rPr lang="en-US" dirty="0">
                <a:latin typeface="Cambria Math"/>
                <a:ea typeface="Cambria Math"/>
              </a:rPr>
              <a:t>’ = (X</a:t>
            </a:r>
            <a:r>
              <a:rPr lang="en-US" dirty="0"/>
              <a:t> – </a:t>
            </a:r>
            <a:r>
              <a:rPr lang="en-US" dirty="0" err="1"/>
              <a:t>Z</a:t>
            </a:r>
            <a:r>
              <a:rPr lang="en-US" dirty="0" err="1">
                <a:latin typeface="Cambria Math"/>
                <a:ea typeface="Cambria Math"/>
              </a:rPr>
              <a:t>γ</a:t>
            </a:r>
            <a:r>
              <a:rPr lang="en-US" dirty="0">
                <a:latin typeface="Cambria Math"/>
                <a:ea typeface="Cambria Math"/>
              </a:rPr>
              <a:t>”)</a:t>
            </a: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β</a:t>
            </a:r>
            <a:r>
              <a:rPr lang="en-US" dirty="0">
                <a:latin typeface="Cambria Math" panose="02040503050406030204" pitchFamily="18" charset="0"/>
                <a:ea typeface="Cambria Math" panose="02040503050406030204" pitchFamily="18" charset="0"/>
              </a:rPr>
              <a:t> + </a:t>
            </a:r>
            <a:r>
              <a:rPr lang="en-US" b="1" dirty="0">
                <a:latin typeface="Cambria Math"/>
                <a:ea typeface="Cambria Math"/>
              </a:rPr>
              <a:t>ε</a:t>
            </a:r>
          </a:p>
          <a:p>
            <a:pPr marL="0" indent="0" algn="just">
              <a:buNone/>
            </a:pPr>
            <a:r>
              <a:rPr lang="en-US" dirty="0">
                <a:latin typeface="Cambria Math"/>
                <a:ea typeface="Cambria Math"/>
              </a:rPr>
              <a:t>Identical estimated </a:t>
            </a:r>
            <a:r>
              <a:rPr lang="en-US" b="1" dirty="0">
                <a:latin typeface="Cambria Math" panose="02040503050406030204" pitchFamily="18" charset="0"/>
                <a:ea typeface="Cambria Math" panose="02040503050406030204" pitchFamily="18" charset="0"/>
              </a:rPr>
              <a:t>β</a:t>
            </a:r>
            <a:r>
              <a:rPr lang="en-US" dirty="0">
                <a:latin typeface="Cambria Math" panose="02040503050406030204" pitchFamily="18" charset="0"/>
                <a:ea typeface="Cambria Math" panose="02040503050406030204" pitchFamily="18" charset="0"/>
              </a:rPr>
              <a:t> and same residuals </a:t>
            </a:r>
            <a:r>
              <a:rPr lang="en-US" b="1" dirty="0">
                <a:latin typeface="Cambria Math"/>
                <a:ea typeface="Cambria Math"/>
              </a:rPr>
              <a:t>ε.</a:t>
            </a:r>
          </a:p>
          <a:p>
            <a:pPr marL="0" indent="0" algn="just">
              <a:buNone/>
            </a:pPr>
            <a:r>
              <a:rPr lang="en-US" dirty="0"/>
              <a:t>y – </a:t>
            </a:r>
            <a:r>
              <a:rPr lang="en-US" dirty="0" err="1"/>
              <a:t>Z</a:t>
            </a:r>
            <a:r>
              <a:rPr lang="en-US" dirty="0" err="1">
                <a:latin typeface="Cambria Math"/>
                <a:ea typeface="Cambria Math"/>
              </a:rPr>
              <a:t>γ</a:t>
            </a:r>
            <a:r>
              <a:rPr lang="en-US" dirty="0">
                <a:latin typeface="Cambria Math"/>
                <a:ea typeface="Cambria Math"/>
              </a:rPr>
              <a:t>’ are the residuals of the auxiliary regression of the dependent variables on the variables in Z.</a:t>
            </a:r>
          </a:p>
          <a:p>
            <a:pPr marL="0" indent="0" algn="just">
              <a:buNone/>
            </a:pPr>
            <a:r>
              <a:rPr lang="en-US" dirty="0">
                <a:latin typeface="Cambria Math"/>
                <a:ea typeface="Cambria Math"/>
              </a:rPr>
              <a:t>X</a:t>
            </a:r>
            <a:r>
              <a:rPr lang="en-US" dirty="0"/>
              <a:t> – </a:t>
            </a:r>
            <a:r>
              <a:rPr lang="en-US" dirty="0" err="1"/>
              <a:t>Z</a:t>
            </a:r>
            <a:r>
              <a:rPr lang="en-US" dirty="0" err="1">
                <a:latin typeface="Cambria Math"/>
                <a:ea typeface="Cambria Math"/>
              </a:rPr>
              <a:t>γ</a:t>
            </a:r>
            <a:r>
              <a:rPr lang="en-US" dirty="0">
                <a:latin typeface="Cambria Math"/>
                <a:ea typeface="Cambria Math"/>
              </a:rPr>
              <a:t>”  with each column is the residuals of the auxiliary regressions of each of the explanatory variables in X on the other group of explanatory variables in Z.</a:t>
            </a:r>
            <a:endParaRPr lang="en-US" dirty="0"/>
          </a:p>
        </p:txBody>
      </p:sp>
    </p:spTree>
    <p:extLst>
      <p:ext uri="{BB962C8B-B14F-4D97-AF65-F5344CB8AC3E}">
        <p14:creationId xmlns:p14="http://schemas.microsoft.com/office/powerpoint/2010/main" val="138458157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dirty="0"/>
              <a:t>YFWL theorem is everywhere</a:t>
            </a:r>
          </a:p>
        </p:txBody>
      </p:sp>
      <p:sp>
        <p:nvSpPr>
          <p:cNvPr id="3" name="Espace réservé du contenu 2"/>
          <p:cNvSpPr>
            <a:spLocks noGrp="1"/>
          </p:cNvSpPr>
          <p:nvPr>
            <p:ph idx="1"/>
          </p:nvPr>
        </p:nvSpPr>
        <p:spPr/>
        <p:txBody>
          <a:bodyPr>
            <a:normAutofit fontScale="92500" lnSpcReduction="20000"/>
          </a:bodyPr>
          <a:lstStyle/>
          <a:p>
            <a:pPr marL="0" indent="0" algn="just">
              <a:buNone/>
            </a:pPr>
            <a:r>
              <a:rPr lang="en-GB" dirty="0"/>
              <a:t>It is equivalent to run OLS on linear transformed on Z or (not transformed variables with Z in the regression) left and right hand side (also for VAR models):</a:t>
            </a:r>
          </a:p>
          <a:p>
            <a:pPr marL="514350" indent="-514350" algn="just">
              <a:buFont typeface="+mj-lt"/>
              <a:buAutoNum type="arabicPeriod"/>
            </a:pPr>
            <a:r>
              <a:rPr lang="en-GB" dirty="0"/>
              <a:t>Removing the observation versus with the observation + a dummy for this observation.</a:t>
            </a:r>
          </a:p>
          <a:p>
            <a:pPr marL="514350" indent="-514350" algn="just">
              <a:buFont typeface="+mj-lt"/>
              <a:buAutoNum type="arabicPeriod"/>
            </a:pPr>
            <a:r>
              <a:rPr lang="en-GB" dirty="0"/>
              <a:t>On demeaned versus NOT demeaned + vector of ones.</a:t>
            </a:r>
          </a:p>
          <a:p>
            <a:pPr marL="514350" indent="-514350" algn="just">
              <a:buFont typeface="+mj-lt"/>
              <a:buAutoNum type="arabicPeriod"/>
            </a:pPr>
            <a:r>
              <a:rPr lang="en-GB" dirty="0"/>
              <a:t>On de-trended versus NOT de-trended + trend</a:t>
            </a:r>
          </a:p>
          <a:p>
            <a:pPr marL="514350" indent="-514350" algn="just">
              <a:buFont typeface="+mj-lt"/>
              <a:buAutoNum type="arabicPeriod"/>
            </a:pPr>
            <a:r>
              <a:rPr lang="en-GB" dirty="0"/>
              <a:t>On de-</a:t>
            </a:r>
            <a:r>
              <a:rPr lang="en-GB" dirty="0" err="1"/>
              <a:t>seasonalized</a:t>
            </a:r>
            <a:r>
              <a:rPr lang="en-GB" dirty="0"/>
              <a:t> versus NOT de-</a:t>
            </a:r>
            <a:r>
              <a:rPr lang="en-GB" dirty="0" err="1"/>
              <a:t>seasonalized</a:t>
            </a:r>
            <a:r>
              <a:rPr lang="en-GB" dirty="0"/>
              <a:t> + seasonal dummies. </a:t>
            </a:r>
          </a:p>
          <a:p>
            <a:pPr marL="0" indent="0" algn="just">
              <a:buNone/>
            </a:pPr>
            <a:endParaRPr lang="en-GB" dirty="0"/>
          </a:p>
        </p:txBody>
      </p:sp>
    </p:spTree>
    <p:extLst>
      <p:ext uri="{BB962C8B-B14F-4D97-AF65-F5344CB8AC3E}">
        <p14:creationId xmlns:p14="http://schemas.microsoft.com/office/powerpoint/2010/main" val="409412496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dirty="0"/>
              <a:t>When Z is the matrix of individual dummies in panel data:</a:t>
            </a:r>
          </a:p>
        </p:txBody>
      </p:sp>
      <p:sp>
        <p:nvSpPr>
          <p:cNvPr id="3" name="Espace réservé du contenu 2"/>
          <p:cNvSpPr>
            <a:spLocks noGrp="1"/>
          </p:cNvSpPr>
          <p:nvPr>
            <p:ph idx="1"/>
          </p:nvPr>
        </p:nvSpPr>
        <p:spPr/>
        <p:txBody>
          <a:bodyPr>
            <a:normAutofit fontScale="85000" lnSpcReduction="10000"/>
          </a:bodyPr>
          <a:lstStyle/>
          <a:p>
            <a:pPr marL="0" indent="0" algn="just">
              <a:buNone/>
            </a:pPr>
            <a:r>
              <a:rPr lang="en-US" dirty="0"/>
              <a:t>The residuals is the within transformation</a:t>
            </a:r>
          </a:p>
          <a:p>
            <a:pPr marL="0" indent="0" algn="just">
              <a:buNone/>
            </a:pPr>
            <a:r>
              <a:rPr lang="en-US" dirty="0" err="1"/>
              <a:t>y</a:t>
            </a:r>
            <a:r>
              <a:rPr lang="en-US" baseline="-25000" dirty="0" err="1"/>
              <a:t>it</a:t>
            </a:r>
            <a:r>
              <a:rPr lang="en-US" dirty="0"/>
              <a:t> – </a:t>
            </a:r>
            <a:r>
              <a:rPr lang="en-US" dirty="0" err="1"/>
              <a:t>Zy</a:t>
            </a:r>
            <a:r>
              <a:rPr lang="en-US" baseline="-25000" dirty="0" err="1"/>
              <a:t>i</a:t>
            </a:r>
            <a:r>
              <a:rPr lang="en-US" baseline="-25000" dirty="0"/>
              <a:t>. </a:t>
            </a:r>
            <a:r>
              <a:rPr lang="en-US" dirty="0"/>
              <a:t>= </a:t>
            </a:r>
            <a:r>
              <a:rPr lang="en-US" dirty="0" err="1"/>
              <a:t>y</a:t>
            </a:r>
            <a:r>
              <a:rPr lang="en-US" baseline="-25000" dirty="0" err="1"/>
              <a:t>it</a:t>
            </a:r>
            <a:r>
              <a:rPr lang="en-US" dirty="0"/>
              <a:t> – </a:t>
            </a:r>
            <a:r>
              <a:rPr lang="en-US" dirty="0" err="1"/>
              <a:t>y</a:t>
            </a:r>
            <a:r>
              <a:rPr lang="en-US" baseline="-25000" dirty="0" err="1"/>
              <a:t>i</a:t>
            </a:r>
            <a:r>
              <a:rPr lang="en-US" baseline="-25000" dirty="0"/>
              <a:t>.</a:t>
            </a:r>
            <a:r>
              <a:rPr lang="en-US" dirty="0"/>
              <a:t> with </a:t>
            </a:r>
            <a:r>
              <a:rPr lang="en-US" dirty="0">
                <a:latin typeface="Cambria Math"/>
                <a:ea typeface="Cambria Math"/>
              </a:rPr>
              <a:t>γ’= </a:t>
            </a:r>
            <a:r>
              <a:rPr lang="en-US" dirty="0" err="1"/>
              <a:t>y</a:t>
            </a:r>
            <a:r>
              <a:rPr lang="en-US" baseline="-25000" dirty="0" err="1"/>
              <a:t>i</a:t>
            </a:r>
            <a:r>
              <a:rPr lang="en-US" baseline="-25000" dirty="0"/>
              <a:t>.</a:t>
            </a:r>
            <a:r>
              <a:rPr lang="en-US" dirty="0"/>
              <a:t> between transformation</a:t>
            </a:r>
          </a:p>
          <a:p>
            <a:pPr marL="0" indent="0" algn="just">
              <a:buNone/>
            </a:pPr>
            <a:r>
              <a:rPr lang="en-US" dirty="0"/>
              <a:t>y = X</a:t>
            </a:r>
            <a:r>
              <a:rPr lang="en-US" b="1" dirty="0">
                <a:latin typeface="Cambria Math" panose="02040503050406030204" pitchFamily="18" charset="0"/>
                <a:ea typeface="Cambria Math" panose="02040503050406030204" pitchFamily="18" charset="0"/>
              </a:rPr>
              <a:t>β</a:t>
            </a:r>
            <a:r>
              <a:rPr lang="en-US" dirty="0"/>
              <a:t> + </a:t>
            </a:r>
            <a:r>
              <a:rPr lang="en-US" dirty="0" err="1"/>
              <a:t>Z</a:t>
            </a:r>
            <a:r>
              <a:rPr lang="en-US" dirty="0" err="1">
                <a:latin typeface="Cambria Math"/>
                <a:ea typeface="Cambria Math"/>
              </a:rPr>
              <a:t>γ</a:t>
            </a:r>
            <a:r>
              <a:rPr lang="en-US" dirty="0">
                <a:latin typeface="Cambria Math"/>
                <a:ea typeface="Cambria Math"/>
              </a:rPr>
              <a:t> + </a:t>
            </a:r>
            <a:r>
              <a:rPr lang="en-US" b="1" dirty="0">
                <a:latin typeface="Cambria Math"/>
                <a:ea typeface="Cambria Math"/>
              </a:rPr>
              <a:t>ε</a:t>
            </a:r>
            <a:r>
              <a:rPr lang="en-US" dirty="0">
                <a:latin typeface="Cambria Math"/>
                <a:ea typeface="Cambria Math"/>
              </a:rPr>
              <a:t> </a:t>
            </a:r>
            <a:r>
              <a:rPr lang="pt-BR" dirty="0">
                <a:latin typeface="Cambria Math" panose="02040503050406030204" pitchFamily="18" charset="0"/>
                <a:ea typeface="Cambria Math" panose="02040503050406030204" pitchFamily="18" charset="0"/>
              </a:rPr>
              <a:t>⇔ </a:t>
            </a:r>
            <a:r>
              <a:rPr lang="en-US" dirty="0"/>
              <a:t>y –</a:t>
            </a:r>
            <a:r>
              <a:rPr lang="en-US" dirty="0" err="1"/>
              <a:t>Zy</a:t>
            </a:r>
            <a:r>
              <a:rPr lang="en-US" baseline="-25000" dirty="0" err="1"/>
              <a:t>i</a:t>
            </a:r>
            <a:r>
              <a:rPr lang="en-US" baseline="-25000" dirty="0"/>
              <a:t>.</a:t>
            </a:r>
            <a:r>
              <a:rPr lang="en-US" dirty="0">
                <a:latin typeface="Cambria Math"/>
                <a:ea typeface="Cambria Math"/>
              </a:rPr>
              <a:t> = (X</a:t>
            </a:r>
            <a:r>
              <a:rPr lang="en-US" dirty="0"/>
              <a:t> – Z</a:t>
            </a:r>
            <a:r>
              <a:rPr lang="en-US" dirty="0">
                <a:latin typeface="Cambria Math"/>
                <a:ea typeface="Cambria Math"/>
              </a:rPr>
              <a:t> X</a:t>
            </a:r>
            <a:r>
              <a:rPr lang="en-US" baseline="-25000" dirty="0">
                <a:latin typeface="Cambria Math"/>
                <a:ea typeface="Cambria Math"/>
              </a:rPr>
              <a:t>i.</a:t>
            </a:r>
            <a:r>
              <a:rPr lang="en-US" dirty="0">
                <a:latin typeface="Cambria Math"/>
                <a:ea typeface="Cambria Math"/>
              </a:rPr>
              <a:t> )</a:t>
            </a: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β</a:t>
            </a:r>
            <a:r>
              <a:rPr lang="en-US" dirty="0">
                <a:latin typeface="Cambria Math" panose="02040503050406030204" pitchFamily="18" charset="0"/>
                <a:ea typeface="Cambria Math" panose="02040503050406030204" pitchFamily="18" charset="0"/>
              </a:rPr>
              <a:t> + </a:t>
            </a:r>
            <a:r>
              <a:rPr lang="en-US" b="1" dirty="0">
                <a:latin typeface="Cambria Math"/>
                <a:ea typeface="Cambria Math"/>
              </a:rPr>
              <a:t>ε</a:t>
            </a:r>
          </a:p>
          <a:p>
            <a:pPr marL="0" indent="0" algn="just">
              <a:buNone/>
            </a:pPr>
            <a:r>
              <a:rPr lang="en-US" dirty="0">
                <a:latin typeface="Cambria Math"/>
                <a:ea typeface="Cambria Math"/>
              </a:rPr>
              <a:t>Identical estimated </a:t>
            </a:r>
            <a:r>
              <a:rPr lang="en-US" b="1" dirty="0">
                <a:latin typeface="Cambria Math" panose="02040503050406030204" pitchFamily="18" charset="0"/>
                <a:ea typeface="Cambria Math" panose="02040503050406030204" pitchFamily="18" charset="0"/>
              </a:rPr>
              <a:t>β</a:t>
            </a:r>
            <a:r>
              <a:rPr lang="en-US" dirty="0">
                <a:latin typeface="Cambria Math" panose="02040503050406030204" pitchFamily="18" charset="0"/>
                <a:ea typeface="Cambria Math" panose="02040503050406030204" pitchFamily="18" charset="0"/>
              </a:rPr>
              <a:t> and same residuals </a:t>
            </a:r>
            <a:r>
              <a:rPr lang="en-US" b="1" dirty="0">
                <a:latin typeface="Cambria Math"/>
                <a:ea typeface="Cambria Math"/>
              </a:rPr>
              <a:t>ε.</a:t>
            </a:r>
          </a:p>
          <a:p>
            <a:pPr marL="0" indent="0" algn="just">
              <a:buNone/>
            </a:pPr>
            <a:r>
              <a:rPr lang="en-US" dirty="0">
                <a:latin typeface="Cambria Math"/>
                <a:ea typeface="Cambria Math"/>
              </a:rPr>
              <a:t>One can either include N individual dummies (least square dummy variable LSDV) or run OLS on within transformed variables without dummies  but correct degrees of freedom as NT-N-k, which is what is coded in </a:t>
            </a:r>
            <a:r>
              <a:rPr lang="en-US" dirty="0" err="1">
                <a:latin typeface="Cambria Math"/>
                <a:ea typeface="Cambria Math"/>
              </a:rPr>
              <a:t>softwares</a:t>
            </a:r>
            <a:r>
              <a:rPr lang="en-US" dirty="0">
                <a:latin typeface="Cambria Math"/>
                <a:ea typeface="Cambria Math"/>
              </a:rPr>
              <a:t> in order to avoid large N such as 1 million estimated parameters for 1 million individual dummies.</a:t>
            </a:r>
          </a:p>
        </p:txBody>
      </p:sp>
    </p:spTree>
    <p:extLst>
      <p:ext uri="{BB962C8B-B14F-4D97-AF65-F5344CB8AC3E}">
        <p14:creationId xmlns:p14="http://schemas.microsoft.com/office/powerpoint/2010/main" val="284200006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Partial </a:t>
            </a:r>
            <a:r>
              <a:rPr lang="fr-FR" dirty="0" err="1"/>
              <a:t>correlation</a:t>
            </a:r>
            <a:r>
              <a:rPr lang="fr-FR" dirty="0"/>
              <a:t> on </a:t>
            </a:r>
            <a:r>
              <a:rPr lang="fr-FR" dirty="0" err="1"/>
              <a:t>within</a:t>
            </a:r>
            <a:r>
              <a:rPr lang="fr-FR" dirty="0"/>
              <a:t> </a:t>
            </a:r>
            <a:r>
              <a:rPr lang="fr-FR" dirty="0" err="1"/>
              <a:t>transformed</a:t>
            </a:r>
            <a:r>
              <a:rPr lang="fr-FR" dirty="0"/>
              <a:t> variables</a:t>
            </a:r>
            <a:endParaRPr lang="en-GB" dirty="0"/>
          </a:p>
        </p:txBody>
      </p:sp>
      <p:sp>
        <p:nvSpPr>
          <p:cNvPr id="3" name="Espace réservé du contenu 2"/>
          <p:cNvSpPr>
            <a:spLocks noGrp="1"/>
          </p:cNvSpPr>
          <p:nvPr>
            <p:ph idx="1"/>
          </p:nvPr>
        </p:nvSpPr>
        <p:spPr/>
        <p:txBody>
          <a:bodyPr/>
          <a:lstStyle/>
          <a:p>
            <a:pPr marL="0" indent="0">
              <a:buNone/>
            </a:pPr>
            <a:r>
              <a:rPr lang="fr-FR" dirty="0" err="1"/>
              <a:t>From</a:t>
            </a:r>
            <a:r>
              <a:rPr lang="fr-FR" dirty="0"/>
              <a:t> </a:t>
            </a:r>
            <a:r>
              <a:rPr lang="fr-FR" dirty="0" err="1"/>
              <a:t>this</a:t>
            </a:r>
            <a:r>
              <a:rPr lang="fr-FR" dirty="0"/>
              <a:t> </a:t>
            </a:r>
            <a:r>
              <a:rPr lang="fr-FR" b="1" dirty="0"/>
              <a:t>first stage </a:t>
            </a:r>
            <a:r>
              <a:rPr lang="fr-FR" b="1" dirty="0" err="1"/>
              <a:t>regression</a:t>
            </a:r>
            <a:r>
              <a:rPr lang="fr-FR" b="1" dirty="0"/>
              <a:t> ONLY on </a:t>
            </a:r>
            <a:r>
              <a:rPr lang="fr-FR" b="1" dirty="0" err="1"/>
              <a:t>individual</a:t>
            </a:r>
            <a:r>
              <a:rPr lang="fr-FR" b="1" dirty="0"/>
              <a:t> </a:t>
            </a:r>
            <a:r>
              <a:rPr lang="fr-FR" b="1" dirty="0" err="1"/>
              <a:t>dummies</a:t>
            </a:r>
            <a:r>
              <a:rPr lang="fr-FR" dirty="0"/>
              <a:t>, one </a:t>
            </a:r>
            <a:r>
              <a:rPr lang="fr-FR" dirty="0" err="1"/>
              <a:t>obtains</a:t>
            </a:r>
            <a:r>
              <a:rPr lang="fr-FR" dirty="0"/>
              <a:t> PARTIAL </a:t>
            </a:r>
            <a:r>
              <a:rPr lang="fr-FR" dirty="0" err="1"/>
              <a:t>correlation</a:t>
            </a:r>
            <a:r>
              <a:rPr lang="fr-FR" dirty="0"/>
              <a:t> coefficients and </a:t>
            </a:r>
            <a:r>
              <a:rPr lang="fr-FR" dirty="0" err="1"/>
              <a:t>bivariate</a:t>
            </a:r>
            <a:r>
              <a:rPr lang="fr-FR" dirty="0"/>
              <a:t> graphs, </a:t>
            </a:r>
          </a:p>
          <a:p>
            <a:pPr marL="0" indent="0">
              <a:buNone/>
            </a:pPr>
            <a:r>
              <a:rPr lang="fr-FR" dirty="0" err="1"/>
              <a:t>which</a:t>
            </a:r>
            <a:r>
              <a:rPr lang="fr-FR" dirty="0"/>
              <a:t> are the </a:t>
            </a:r>
            <a:r>
              <a:rPr lang="fr-FR" dirty="0" err="1"/>
              <a:t>only</a:t>
            </a:r>
            <a:r>
              <a:rPr lang="fr-FR" dirty="0"/>
              <a:t> </a:t>
            </a:r>
            <a:r>
              <a:rPr lang="fr-FR" dirty="0" err="1"/>
              <a:t>ones</a:t>
            </a:r>
            <a:r>
              <a:rPr lang="fr-FR" dirty="0"/>
              <a:t> RELEVANT for the </a:t>
            </a:r>
            <a:r>
              <a:rPr lang="fr-FR" b="1" dirty="0"/>
              <a:t>second stage </a:t>
            </a:r>
            <a:r>
              <a:rPr lang="fr-FR" b="1" dirty="0" err="1"/>
              <a:t>fixed</a:t>
            </a:r>
            <a:r>
              <a:rPr lang="fr-FR" b="1" dirty="0"/>
              <a:t> </a:t>
            </a:r>
            <a:r>
              <a:rPr lang="fr-FR" b="1" dirty="0" err="1"/>
              <a:t>effect</a:t>
            </a:r>
            <a:r>
              <a:rPr lang="fr-FR" b="1" dirty="0"/>
              <a:t> estimation</a:t>
            </a:r>
            <a:r>
              <a:rPr lang="fr-FR" dirty="0"/>
              <a:t> on OTHER </a:t>
            </a:r>
            <a:r>
              <a:rPr lang="fr-FR" dirty="0" err="1"/>
              <a:t>within</a:t>
            </a:r>
            <a:r>
              <a:rPr lang="fr-FR" dirty="0"/>
              <a:t> </a:t>
            </a:r>
            <a:r>
              <a:rPr lang="fr-FR" dirty="0" err="1"/>
              <a:t>transformed</a:t>
            </a:r>
            <a:r>
              <a:rPr lang="fr-FR" dirty="0"/>
              <a:t> </a:t>
            </a:r>
            <a:r>
              <a:rPr lang="fr-FR" dirty="0" err="1"/>
              <a:t>explanatory</a:t>
            </a:r>
            <a:r>
              <a:rPr lang="fr-FR" dirty="0"/>
              <a:t> variables, once all time invariant </a:t>
            </a:r>
            <a:r>
              <a:rPr lang="fr-FR" dirty="0" err="1"/>
              <a:t>explanatory</a:t>
            </a:r>
            <a:r>
              <a:rPr lang="fr-FR" dirty="0"/>
              <a:t> variables are </a:t>
            </a:r>
            <a:r>
              <a:rPr lang="fr-FR" dirty="0" err="1"/>
              <a:t>included</a:t>
            </a:r>
            <a:r>
              <a:rPr lang="fr-FR" dirty="0"/>
              <a:t> (</a:t>
            </a:r>
            <a:r>
              <a:rPr lang="fr-FR" dirty="0" err="1"/>
              <a:t>fixed</a:t>
            </a:r>
            <a:r>
              <a:rPr lang="fr-FR" dirty="0"/>
              <a:t> </a:t>
            </a:r>
            <a:r>
              <a:rPr lang="fr-FR" dirty="0" err="1"/>
              <a:t>effects</a:t>
            </a:r>
            <a:r>
              <a:rPr lang="fr-FR" dirty="0"/>
              <a:t>).</a:t>
            </a:r>
          </a:p>
        </p:txBody>
      </p:sp>
    </p:spTree>
    <p:extLst>
      <p:ext uri="{BB962C8B-B14F-4D97-AF65-F5344CB8AC3E}">
        <p14:creationId xmlns:p14="http://schemas.microsoft.com/office/powerpoint/2010/main" val="302925733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D36B3-9050-E063-2BB0-705B3D4D9F0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921EFA-243D-6622-9408-D627A307C8A8}"/>
              </a:ext>
            </a:extLst>
          </p:cNvPr>
          <p:cNvSpPr>
            <a:spLocks noGrp="1"/>
          </p:cNvSpPr>
          <p:nvPr>
            <p:ph type="title"/>
          </p:nvPr>
        </p:nvSpPr>
        <p:spPr/>
        <p:txBody>
          <a:bodyPr>
            <a:normAutofit fontScale="90000"/>
          </a:bodyPr>
          <a:lstStyle/>
          <a:p>
            <a:r>
              <a:rPr lang="fr-FR" dirty="0"/>
              <a:t>Partial </a:t>
            </a:r>
            <a:r>
              <a:rPr lang="fr-FR" dirty="0" err="1"/>
              <a:t>correlation</a:t>
            </a:r>
            <a:r>
              <a:rPr lang="fr-FR" dirty="0"/>
              <a:t> on </a:t>
            </a:r>
            <a:r>
              <a:rPr lang="fr-FR" dirty="0" err="1"/>
              <a:t>within</a:t>
            </a:r>
            <a:r>
              <a:rPr lang="fr-FR" dirty="0"/>
              <a:t> </a:t>
            </a:r>
            <a:r>
              <a:rPr lang="fr-FR" dirty="0" err="1"/>
              <a:t>transformed</a:t>
            </a:r>
            <a:r>
              <a:rPr lang="fr-FR" dirty="0"/>
              <a:t> variables</a:t>
            </a:r>
            <a:endParaRPr lang="en-GB" dirty="0"/>
          </a:p>
        </p:txBody>
      </p:sp>
      <p:sp>
        <p:nvSpPr>
          <p:cNvPr id="3" name="Espace réservé du contenu 2">
            <a:extLst>
              <a:ext uri="{FF2B5EF4-FFF2-40B4-BE49-F238E27FC236}">
                <a16:creationId xmlns:a16="http://schemas.microsoft.com/office/drawing/2014/main" id="{E1482C30-4FB6-DC58-0127-6E3E1D1D6482}"/>
              </a:ext>
            </a:extLst>
          </p:cNvPr>
          <p:cNvSpPr>
            <a:spLocks noGrp="1"/>
          </p:cNvSpPr>
          <p:nvPr>
            <p:ph idx="1"/>
          </p:nvPr>
        </p:nvSpPr>
        <p:spPr/>
        <p:txBody>
          <a:bodyPr/>
          <a:lstStyle/>
          <a:p>
            <a:pPr marL="0" indent="0">
              <a:buNone/>
            </a:pPr>
            <a:r>
              <a:rPr lang="fr-FR" dirty="0" err="1"/>
              <a:t>From</a:t>
            </a:r>
            <a:r>
              <a:rPr lang="fr-FR" dirty="0"/>
              <a:t> </a:t>
            </a:r>
            <a:r>
              <a:rPr lang="fr-FR" dirty="0" err="1"/>
              <a:t>this</a:t>
            </a:r>
            <a:r>
              <a:rPr lang="fr-FR" dirty="0"/>
              <a:t> </a:t>
            </a:r>
            <a:r>
              <a:rPr lang="fr-FR" b="1" dirty="0"/>
              <a:t>first stage </a:t>
            </a:r>
            <a:r>
              <a:rPr lang="fr-FR" b="1" dirty="0" err="1"/>
              <a:t>regression</a:t>
            </a:r>
            <a:r>
              <a:rPr lang="fr-FR" b="1" dirty="0"/>
              <a:t> ONLY on </a:t>
            </a:r>
            <a:r>
              <a:rPr lang="fr-FR" b="1" dirty="0" err="1"/>
              <a:t>individual</a:t>
            </a:r>
            <a:r>
              <a:rPr lang="fr-FR" b="1" dirty="0"/>
              <a:t> </a:t>
            </a:r>
            <a:r>
              <a:rPr lang="fr-FR" b="1" dirty="0" err="1"/>
              <a:t>dummies</a:t>
            </a:r>
            <a:r>
              <a:rPr lang="fr-FR" dirty="0"/>
              <a:t>, one </a:t>
            </a:r>
            <a:r>
              <a:rPr lang="fr-FR" dirty="0" err="1"/>
              <a:t>obtains</a:t>
            </a:r>
            <a:r>
              <a:rPr lang="fr-FR" dirty="0"/>
              <a:t> PARTIAL </a:t>
            </a:r>
            <a:r>
              <a:rPr lang="fr-FR" dirty="0" err="1"/>
              <a:t>correlation</a:t>
            </a:r>
            <a:r>
              <a:rPr lang="fr-FR" dirty="0"/>
              <a:t> coefficients and </a:t>
            </a:r>
            <a:r>
              <a:rPr lang="fr-FR" dirty="0" err="1"/>
              <a:t>bivariate</a:t>
            </a:r>
            <a:r>
              <a:rPr lang="fr-FR" dirty="0"/>
              <a:t> graphs, </a:t>
            </a:r>
          </a:p>
          <a:p>
            <a:pPr marL="0" indent="0">
              <a:buNone/>
            </a:pPr>
            <a:r>
              <a:rPr lang="fr-FR" dirty="0" err="1"/>
              <a:t>which</a:t>
            </a:r>
            <a:r>
              <a:rPr lang="fr-FR" dirty="0"/>
              <a:t> are the </a:t>
            </a:r>
            <a:r>
              <a:rPr lang="fr-FR" dirty="0" err="1"/>
              <a:t>only</a:t>
            </a:r>
            <a:r>
              <a:rPr lang="fr-FR" dirty="0"/>
              <a:t> </a:t>
            </a:r>
            <a:r>
              <a:rPr lang="fr-FR" dirty="0" err="1"/>
              <a:t>ones</a:t>
            </a:r>
            <a:r>
              <a:rPr lang="fr-FR" dirty="0"/>
              <a:t> RELEVANT for the </a:t>
            </a:r>
            <a:r>
              <a:rPr lang="fr-FR" b="1" dirty="0"/>
              <a:t>second stage </a:t>
            </a:r>
            <a:r>
              <a:rPr lang="fr-FR" b="1" dirty="0" err="1"/>
              <a:t>fixed</a:t>
            </a:r>
            <a:r>
              <a:rPr lang="fr-FR" b="1" dirty="0"/>
              <a:t> </a:t>
            </a:r>
            <a:r>
              <a:rPr lang="fr-FR" b="1" dirty="0" err="1"/>
              <a:t>effect</a:t>
            </a:r>
            <a:r>
              <a:rPr lang="fr-FR" b="1" dirty="0"/>
              <a:t> estimation</a:t>
            </a:r>
            <a:r>
              <a:rPr lang="fr-FR" dirty="0"/>
              <a:t> on OTHER </a:t>
            </a:r>
            <a:r>
              <a:rPr lang="fr-FR" dirty="0" err="1"/>
              <a:t>within</a:t>
            </a:r>
            <a:r>
              <a:rPr lang="fr-FR" dirty="0"/>
              <a:t> </a:t>
            </a:r>
            <a:r>
              <a:rPr lang="fr-FR" dirty="0" err="1"/>
              <a:t>transformed</a:t>
            </a:r>
            <a:r>
              <a:rPr lang="fr-FR" dirty="0"/>
              <a:t> </a:t>
            </a:r>
            <a:r>
              <a:rPr lang="fr-FR" dirty="0" err="1"/>
              <a:t>explanatory</a:t>
            </a:r>
            <a:r>
              <a:rPr lang="fr-FR" dirty="0"/>
              <a:t> variables, once all time invariant </a:t>
            </a:r>
            <a:r>
              <a:rPr lang="fr-FR" dirty="0" err="1"/>
              <a:t>explanatory</a:t>
            </a:r>
            <a:r>
              <a:rPr lang="fr-FR" dirty="0"/>
              <a:t> variables are </a:t>
            </a:r>
            <a:r>
              <a:rPr lang="fr-FR" dirty="0" err="1"/>
              <a:t>included</a:t>
            </a:r>
            <a:r>
              <a:rPr lang="fr-FR" dirty="0"/>
              <a:t> (</a:t>
            </a:r>
            <a:r>
              <a:rPr lang="fr-FR" dirty="0" err="1"/>
              <a:t>fixed</a:t>
            </a:r>
            <a:r>
              <a:rPr lang="fr-FR" dirty="0"/>
              <a:t> </a:t>
            </a:r>
            <a:r>
              <a:rPr lang="fr-FR" dirty="0" err="1"/>
              <a:t>effects</a:t>
            </a:r>
            <a:r>
              <a:rPr lang="fr-FR" dirty="0"/>
              <a:t>).</a:t>
            </a:r>
          </a:p>
        </p:txBody>
      </p:sp>
    </p:spTree>
    <p:extLst>
      <p:ext uri="{BB962C8B-B14F-4D97-AF65-F5344CB8AC3E}">
        <p14:creationId xmlns:p14="http://schemas.microsoft.com/office/powerpoint/2010/main" val="426366344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823"/>
            <a:ext cx="9248775" cy="678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895043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Partial </a:t>
            </a:r>
            <a:r>
              <a:rPr lang="fr-FR" dirty="0" err="1"/>
              <a:t>within</a:t>
            </a:r>
            <a:r>
              <a:rPr lang="fr-FR" dirty="0"/>
              <a:t> </a:t>
            </a:r>
            <a:r>
              <a:rPr lang="fr-FR" dirty="0" err="1"/>
              <a:t>correlation</a:t>
            </a:r>
            <a:r>
              <a:rPr lang="fr-FR" dirty="0"/>
              <a:t> </a:t>
            </a:r>
            <a:r>
              <a:rPr lang="fr-FR" dirty="0" err="1"/>
              <a:t>may</a:t>
            </a:r>
            <a:r>
              <a:rPr lang="fr-FR" dirty="0"/>
              <a:t> not correspond to </a:t>
            </a:r>
            <a:r>
              <a:rPr lang="fr-FR" dirty="0" err="1"/>
              <a:t>your</a:t>
            </a:r>
            <a:r>
              <a:rPr lang="fr-FR" dirty="0"/>
              <a:t> intuition </a:t>
            </a:r>
            <a:endParaRPr lang="en-GB" dirty="0"/>
          </a:p>
        </p:txBody>
      </p:sp>
      <p:sp>
        <p:nvSpPr>
          <p:cNvPr id="3" name="Espace réservé du contenu 2"/>
          <p:cNvSpPr>
            <a:spLocks noGrp="1"/>
          </p:cNvSpPr>
          <p:nvPr>
            <p:ph idx="1"/>
          </p:nvPr>
        </p:nvSpPr>
        <p:spPr/>
        <p:txBody>
          <a:bodyPr>
            <a:normAutofit lnSpcReduction="10000"/>
          </a:bodyPr>
          <a:lstStyle/>
          <a:p>
            <a:pPr marL="0" indent="0">
              <a:buNone/>
            </a:pPr>
            <a:r>
              <a:rPr lang="fr-FR" dirty="0" err="1"/>
              <a:t>Because</a:t>
            </a:r>
            <a:r>
              <a:rPr lang="fr-FR" dirty="0"/>
              <a:t> </a:t>
            </a:r>
            <a:r>
              <a:rPr lang="fr-FR" dirty="0" err="1"/>
              <a:t>this</a:t>
            </a:r>
            <a:r>
              <a:rPr lang="fr-FR" dirty="0"/>
              <a:t> intuition </a:t>
            </a:r>
            <a:r>
              <a:rPr lang="fr-FR" dirty="0" err="1"/>
              <a:t>may</a:t>
            </a:r>
            <a:r>
              <a:rPr lang="fr-FR" dirty="0"/>
              <a:t> </a:t>
            </a:r>
            <a:r>
              <a:rPr lang="fr-FR" dirty="0" err="1"/>
              <a:t>be</a:t>
            </a:r>
            <a:r>
              <a:rPr lang="fr-FR" dirty="0"/>
              <a:t> </a:t>
            </a:r>
            <a:r>
              <a:rPr lang="fr-FR" dirty="0" err="1"/>
              <a:t>driven</a:t>
            </a:r>
            <a:r>
              <a:rPr lang="fr-FR" dirty="0"/>
              <a:t> by </a:t>
            </a:r>
            <a:r>
              <a:rPr lang="fr-FR" dirty="0" err="1"/>
              <a:t>individual</a:t>
            </a:r>
            <a:r>
              <a:rPr lang="fr-FR" dirty="0"/>
              <a:t> </a:t>
            </a:r>
            <a:r>
              <a:rPr lang="fr-FR" dirty="0" err="1"/>
              <a:t>specific</a:t>
            </a:r>
            <a:r>
              <a:rPr lang="fr-FR" dirty="0"/>
              <a:t> (</a:t>
            </a:r>
            <a:r>
              <a:rPr lang="fr-FR" dirty="0" err="1"/>
              <a:t>between</a:t>
            </a:r>
            <a:r>
              <a:rPr lang="fr-FR" dirty="0"/>
              <a:t> </a:t>
            </a:r>
            <a:r>
              <a:rPr lang="fr-FR" dirty="0" err="1"/>
              <a:t>correlation</a:t>
            </a:r>
            <a:r>
              <a:rPr lang="fr-FR" dirty="0"/>
              <a:t>) </a:t>
            </a:r>
            <a:r>
              <a:rPr lang="fr-FR" dirty="0" err="1"/>
              <a:t>across</a:t>
            </a:r>
            <a:r>
              <a:rPr lang="fr-FR" dirty="0"/>
              <a:t> </a:t>
            </a:r>
            <a:r>
              <a:rPr lang="fr-FR" dirty="0" err="1"/>
              <a:t>individuals</a:t>
            </a:r>
            <a:r>
              <a:rPr lang="fr-FR" dirty="0"/>
              <a:t> </a:t>
            </a:r>
            <a:r>
              <a:rPr lang="fr-FR" dirty="0" err="1"/>
              <a:t>that</a:t>
            </a:r>
            <a:r>
              <a:rPr lang="fr-FR" dirty="0"/>
              <a:t> </a:t>
            </a:r>
            <a:r>
              <a:rPr lang="fr-FR" dirty="0" err="1"/>
              <a:t>you</a:t>
            </a:r>
            <a:r>
              <a:rPr lang="fr-FR" dirty="0"/>
              <a:t> know.</a:t>
            </a:r>
          </a:p>
          <a:p>
            <a:pPr marL="0" indent="0">
              <a:buNone/>
            </a:pPr>
            <a:endParaRPr lang="fr-FR" dirty="0"/>
          </a:p>
          <a:p>
            <a:pPr marL="0" indent="0">
              <a:buNone/>
            </a:pPr>
            <a:r>
              <a:rPr lang="fr-FR" dirty="0"/>
              <a:t>The extrapolation of </a:t>
            </a:r>
            <a:r>
              <a:rPr lang="fr-FR" dirty="0" err="1"/>
              <a:t>correlation</a:t>
            </a:r>
            <a:r>
              <a:rPr lang="fr-FR" dirty="0"/>
              <a:t> to </a:t>
            </a:r>
            <a:r>
              <a:rPr lang="fr-FR" dirty="0" err="1"/>
              <a:t>within</a:t>
            </a:r>
            <a:r>
              <a:rPr lang="fr-FR" dirty="0"/>
              <a:t> </a:t>
            </a:r>
            <a:r>
              <a:rPr lang="fr-FR" dirty="0" err="1"/>
              <a:t>individual</a:t>
            </a:r>
            <a:r>
              <a:rPr lang="fr-FR" dirty="0"/>
              <a:t> changes over time </a:t>
            </a:r>
            <a:r>
              <a:rPr lang="fr-FR" dirty="0" err="1"/>
              <a:t>is</a:t>
            </a:r>
            <a:r>
              <a:rPr lang="fr-FR" dirty="0"/>
              <a:t> not </a:t>
            </a:r>
            <a:r>
              <a:rPr lang="fr-FR" dirty="0" err="1"/>
              <a:t>systematic</a:t>
            </a:r>
            <a:r>
              <a:rPr lang="fr-FR" dirty="0"/>
              <a:t>. Cf. high CO2 </a:t>
            </a:r>
            <a:r>
              <a:rPr lang="fr-FR" dirty="0" err="1"/>
              <a:t>emissions</a:t>
            </a:r>
            <a:r>
              <a:rPr lang="fr-FR" dirty="0"/>
              <a:t> and intangible= </a:t>
            </a:r>
            <a:r>
              <a:rPr lang="fr-FR" dirty="0" err="1"/>
              <a:t>zero</a:t>
            </a:r>
            <a:r>
              <a:rPr lang="fr-FR" dirty="0"/>
              <a:t> </a:t>
            </a:r>
            <a:r>
              <a:rPr lang="fr-FR" dirty="0" err="1"/>
              <a:t>correlation</a:t>
            </a:r>
            <a:r>
              <a:rPr lang="fr-FR" dirty="0"/>
              <a:t> </a:t>
            </a:r>
            <a:r>
              <a:rPr lang="fr-FR" dirty="0" err="1"/>
              <a:t>across</a:t>
            </a:r>
            <a:r>
              <a:rPr lang="fr-FR" dirty="0"/>
              <a:t> time for </a:t>
            </a:r>
            <a:r>
              <a:rPr lang="fr-FR" dirty="0" err="1"/>
              <a:t>within</a:t>
            </a:r>
            <a:r>
              <a:rPr lang="fr-FR" dirty="0"/>
              <a:t> </a:t>
            </a:r>
            <a:r>
              <a:rPr lang="fr-FR" dirty="0" err="1"/>
              <a:t>transformed</a:t>
            </a:r>
            <a:r>
              <a:rPr lang="fr-FR" dirty="0"/>
              <a:t> data;</a:t>
            </a:r>
            <a:endParaRPr lang="en-GB" dirty="0"/>
          </a:p>
        </p:txBody>
      </p:sp>
    </p:spTree>
    <p:extLst>
      <p:ext uri="{BB962C8B-B14F-4D97-AF65-F5344CB8AC3E}">
        <p14:creationId xmlns:p14="http://schemas.microsoft.com/office/powerpoint/2010/main" val="364834251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4. </a:t>
            </a:r>
            <a:r>
              <a:rPr lang="fr-FR" dirty="0" err="1"/>
              <a:t>Within</a:t>
            </a:r>
            <a:r>
              <a:rPr lang="fr-FR" dirty="0"/>
              <a:t> versus </a:t>
            </a:r>
            <a:r>
              <a:rPr lang="fr-FR" dirty="0" err="1"/>
              <a:t>Between</a:t>
            </a:r>
            <a:r>
              <a:rPr lang="fr-FR" dirty="0"/>
              <a:t> </a:t>
            </a:r>
            <a:br>
              <a:rPr lang="fr-FR" dirty="0"/>
            </a:br>
            <a:r>
              <a:rPr lang="fr-FR" dirty="0" err="1"/>
              <a:t>analysis</a:t>
            </a:r>
            <a:r>
              <a:rPr lang="fr-FR" dirty="0"/>
              <a:t> of variance</a:t>
            </a:r>
          </a:p>
        </p:txBody>
      </p:sp>
    </p:spTree>
    <p:extLst>
      <p:ext uri="{BB962C8B-B14F-4D97-AF65-F5344CB8AC3E}">
        <p14:creationId xmlns:p14="http://schemas.microsoft.com/office/powerpoint/2010/main" val="235702935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dirty="0" err="1"/>
              <a:t>Between</a:t>
            </a:r>
            <a:r>
              <a:rPr lang="fr-FR" sz="3200" dirty="0"/>
              <a:t> transformation as the coefficients of a </a:t>
            </a:r>
            <a:r>
              <a:rPr lang="fr-FR" sz="3200" dirty="0" err="1"/>
              <a:t>regression</a:t>
            </a:r>
            <a:r>
              <a:rPr lang="fr-FR" sz="3200" dirty="0"/>
              <a:t> on </a:t>
            </a:r>
            <a:r>
              <a:rPr lang="fr-FR" sz="3200" dirty="0" err="1"/>
              <a:t>individual</a:t>
            </a:r>
            <a:r>
              <a:rPr lang="fr-FR" sz="3200" dirty="0"/>
              <a:t> </a:t>
            </a:r>
            <a:r>
              <a:rPr lang="fr-FR" sz="3200" dirty="0" err="1"/>
              <a:t>dummies</a:t>
            </a:r>
            <a:r>
              <a:rPr lang="fr-FR" sz="3200" dirty="0"/>
              <a:t> </a:t>
            </a:r>
            <a:r>
              <a:rPr lang="fr-FR" sz="3200" dirty="0" err="1"/>
              <a:t>only</a:t>
            </a:r>
            <a:endParaRPr lang="en-GB" sz="3200"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FR" dirty="0"/>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el-GR"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1,. </a:t>
            </a:r>
            <a:r>
              <a:rPr lang="fr-FR" dirty="0">
                <a:latin typeface="Cambria Math" panose="02040503050406030204" pitchFamily="18" charset="0"/>
                <a:ea typeface="Cambria Math" panose="02040503050406030204" pitchFamily="18" charset="0"/>
              </a:rPr>
              <a:t>D</a:t>
            </a:r>
            <a:r>
              <a:rPr lang="fr-FR" baseline="-25000" dirty="0">
                <a:latin typeface="Cambria Math" panose="02040503050406030204" pitchFamily="18" charset="0"/>
                <a:ea typeface="Cambria Math" panose="02040503050406030204" pitchFamily="18" charset="0"/>
              </a:rPr>
              <a:t>1</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 2,. </a:t>
            </a:r>
            <a:r>
              <a:rPr lang="fr-FR" dirty="0">
                <a:latin typeface="Cambria Math" panose="02040503050406030204" pitchFamily="18" charset="0"/>
                <a:ea typeface="Cambria Math" panose="02040503050406030204" pitchFamily="18" charset="0"/>
              </a:rPr>
              <a:t> D</a:t>
            </a:r>
            <a:r>
              <a:rPr lang="fr-FR" baseline="-25000" dirty="0">
                <a:latin typeface="Cambria Math" panose="02040503050406030204" pitchFamily="18" charset="0"/>
                <a:ea typeface="Cambria Math" panose="02040503050406030204" pitchFamily="18" charset="0"/>
              </a:rPr>
              <a:t>2</a:t>
            </a:r>
            <a:r>
              <a:rPr lang="fr-FR" dirty="0">
                <a:latin typeface="Cambria Math" panose="02040503050406030204" pitchFamily="18" charset="0"/>
                <a:ea typeface="Cambria Math" panose="02040503050406030204" pitchFamily="18" charset="0"/>
              </a:rPr>
              <a:t> + </a:t>
            </a:r>
            <a:r>
              <a:rPr lang="fr-FR" dirty="0"/>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t>–(</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1,. </a:t>
            </a:r>
            <a:r>
              <a:rPr lang="fr-FR" dirty="0">
                <a:latin typeface="Cambria Math" panose="02040503050406030204" pitchFamily="18" charset="0"/>
                <a:ea typeface="Cambria Math" panose="02040503050406030204" pitchFamily="18" charset="0"/>
              </a:rPr>
              <a:t>D</a:t>
            </a:r>
            <a:r>
              <a:rPr lang="fr-FR" baseline="-25000" dirty="0">
                <a:latin typeface="Cambria Math" panose="02040503050406030204" pitchFamily="18" charset="0"/>
                <a:ea typeface="Cambria Math" panose="02040503050406030204" pitchFamily="18" charset="0"/>
              </a:rPr>
              <a:t>1</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 2,. </a:t>
            </a:r>
            <a:r>
              <a:rPr lang="fr-FR" dirty="0">
                <a:latin typeface="Cambria Math" panose="02040503050406030204" pitchFamily="18" charset="0"/>
                <a:ea typeface="Cambria Math" panose="02040503050406030204" pitchFamily="18" charset="0"/>
              </a:rPr>
              <a:t> D</a:t>
            </a:r>
            <a:r>
              <a:rPr lang="fr-FR" baseline="-25000" dirty="0">
                <a:latin typeface="Cambria Math" panose="02040503050406030204" pitchFamily="18" charset="0"/>
                <a:ea typeface="Cambria Math" panose="02040503050406030204" pitchFamily="18" charset="0"/>
              </a:rPr>
              <a:t>2</a:t>
            </a:r>
            <a:r>
              <a:rPr lang="fr-FR" dirty="0"/>
              <a:t>)</a:t>
            </a:r>
          </a:p>
          <a:p>
            <a:pPr marL="0" indent="0" algn="just">
              <a:buNone/>
            </a:pPr>
            <a:r>
              <a:rPr lang="fr-FR" dirty="0"/>
              <a:t>The OLS </a:t>
            </a:r>
            <a:r>
              <a:rPr lang="fr-FR" dirty="0" err="1"/>
              <a:t>parameters</a:t>
            </a:r>
            <a:r>
              <a:rPr lang="fr-FR" dirty="0"/>
              <a:t> are the </a:t>
            </a:r>
            <a:r>
              <a:rPr lang="fr-FR" dirty="0" err="1"/>
              <a:t>average</a:t>
            </a:r>
            <a:r>
              <a:rPr lang="fr-FR" dirty="0"/>
              <a:t> over time for </a:t>
            </a:r>
            <a:r>
              <a:rPr lang="fr-FR" dirty="0" err="1"/>
              <a:t>each</a:t>
            </a:r>
            <a:r>
              <a:rPr lang="fr-FR" dirty="0"/>
              <a:t> </a:t>
            </a:r>
            <a:r>
              <a:rPr lang="fr-FR" dirty="0" err="1"/>
              <a:t>individual</a:t>
            </a:r>
            <a:r>
              <a:rPr lang="fr-FR" dirty="0"/>
              <a:t> (</a:t>
            </a:r>
            <a:r>
              <a:rPr lang="fr-FR" b="1" dirty="0" err="1"/>
              <a:t>between</a:t>
            </a:r>
            <a:r>
              <a:rPr lang="fr-FR" b="1" dirty="0"/>
              <a:t> transformation</a:t>
            </a:r>
            <a:r>
              <a:rPr lang="fr-FR" dirty="0"/>
              <a:t>).</a:t>
            </a:r>
          </a:p>
          <a:p>
            <a:pPr marL="0" indent="0" algn="just">
              <a:buNone/>
            </a:pPr>
            <a:r>
              <a:rPr lang="fr-FR" dirty="0" err="1"/>
              <a:t>We</a:t>
            </a:r>
            <a:r>
              <a:rPr lang="fr-FR" dirty="0"/>
              <a:t> </a:t>
            </a:r>
            <a:r>
              <a:rPr lang="fr-FR" dirty="0" err="1"/>
              <a:t>denote</a:t>
            </a:r>
            <a:r>
              <a:rPr lang="fr-FR" dirty="0"/>
              <a:t> the </a:t>
            </a:r>
            <a:r>
              <a:rPr lang="fr-FR" dirty="0" err="1"/>
              <a:t>forecast</a:t>
            </a:r>
            <a:r>
              <a:rPr lang="fr-FR" dirty="0"/>
              <a:t> (y </a:t>
            </a:r>
            <a:r>
              <a:rPr lang="fr-FR" dirty="0" err="1"/>
              <a:t>hat</a:t>
            </a:r>
            <a:r>
              <a:rPr lang="fr-FR" dirty="0"/>
              <a:t>):</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1,. </a:t>
            </a:r>
            <a:r>
              <a:rPr lang="fr-FR" dirty="0">
                <a:latin typeface="Cambria Math" panose="02040503050406030204" pitchFamily="18" charset="0"/>
                <a:ea typeface="Cambria Math" panose="02040503050406030204" pitchFamily="18" charset="0"/>
              </a:rPr>
              <a:t>D</a:t>
            </a:r>
            <a:r>
              <a:rPr lang="fr-FR" baseline="-25000" dirty="0">
                <a:latin typeface="Cambria Math" panose="02040503050406030204" pitchFamily="18" charset="0"/>
                <a:ea typeface="Cambria Math" panose="02040503050406030204" pitchFamily="18" charset="0"/>
              </a:rPr>
              <a:t>1</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 2,. </a:t>
            </a:r>
            <a:r>
              <a:rPr lang="fr-FR" dirty="0">
                <a:latin typeface="Cambria Math" panose="02040503050406030204" pitchFamily="18" charset="0"/>
                <a:ea typeface="Cambria Math" panose="02040503050406030204" pitchFamily="18" charset="0"/>
              </a:rPr>
              <a:t> D</a:t>
            </a:r>
            <a:r>
              <a:rPr lang="fr-FR" baseline="-25000" dirty="0">
                <a:latin typeface="Cambria Math" panose="02040503050406030204" pitchFamily="18" charset="0"/>
                <a:ea typeface="Cambria Math" panose="02040503050406030204" pitchFamily="18" charset="0"/>
              </a:rPr>
              <a:t>2</a:t>
            </a:r>
            <a:r>
              <a:rPr lang="fr-FR" dirty="0">
                <a:latin typeface="Cambria Math" panose="02040503050406030204" pitchFamily="18" charset="0"/>
                <a:ea typeface="Cambria Math" panose="02040503050406030204" pitchFamily="18" charset="0"/>
              </a:rPr>
              <a:t> = y</a:t>
            </a:r>
            <a:r>
              <a:rPr lang="fr-FR" baseline="-25000" dirty="0">
                <a:latin typeface="Cambria Math" panose="02040503050406030204" pitchFamily="18" charset="0"/>
                <a:ea typeface="Cambria Math" panose="02040503050406030204" pitchFamily="18" charset="0"/>
              </a:rPr>
              <a:t>i. </a:t>
            </a:r>
          </a:p>
          <a:p>
            <a:pPr marL="0" indent="0" algn="just">
              <a:buNone/>
            </a:pPr>
            <a:r>
              <a:rPr lang="fr-FR" dirty="0"/>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el-GR"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i. </a:t>
            </a:r>
            <a:r>
              <a:rPr lang="fr-FR" dirty="0"/>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t>–y</a:t>
            </a:r>
            <a:r>
              <a:rPr lang="fr-FR" baseline="-25000" dirty="0">
                <a:latin typeface="Cambria Math" panose="02040503050406030204" pitchFamily="18" charset="0"/>
                <a:ea typeface="Cambria Math" panose="02040503050406030204" pitchFamily="18" charset="0"/>
              </a:rPr>
              <a:t> i. </a:t>
            </a:r>
            <a:r>
              <a:rPr lang="fr-FR" dirty="0"/>
              <a:t>)</a:t>
            </a:r>
          </a:p>
          <a:p>
            <a:pPr marL="0" indent="0" algn="just">
              <a:buNone/>
            </a:pPr>
            <a:r>
              <a:rPr lang="fr-FR" dirty="0"/>
              <a:t>The </a:t>
            </a:r>
            <a:r>
              <a:rPr lang="fr-FR" dirty="0" err="1"/>
              <a:t>residuals</a:t>
            </a:r>
            <a:r>
              <a:rPr lang="fr-FR" dirty="0"/>
              <a:t> of </a:t>
            </a:r>
            <a:r>
              <a:rPr lang="fr-FR" dirty="0" err="1"/>
              <a:t>this</a:t>
            </a:r>
            <a:r>
              <a:rPr lang="fr-FR" dirty="0"/>
              <a:t> </a:t>
            </a:r>
            <a:r>
              <a:rPr lang="fr-FR" dirty="0" err="1"/>
              <a:t>regression</a:t>
            </a:r>
            <a:r>
              <a:rPr lang="fr-FR" dirty="0"/>
              <a:t> </a:t>
            </a:r>
            <a:r>
              <a:rPr lang="fr-FR" dirty="0" err="1"/>
              <a:t>only</a:t>
            </a:r>
            <a:r>
              <a:rPr lang="fr-FR" dirty="0"/>
              <a:t> on </a:t>
            </a:r>
            <a:r>
              <a:rPr lang="fr-FR" dirty="0" err="1"/>
              <a:t>individual</a:t>
            </a:r>
            <a:r>
              <a:rPr lang="fr-FR" dirty="0"/>
              <a:t> </a:t>
            </a:r>
            <a:r>
              <a:rPr lang="fr-FR" dirty="0" err="1"/>
              <a:t>dummies</a:t>
            </a:r>
            <a:r>
              <a:rPr lang="fr-FR" dirty="0"/>
              <a:t> </a:t>
            </a:r>
            <a:r>
              <a:rPr lang="fr-FR" dirty="0" err="1"/>
              <a:t>is</a:t>
            </a:r>
            <a:r>
              <a:rPr lang="fr-FR" dirty="0"/>
              <a:t> the </a:t>
            </a:r>
            <a:r>
              <a:rPr lang="fr-FR" dirty="0" err="1"/>
              <a:t>within</a:t>
            </a:r>
            <a:r>
              <a:rPr lang="fr-FR" dirty="0"/>
              <a:t> transformation of the variable 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el-G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with</a:t>
            </a:r>
            <a:r>
              <a:rPr lang="fr-FR" dirty="0">
                <a:latin typeface="Cambria Math" panose="02040503050406030204" pitchFamily="18" charset="0"/>
                <a:ea typeface="Cambria Math" panose="02040503050406030204" pitchFamily="18" charset="0"/>
              </a:rPr>
              <a:t> a </a:t>
            </a:r>
            <a:r>
              <a:rPr lang="fr-FR" dirty="0" err="1">
                <a:latin typeface="Cambria Math" panose="02040503050406030204" pitchFamily="18" charset="0"/>
                <a:ea typeface="Cambria Math" panose="02040503050406030204" pitchFamily="18" charset="0"/>
              </a:rPr>
              <a:t>zero</a:t>
            </a:r>
            <a:r>
              <a:rPr lang="fr-FR" dirty="0">
                <a:latin typeface="Cambria Math" panose="02040503050406030204" pitchFamily="18" charset="0"/>
                <a:ea typeface="Cambria Math" panose="02040503050406030204" pitchFamily="18" charset="0"/>
              </a:rPr>
              <a:t> covariance </a:t>
            </a:r>
            <a:r>
              <a:rPr lang="fr-FR" dirty="0" err="1">
                <a:latin typeface="Cambria Math" panose="02040503050406030204" pitchFamily="18" charset="0"/>
                <a:ea typeface="Cambria Math" panose="02040503050406030204" pitchFamily="18" charset="0"/>
              </a:rPr>
              <a:t>with</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explanatory</a:t>
            </a:r>
            <a:r>
              <a:rPr lang="fr-FR" dirty="0">
                <a:latin typeface="Cambria Math" panose="02040503050406030204" pitchFamily="18" charset="0"/>
                <a:ea typeface="Cambria Math" panose="02040503050406030204" pitchFamily="18" charset="0"/>
              </a:rPr>
              <a:t> variables. As </a:t>
            </a:r>
            <a:r>
              <a:rPr lang="fr-FR" dirty="0" err="1">
                <a:latin typeface="Cambria Math" panose="02040503050406030204" pitchFamily="18" charset="0"/>
                <a:ea typeface="Cambria Math" panose="02040503050406030204" pitchFamily="18" charset="0"/>
              </a:rPr>
              <a:t>always</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residuals</a:t>
            </a:r>
            <a:r>
              <a:rPr lang="fr-FR" dirty="0">
                <a:latin typeface="Cambria Math" panose="02040503050406030204" pitchFamily="18" charset="0"/>
                <a:ea typeface="Cambria Math" panose="02040503050406030204" pitchFamily="18" charset="0"/>
              </a:rPr>
              <a:t> are orthogonal to </a:t>
            </a:r>
            <a:r>
              <a:rPr lang="fr-FR" dirty="0" err="1">
                <a:latin typeface="Cambria Math" panose="02040503050406030204" pitchFamily="18" charset="0"/>
                <a:ea typeface="Cambria Math" panose="02040503050406030204" pitchFamily="18" charset="0"/>
              </a:rPr>
              <a:t>explanatory</a:t>
            </a:r>
            <a:r>
              <a:rPr lang="fr-FR" dirty="0">
                <a:latin typeface="Cambria Math" panose="02040503050406030204" pitchFamily="18" charset="0"/>
                <a:ea typeface="Cambria Math" panose="02040503050406030204" pitchFamily="18" charset="0"/>
              </a:rPr>
              <a:t> variables.</a:t>
            </a:r>
          </a:p>
          <a:p>
            <a:pPr marL="0" indent="0" algn="just">
              <a:buNone/>
            </a:pPr>
            <a:r>
              <a:rPr lang="el-GR" dirty="0">
                <a:latin typeface="Cambria Math" panose="02040503050406030204" pitchFamily="18" charset="0"/>
                <a:ea typeface="Cambria Math" panose="02040503050406030204" pitchFamily="18" charset="0"/>
              </a:rPr>
              <a:t>ε</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 </a:t>
            </a:r>
            <a:r>
              <a:rPr lang="fr-FR" dirty="0"/>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t>–y</a:t>
            </a:r>
            <a:r>
              <a:rPr lang="fr-FR" baseline="-25000" dirty="0">
                <a:latin typeface="Cambria Math" panose="02040503050406030204" pitchFamily="18" charset="0"/>
                <a:ea typeface="Cambria Math" panose="02040503050406030204" pitchFamily="18" charset="0"/>
              </a:rPr>
              <a:t> i. </a:t>
            </a:r>
            <a:r>
              <a:rPr lang="el-GR" dirty="0">
                <a:latin typeface="Cambria Math"/>
                <a:ea typeface="Cambria Math"/>
              </a:rPr>
              <a:t>⊥</a:t>
            </a:r>
            <a:r>
              <a:rPr lang="fr-FR" dirty="0">
                <a:latin typeface="Cambria Math"/>
                <a:ea typeface="Cambria Math"/>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i,.  </a:t>
            </a:r>
            <a:r>
              <a:rPr lang="el-GR" dirty="0">
                <a:latin typeface="Cambria Math" panose="02040503050406030204" pitchFamily="18" charset="0"/>
                <a:ea typeface="Cambria Math" panose="02040503050406030204" pitchFamily="18" charset="0"/>
                <a:cs typeface="Calibri"/>
              </a:rPr>
              <a:t>⇔</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cov</a:t>
            </a:r>
            <a:r>
              <a:rPr lang="fr-FR" dirty="0">
                <a:latin typeface="Cambria Math" panose="02040503050406030204" pitchFamily="18" charset="0"/>
                <a:ea typeface="Cambria Math" panose="02040503050406030204" pitchFamily="18" charset="0"/>
                <a:cs typeface="Calibri"/>
              </a:rPr>
              <a:t>(</a:t>
            </a:r>
            <a:r>
              <a:rPr lang="fr-FR" dirty="0"/>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t>–y</a:t>
            </a:r>
            <a:r>
              <a:rPr lang="fr-FR" baseline="-25000" dirty="0">
                <a:latin typeface="Cambria Math" panose="02040503050406030204" pitchFamily="18" charset="0"/>
                <a:ea typeface="Cambria Math" panose="02040503050406030204" pitchFamily="18" charset="0"/>
              </a:rPr>
              <a:t> i.</a:t>
            </a:r>
            <a:r>
              <a:rPr lang="fr-FR" dirty="0">
                <a:latin typeface="Cambria Math" panose="02040503050406030204" pitchFamily="18" charset="0"/>
                <a:ea typeface="Cambria Math" panose="02040503050406030204" pitchFamily="18" charset="0"/>
                <a:cs typeface="Calibri"/>
              </a:rPr>
              <a:t>   ,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i,. </a:t>
            </a:r>
            <a:r>
              <a:rPr lang="fr-FR" dirty="0">
                <a:latin typeface="Cambria Math" panose="02040503050406030204" pitchFamily="18" charset="0"/>
                <a:ea typeface="Cambria Math" panose="02040503050406030204" pitchFamily="18" charset="0"/>
                <a:cs typeface="Calibri"/>
              </a:rPr>
              <a:t>  ) =0</a:t>
            </a:r>
            <a:endParaRPr lang="fr-FR" baseline="-25000" dirty="0">
              <a:latin typeface="Cambria Math" panose="02040503050406030204" pitchFamily="18" charset="0"/>
              <a:ea typeface="Cambria Math" panose="02040503050406030204" pitchFamily="18" charset="0"/>
            </a:endParaRPr>
          </a:p>
          <a:p>
            <a:pPr marL="0" indent="0">
              <a:buNone/>
            </a:pPr>
            <a:endParaRPr lang="fr-FR" baseline="-25000" dirty="0">
              <a:latin typeface="Cambria Math" panose="02040503050406030204" pitchFamily="18" charset="0"/>
              <a:ea typeface="Cambria Math" panose="02040503050406030204" pitchFamily="18" charset="0"/>
            </a:endParaRPr>
          </a:p>
          <a:p>
            <a:pPr marL="0" indent="0">
              <a:buNone/>
            </a:pPr>
            <a:endParaRPr lang="en-GB" dirty="0"/>
          </a:p>
        </p:txBody>
      </p:sp>
    </p:spTree>
    <p:extLst>
      <p:ext uri="{BB962C8B-B14F-4D97-AF65-F5344CB8AC3E}">
        <p14:creationId xmlns:p14="http://schemas.microsoft.com/office/powerpoint/2010/main" val="294010536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Analysis</a:t>
            </a:r>
            <a:r>
              <a:rPr lang="fr-FR" dirty="0"/>
              <a:t> of variance</a:t>
            </a:r>
            <a:br>
              <a:rPr lang="fr-FR" dirty="0"/>
            </a:br>
            <a:r>
              <a:rPr lang="fr-FR" dirty="0" err="1"/>
              <a:t>with</a:t>
            </a:r>
            <a:r>
              <a:rPr lang="fr-FR" dirty="0"/>
              <a:t> OLS </a:t>
            </a:r>
            <a:r>
              <a:rPr lang="fr-FR" dirty="0" err="1"/>
              <a:t>regression</a:t>
            </a:r>
            <a:endParaRPr lang="fr-FR" dirty="0"/>
          </a:p>
        </p:txBody>
      </p:sp>
      <p:sp>
        <p:nvSpPr>
          <p:cNvPr id="3" name="Espace réservé du contenu 2"/>
          <p:cNvSpPr>
            <a:spLocks noGrp="1"/>
          </p:cNvSpPr>
          <p:nvPr>
            <p:ph idx="1"/>
          </p:nvPr>
        </p:nvSpPr>
        <p:spPr/>
        <p:txBody>
          <a:bodyPr>
            <a:normAutofit fontScale="85000" lnSpcReduction="20000"/>
          </a:bodyPr>
          <a:lstStyle/>
          <a:p>
            <a:pPr marL="0" indent="0">
              <a:buNone/>
            </a:pPr>
            <a:r>
              <a:rPr lang="el-GR" dirty="0">
                <a:latin typeface="Cambria Math" panose="02040503050406030204" pitchFamily="18" charset="0"/>
                <a:ea typeface="Cambria Math" panose="02040503050406030204" pitchFamily="18" charset="0"/>
              </a:rPr>
              <a:t>ε</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 </a:t>
            </a:r>
            <a:r>
              <a:rPr lang="el-GR" dirty="0">
                <a:latin typeface="Cambria Math" panose="02040503050406030204" pitchFamily="18" charset="0"/>
                <a:ea typeface="Cambria Math" panose="02040503050406030204" pitchFamily="18" charset="0"/>
              </a:rPr>
              <a:t>⊥</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i,.  </a:t>
            </a:r>
            <a:r>
              <a:rPr lang="el-GR" dirty="0">
                <a:latin typeface="Cambria Math" panose="02040503050406030204" pitchFamily="18" charset="0"/>
                <a:ea typeface="Cambria Math" panose="02040503050406030204" pitchFamily="18" charset="0"/>
                <a:cs typeface="Calibri"/>
              </a:rPr>
              <a:t>⇔</a:t>
            </a:r>
            <a:r>
              <a:rPr lang="fr-FR" dirty="0">
                <a:latin typeface="Cambria Math" panose="02040503050406030204" pitchFamily="18" charset="0"/>
                <a:ea typeface="Cambria Math" panose="02040503050406030204" pitchFamily="18" charset="0"/>
                <a:cs typeface="Calibri"/>
              </a:rPr>
              <a:t> </a:t>
            </a:r>
            <a:r>
              <a:rPr lang="fr-FR" dirty="0" err="1">
                <a:latin typeface="Cambria Math" panose="02040503050406030204" pitchFamily="18" charset="0"/>
                <a:ea typeface="Cambria Math" panose="02040503050406030204" pitchFamily="18" charset="0"/>
                <a:cs typeface="Calibri"/>
              </a:rPr>
              <a:t>cov</a:t>
            </a:r>
            <a:r>
              <a:rPr lang="fr-FR" dirty="0">
                <a:latin typeface="Cambria Math" panose="02040503050406030204" pitchFamily="18" charset="0"/>
                <a:ea typeface="Cambria Math" panose="02040503050406030204" pitchFamily="18" charset="0"/>
                <a:cs typeface="Calibri"/>
              </a:rPr>
              <a:t>(</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a:t>
            </a:r>
            <a:r>
              <a:rPr lang="fr-FR" dirty="0">
                <a:latin typeface="Cambria Math" panose="02040503050406030204" pitchFamily="18" charset="0"/>
                <a:ea typeface="Cambria Math" panose="02040503050406030204" pitchFamily="18" charset="0"/>
                <a:cs typeface="Calibri"/>
              </a:rPr>
              <a:t>   ,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i,. </a:t>
            </a:r>
            <a:r>
              <a:rPr lang="fr-FR" dirty="0">
                <a:latin typeface="Cambria Math" panose="02040503050406030204" pitchFamily="18" charset="0"/>
                <a:ea typeface="Cambria Math" panose="02040503050406030204" pitchFamily="18" charset="0"/>
                <a:cs typeface="Calibri"/>
              </a:rPr>
              <a:t>  ) =0</a:t>
            </a:r>
          </a:p>
          <a:p>
            <a:pPr marL="0" indent="0">
              <a:buNone/>
            </a:pPr>
            <a:r>
              <a:rPr lang="fr-FR" b="1" dirty="0" err="1">
                <a:latin typeface="Cambria Math" panose="02040503050406030204" pitchFamily="18" charset="0"/>
                <a:ea typeface="Cambria Math" panose="02040503050406030204" pitchFamily="18" charset="0"/>
              </a:rPr>
              <a:t>Allows</a:t>
            </a:r>
            <a:r>
              <a:rPr lang="fr-FR" b="1" dirty="0">
                <a:latin typeface="Cambria Math" panose="02040503050406030204" pitchFamily="18" charset="0"/>
                <a:ea typeface="Cambria Math" panose="02040503050406030204" pitchFamily="18" charset="0"/>
              </a:rPr>
              <a:t>  the « </a:t>
            </a:r>
            <a:r>
              <a:rPr lang="fr-FR" b="1" dirty="0" err="1">
                <a:latin typeface="Cambria Math" panose="02040503050406030204" pitchFamily="18" charset="0"/>
                <a:ea typeface="Cambria Math" panose="02040503050406030204" pitchFamily="18" charset="0"/>
              </a:rPr>
              <a:t>Analysis</a:t>
            </a:r>
            <a:r>
              <a:rPr lang="fr-FR" b="1" dirty="0">
                <a:latin typeface="Cambria Math" panose="02040503050406030204" pitchFamily="18" charset="0"/>
                <a:ea typeface="Cambria Math" panose="02040503050406030204" pitchFamily="18" charset="0"/>
              </a:rPr>
              <a:t> of variance » </a:t>
            </a:r>
            <a:endParaRPr lang="fr-FR" baseline="-25000" dirty="0">
              <a:latin typeface="Cambria Math" panose="02040503050406030204" pitchFamily="18" charset="0"/>
              <a:ea typeface="Cambria Math" panose="02040503050406030204" pitchFamily="18" charset="0"/>
            </a:endParaRPr>
          </a:p>
          <a:p>
            <a:pPr marL="0" indent="0">
              <a:buNone/>
            </a:pPr>
            <a:r>
              <a:rPr lang="pt-BR" dirty="0">
                <a:latin typeface="Cambria Math" panose="02040503050406030204" pitchFamily="18" charset="0"/>
                <a:ea typeface="Cambria Math" panose="02040503050406030204" pitchFamily="18" charset="0"/>
              </a:rPr>
              <a:t>⇒ V</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 = </a:t>
            </a:r>
            <a:r>
              <a:rPr lang="pt-BR" dirty="0">
                <a:latin typeface="Cambria Math" panose="02040503050406030204" pitchFamily="18" charset="0"/>
                <a:ea typeface="Cambria Math" panose="02040503050406030204" pitchFamily="18" charset="0"/>
              </a:rPr>
              <a:t>V(</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i.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 </a:t>
            </a:r>
            <a:r>
              <a:rPr lang="fr-FR" dirty="0">
                <a:latin typeface="Cambria Math" panose="02040503050406030204" pitchFamily="18" charset="0"/>
                <a:ea typeface="Cambria Math" panose="02040503050406030204" pitchFamily="18" charset="0"/>
              </a:rPr>
              <a:t>) ) </a:t>
            </a:r>
          </a:p>
          <a:p>
            <a:pPr marL="0" indent="0">
              <a:buNone/>
            </a:pP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cov</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i.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 </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i.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 </a:t>
            </a:r>
            <a:r>
              <a:rPr lang="fr-FR" dirty="0">
                <a:latin typeface="Cambria Math" panose="02040503050406030204" pitchFamily="18" charset="0"/>
                <a:ea typeface="Cambria Math" panose="02040503050406030204" pitchFamily="18" charset="0"/>
              </a:rPr>
              <a:t>))</a:t>
            </a:r>
          </a:p>
          <a:p>
            <a:pPr marL="0" indent="0">
              <a:buNone/>
            </a:pP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cov</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i. </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i. </a:t>
            </a:r>
            <a:r>
              <a:rPr lang="fr-FR" dirty="0">
                <a:latin typeface="Cambria Math" panose="02040503050406030204" pitchFamily="18" charset="0"/>
                <a:ea typeface="Cambria Math" panose="02040503050406030204" pitchFamily="18" charset="0"/>
              </a:rPr>
              <a:t>)+</a:t>
            </a:r>
            <a:r>
              <a:rPr lang="fr-FR" dirty="0" err="1">
                <a:latin typeface="Cambria Math" panose="02040503050406030204" pitchFamily="18" charset="0"/>
                <a:ea typeface="Cambria Math" panose="02040503050406030204" pitchFamily="18" charset="0"/>
              </a:rPr>
              <a:t>cov</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 </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 </a:t>
            </a:r>
            <a:r>
              <a:rPr lang="fr-FR" dirty="0">
                <a:latin typeface="Cambria Math" panose="02040503050406030204" pitchFamily="18" charset="0"/>
                <a:ea typeface="Cambria Math" panose="02040503050406030204" pitchFamily="18" charset="0"/>
              </a:rPr>
              <a:t>))</a:t>
            </a:r>
          </a:p>
          <a:p>
            <a:pPr marL="0" indent="0">
              <a:buNone/>
            </a:pPr>
            <a:r>
              <a:rPr lang="fr-FR" dirty="0">
                <a:latin typeface="Cambria Math" panose="02040503050406030204" pitchFamily="18" charset="0"/>
                <a:ea typeface="Cambria Math" panose="02040503050406030204" pitchFamily="18" charset="0"/>
              </a:rPr>
              <a:t>+ 2 </a:t>
            </a:r>
            <a:r>
              <a:rPr lang="fr-FR" dirty="0" err="1">
                <a:latin typeface="Cambria Math" panose="02040503050406030204" pitchFamily="18" charset="0"/>
                <a:ea typeface="Cambria Math" panose="02040503050406030204" pitchFamily="18" charset="0"/>
                <a:cs typeface="Calibri"/>
              </a:rPr>
              <a:t>cov</a:t>
            </a:r>
            <a:r>
              <a:rPr lang="fr-FR" dirty="0">
                <a:latin typeface="Cambria Math" panose="02040503050406030204" pitchFamily="18" charset="0"/>
                <a:ea typeface="Cambria Math" panose="02040503050406030204" pitchFamily="18" charset="0"/>
                <a:cs typeface="Calibri"/>
              </a:rPr>
              <a:t>(</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a:t>
            </a:r>
            <a:r>
              <a:rPr lang="fr-FR" dirty="0">
                <a:latin typeface="Cambria Math" panose="02040503050406030204" pitchFamily="18" charset="0"/>
                <a:ea typeface="Cambria Math" panose="02040503050406030204" pitchFamily="18" charset="0"/>
                <a:cs typeface="Calibri"/>
              </a:rPr>
              <a:t>   ,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i,. </a:t>
            </a:r>
            <a:r>
              <a:rPr lang="fr-FR" dirty="0">
                <a:latin typeface="Cambria Math" panose="02040503050406030204" pitchFamily="18" charset="0"/>
                <a:ea typeface="Cambria Math" panose="02040503050406030204" pitchFamily="18" charset="0"/>
                <a:cs typeface="Calibri"/>
              </a:rPr>
              <a:t>  )</a:t>
            </a:r>
          </a:p>
          <a:p>
            <a:pPr marL="0" indent="0">
              <a:buNone/>
            </a:pPr>
            <a:r>
              <a:rPr lang="fr-FR" dirty="0">
                <a:latin typeface="Cambria Math" panose="02040503050406030204" pitchFamily="18" charset="0"/>
                <a:ea typeface="Cambria Math" panose="02040503050406030204" pitchFamily="18" charset="0"/>
                <a:cs typeface="Calibri"/>
              </a:rPr>
              <a:t>= V(</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i.</a:t>
            </a:r>
            <a:r>
              <a:rPr lang="fr-FR" dirty="0">
                <a:latin typeface="Cambria Math" panose="02040503050406030204" pitchFamily="18" charset="0"/>
                <a:ea typeface="Cambria Math" panose="02040503050406030204" pitchFamily="18" charset="0"/>
              </a:rPr>
              <a:t>)+V(y</a:t>
            </a:r>
            <a:r>
              <a:rPr lang="fr-FR" baseline="-25000" dirty="0">
                <a:latin typeface="Cambria Math" panose="02040503050406030204" pitchFamily="18" charset="0"/>
                <a:ea typeface="Cambria Math" panose="02040503050406030204" pitchFamily="18" charset="0"/>
              </a:rPr>
              <a:t> </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–y</a:t>
            </a:r>
            <a:r>
              <a:rPr lang="fr-FR" baseline="-25000" dirty="0">
                <a:latin typeface="Cambria Math" panose="02040503050406030204" pitchFamily="18" charset="0"/>
                <a:ea typeface="Cambria Math" panose="02040503050406030204" pitchFamily="18" charset="0"/>
              </a:rPr>
              <a:t> i. </a:t>
            </a:r>
            <a:r>
              <a:rPr lang="fr-FR" dirty="0">
                <a:latin typeface="Cambria Math" panose="02040503050406030204" pitchFamily="18" charset="0"/>
                <a:ea typeface="Cambria Math" panose="02040503050406030204" pitchFamily="18" charset="0"/>
              </a:rPr>
              <a:t>)</a:t>
            </a:r>
          </a:p>
          <a:p>
            <a:pPr marL="0" indent="0">
              <a:buNone/>
            </a:pPr>
            <a:r>
              <a:rPr lang="fr-FR" dirty="0">
                <a:latin typeface="Cambria Math" panose="02040503050406030204" pitchFamily="18" charset="0"/>
                <a:ea typeface="Cambria Math" panose="02040503050406030204" pitchFamily="18" charset="0"/>
              </a:rPr>
              <a:t>= Variance (</a:t>
            </a:r>
            <a:r>
              <a:rPr lang="fr-FR" dirty="0" err="1">
                <a:latin typeface="Cambria Math" panose="02040503050406030204" pitchFamily="18" charset="0"/>
                <a:ea typeface="Cambria Math" panose="02040503050406030204" pitchFamily="18" charset="0"/>
              </a:rPr>
              <a:t>Between</a:t>
            </a:r>
            <a:r>
              <a:rPr lang="fr-FR" dirty="0">
                <a:latin typeface="Cambria Math" panose="02040503050406030204" pitchFamily="18" charset="0"/>
                <a:ea typeface="Cambria Math" panose="02040503050406030204" pitchFamily="18" charset="0"/>
              </a:rPr>
              <a:t>) + Variance (</a:t>
            </a:r>
            <a:r>
              <a:rPr lang="fr-FR" dirty="0" err="1">
                <a:latin typeface="Cambria Math" panose="02040503050406030204" pitchFamily="18" charset="0"/>
                <a:ea typeface="Cambria Math" panose="02040503050406030204" pitchFamily="18" charset="0"/>
              </a:rPr>
              <a:t>Within</a:t>
            </a:r>
            <a:r>
              <a:rPr lang="fr-FR" dirty="0">
                <a:latin typeface="Cambria Math" panose="02040503050406030204" pitchFamily="18" charset="0"/>
                <a:ea typeface="Cambria Math" panose="02040503050406030204" pitchFamily="18" charset="0"/>
              </a:rPr>
              <a:t>)</a:t>
            </a:r>
          </a:p>
          <a:p>
            <a:pPr marL="0" indent="0">
              <a:buNone/>
            </a:pPr>
            <a:r>
              <a:rPr lang="fr-FR" dirty="0">
                <a:latin typeface="Cambria Math" panose="02040503050406030204" pitchFamily="18" charset="0"/>
                <a:ea typeface="Cambria Math" panose="02040503050406030204" pitchFamily="18" charset="0"/>
              </a:rPr>
              <a:t>In the </a:t>
            </a:r>
            <a:r>
              <a:rPr lang="fr-FR" dirty="0" err="1">
                <a:latin typeface="Cambria Math" panose="02040503050406030204" pitchFamily="18" charset="0"/>
                <a:ea typeface="Cambria Math" panose="02040503050406030204" pitchFamily="18" charset="0"/>
              </a:rPr>
              <a:t>regression</a:t>
            </a:r>
            <a:r>
              <a:rPr lang="fr-FR" dirty="0">
                <a:latin typeface="Cambria Math" panose="02040503050406030204" pitchFamily="18" charset="0"/>
                <a:ea typeface="Cambria Math" panose="02040503050406030204" pitchFamily="18" charset="0"/>
              </a:rPr>
              <a:t> on </a:t>
            </a:r>
            <a:r>
              <a:rPr lang="fr-FR" dirty="0" err="1">
                <a:latin typeface="Cambria Math" panose="02040503050406030204" pitchFamily="18" charset="0"/>
                <a:ea typeface="Cambria Math" panose="02040503050406030204" pitchFamily="18" charset="0"/>
              </a:rPr>
              <a:t>individual</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dummies</a:t>
            </a:r>
            <a:r>
              <a:rPr lang="fr-F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only</a:t>
            </a:r>
            <a:r>
              <a:rPr lang="fr-FR" dirty="0">
                <a:latin typeface="Cambria Math" panose="02040503050406030204" pitchFamily="18" charset="0"/>
                <a:ea typeface="Cambria Math" panose="02040503050406030204" pitchFamily="18" charset="0"/>
              </a:rPr>
              <a:t>:</a:t>
            </a:r>
          </a:p>
          <a:p>
            <a:pPr marL="0" indent="0">
              <a:buNone/>
            </a:pPr>
            <a:r>
              <a:rPr lang="fr-FR" dirty="0">
                <a:latin typeface="Cambria Math" panose="02040503050406030204" pitchFamily="18" charset="0"/>
                <a:ea typeface="Cambria Math" panose="02040503050406030204" pitchFamily="18" charset="0"/>
              </a:rPr>
              <a:t>0   </a:t>
            </a:r>
            <a:r>
              <a:rPr lang="el-GR" dirty="0">
                <a:latin typeface="Cambria Math" panose="02040503050406030204" pitchFamily="18" charset="0"/>
                <a:ea typeface="Cambria Math" panose="02040503050406030204" pitchFamily="18" charset="0"/>
                <a:cs typeface="Calibri"/>
              </a:rPr>
              <a:t>≤</a:t>
            </a:r>
            <a:r>
              <a:rPr lang="fr-FR" dirty="0">
                <a:latin typeface="Cambria Math" panose="02040503050406030204" pitchFamily="18" charset="0"/>
                <a:ea typeface="Cambria Math" panose="02040503050406030204" pitchFamily="18" charset="0"/>
              </a:rPr>
              <a:t>    R</a:t>
            </a:r>
            <a:r>
              <a:rPr lang="fr-FR" baseline="30000" dirty="0">
                <a:latin typeface="Cambria Math" panose="02040503050406030204" pitchFamily="18" charset="0"/>
                <a:ea typeface="Cambria Math" panose="02040503050406030204" pitchFamily="18" charset="0"/>
              </a:rPr>
              <a:t>2</a:t>
            </a:r>
            <a:r>
              <a:rPr lang="fr-FR"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cs typeface="Calibri"/>
              </a:rPr>
              <a:t>V(</a:t>
            </a:r>
            <a:r>
              <a:rPr lang="fr-FR" dirty="0">
                <a:latin typeface="Cambria Math" panose="02040503050406030204" pitchFamily="18" charset="0"/>
                <a:ea typeface="Cambria Math" panose="02040503050406030204" pitchFamily="18" charset="0"/>
              </a:rPr>
              <a:t> y</a:t>
            </a:r>
            <a:r>
              <a:rPr lang="fr-FR" baseline="-25000" dirty="0">
                <a:latin typeface="Cambria Math" panose="02040503050406030204" pitchFamily="18" charset="0"/>
                <a:ea typeface="Cambria Math" panose="02040503050406030204" pitchFamily="18" charset="0"/>
              </a:rPr>
              <a:t>i.</a:t>
            </a:r>
            <a:r>
              <a:rPr lang="fr-FR" dirty="0">
                <a:latin typeface="Cambria Math" panose="02040503050406030204" pitchFamily="18" charset="0"/>
                <a:ea typeface="Cambria Math" panose="02040503050406030204" pitchFamily="18" charset="0"/>
              </a:rPr>
              <a:t>) / V(y) </a:t>
            </a:r>
            <a:r>
              <a:rPr lang="el-GR" dirty="0">
                <a:latin typeface="Cambria Math" panose="02040503050406030204" pitchFamily="18" charset="0"/>
                <a:ea typeface="Cambria Math" panose="02040503050406030204" pitchFamily="18" charset="0"/>
                <a:cs typeface="Calibri"/>
              </a:rPr>
              <a:t>≤</a:t>
            </a:r>
            <a:r>
              <a:rPr lang="fr-FR" dirty="0">
                <a:latin typeface="Cambria Math" panose="02040503050406030204" pitchFamily="18" charset="0"/>
                <a:ea typeface="Cambria Math" panose="02040503050406030204" pitchFamily="18" charset="0"/>
              </a:rPr>
              <a:t> 1</a:t>
            </a:r>
          </a:p>
        </p:txBody>
      </p:sp>
    </p:spTree>
    <p:extLst>
      <p:ext uri="{BB962C8B-B14F-4D97-AF65-F5344CB8AC3E}">
        <p14:creationId xmlns:p14="http://schemas.microsoft.com/office/powerpoint/2010/main" val="254208464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Minimal panel data set </a:t>
            </a:r>
            <a:br>
              <a:rPr lang="fr-FR" dirty="0"/>
            </a:br>
            <a:r>
              <a:rPr lang="fr-FR" dirty="0"/>
              <a:t>N=2 (</a:t>
            </a:r>
            <a:r>
              <a:rPr lang="fr-FR" dirty="0" err="1"/>
              <a:t>ident</a:t>
            </a:r>
            <a:r>
              <a:rPr lang="fr-FR" dirty="0"/>
              <a:t>), T=2 (</a:t>
            </a:r>
            <a:r>
              <a:rPr lang="fr-FR" dirty="0" err="1"/>
              <a:t>year</a:t>
            </a:r>
            <a:r>
              <a:rPr lang="fr-FR" dirty="0"/>
              <a:t>)</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1107482020"/>
              </p:ext>
            </p:extLst>
          </p:nvPr>
        </p:nvGraphicFramePr>
        <p:xfrm>
          <a:off x="457200" y="1600200"/>
          <a:ext cx="8229600" cy="463296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193264">
                  <a:extLst>
                    <a:ext uri="{9D8B030D-6E8A-4147-A177-3AD203B41FA5}">
                      <a16:colId xmlns:a16="http://schemas.microsoft.com/office/drawing/2014/main" val="20003"/>
                    </a:ext>
                  </a:extLst>
                </a:gridCol>
                <a:gridCol w="2098576">
                  <a:extLst>
                    <a:ext uri="{9D8B030D-6E8A-4147-A177-3AD203B41FA5}">
                      <a16:colId xmlns:a16="http://schemas.microsoft.com/office/drawing/2014/main" val="2000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3200" b="1" dirty="0"/>
                        <a:t>IDENT</a:t>
                      </a:r>
                    </a:p>
                  </a:txBody>
                  <a:tcPr/>
                </a:tc>
                <a:tc>
                  <a:txBody>
                    <a:bodyPr/>
                    <a:lstStyle/>
                    <a:p>
                      <a:r>
                        <a:rPr lang="fr-FR" sz="3200" b="1" dirty="0"/>
                        <a:t>YEAR</a:t>
                      </a:r>
                    </a:p>
                  </a:txBody>
                  <a:tcPr/>
                </a:tc>
                <a:tc>
                  <a:txBody>
                    <a:bodyPr/>
                    <a:lstStyle/>
                    <a:p>
                      <a:r>
                        <a:rPr lang="fr-FR" sz="3200" b="1" baseline="0" dirty="0"/>
                        <a:t>X(</a:t>
                      </a:r>
                      <a:r>
                        <a:rPr lang="fr-FR" sz="3200" b="1" baseline="0" dirty="0" err="1"/>
                        <a:t>it</a:t>
                      </a:r>
                      <a:r>
                        <a:rPr lang="fr-FR" sz="3200" b="1" baseline="0" dirty="0"/>
                        <a:t>)</a:t>
                      </a:r>
                      <a:endParaRPr lang="fr-FR" sz="3200" b="1" dirty="0"/>
                    </a:p>
                  </a:txBody>
                  <a:tcPr/>
                </a:tc>
                <a:tc>
                  <a:txBody>
                    <a:bodyPr/>
                    <a:lstStyle/>
                    <a:p>
                      <a:r>
                        <a:rPr lang="fr-FR" sz="3200" b="1" baseline="0" dirty="0"/>
                        <a:t>X(i.)</a:t>
                      </a:r>
                      <a:endParaRPr lang="fr-FR" sz="3200" b="1" dirty="0"/>
                    </a:p>
                  </a:txBody>
                  <a:tcPr/>
                </a:tc>
                <a:tc>
                  <a:txBody>
                    <a:bodyPr/>
                    <a:lstStyle/>
                    <a:p>
                      <a:r>
                        <a:rPr lang="fr-FR" sz="3200" b="1" baseline="0" dirty="0"/>
                        <a:t>X(</a:t>
                      </a:r>
                      <a:r>
                        <a:rPr lang="fr-FR" sz="3200" b="1" baseline="0" dirty="0" err="1"/>
                        <a:t>it</a:t>
                      </a:r>
                      <a:r>
                        <a:rPr lang="fr-FR" sz="3200" b="1" baseline="0" dirty="0"/>
                        <a:t>)-X(i.)</a:t>
                      </a:r>
                      <a:endParaRPr lang="fr-FR" sz="3200" b="1" dirty="0"/>
                    </a:p>
                  </a:txBody>
                  <a:tcPr/>
                </a:tc>
                <a:extLst>
                  <a:ext uri="{0D108BD9-81ED-4DB2-BD59-A6C34878D82A}">
                    <a16:rowId xmlns:a16="http://schemas.microsoft.com/office/drawing/2014/main" val="10000"/>
                  </a:ext>
                </a:extLst>
              </a:tr>
              <a:tr h="370840">
                <a:tc>
                  <a:txBody>
                    <a:bodyPr/>
                    <a:lstStyle/>
                    <a:p>
                      <a:pPr algn="ctr"/>
                      <a:r>
                        <a:rPr lang="fr-FR" sz="3200" b="1" dirty="0"/>
                        <a:t>1</a:t>
                      </a:r>
                    </a:p>
                  </a:txBody>
                  <a:tcPr/>
                </a:tc>
                <a:tc>
                  <a:txBody>
                    <a:bodyPr/>
                    <a:lstStyle/>
                    <a:p>
                      <a:pPr algn="ctr"/>
                      <a:r>
                        <a:rPr lang="fr-FR" sz="3200" b="1" dirty="0"/>
                        <a:t>1</a:t>
                      </a:r>
                    </a:p>
                  </a:txBody>
                  <a:tcPr/>
                </a:tc>
                <a:tc>
                  <a:txBody>
                    <a:bodyPr/>
                    <a:lstStyle/>
                    <a:p>
                      <a:pPr algn="ctr"/>
                      <a:r>
                        <a:rPr lang="fr-FR" sz="3200" b="1" dirty="0"/>
                        <a:t>8</a:t>
                      </a:r>
                    </a:p>
                  </a:txBody>
                  <a:tcPr/>
                </a:tc>
                <a:tc>
                  <a:txBody>
                    <a:bodyPr/>
                    <a:lstStyle/>
                    <a:p>
                      <a:pPr algn="ctr"/>
                      <a:r>
                        <a:rPr lang="fr-FR" sz="3200" b="1" dirty="0">
                          <a:solidFill>
                            <a:schemeClr val="tx1"/>
                          </a:solidFill>
                        </a:rPr>
                        <a:t>10</a:t>
                      </a:r>
                    </a:p>
                  </a:txBody>
                  <a:tcPr/>
                </a:tc>
                <a:tc>
                  <a:txBody>
                    <a:bodyPr/>
                    <a:lstStyle/>
                    <a:p>
                      <a:pPr algn="ctr"/>
                      <a:r>
                        <a:rPr lang="fr-FR" sz="3200" b="1" dirty="0"/>
                        <a:t>-2</a:t>
                      </a:r>
                    </a:p>
                  </a:txBody>
                  <a:tcPr/>
                </a:tc>
                <a:extLst>
                  <a:ext uri="{0D108BD9-81ED-4DB2-BD59-A6C34878D82A}">
                    <a16:rowId xmlns:a16="http://schemas.microsoft.com/office/drawing/2014/main" val="10001"/>
                  </a:ext>
                </a:extLst>
              </a:tr>
              <a:tr h="370840">
                <a:tc>
                  <a:txBody>
                    <a:bodyPr/>
                    <a:lstStyle/>
                    <a:p>
                      <a:pPr algn="ctr"/>
                      <a:r>
                        <a:rPr lang="fr-FR" sz="3200" b="1" dirty="0"/>
                        <a:t>1</a:t>
                      </a:r>
                    </a:p>
                  </a:txBody>
                  <a:tcPr/>
                </a:tc>
                <a:tc>
                  <a:txBody>
                    <a:bodyPr/>
                    <a:lstStyle/>
                    <a:p>
                      <a:pPr algn="ctr"/>
                      <a:r>
                        <a:rPr lang="fr-FR" sz="3200" b="1" dirty="0"/>
                        <a:t>2</a:t>
                      </a:r>
                    </a:p>
                  </a:txBody>
                  <a:tcPr/>
                </a:tc>
                <a:tc>
                  <a:txBody>
                    <a:bodyPr/>
                    <a:lstStyle/>
                    <a:p>
                      <a:pPr algn="ctr"/>
                      <a:r>
                        <a:rPr lang="fr-FR" sz="3200" b="1" dirty="0"/>
                        <a:t>12</a:t>
                      </a:r>
                    </a:p>
                  </a:txBody>
                  <a:tcPr/>
                </a:tc>
                <a:tc>
                  <a:txBody>
                    <a:bodyPr/>
                    <a:lstStyle/>
                    <a:p>
                      <a:pPr algn="ctr"/>
                      <a:r>
                        <a:rPr lang="fr-FR" sz="3200" b="1" dirty="0">
                          <a:solidFill>
                            <a:schemeClr val="tx1"/>
                          </a:solidFill>
                        </a:rPr>
                        <a:t>10</a:t>
                      </a:r>
                    </a:p>
                  </a:txBody>
                  <a:tcPr/>
                </a:tc>
                <a:tc>
                  <a:txBody>
                    <a:bodyPr/>
                    <a:lstStyle/>
                    <a:p>
                      <a:pPr algn="ctr"/>
                      <a:r>
                        <a:rPr lang="fr-FR" sz="3200" b="1" dirty="0"/>
                        <a:t>+2</a:t>
                      </a:r>
                    </a:p>
                  </a:txBody>
                  <a:tcPr/>
                </a:tc>
                <a:extLst>
                  <a:ext uri="{0D108BD9-81ED-4DB2-BD59-A6C34878D82A}">
                    <a16:rowId xmlns:a16="http://schemas.microsoft.com/office/drawing/2014/main" val="10002"/>
                  </a:ext>
                </a:extLst>
              </a:tr>
              <a:tr h="370840">
                <a:tc>
                  <a:txBody>
                    <a:bodyPr/>
                    <a:lstStyle/>
                    <a:p>
                      <a:pPr algn="ctr"/>
                      <a:r>
                        <a:rPr lang="fr-FR" sz="3200" b="1" dirty="0"/>
                        <a:t>2</a:t>
                      </a:r>
                    </a:p>
                  </a:txBody>
                  <a:tcPr/>
                </a:tc>
                <a:tc>
                  <a:txBody>
                    <a:bodyPr/>
                    <a:lstStyle/>
                    <a:p>
                      <a:pPr algn="ctr"/>
                      <a:r>
                        <a:rPr lang="fr-FR" sz="3200" b="1" dirty="0"/>
                        <a:t>1</a:t>
                      </a:r>
                    </a:p>
                  </a:txBody>
                  <a:tcPr/>
                </a:tc>
                <a:tc>
                  <a:txBody>
                    <a:bodyPr/>
                    <a:lstStyle/>
                    <a:p>
                      <a:pPr algn="ctr"/>
                      <a:r>
                        <a:rPr lang="fr-FR" sz="3200" b="1" dirty="0"/>
                        <a:t>5</a:t>
                      </a:r>
                    </a:p>
                  </a:txBody>
                  <a:tcPr/>
                </a:tc>
                <a:tc>
                  <a:txBody>
                    <a:bodyPr/>
                    <a:lstStyle/>
                    <a:p>
                      <a:pPr algn="ctr"/>
                      <a:r>
                        <a:rPr lang="fr-FR" sz="3200" b="1" dirty="0"/>
                        <a:t>4</a:t>
                      </a:r>
                    </a:p>
                  </a:txBody>
                  <a:tcPr/>
                </a:tc>
                <a:tc>
                  <a:txBody>
                    <a:bodyPr/>
                    <a:lstStyle/>
                    <a:p>
                      <a:pPr algn="ctr"/>
                      <a:r>
                        <a:rPr lang="fr-FR" sz="3200" b="1" dirty="0"/>
                        <a:t>+1</a:t>
                      </a:r>
                    </a:p>
                  </a:txBody>
                  <a:tcPr/>
                </a:tc>
                <a:extLst>
                  <a:ext uri="{0D108BD9-81ED-4DB2-BD59-A6C34878D82A}">
                    <a16:rowId xmlns:a16="http://schemas.microsoft.com/office/drawing/2014/main" val="10003"/>
                  </a:ext>
                </a:extLst>
              </a:tr>
              <a:tr h="370840">
                <a:tc>
                  <a:txBody>
                    <a:bodyPr/>
                    <a:lstStyle/>
                    <a:p>
                      <a:pPr algn="ctr"/>
                      <a:r>
                        <a:rPr lang="fr-FR" sz="3200" b="1" dirty="0"/>
                        <a:t>2</a:t>
                      </a:r>
                    </a:p>
                  </a:txBody>
                  <a:tcPr/>
                </a:tc>
                <a:tc>
                  <a:txBody>
                    <a:bodyPr/>
                    <a:lstStyle/>
                    <a:p>
                      <a:pPr algn="ctr"/>
                      <a:r>
                        <a:rPr lang="fr-FR" sz="3200" b="1" dirty="0"/>
                        <a:t>2</a:t>
                      </a:r>
                    </a:p>
                  </a:txBody>
                  <a:tcPr/>
                </a:tc>
                <a:tc>
                  <a:txBody>
                    <a:bodyPr/>
                    <a:lstStyle/>
                    <a:p>
                      <a:pPr algn="ctr"/>
                      <a:r>
                        <a:rPr lang="fr-FR" sz="3200" b="1" dirty="0"/>
                        <a:t>3</a:t>
                      </a:r>
                    </a:p>
                  </a:txBody>
                  <a:tcPr/>
                </a:tc>
                <a:tc>
                  <a:txBody>
                    <a:bodyPr/>
                    <a:lstStyle/>
                    <a:p>
                      <a:pPr algn="ctr"/>
                      <a:r>
                        <a:rPr lang="fr-FR" sz="3200" b="1" dirty="0"/>
                        <a:t>4</a:t>
                      </a:r>
                    </a:p>
                  </a:txBody>
                  <a:tcPr/>
                </a:tc>
                <a:tc>
                  <a:txBody>
                    <a:bodyPr/>
                    <a:lstStyle/>
                    <a:p>
                      <a:pPr algn="ctr"/>
                      <a:r>
                        <a:rPr lang="fr-FR" sz="3200" b="1" dirty="0"/>
                        <a:t>-1</a:t>
                      </a:r>
                    </a:p>
                  </a:txBody>
                  <a:tcPr/>
                </a:tc>
                <a:extLst>
                  <a:ext uri="{0D108BD9-81ED-4DB2-BD59-A6C34878D82A}">
                    <a16:rowId xmlns:a16="http://schemas.microsoft.com/office/drawing/2014/main" val="10004"/>
                  </a:ext>
                </a:extLst>
              </a:tr>
              <a:tr h="370840">
                <a:tc>
                  <a:txBody>
                    <a:bodyPr/>
                    <a:lstStyle/>
                    <a:p>
                      <a:pPr algn="ctr"/>
                      <a:r>
                        <a:rPr lang="fr-FR" sz="3200" b="1" dirty="0"/>
                        <a:t>ID=1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3200" b="1" dirty="0" err="1"/>
                        <a:t>Mean</a:t>
                      </a:r>
                      <a:endParaRPr lang="fr-FR" sz="3200" b="1" dirty="0"/>
                    </a:p>
                  </a:txBody>
                  <a:tcPr/>
                </a:tc>
                <a:tc>
                  <a:txBody>
                    <a:bodyPr/>
                    <a:lstStyle/>
                    <a:p>
                      <a:pPr algn="ctr"/>
                      <a:r>
                        <a:rPr lang="fr-FR" sz="3200" b="1" dirty="0">
                          <a:solidFill>
                            <a:srgbClr val="FF0000"/>
                          </a:solidFill>
                        </a:rPr>
                        <a:t>10</a:t>
                      </a:r>
                    </a:p>
                  </a:txBody>
                  <a:tcPr/>
                </a:tc>
                <a:tc>
                  <a:txBody>
                    <a:bodyPr/>
                    <a:lstStyle/>
                    <a:p>
                      <a:pPr algn="ctr"/>
                      <a:r>
                        <a:rPr lang="fr-FR" sz="3200" b="1" dirty="0">
                          <a:solidFill>
                            <a:srgbClr val="FF0000"/>
                          </a:solidFill>
                        </a:rPr>
                        <a:t>10</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5"/>
                  </a:ext>
                </a:extLst>
              </a:tr>
              <a:tr h="370840">
                <a:tc>
                  <a:txBody>
                    <a:bodyPr/>
                    <a:lstStyle/>
                    <a:p>
                      <a:pPr algn="ctr"/>
                      <a:r>
                        <a:rPr lang="fr-FR" sz="3200" b="1" dirty="0"/>
                        <a:t>ID=2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3200" b="1" dirty="0" err="1"/>
                        <a:t>Mean</a:t>
                      </a:r>
                      <a:endParaRPr lang="fr-FR" sz="3200" b="1" dirty="0"/>
                    </a:p>
                  </a:txBody>
                  <a:tcPr/>
                </a:tc>
                <a:tc>
                  <a:txBody>
                    <a:bodyPr/>
                    <a:lstStyle/>
                    <a:p>
                      <a:pPr algn="ctr"/>
                      <a:r>
                        <a:rPr lang="fr-FR" sz="3200" b="1" dirty="0">
                          <a:solidFill>
                            <a:srgbClr val="FF0000"/>
                          </a:solidFill>
                        </a:rPr>
                        <a:t>4</a:t>
                      </a:r>
                    </a:p>
                  </a:txBody>
                  <a:tcPr/>
                </a:tc>
                <a:tc>
                  <a:txBody>
                    <a:bodyPr/>
                    <a:lstStyle/>
                    <a:p>
                      <a:pPr algn="ctr"/>
                      <a:r>
                        <a:rPr lang="fr-FR" sz="3200" b="1" dirty="0">
                          <a:solidFill>
                            <a:srgbClr val="FF0000"/>
                          </a:solidFill>
                        </a:rPr>
                        <a:t>4</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6"/>
                  </a:ext>
                </a:extLst>
              </a:tr>
              <a:tr h="370840">
                <a:tc>
                  <a:txBody>
                    <a:bodyPr/>
                    <a:lstStyle/>
                    <a:p>
                      <a:pPr algn="ctr"/>
                      <a:r>
                        <a:rPr lang="fr-FR" sz="3200" b="1" dirty="0"/>
                        <a:t>All</a:t>
                      </a:r>
                    </a:p>
                  </a:txBody>
                  <a:tcPr/>
                </a:tc>
                <a:tc>
                  <a:txBody>
                    <a:bodyPr/>
                    <a:lstStyle/>
                    <a:p>
                      <a:pPr algn="ctr"/>
                      <a:r>
                        <a:rPr lang="fr-FR" sz="3200" b="1" dirty="0" err="1"/>
                        <a:t>Mean</a:t>
                      </a:r>
                      <a:endParaRPr lang="fr-FR" sz="3200" b="1" dirty="0"/>
                    </a:p>
                  </a:txBody>
                  <a:tcPr/>
                </a:tc>
                <a:tc>
                  <a:txBody>
                    <a:bodyPr/>
                    <a:lstStyle/>
                    <a:p>
                      <a:pPr algn="ctr"/>
                      <a:r>
                        <a:rPr lang="fr-FR" sz="3200" b="1" dirty="0"/>
                        <a:t>7</a:t>
                      </a:r>
                    </a:p>
                  </a:txBody>
                  <a:tcPr/>
                </a:tc>
                <a:tc>
                  <a:txBody>
                    <a:bodyPr/>
                    <a:lstStyle/>
                    <a:p>
                      <a:pPr algn="ctr"/>
                      <a:r>
                        <a:rPr lang="fr-FR" sz="3200" b="1" dirty="0"/>
                        <a:t>7</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28792060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800" dirty="0"/>
              <a:t>Orthogonal projection on E1=F (dimension 2) </a:t>
            </a:r>
            <a:r>
              <a:rPr lang="fr-FR" sz="2800" dirty="0" err="1"/>
              <a:t>along</a:t>
            </a:r>
            <a:r>
              <a:rPr lang="fr-FR" sz="2800" dirty="0"/>
              <a:t> orthogonal E2 dimension 1. F=</a:t>
            </a:r>
            <a:r>
              <a:rPr lang="fr-FR" sz="2800" dirty="0" err="1"/>
              <a:t>span</a:t>
            </a:r>
            <a:r>
              <a:rPr lang="fr-FR" sz="2800" dirty="0"/>
              <a:t>(col(X)).</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109788"/>
            <a:ext cx="3352800" cy="2638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8498148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dirty="0"/>
              <a:t>Norm of a  vector u=</a:t>
            </a:r>
            <a:r>
              <a:rPr lang="fr-FR" dirty="0"/>
              <a:t> </a:t>
            </a:r>
            <a:r>
              <a:rPr lang="en-GB" dirty="0"/>
              <a:t>(</a:t>
            </a:r>
            <a:r>
              <a:rPr lang="en-GB" dirty="0" err="1"/>
              <a:t>x,y</a:t>
            </a:r>
            <a:r>
              <a:rPr lang="en-GB" dirty="0"/>
              <a:t>)’</a:t>
            </a:r>
            <a:br>
              <a:rPr lang="en-GB" dirty="0"/>
            </a:br>
            <a:r>
              <a:rPr lang="en-GB" dirty="0"/>
              <a:t>Pythagoras’ theorem</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7287" y="2148681"/>
            <a:ext cx="6829425"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193652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GB" sz="3000" dirty="0"/>
              <a:t>OLS: The orthogonal projection p(x) minimises the distance of x to F with respect to any other vector y in F (Pythagoras’ theorem)</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803" y="2060848"/>
            <a:ext cx="8892361"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716215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060848"/>
            <a:ext cx="7429500" cy="43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51" name="Titre 4"/>
          <p:cNvSpPr>
            <a:spLocks noGrp="1"/>
          </p:cNvSpPr>
          <p:nvPr>
            <p:ph type="title"/>
          </p:nvPr>
        </p:nvSpPr>
        <p:spPr/>
        <p:txBody>
          <a:bodyPr/>
          <a:lstStyle/>
          <a:p>
            <a:r>
              <a:rPr lang="fr-FR" altLang="fr-FR" sz="3200" dirty="0" err="1"/>
              <a:t>Regression</a:t>
            </a:r>
            <a:r>
              <a:rPr lang="fr-FR" altLang="fr-FR" sz="3200" dirty="0"/>
              <a:t>: F=</a:t>
            </a:r>
            <a:r>
              <a:rPr lang="fr-FR" altLang="fr-FR" sz="3200" dirty="0" err="1"/>
              <a:t>span</a:t>
            </a:r>
            <a:r>
              <a:rPr lang="fr-FR" altLang="fr-FR" sz="3200" dirty="0"/>
              <a:t>(col(X)) </a:t>
            </a:r>
            <a:r>
              <a:rPr lang="fr-FR" altLang="fr-FR" sz="3200" dirty="0" err="1"/>
              <a:t>with</a:t>
            </a:r>
            <a:r>
              <a:rPr lang="fr-FR" altLang="fr-FR" sz="3200" dirty="0"/>
              <a:t> p </a:t>
            </a:r>
            <a:r>
              <a:rPr lang="fr-FR" altLang="fr-FR" sz="3200" dirty="0" err="1"/>
              <a:t>columns</a:t>
            </a:r>
            <a:r>
              <a:rPr lang="fr-FR" altLang="fr-FR" sz="3200" dirty="0"/>
              <a:t> e=y-p(x) </a:t>
            </a:r>
            <a:r>
              <a:rPr lang="fr-FR" altLang="fr-FR" sz="3200" dirty="0" err="1"/>
              <a:t>vector</a:t>
            </a:r>
            <a:r>
              <a:rPr lang="fr-FR" altLang="fr-FR" sz="3200" dirty="0"/>
              <a:t> of </a:t>
            </a:r>
            <a:r>
              <a:rPr lang="fr-FR" altLang="fr-FR" sz="3200" dirty="0" err="1"/>
              <a:t>residuals</a:t>
            </a:r>
            <a:r>
              <a:rPr lang="fr-FR" altLang="fr-FR" sz="3200" dirty="0"/>
              <a:t>. </a:t>
            </a:r>
          </a:p>
        </p:txBody>
      </p:sp>
    </p:spTree>
    <p:extLst>
      <p:ext uri="{BB962C8B-B14F-4D97-AF65-F5344CB8AC3E}">
        <p14:creationId xmlns:p14="http://schemas.microsoft.com/office/powerpoint/2010/main" val="88268750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dirty="0"/>
              <a:t>Projection matrix H= X (X’X)</a:t>
            </a:r>
            <a:r>
              <a:rPr lang="fr-FR" baseline="30000" dirty="0"/>
              <a:t>-1</a:t>
            </a:r>
            <a:r>
              <a:rPr lang="fr-FR" dirty="0"/>
              <a:t> X’</a:t>
            </a:r>
            <a:br>
              <a:rPr lang="en-GB" dirty="0"/>
            </a:br>
            <a:r>
              <a:rPr lang="fr-FR" dirty="0"/>
              <a:t>F=</a:t>
            </a:r>
            <a:r>
              <a:rPr lang="fr-FR" dirty="0" err="1"/>
              <a:t>span</a:t>
            </a:r>
            <a:r>
              <a:rPr lang="fr-FR" dirty="0"/>
              <a:t>(col(X)).</a:t>
            </a:r>
            <a:endParaRPr lang="en-GB" dirty="0"/>
          </a:p>
        </p:txBody>
      </p:sp>
      <p:sp>
        <p:nvSpPr>
          <p:cNvPr id="4" name="Espace réservé du contenu 3"/>
          <p:cNvSpPr>
            <a:spLocks noGrp="1"/>
          </p:cNvSpPr>
          <p:nvPr>
            <p:ph idx="1"/>
          </p:nvPr>
        </p:nvSpPr>
        <p:spPr/>
        <p:txBody>
          <a:bodyPr>
            <a:normAutofit lnSpcReduction="10000"/>
          </a:bodyPr>
          <a:lstStyle/>
          <a:p>
            <a:pPr marL="0" indent="0">
              <a:buNone/>
            </a:pPr>
            <a:r>
              <a:rPr lang="fr-FR" sz="2400" dirty="0"/>
              <a:t>The </a:t>
            </a:r>
            <a:r>
              <a:rPr lang="fr-FR" sz="2400" dirty="0" err="1"/>
              <a:t>residuals</a:t>
            </a:r>
            <a:r>
              <a:rPr lang="fr-FR" sz="2400" dirty="0"/>
              <a:t> are orthogonal to </a:t>
            </a:r>
            <a:r>
              <a:rPr lang="fr-FR" sz="2400" dirty="0" err="1"/>
              <a:t>each</a:t>
            </a:r>
            <a:r>
              <a:rPr lang="fr-FR" sz="2400" dirty="0"/>
              <a:t> of the k </a:t>
            </a:r>
            <a:r>
              <a:rPr lang="fr-FR" sz="2400" dirty="0" err="1"/>
              <a:t>column</a:t>
            </a:r>
            <a:r>
              <a:rPr lang="fr-FR" sz="2400" dirty="0"/>
              <a:t> </a:t>
            </a:r>
            <a:r>
              <a:rPr lang="fr-FR" sz="2400" dirty="0" err="1"/>
              <a:t>vectors</a:t>
            </a:r>
            <a:r>
              <a:rPr lang="fr-FR" sz="2400" dirty="0"/>
              <a:t> of the matrix X of </a:t>
            </a:r>
            <a:r>
              <a:rPr lang="fr-FR" sz="2400" dirty="0" err="1"/>
              <a:t>explanatory</a:t>
            </a:r>
            <a:r>
              <a:rPr lang="fr-FR" sz="2400" dirty="0"/>
              <a:t> variables </a:t>
            </a:r>
            <a:r>
              <a:rPr lang="fr-FR" sz="2400" dirty="0" err="1"/>
              <a:t>including</a:t>
            </a:r>
            <a:r>
              <a:rPr lang="fr-FR" sz="2400" dirty="0"/>
              <a:t> the </a:t>
            </a:r>
            <a:r>
              <a:rPr lang="fr-FR" sz="2400" dirty="0" err="1"/>
              <a:t>vector</a:t>
            </a:r>
            <a:r>
              <a:rPr lang="fr-FR" sz="2400" dirty="0"/>
              <a:t> of </a:t>
            </a:r>
            <a:r>
              <a:rPr lang="fr-FR" sz="2400" dirty="0" err="1"/>
              <a:t>ones</a:t>
            </a:r>
            <a:r>
              <a:rPr lang="fr-FR" sz="2400" dirty="0"/>
              <a:t>. In a compact </a:t>
            </a:r>
            <a:r>
              <a:rPr lang="fr-FR" sz="2400" dirty="0" err="1"/>
              <a:t>form</a:t>
            </a:r>
            <a:r>
              <a:rPr lang="fr-FR" sz="2400" dirty="0"/>
              <a:t> (</a:t>
            </a:r>
            <a:r>
              <a:rPr lang="fr-FR" sz="2400" dirty="0" err="1"/>
              <a:t>this</a:t>
            </a:r>
            <a:r>
              <a:rPr lang="fr-FR" sz="2400" dirty="0"/>
              <a:t> corresponds to k </a:t>
            </a:r>
            <a:r>
              <a:rPr lang="fr-FR" sz="2400" dirty="0" err="1"/>
              <a:t>orthogonality</a:t>
            </a:r>
            <a:r>
              <a:rPr lang="fr-FR" sz="2400" dirty="0"/>
              <a:t> « normal </a:t>
            </a:r>
            <a:r>
              <a:rPr lang="fr-FR" sz="2400" dirty="0" err="1"/>
              <a:t>equation</a:t>
            </a:r>
            <a:r>
              <a:rPr lang="fr-FR" sz="2400" dirty="0"/>
              <a:t> » to </a:t>
            </a:r>
            <a:r>
              <a:rPr lang="fr-FR" sz="2400" dirty="0" err="1"/>
              <a:t>solve</a:t>
            </a:r>
            <a:r>
              <a:rPr lang="fr-FR" sz="2400" dirty="0"/>
              <a:t> for OLS </a:t>
            </a:r>
            <a:r>
              <a:rPr lang="fr-FR" sz="2400" dirty="0" err="1"/>
              <a:t>parameters</a:t>
            </a:r>
            <a:r>
              <a:rPr lang="fr-FR" sz="2400" dirty="0"/>
              <a:t> </a:t>
            </a:r>
            <a:r>
              <a:rPr lang="el-GR" sz="2400" dirty="0"/>
              <a:t>β</a:t>
            </a:r>
            <a:r>
              <a:rPr lang="fr-FR" sz="2400" dirty="0"/>
              <a:t>):</a:t>
            </a:r>
          </a:p>
          <a:p>
            <a:pPr marL="0" indent="0">
              <a:buNone/>
            </a:pPr>
            <a:r>
              <a:rPr lang="fr-FR" sz="2400" dirty="0"/>
              <a:t>X’ (y – X</a:t>
            </a:r>
            <a:r>
              <a:rPr lang="el-GR" sz="2400" dirty="0"/>
              <a:t>β</a:t>
            </a:r>
            <a:r>
              <a:rPr lang="fr-FR" sz="2400" dirty="0"/>
              <a:t> ) = 0, </a:t>
            </a:r>
            <a:r>
              <a:rPr lang="fr-FR" sz="2400" dirty="0" err="1"/>
              <a:t>implies</a:t>
            </a:r>
            <a:r>
              <a:rPr lang="fr-FR" sz="2400" dirty="0"/>
              <a:t> </a:t>
            </a:r>
            <a:r>
              <a:rPr lang="fr-FR" sz="2400" dirty="0" err="1"/>
              <a:t>X’y</a:t>
            </a:r>
            <a:r>
              <a:rPr lang="fr-FR" sz="2400" dirty="0"/>
              <a:t> = X’X </a:t>
            </a:r>
            <a:r>
              <a:rPr lang="el-GR" sz="2400" dirty="0"/>
              <a:t>β</a:t>
            </a:r>
            <a:endParaRPr lang="fr-FR" sz="2400" dirty="0"/>
          </a:p>
          <a:p>
            <a:pPr marL="0" indent="0">
              <a:buNone/>
            </a:pPr>
            <a:r>
              <a:rPr lang="fr-FR" sz="2400" dirty="0" err="1"/>
              <a:t>Implies</a:t>
            </a:r>
            <a:r>
              <a:rPr lang="fr-FR" sz="2400" dirty="0"/>
              <a:t> </a:t>
            </a:r>
            <a:r>
              <a:rPr lang="el-GR" sz="2400" dirty="0"/>
              <a:t>β</a:t>
            </a:r>
            <a:r>
              <a:rPr lang="fr-FR" sz="2400" dirty="0"/>
              <a:t>= (X’X)</a:t>
            </a:r>
            <a:r>
              <a:rPr lang="fr-FR" sz="2400" baseline="30000" dirty="0"/>
              <a:t>-1</a:t>
            </a:r>
            <a:r>
              <a:rPr lang="fr-FR" sz="2400" dirty="0"/>
              <a:t> </a:t>
            </a:r>
            <a:r>
              <a:rPr lang="fr-FR" sz="2400" dirty="0" err="1"/>
              <a:t>X’y</a:t>
            </a:r>
            <a:r>
              <a:rPr lang="fr-FR" sz="2400" dirty="0"/>
              <a:t> if col(X) not </a:t>
            </a:r>
            <a:r>
              <a:rPr lang="fr-FR" sz="2400" dirty="0" err="1"/>
              <a:t>collinear</a:t>
            </a:r>
            <a:endParaRPr lang="fr-FR" sz="2400" dirty="0"/>
          </a:p>
          <a:p>
            <a:pPr marL="0" indent="0">
              <a:buNone/>
            </a:pPr>
            <a:r>
              <a:rPr lang="fr-FR" sz="2400" dirty="0" err="1"/>
              <a:t>Forecast</a:t>
            </a:r>
            <a:r>
              <a:rPr lang="fr-FR" sz="2400" dirty="0"/>
              <a:t>: ^y =X</a:t>
            </a:r>
            <a:r>
              <a:rPr lang="el-GR" sz="2400" dirty="0"/>
              <a:t> β</a:t>
            </a:r>
            <a:r>
              <a:rPr lang="fr-FR" sz="2400" dirty="0"/>
              <a:t> = X (X’X)</a:t>
            </a:r>
            <a:r>
              <a:rPr lang="fr-FR" sz="2400" baseline="30000" dirty="0"/>
              <a:t>-1</a:t>
            </a:r>
            <a:r>
              <a:rPr lang="fr-FR" sz="2400" dirty="0"/>
              <a:t> X’ y</a:t>
            </a:r>
          </a:p>
          <a:p>
            <a:pPr marL="0" indent="0">
              <a:buNone/>
            </a:pPr>
            <a:r>
              <a:rPr lang="fr-FR" sz="2400" dirty="0"/>
              <a:t>Orthogonal projection « Hat » matrix of the </a:t>
            </a:r>
            <a:r>
              <a:rPr lang="fr-FR" sz="2400" dirty="0" err="1"/>
              <a:t>regression</a:t>
            </a:r>
            <a:r>
              <a:rPr lang="fr-FR" sz="2400" dirty="0"/>
              <a:t> </a:t>
            </a:r>
          </a:p>
          <a:p>
            <a:pPr marL="0" indent="0">
              <a:buNone/>
            </a:pPr>
            <a:r>
              <a:rPr lang="fr-FR" sz="2400" dirty="0"/>
              <a:t>H= X (X’X)</a:t>
            </a:r>
            <a:r>
              <a:rPr lang="fr-FR" sz="2400" baseline="30000" dirty="0"/>
              <a:t>-1</a:t>
            </a:r>
            <a:r>
              <a:rPr lang="fr-FR" sz="2400" dirty="0"/>
              <a:t> X’ .    In the case of </a:t>
            </a:r>
            <a:r>
              <a:rPr lang="fr-FR" sz="2400" dirty="0" err="1"/>
              <a:t>between</a:t>
            </a:r>
            <a:r>
              <a:rPr lang="fr-FR" sz="2400" dirty="0"/>
              <a:t> projection:</a:t>
            </a:r>
          </a:p>
          <a:p>
            <a:pPr marL="0" indent="0">
              <a:buNone/>
            </a:pPr>
            <a:r>
              <a:rPr lang="fr-FR" sz="2400" dirty="0"/>
              <a:t>H = B = Z (Z’Z)</a:t>
            </a:r>
            <a:r>
              <a:rPr lang="fr-FR" sz="2400" baseline="30000" dirty="0"/>
              <a:t>-1</a:t>
            </a:r>
            <a:r>
              <a:rPr lang="fr-FR" sz="2400" dirty="0"/>
              <a:t> Z’ </a:t>
            </a:r>
            <a:r>
              <a:rPr lang="fr-FR" sz="2400" dirty="0" err="1"/>
              <a:t>with</a:t>
            </a:r>
            <a:r>
              <a:rPr lang="fr-FR" sz="2400" dirty="0"/>
              <a:t> Z the matrix of </a:t>
            </a:r>
            <a:r>
              <a:rPr lang="fr-FR" sz="2400" dirty="0" err="1"/>
              <a:t>individual</a:t>
            </a:r>
            <a:r>
              <a:rPr lang="fr-FR" sz="2400" dirty="0"/>
              <a:t> </a:t>
            </a:r>
            <a:r>
              <a:rPr lang="fr-FR" sz="2400" dirty="0" err="1"/>
              <a:t>dummies</a:t>
            </a:r>
            <a:endParaRPr lang="en-GB" sz="2400" dirty="0"/>
          </a:p>
        </p:txBody>
      </p:sp>
    </p:spTree>
    <p:extLst>
      <p:ext uri="{BB962C8B-B14F-4D97-AF65-F5344CB8AC3E}">
        <p14:creationId xmlns:p14="http://schemas.microsoft.com/office/powerpoint/2010/main" val="358431719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2800" dirty="0"/>
              <a:t>The </a:t>
            </a:r>
            <a:r>
              <a:rPr lang="fr-FR" sz="2800" dirty="0" err="1"/>
              <a:t>between</a:t>
            </a:r>
            <a:r>
              <a:rPr lang="fr-FR" sz="2800" dirty="0"/>
              <a:t> transformation </a:t>
            </a:r>
            <a:r>
              <a:rPr lang="fr-FR" sz="2800" dirty="0" err="1"/>
              <a:t>is</a:t>
            </a:r>
            <a:r>
              <a:rPr lang="fr-FR" sz="2800" dirty="0"/>
              <a:t> an OLS </a:t>
            </a:r>
            <a:r>
              <a:rPr lang="fr-FR" sz="2800" dirty="0" err="1"/>
              <a:t>regression</a:t>
            </a:r>
            <a:br>
              <a:rPr lang="fr-FR" sz="2800" dirty="0"/>
            </a:br>
            <a:r>
              <a:rPr lang="fr-FR" sz="2800" dirty="0"/>
              <a:t>on N </a:t>
            </a:r>
            <a:r>
              <a:rPr lang="fr-FR" sz="2800" dirty="0" err="1"/>
              <a:t>individual</a:t>
            </a:r>
            <a:r>
              <a:rPr lang="fr-FR" sz="2800" dirty="0"/>
              <a:t> </a:t>
            </a:r>
            <a:r>
              <a:rPr lang="fr-FR" sz="2800" dirty="0" err="1"/>
              <a:t>dummies</a:t>
            </a:r>
            <a:r>
              <a:rPr lang="fr-FR" sz="2800" dirty="0"/>
              <a:t> </a:t>
            </a:r>
            <a:r>
              <a:rPr lang="fr-FR" sz="2800" dirty="0" err="1"/>
              <a:t>stacked</a:t>
            </a:r>
            <a:r>
              <a:rPr lang="fr-FR" sz="2800" dirty="0"/>
              <a:t> in matrix Z:</a:t>
            </a:r>
            <a:br>
              <a:rPr lang="fr-FR" sz="2800" dirty="0"/>
            </a:br>
            <a:r>
              <a:rPr lang="fr-FR" sz="2800" dirty="0"/>
              <a:t>Orthogonal projection on F=</a:t>
            </a:r>
            <a:r>
              <a:rPr lang="fr-FR" sz="2800" dirty="0" err="1"/>
              <a:t>span</a:t>
            </a:r>
            <a:r>
              <a:rPr lang="fr-FR" sz="2800" dirty="0"/>
              <a:t>(col(Z)).</a:t>
            </a:r>
            <a:endParaRPr lang="en-GB" sz="2800" dirty="0"/>
          </a:p>
        </p:txBody>
      </p:sp>
      <p:sp>
        <p:nvSpPr>
          <p:cNvPr id="3" name="Espace réservé du contenu 2"/>
          <p:cNvSpPr>
            <a:spLocks noGrp="1"/>
          </p:cNvSpPr>
          <p:nvPr>
            <p:ph idx="1"/>
          </p:nvPr>
        </p:nvSpPr>
        <p:spPr/>
        <p:txBody>
          <a:bodyPr>
            <a:normAutofit lnSpcReduction="10000"/>
          </a:bodyPr>
          <a:lstStyle/>
          <a:p>
            <a:pPr marL="0" indent="0">
              <a:buNone/>
            </a:pPr>
            <a:r>
              <a:rPr lang="fr-FR" sz="2800" dirty="0"/>
              <a:t>x(</a:t>
            </a:r>
            <a:r>
              <a:rPr lang="fr-FR" sz="2800" dirty="0" err="1"/>
              <a:t>it</a:t>
            </a:r>
            <a:r>
              <a:rPr lang="fr-FR" sz="2800" dirty="0"/>
              <a:t>)=</a:t>
            </a:r>
            <a:r>
              <a:rPr lang="fr-FR" sz="2800" dirty="0" err="1"/>
              <a:t>B.x</a:t>
            </a:r>
            <a:r>
              <a:rPr lang="fr-FR" sz="2800" dirty="0"/>
              <a:t>(</a:t>
            </a:r>
            <a:r>
              <a:rPr lang="fr-FR" sz="2800" dirty="0" err="1"/>
              <a:t>it</a:t>
            </a:r>
            <a:r>
              <a:rPr lang="fr-FR" sz="2800" dirty="0"/>
              <a:t>) + (I-B).x(</a:t>
            </a:r>
            <a:r>
              <a:rPr lang="fr-FR" sz="2800" dirty="0" err="1"/>
              <a:t>it</a:t>
            </a:r>
            <a:r>
              <a:rPr lang="fr-FR" sz="2800" dirty="0"/>
              <a:t>)= x(i.) + x(</a:t>
            </a:r>
            <a:r>
              <a:rPr lang="fr-FR" sz="2800" dirty="0" err="1"/>
              <a:t>it</a:t>
            </a:r>
            <a:r>
              <a:rPr lang="fr-FR" sz="2800" dirty="0"/>
              <a:t>)-x(i.)</a:t>
            </a:r>
          </a:p>
          <a:p>
            <a:pPr marL="0" indent="0">
              <a:buNone/>
            </a:pPr>
            <a:r>
              <a:rPr lang="fr-FR" sz="2800" dirty="0"/>
              <a:t>The </a:t>
            </a:r>
            <a:r>
              <a:rPr lang="fr-FR" sz="2800" dirty="0" err="1"/>
              <a:t>vector</a:t>
            </a:r>
            <a:r>
              <a:rPr lang="fr-FR" sz="2800" dirty="0"/>
              <a:t> of </a:t>
            </a:r>
            <a:r>
              <a:rPr lang="fr-FR" sz="2800" dirty="0" err="1"/>
              <a:t>means</a:t>
            </a:r>
            <a:r>
              <a:rPr lang="fr-FR" sz="2800" dirty="0"/>
              <a:t> over time for </a:t>
            </a:r>
            <a:r>
              <a:rPr lang="fr-FR" sz="2800" dirty="0" err="1"/>
              <a:t>each</a:t>
            </a:r>
            <a:r>
              <a:rPr lang="fr-FR" sz="2800" dirty="0"/>
              <a:t> </a:t>
            </a:r>
            <a:r>
              <a:rPr lang="fr-FR" sz="2800" dirty="0" err="1"/>
              <a:t>individual</a:t>
            </a:r>
            <a:r>
              <a:rPr lang="fr-FR" sz="2800" dirty="0"/>
              <a:t> </a:t>
            </a:r>
            <a:r>
              <a:rPr lang="fr-FR" sz="2800" dirty="0" err="1"/>
              <a:t>is</a:t>
            </a:r>
            <a:r>
              <a:rPr lang="fr-FR" sz="2800" dirty="0"/>
              <a:t> a </a:t>
            </a:r>
            <a:r>
              <a:rPr lang="fr-FR" sz="2800" dirty="0" err="1"/>
              <a:t>linear</a:t>
            </a:r>
            <a:r>
              <a:rPr lang="fr-FR" sz="2800" dirty="0"/>
              <a:t> projection of a </a:t>
            </a:r>
            <a:r>
              <a:rPr lang="fr-FR" sz="2800" dirty="0" err="1"/>
              <a:t>vector</a:t>
            </a:r>
            <a:r>
              <a:rPr lang="fr-FR" sz="2800" dirty="0"/>
              <a:t> </a:t>
            </a:r>
            <a:r>
              <a:rPr lang="fr-FR" sz="2800" i="1" dirty="0"/>
              <a:t>x(</a:t>
            </a:r>
            <a:r>
              <a:rPr lang="fr-FR" sz="2800" i="1" dirty="0" err="1"/>
              <a:t>it</a:t>
            </a:r>
            <a:r>
              <a:rPr lang="fr-FR" sz="2800" i="1" dirty="0"/>
              <a:t>)</a:t>
            </a:r>
            <a:r>
              <a:rPr lang="fr-FR" sz="2800" dirty="0"/>
              <a:t>: </a:t>
            </a:r>
          </a:p>
          <a:p>
            <a:pPr marL="0" indent="0">
              <a:buNone/>
            </a:pPr>
            <a:r>
              <a:rPr lang="fr-FR" sz="2800" b="1" dirty="0"/>
              <a:t>x(i.) = </a:t>
            </a:r>
            <a:r>
              <a:rPr lang="fr-FR" sz="2800" b="1" dirty="0" err="1"/>
              <a:t>B.x</a:t>
            </a:r>
            <a:r>
              <a:rPr lang="fr-FR" sz="2800" b="1" dirty="0"/>
              <a:t>(</a:t>
            </a:r>
            <a:r>
              <a:rPr lang="fr-FR" sz="2800" b="1" dirty="0" err="1"/>
              <a:t>it</a:t>
            </a:r>
            <a:r>
              <a:rPr lang="fr-FR" sz="2800" b="1" dirty="0"/>
              <a:t>)</a:t>
            </a:r>
          </a:p>
          <a:p>
            <a:pPr marL="0" indent="0">
              <a:buNone/>
            </a:pPr>
            <a:r>
              <a:rPr lang="fr-FR" sz="2800" dirty="0"/>
              <a:t>The </a:t>
            </a:r>
            <a:r>
              <a:rPr lang="fr-FR" sz="2800" dirty="0" err="1"/>
              <a:t>residuals</a:t>
            </a:r>
            <a:r>
              <a:rPr lang="fr-FR" sz="2800" dirty="0"/>
              <a:t> of </a:t>
            </a:r>
            <a:r>
              <a:rPr lang="fr-FR" sz="2800" dirty="0" err="1"/>
              <a:t>this</a:t>
            </a:r>
            <a:r>
              <a:rPr lang="fr-FR" sz="2800" dirty="0"/>
              <a:t> </a:t>
            </a:r>
            <a:r>
              <a:rPr lang="fr-FR" sz="2800" dirty="0" err="1"/>
              <a:t>regression</a:t>
            </a:r>
            <a:r>
              <a:rPr lang="fr-FR" sz="2800" dirty="0"/>
              <a:t> </a:t>
            </a:r>
            <a:r>
              <a:rPr lang="fr-FR" sz="2800" dirty="0" err="1"/>
              <a:t>is</a:t>
            </a:r>
            <a:r>
              <a:rPr lang="fr-FR" sz="2800" dirty="0"/>
              <a:t> the </a:t>
            </a:r>
            <a:r>
              <a:rPr lang="fr-FR" sz="2800" dirty="0" err="1"/>
              <a:t>deviation</a:t>
            </a:r>
            <a:r>
              <a:rPr lang="fr-FR" sz="2800" dirty="0"/>
              <a:t> to the </a:t>
            </a:r>
            <a:r>
              <a:rPr lang="fr-FR" sz="2800" dirty="0" err="1"/>
              <a:t>individual</a:t>
            </a:r>
            <a:r>
              <a:rPr lang="fr-FR" sz="2800" dirty="0"/>
              <a:t> </a:t>
            </a:r>
            <a:r>
              <a:rPr lang="fr-FR" sz="2800" dirty="0" err="1"/>
              <a:t>mean</a:t>
            </a:r>
            <a:r>
              <a:rPr lang="fr-FR" sz="2800" dirty="0"/>
              <a:t> over time.</a:t>
            </a:r>
          </a:p>
          <a:p>
            <a:pPr marL="0" indent="0">
              <a:buNone/>
            </a:pPr>
            <a:r>
              <a:rPr lang="fr-FR" sz="2800" b="1" dirty="0"/>
              <a:t>x(</a:t>
            </a:r>
            <a:r>
              <a:rPr lang="fr-FR" sz="2800" b="1" dirty="0" err="1"/>
              <a:t>it</a:t>
            </a:r>
            <a:r>
              <a:rPr lang="fr-FR" sz="2800" b="1" dirty="0"/>
              <a:t>) - x(i.) = (I-B).x(</a:t>
            </a:r>
            <a:r>
              <a:rPr lang="fr-FR" sz="2800" b="1" dirty="0" err="1"/>
              <a:t>it</a:t>
            </a:r>
            <a:r>
              <a:rPr lang="fr-FR" sz="2800" b="1" dirty="0"/>
              <a:t>) = </a:t>
            </a:r>
            <a:r>
              <a:rPr lang="fr-FR" sz="2800" b="1" dirty="0" err="1"/>
              <a:t>W.x</a:t>
            </a:r>
            <a:r>
              <a:rPr lang="fr-FR" sz="2800" b="1" dirty="0"/>
              <a:t>(</a:t>
            </a:r>
            <a:r>
              <a:rPr lang="fr-FR" sz="2800" b="1" dirty="0" err="1"/>
              <a:t>it</a:t>
            </a:r>
            <a:r>
              <a:rPr lang="fr-FR" sz="2800" b="1" dirty="0"/>
              <a:t>).</a:t>
            </a:r>
          </a:p>
          <a:p>
            <a:pPr marL="0" indent="0">
              <a:buNone/>
            </a:pPr>
            <a:r>
              <a:rPr lang="fr-FR" sz="2800" dirty="0"/>
              <a:t>The </a:t>
            </a:r>
            <a:r>
              <a:rPr lang="fr-FR" sz="2800" dirty="0" err="1"/>
              <a:t>residuals</a:t>
            </a:r>
            <a:r>
              <a:rPr lang="fr-FR" sz="2800" dirty="0"/>
              <a:t> are orthogonal to the </a:t>
            </a:r>
            <a:r>
              <a:rPr lang="fr-FR" sz="2800" dirty="0" err="1"/>
              <a:t>forecast</a:t>
            </a:r>
            <a:r>
              <a:rPr lang="fr-FR" sz="2800" dirty="0"/>
              <a:t> (the projection as best approximation):</a:t>
            </a:r>
          </a:p>
          <a:p>
            <a:pPr marL="0" indent="0">
              <a:buNone/>
            </a:pPr>
            <a:r>
              <a:rPr lang="fr-FR" sz="2800" b="1" dirty="0" err="1"/>
              <a:t>Cov</a:t>
            </a:r>
            <a:r>
              <a:rPr lang="fr-FR" sz="2800" b="1" dirty="0"/>
              <a:t>( x(i.), x(</a:t>
            </a:r>
            <a:r>
              <a:rPr lang="fr-FR" sz="2800" b="1" dirty="0" err="1"/>
              <a:t>it</a:t>
            </a:r>
            <a:r>
              <a:rPr lang="fr-FR" sz="2800" b="1" dirty="0"/>
              <a:t>)-x(i.) ) =0</a:t>
            </a:r>
            <a:endParaRPr lang="en-GB" sz="2800" dirty="0"/>
          </a:p>
        </p:txBody>
      </p:sp>
    </p:spTree>
    <p:extLst>
      <p:ext uri="{BB962C8B-B14F-4D97-AF65-F5344CB8AC3E}">
        <p14:creationId xmlns:p14="http://schemas.microsoft.com/office/powerpoint/2010/main" val="258512169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Orthogonality</a:t>
            </a:r>
            <a:r>
              <a:rPr lang="fr-FR" dirty="0"/>
              <a:t> </a:t>
            </a:r>
            <a:r>
              <a:rPr lang="fr-FR" dirty="0" err="1"/>
              <a:t>implies</a:t>
            </a:r>
            <a:r>
              <a:rPr lang="fr-FR" dirty="0"/>
              <a:t> the </a:t>
            </a:r>
            <a:r>
              <a:rPr lang="fr-FR" dirty="0" err="1"/>
              <a:t>analysis</a:t>
            </a:r>
            <a:r>
              <a:rPr lang="fr-FR" dirty="0"/>
              <a:t> of variance (</a:t>
            </a:r>
            <a:r>
              <a:rPr lang="fr-FR" dirty="0" err="1"/>
              <a:t>Pythagoras</a:t>
            </a:r>
            <a:r>
              <a:rPr lang="fr-FR" dirty="0"/>
              <a:t>’ </a:t>
            </a:r>
            <a:r>
              <a:rPr lang="fr-FR" dirty="0" err="1"/>
              <a:t>theorem</a:t>
            </a:r>
            <a:r>
              <a:rPr lang="fr-FR" dirty="0"/>
              <a:t>).</a:t>
            </a:r>
          </a:p>
        </p:txBody>
      </p:sp>
      <p:sp>
        <p:nvSpPr>
          <p:cNvPr id="3" name="Espace réservé du contenu 2"/>
          <p:cNvSpPr>
            <a:spLocks noGrp="1"/>
          </p:cNvSpPr>
          <p:nvPr>
            <p:ph idx="1"/>
          </p:nvPr>
        </p:nvSpPr>
        <p:spPr/>
        <p:txBody>
          <a:bodyPr>
            <a:normAutofit/>
          </a:bodyPr>
          <a:lstStyle/>
          <a:p>
            <a:pPr marL="0" indent="0">
              <a:buNone/>
            </a:pPr>
            <a:r>
              <a:rPr lang="fr-FR" dirty="0"/>
              <a:t>The time dimension </a:t>
            </a:r>
            <a:r>
              <a:rPr lang="fr-FR" dirty="0" err="1"/>
              <a:t>can</a:t>
            </a:r>
            <a:r>
              <a:rPr lang="fr-FR" dirty="0"/>
              <a:t> </a:t>
            </a:r>
            <a:r>
              <a:rPr lang="fr-FR" dirty="0" err="1"/>
              <a:t>be</a:t>
            </a:r>
            <a:r>
              <a:rPr lang="fr-FR" dirty="0"/>
              <a:t> </a:t>
            </a:r>
            <a:r>
              <a:rPr lang="fr-FR" dirty="0" err="1"/>
              <a:t>written</a:t>
            </a:r>
            <a:r>
              <a:rPr lang="fr-FR" dirty="0"/>
              <a:t> in an orthogonal (</a:t>
            </a:r>
            <a:r>
              <a:rPr lang="fr-FR" dirty="0" err="1"/>
              <a:t>zero</a:t>
            </a:r>
            <a:r>
              <a:rPr lang="fr-FR" dirty="0"/>
              <a:t> covariance) </a:t>
            </a:r>
            <a:r>
              <a:rPr lang="fr-FR" dirty="0" err="1"/>
              <a:t>manner</a:t>
            </a:r>
            <a:r>
              <a:rPr lang="fr-FR" dirty="0"/>
              <a:t> </a:t>
            </a:r>
            <a:r>
              <a:rPr lang="fr-FR" dirty="0" err="1"/>
              <a:t>with</a:t>
            </a:r>
            <a:r>
              <a:rPr lang="fr-FR" dirty="0"/>
              <a:t> respect to the (</a:t>
            </a:r>
            <a:r>
              <a:rPr lang="fr-FR" dirty="0" err="1"/>
              <a:t>average</a:t>
            </a:r>
            <a:r>
              <a:rPr lang="fr-FR" dirty="0"/>
              <a:t> of) cross-section variance.</a:t>
            </a:r>
          </a:p>
          <a:p>
            <a:pPr marL="0" indent="0" algn="ctr">
              <a:buNone/>
            </a:pPr>
            <a:r>
              <a:rPr lang="fr-FR" b="1" dirty="0" err="1">
                <a:solidFill>
                  <a:srgbClr val="00B050"/>
                </a:solidFill>
              </a:rPr>
              <a:t>Within</a:t>
            </a:r>
            <a:r>
              <a:rPr lang="fr-FR" b="1" dirty="0">
                <a:solidFill>
                  <a:srgbClr val="00B050"/>
                </a:solidFill>
              </a:rPr>
              <a:t> group variance + </a:t>
            </a:r>
          </a:p>
          <a:p>
            <a:pPr marL="0" indent="0" algn="ctr">
              <a:buNone/>
            </a:pPr>
            <a:r>
              <a:rPr lang="fr-FR" b="1" dirty="0" err="1">
                <a:solidFill>
                  <a:srgbClr val="00B050"/>
                </a:solidFill>
              </a:rPr>
              <a:t>Between</a:t>
            </a:r>
            <a:r>
              <a:rPr lang="fr-FR" b="1" dirty="0">
                <a:solidFill>
                  <a:srgbClr val="00B050"/>
                </a:solidFill>
              </a:rPr>
              <a:t> groups variance +</a:t>
            </a:r>
          </a:p>
          <a:p>
            <a:pPr marL="0" indent="0" algn="ctr">
              <a:buNone/>
            </a:pPr>
            <a:r>
              <a:rPr lang="fr-FR" b="1" dirty="0">
                <a:solidFill>
                  <a:srgbClr val="00B050"/>
                </a:solidFill>
              </a:rPr>
              <a:t>2 covariance (</a:t>
            </a:r>
            <a:r>
              <a:rPr lang="fr-FR" b="1" dirty="0" err="1">
                <a:solidFill>
                  <a:srgbClr val="00B050"/>
                </a:solidFill>
              </a:rPr>
              <a:t>within</a:t>
            </a:r>
            <a:r>
              <a:rPr lang="fr-FR" b="1" dirty="0">
                <a:solidFill>
                  <a:srgbClr val="00B050"/>
                </a:solidFill>
              </a:rPr>
              <a:t>, </a:t>
            </a:r>
            <a:r>
              <a:rPr lang="fr-FR" b="1" dirty="0" err="1">
                <a:solidFill>
                  <a:srgbClr val="00B050"/>
                </a:solidFill>
              </a:rPr>
              <a:t>between</a:t>
            </a:r>
            <a:r>
              <a:rPr lang="fr-FR" b="1" dirty="0">
                <a:solidFill>
                  <a:srgbClr val="00B050"/>
                </a:solidFill>
              </a:rPr>
              <a:t>) [=0]</a:t>
            </a:r>
          </a:p>
          <a:p>
            <a:pPr marL="0" indent="0" algn="ctr">
              <a:buNone/>
            </a:pPr>
            <a:r>
              <a:rPr lang="fr-FR" b="1" dirty="0">
                <a:solidFill>
                  <a:srgbClr val="00B050"/>
                </a:solidFill>
              </a:rPr>
              <a:t>= </a:t>
            </a:r>
            <a:r>
              <a:rPr lang="fr-FR" b="1" dirty="0" err="1">
                <a:solidFill>
                  <a:srgbClr val="00B050"/>
                </a:solidFill>
              </a:rPr>
              <a:t>Overall</a:t>
            </a:r>
            <a:r>
              <a:rPr lang="fr-FR" b="1" dirty="0">
                <a:solidFill>
                  <a:srgbClr val="00B050"/>
                </a:solidFill>
              </a:rPr>
              <a:t> variance.</a:t>
            </a:r>
          </a:p>
        </p:txBody>
      </p:sp>
    </p:spTree>
    <p:extLst>
      <p:ext uri="{BB962C8B-B14F-4D97-AF65-F5344CB8AC3E}">
        <p14:creationId xmlns:p14="http://schemas.microsoft.com/office/powerpoint/2010/main" val="99256346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Between</a:t>
            </a:r>
            <a:r>
              <a:rPr lang="fr-FR" dirty="0"/>
              <a:t> transformation = an </a:t>
            </a:r>
            <a:r>
              <a:rPr lang="fr-FR" dirty="0" err="1"/>
              <a:t>average</a:t>
            </a:r>
            <a:r>
              <a:rPr lang="fr-FR" dirty="0"/>
              <a:t> of cross sections.</a:t>
            </a:r>
          </a:p>
        </p:txBody>
      </p:sp>
      <p:sp>
        <p:nvSpPr>
          <p:cNvPr id="3" name="Espace réservé du contenu 2"/>
          <p:cNvSpPr>
            <a:spLocks noGrp="1"/>
          </p:cNvSpPr>
          <p:nvPr>
            <p:ph idx="1"/>
          </p:nvPr>
        </p:nvSpPr>
        <p:spPr/>
        <p:txBody>
          <a:bodyPr/>
          <a:lstStyle/>
          <a:p>
            <a:pPr marL="0" indent="0">
              <a:buNone/>
            </a:pPr>
            <a:r>
              <a:rPr lang="fr-FR" dirty="0"/>
              <a:t>x(i,.) = </a:t>
            </a:r>
            <a:r>
              <a:rPr lang="fr-FR" dirty="0" err="1"/>
              <a:t>average</a:t>
            </a:r>
            <a:r>
              <a:rPr lang="fr-FR" dirty="0"/>
              <a:t> over time of observation for a </a:t>
            </a:r>
            <a:r>
              <a:rPr lang="fr-FR" dirty="0" err="1"/>
              <a:t>given</a:t>
            </a:r>
            <a:r>
              <a:rPr lang="fr-FR" dirty="0"/>
              <a:t> </a:t>
            </a:r>
            <a:r>
              <a:rPr lang="fr-FR" dirty="0" err="1"/>
              <a:t>individual</a:t>
            </a:r>
            <a:r>
              <a:rPr lang="fr-FR" dirty="0"/>
              <a:t> i.</a:t>
            </a:r>
          </a:p>
          <a:p>
            <a:pPr marL="0" indent="0">
              <a:buNone/>
            </a:pPr>
            <a:endParaRPr lang="fr-FR" dirty="0"/>
          </a:p>
          <a:p>
            <a:pPr marL="0" indent="0">
              <a:buNone/>
            </a:pPr>
            <a:r>
              <a:rPr lang="fr-FR" dirty="0"/>
              <a:t>For N </a:t>
            </a:r>
            <a:r>
              <a:rPr lang="fr-FR" dirty="0" err="1"/>
              <a:t>individual</a:t>
            </a:r>
            <a:r>
              <a:rPr lang="fr-FR" dirty="0"/>
              <a:t> i, </a:t>
            </a:r>
            <a:r>
              <a:rPr lang="fr-FR" dirty="0" err="1"/>
              <a:t>there</a:t>
            </a:r>
            <a:r>
              <a:rPr lang="fr-FR" dirty="0"/>
              <a:t> are N observations </a:t>
            </a:r>
            <a:r>
              <a:rPr lang="fr-FR" dirty="0" err="1"/>
              <a:t>with</a:t>
            </a:r>
            <a:r>
              <a:rPr lang="fr-FR" dirty="0"/>
              <a:t> are </a:t>
            </a:r>
            <a:r>
              <a:rPr lang="fr-FR" dirty="0" err="1"/>
              <a:t>between</a:t>
            </a:r>
            <a:r>
              <a:rPr lang="fr-FR" dirty="0"/>
              <a:t> </a:t>
            </a:r>
            <a:r>
              <a:rPr lang="fr-FR" dirty="0" err="1"/>
              <a:t>transformed</a:t>
            </a:r>
            <a:r>
              <a:rPr lang="fr-FR" dirty="0"/>
              <a:t> variables of x(</a:t>
            </a:r>
            <a:r>
              <a:rPr lang="fr-FR" dirty="0" err="1"/>
              <a:t>i,t</a:t>
            </a:r>
            <a:r>
              <a:rPr lang="fr-FR" dirty="0"/>
              <a:t>) </a:t>
            </a:r>
            <a:r>
              <a:rPr lang="fr-FR" dirty="0" err="1"/>
              <a:t>which</a:t>
            </a:r>
            <a:r>
              <a:rPr lang="fr-FR" dirty="0"/>
              <a:t> </a:t>
            </a:r>
            <a:r>
              <a:rPr lang="fr-FR" dirty="0" err="1"/>
              <a:t>includes</a:t>
            </a:r>
            <a:r>
              <a:rPr lang="fr-FR" dirty="0"/>
              <a:t> at </a:t>
            </a:r>
            <a:r>
              <a:rPr lang="fr-FR" dirty="0" err="1"/>
              <a:t>most</a:t>
            </a:r>
            <a:r>
              <a:rPr lang="fr-FR" dirty="0"/>
              <a:t> NT observations (if </a:t>
            </a:r>
            <a:r>
              <a:rPr lang="fr-FR" dirty="0" err="1"/>
              <a:t>balanced</a:t>
            </a:r>
            <a:r>
              <a:rPr lang="fr-FR" dirty="0"/>
              <a:t>).</a:t>
            </a:r>
          </a:p>
        </p:txBody>
      </p:sp>
    </p:spTree>
    <p:extLst>
      <p:ext uri="{BB962C8B-B14F-4D97-AF65-F5344CB8AC3E}">
        <p14:creationId xmlns:p14="http://schemas.microsoft.com/office/powerpoint/2010/main" val="421596836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Within</a:t>
            </a:r>
            <a:r>
              <a:rPr lang="fr-FR" dirty="0"/>
              <a:t> transformation</a:t>
            </a:r>
          </a:p>
        </p:txBody>
      </p:sp>
      <p:sp>
        <p:nvSpPr>
          <p:cNvPr id="3" name="Espace réservé du contenu 2"/>
          <p:cNvSpPr>
            <a:spLocks noGrp="1"/>
          </p:cNvSpPr>
          <p:nvPr>
            <p:ph idx="1"/>
          </p:nvPr>
        </p:nvSpPr>
        <p:spPr/>
        <p:txBody>
          <a:bodyPr/>
          <a:lstStyle/>
          <a:p>
            <a:pPr marL="0" indent="0">
              <a:buNone/>
            </a:pPr>
            <a:r>
              <a:rPr lang="fr-FR" dirty="0"/>
              <a:t>Is the </a:t>
            </a:r>
            <a:r>
              <a:rPr lang="fr-FR" dirty="0" err="1"/>
              <a:t>difference</a:t>
            </a:r>
            <a:r>
              <a:rPr lang="fr-FR" dirty="0"/>
              <a:t> of </a:t>
            </a:r>
            <a:r>
              <a:rPr lang="fr-FR" dirty="0" err="1"/>
              <a:t>each</a:t>
            </a:r>
            <a:r>
              <a:rPr lang="fr-FR" dirty="0"/>
              <a:t> observation to the MEAN over time of </a:t>
            </a:r>
            <a:r>
              <a:rPr lang="fr-FR" dirty="0" err="1"/>
              <a:t>each</a:t>
            </a:r>
            <a:r>
              <a:rPr lang="fr-FR" dirty="0"/>
              <a:t> observation of a </a:t>
            </a:r>
            <a:r>
              <a:rPr lang="fr-FR" dirty="0" err="1"/>
              <a:t>specific</a:t>
            </a:r>
            <a:r>
              <a:rPr lang="fr-FR" dirty="0"/>
              <a:t> </a:t>
            </a:r>
            <a:r>
              <a:rPr lang="fr-FR" dirty="0" err="1"/>
              <a:t>individual</a:t>
            </a:r>
            <a:r>
              <a:rPr lang="fr-FR" dirty="0"/>
              <a:t>:</a:t>
            </a:r>
          </a:p>
          <a:p>
            <a:pPr marL="0" indent="0">
              <a:buNone/>
            </a:pPr>
            <a:r>
              <a:rPr lang="fr-FR" dirty="0"/>
              <a:t>X(</a:t>
            </a:r>
            <a:r>
              <a:rPr lang="fr-FR" dirty="0" err="1"/>
              <a:t>it</a:t>
            </a:r>
            <a:r>
              <a:rPr lang="fr-FR" dirty="0"/>
              <a:t>)-X(i,.)</a:t>
            </a:r>
          </a:p>
          <a:p>
            <a:pPr marL="0" indent="0">
              <a:buNone/>
            </a:pPr>
            <a:r>
              <a:rPr lang="fr-FR" dirty="0"/>
              <a:t>The </a:t>
            </a:r>
            <a:r>
              <a:rPr lang="fr-FR" dirty="0" err="1"/>
              <a:t>mean</a:t>
            </a:r>
            <a:r>
              <a:rPr lang="fr-FR" dirty="0"/>
              <a:t> over time of X(</a:t>
            </a:r>
            <a:r>
              <a:rPr lang="fr-FR" dirty="0" err="1"/>
              <a:t>it</a:t>
            </a:r>
            <a:r>
              <a:rPr lang="fr-FR" dirty="0"/>
              <a:t>)-X(i.) for </a:t>
            </a:r>
            <a:r>
              <a:rPr lang="fr-FR" dirty="0" err="1"/>
              <a:t>each</a:t>
            </a:r>
            <a:r>
              <a:rPr lang="fr-FR" dirty="0"/>
              <a:t> </a:t>
            </a:r>
            <a:r>
              <a:rPr lang="fr-FR" dirty="0" err="1"/>
              <a:t>individual</a:t>
            </a:r>
            <a:r>
              <a:rPr lang="fr-FR" dirty="0"/>
              <a:t> (i) </a:t>
            </a:r>
            <a:r>
              <a:rPr lang="fr-FR" dirty="0" err="1"/>
              <a:t>is</a:t>
            </a:r>
            <a:r>
              <a:rPr lang="fr-FR" dirty="0"/>
              <a:t> </a:t>
            </a:r>
            <a:r>
              <a:rPr lang="fr-FR" dirty="0" err="1"/>
              <a:t>always</a:t>
            </a:r>
            <a:r>
              <a:rPr lang="fr-FR" dirty="0"/>
              <a:t> </a:t>
            </a:r>
            <a:r>
              <a:rPr lang="fr-FR" dirty="0" err="1"/>
              <a:t>equal</a:t>
            </a:r>
            <a:r>
              <a:rPr lang="fr-FR" dirty="0"/>
              <a:t> to </a:t>
            </a:r>
            <a:r>
              <a:rPr lang="fr-FR" b="1" dirty="0">
                <a:solidFill>
                  <a:srgbClr val="FF0000"/>
                </a:solidFill>
              </a:rPr>
              <a:t>?</a:t>
            </a:r>
          </a:p>
          <a:p>
            <a:pPr marL="0" indent="0">
              <a:buNone/>
            </a:pPr>
            <a:r>
              <a:rPr lang="fr-FR" dirty="0" err="1"/>
              <a:t>Then</a:t>
            </a:r>
            <a:r>
              <a:rPr lang="fr-FR" dirty="0"/>
              <a:t>, </a:t>
            </a:r>
            <a:r>
              <a:rPr lang="fr-FR" dirty="0" err="1"/>
              <a:t>there</a:t>
            </a:r>
            <a:r>
              <a:rPr lang="fr-FR" dirty="0"/>
              <a:t> are NT-N </a:t>
            </a:r>
            <a:r>
              <a:rPr lang="fr-FR" dirty="0" err="1"/>
              <a:t>degrees</a:t>
            </a:r>
            <a:r>
              <a:rPr lang="fr-FR" dirty="0"/>
              <a:t> for </a:t>
            </a:r>
            <a:r>
              <a:rPr lang="fr-FR" dirty="0" err="1"/>
              <a:t>freedom</a:t>
            </a:r>
            <a:r>
              <a:rPr lang="fr-FR" dirty="0"/>
              <a:t>.</a:t>
            </a:r>
          </a:p>
        </p:txBody>
      </p:sp>
    </p:spTree>
    <p:extLst>
      <p:ext uri="{BB962C8B-B14F-4D97-AF65-F5344CB8AC3E}">
        <p14:creationId xmlns:p14="http://schemas.microsoft.com/office/powerpoint/2010/main" val="221778101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With</a:t>
            </a:r>
            <a:r>
              <a:rPr lang="fr-FR" dirty="0"/>
              <a:t> </a:t>
            </a:r>
            <a:r>
              <a:rPr lang="fr-FR" dirty="0" err="1"/>
              <a:t>two</a:t>
            </a:r>
            <a:r>
              <a:rPr lang="fr-FR" dirty="0"/>
              <a:t> indices: </a:t>
            </a:r>
            <a:br>
              <a:rPr lang="fr-FR" dirty="0"/>
            </a:br>
            <a:r>
              <a:rPr lang="fr-FR" dirty="0" err="1"/>
              <a:t>Two</a:t>
            </a:r>
            <a:r>
              <a:rPr lang="fr-FR" dirty="0"/>
              <a:t> orthogonal </a:t>
            </a:r>
            <a:r>
              <a:rPr lang="fr-FR" dirty="0" err="1"/>
              <a:t>worlds</a:t>
            </a:r>
            <a:endParaRPr lang="fr-FR" dirty="0"/>
          </a:p>
        </p:txBody>
      </p:sp>
      <p:sp>
        <p:nvSpPr>
          <p:cNvPr id="3" name="Espace réservé du contenu 2"/>
          <p:cNvSpPr>
            <a:spLocks noGrp="1"/>
          </p:cNvSpPr>
          <p:nvPr>
            <p:ph idx="1"/>
          </p:nvPr>
        </p:nvSpPr>
        <p:spPr/>
        <p:txBody>
          <a:bodyPr>
            <a:normAutofit lnSpcReduction="10000"/>
          </a:bodyPr>
          <a:lstStyle/>
          <a:p>
            <a:pPr marL="514350" indent="-514350">
              <a:buAutoNum type="arabicParenR"/>
            </a:pPr>
            <a:r>
              <a:rPr lang="fr-FR" dirty="0"/>
              <a:t>The </a:t>
            </a:r>
            <a:r>
              <a:rPr lang="fr-FR" dirty="0" err="1"/>
              <a:t>within</a:t>
            </a:r>
            <a:r>
              <a:rPr lang="fr-FR" dirty="0"/>
              <a:t> world of time-</a:t>
            </a:r>
            <a:r>
              <a:rPr lang="fr-FR" dirty="0" err="1"/>
              <a:t>series</a:t>
            </a:r>
            <a:r>
              <a:rPr lang="fr-FR" dirty="0"/>
              <a:t> variation </a:t>
            </a:r>
            <a:r>
              <a:rPr lang="fr-FR" dirty="0" err="1"/>
              <a:t>demeaned</a:t>
            </a:r>
            <a:r>
              <a:rPr lang="fr-FR" dirty="0"/>
              <a:t> for </a:t>
            </a:r>
            <a:r>
              <a:rPr lang="fr-FR" dirty="0" err="1"/>
              <a:t>each</a:t>
            </a:r>
            <a:r>
              <a:rPr lang="fr-FR" dirty="0"/>
              <a:t> </a:t>
            </a:r>
            <a:r>
              <a:rPr lang="fr-FR" dirty="0" err="1"/>
              <a:t>individual</a:t>
            </a:r>
            <a:r>
              <a:rPr lang="fr-FR" dirty="0"/>
              <a:t>, </a:t>
            </a:r>
            <a:r>
              <a:rPr lang="fr-FR" dirty="0" err="1"/>
              <a:t>subspace</a:t>
            </a:r>
            <a:r>
              <a:rPr lang="fr-FR" dirty="0"/>
              <a:t> of dimension NT - N.</a:t>
            </a:r>
          </a:p>
          <a:p>
            <a:pPr marL="514350" indent="-514350">
              <a:buAutoNum type="arabicParenR"/>
            </a:pPr>
            <a:r>
              <a:rPr lang="fr-FR" dirty="0"/>
              <a:t> The </a:t>
            </a:r>
            <a:r>
              <a:rPr lang="fr-FR" dirty="0" err="1"/>
              <a:t>between</a:t>
            </a:r>
            <a:r>
              <a:rPr lang="fr-FR" dirty="0"/>
              <a:t> world (</a:t>
            </a:r>
            <a:r>
              <a:rPr lang="fr-FR" dirty="0" err="1"/>
              <a:t>subspace</a:t>
            </a:r>
            <a:r>
              <a:rPr lang="fr-FR" dirty="0"/>
              <a:t>) of the </a:t>
            </a:r>
            <a:r>
              <a:rPr lang="fr-FR" dirty="0" err="1"/>
              <a:t>average</a:t>
            </a:r>
            <a:r>
              <a:rPr lang="fr-FR" dirty="0"/>
              <a:t> of cross section, </a:t>
            </a:r>
            <a:r>
              <a:rPr lang="fr-FR" dirty="0" err="1"/>
              <a:t>subspace</a:t>
            </a:r>
            <a:r>
              <a:rPr lang="fr-FR" dirty="0"/>
              <a:t> of dimension N. </a:t>
            </a:r>
            <a:r>
              <a:rPr lang="fr-FR" b="1" dirty="0"/>
              <a:t>Time invariant variables </a:t>
            </a:r>
            <a:r>
              <a:rPr lang="fr-FR" b="1" dirty="0" err="1"/>
              <a:t>only</a:t>
            </a:r>
            <a:r>
              <a:rPr lang="fr-FR" b="1" dirty="0"/>
              <a:t> </a:t>
            </a:r>
            <a:r>
              <a:rPr lang="fr-FR" b="1" dirty="0" err="1"/>
              <a:t>vary</a:t>
            </a:r>
            <a:r>
              <a:rPr lang="fr-FR" b="1" dirty="0"/>
              <a:t> in </a:t>
            </a:r>
            <a:r>
              <a:rPr lang="fr-FR" b="1" dirty="0" err="1"/>
              <a:t>this</a:t>
            </a:r>
            <a:r>
              <a:rPr lang="fr-FR" b="1" dirty="0"/>
              <a:t> world.</a:t>
            </a:r>
          </a:p>
          <a:p>
            <a:pPr marL="0" indent="0">
              <a:buNone/>
            </a:pPr>
            <a:r>
              <a:rPr lang="fr-FR" dirty="0"/>
              <a:t>A </a:t>
            </a:r>
            <a:r>
              <a:rPr lang="fr-FR" dirty="0" err="1"/>
              <a:t>perfect</a:t>
            </a:r>
            <a:r>
              <a:rPr lang="fr-FR" dirty="0"/>
              <a:t> match </a:t>
            </a:r>
            <a:r>
              <a:rPr lang="fr-FR" dirty="0" err="1"/>
              <a:t>when</a:t>
            </a:r>
            <a:r>
              <a:rPr lang="fr-FR" dirty="0"/>
              <a:t> </a:t>
            </a:r>
            <a:r>
              <a:rPr lang="fr-FR" dirty="0" err="1"/>
              <a:t>both</a:t>
            </a:r>
            <a:r>
              <a:rPr lang="fr-FR" dirty="0"/>
              <a:t> </a:t>
            </a:r>
            <a:r>
              <a:rPr lang="fr-FR" dirty="0" err="1"/>
              <a:t>worlds</a:t>
            </a:r>
            <a:r>
              <a:rPr lang="fr-FR" dirty="0"/>
              <a:t> </a:t>
            </a:r>
            <a:r>
              <a:rPr lang="fr-FR" dirty="0" err="1"/>
              <a:t>implies</a:t>
            </a:r>
            <a:r>
              <a:rPr lang="fr-FR" dirty="0"/>
              <a:t> the </a:t>
            </a:r>
            <a:r>
              <a:rPr lang="fr-FR" dirty="0" err="1"/>
              <a:t>same</a:t>
            </a:r>
            <a:r>
              <a:rPr lang="fr-FR" dirty="0"/>
              <a:t> </a:t>
            </a:r>
            <a:r>
              <a:rPr lang="fr-FR" dirty="0" err="1"/>
              <a:t>correlations</a:t>
            </a:r>
            <a:r>
              <a:rPr lang="fr-FR" dirty="0"/>
              <a:t> </a:t>
            </a:r>
            <a:r>
              <a:rPr lang="fr-FR" dirty="0" err="1"/>
              <a:t>is</a:t>
            </a:r>
            <a:r>
              <a:rPr lang="fr-FR" dirty="0"/>
              <a:t> </a:t>
            </a:r>
            <a:r>
              <a:rPr lang="fr-FR" dirty="0" err="1"/>
              <a:t>ideal</a:t>
            </a:r>
            <a:r>
              <a:rPr lang="fr-FR" dirty="0"/>
              <a:t>. It </a:t>
            </a:r>
            <a:r>
              <a:rPr lang="fr-FR" dirty="0" err="1"/>
              <a:t>is</a:t>
            </a:r>
            <a:r>
              <a:rPr lang="fr-FR" dirty="0"/>
              <a:t> </a:t>
            </a:r>
            <a:r>
              <a:rPr lang="fr-FR" dirty="0" err="1"/>
              <a:t>rarely</a:t>
            </a:r>
            <a:r>
              <a:rPr lang="fr-FR" dirty="0"/>
              <a:t> the case.</a:t>
            </a:r>
          </a:p>
        </p:txBody>
      </p:sp>
    </p:spTree>
    <p:extLst>
      <p:ext uri="{BB962C8B-B14F-4D97-AF65-F5344CB8AC3E}">
        <p14:creationId xmlns:p14="http://schemas.microsoft.com/office/powerpoint/2010/main" val="342016551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69776"/>
            <a:ext cx="8229600" cy="1143000"/>
          </a:xfrm>
        </p:spPr>
        <p:txBody>
          <a:bodyPr/>
          <a:lstStyle/>
          <a:p>
            <a:r>
              <a:rPr lang="fr-FR" sz="3200" dirty="0" err="1"/>
              <a:t>Analysis</a:t>
            </a:r>
            <a:r>
              <a:rPr lang="fr-FR" sz="3200" dirty="0"/>
              <a:t> of variance </a:t>
            </a:r>
            <a:r>
              <a:rPr lang="fr-FR" sz="3200" dirty="0" err="1"/>
              <a:t>operators</a:t>
            </a:r>
            <a:r>
              <a:rPr lang="fr-FR" sz="3200" dirty="0"/>
              <a:t>: </a:t>
            </a:r>
            <a:r>
              <a:rPr lang="fr-FR" sz="3200" dirty="0" err="1"/>
              <a:t>Between</a:t>
            </a:r>
            <a:r>
              <a:rPr lang="fr-FR" sz="3200" dirty="0"/>
              <a:t>(groups) and </a:t>
            </a:r>
            <a:r>
              <a:rPr lang="fr-FR" sz="3200" dirty="0" err="1"/>
              <a:t>Within</a:t>
            </a:r>
            <a:r>
              <a:rPr lang="fr-FR" sz="3200" dirty="0"/>
              <a:t>(group)</a:t>
            </a:r>
          </a:p>
        </p:txBody>
      </p:sp>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395536" y="1600200"/>
                <a:ext cx="8229600" cy="5141168"/>
              </a:xfrm>
            </p:spPr>
            <p:txBody>
              <a:bodyPr>
                <a:normAutofit/>
              </a:bodyPr>
              <a:lstStyle/>
              <a:p>
                <a:pPr marL="0" indent="0">
                  <a:buNone/>
                </a:pPr>
                <a:r>
                  <a:rPr lang="en-US" b="0" dirty="0"/>
                  <a:t>Between</a:t>
                </a:r>
                <a:r>
                  <a:rPr lang="en-US" dirty="0"/>
                  <a:t>: x</a:t>
                </a:r>
                <a:r>
                  <a:rPr lang="en-US" baseline="-25000" dirty="0"/>
                  <a:t>i.</a:t>
                </a:r>
                <a:r>
                  <a:rPr lang="en-US" dirty="0"/>
                  <a:t>=</a:t>
                </a:r>
                <a14:m>
                  <m:oMath xmlns:m="http://schemas.openxmlformats.org/officeDocument/2006/math">
                    <m:f>
                      <m:fPr>
                        <m:ctrlPr>
                          <a:rPr lang="en-US" b="0" i="1" smtClean="0">
                            <a:latin typeface="Cambria Math" panose="02040503050406030204" pitchFamily="18" charset="0"/>
                          </a:rPr>
                        </m:ctrlPr>
                      </m:fPr>
                      <m:num>
                        <m:r>
                          <a:rPr lang="en-US" b="0" i="0" smtClean="0">
                            <a:latin typeface="Cambria Math"/>
                          </a:rPr>
                          <m:t>1</m:t>
                        </m:r>
                      </m:num>
                      <m:den>
                        <m:r>
                          <m:rPr>
                            <m:sty m:val="p"/>
                          </m:rPr>
                          <a:rPr lang="en-US" b="0" i="0" smtClean="0">
                            <a:latin typeface="Cambria Math"/>
                          </a:rPr>
                          <m:t>T</m:t>
                        </m:r>
                      </m:den>
                    </m:f>
                  </m:oMath>
                </a14:m>
                <a:r>
                  <a:rPr lang="pt-BR" dirty="0">
                    <a:latin typeface="Cambria Math" panose="02040503050406030204" pitchFamily="18" charset="0"/>
                    <a:ea typeface="Cambria Math" panose="02040503050406030204" pitchFamily="18" charset="0"/>
                  </a:rPr>
                  <a:t> ∑</a:t>
                </a:r>
                <a:r>
                  <a:rPr lang="es-ES" baseline="-25000" dirty="0">
                    <a:latin typeface="Cambria Math" panose="02040503050406030204" pitchFamily="18" charset="0"/>
                    <a:ea typeface="Cambria Math" panose="02040503050406030204" pitchFamily="18" charset="0"/>
                  </a:rPr>
                  <a:t>t∈</a:t>
                </a:r>
                <a:r>
                  <a:rPr lang="fr-FR" baseline="-25000" dirty="0">
                    <a:latin typeface="Cambria Math" panose="02040503050406030204" pitchFamily="18" charset="0"/>
                    <a:ea typeface="Cambria Math" panose="02040503050406030204" pitchFamily="18" charset="0"/>
                  </a:rPr>
                  <a:t>{1, …, T}</a:t>
                </a:r>
                <a:r>
                  <a:rPr lang="fr-FR" dirty="0" err="1">
                    <a:latin typeface="Cambria Math" panose="02040503050406030204" pitchFamily="18" charset="0"/>
                    <a:ea typeface="Cambria Math" panose="02040503050406030204" pitchFamily="18" charset="0"/>
                  </a:rPr>
                  <a:t>x</a:t>
                </a:r>
                <a:r>
                  <a:rPr lang="fr-FR" baseline="-25000" dirty="0" err="1">
                    <a:latin typeface="Cambria Math" panose="02040503050406030204" pitchFamily="18" charset="0"/>
                    <a:ea typeface="Cambria Math" panose="02040503050406030204" pitchFamily="18" charset="0"/>
                  </a:rPr>
                  <a:t>it</a:t>
                </a:r>
                <a:endParaRPr lang="en-US" baseline="-25000" dirty="0"/>
              </a:p>
              <a:p>
                <a:pPr marL="0" indent="0">
                  <a:buNone/>
                </a:pPr>
                <a:r>
                  <a:rPr lang="en-US" dirty="0"/>
                  <a:t>Random effects, </a:t>
                </a:r>
                <a:r>
                  <a:rPr lang="en-US" dirty="0">
                    <a:latin typeface="Cambria Math"/>
                    <a:ea typeface="Cambria Math"/>
                  </a:rPr>
                  <a:t>0&lt;θ&lt;1 GLS </a:t>
                </a:r>
                <a:r>
                  <a:rPr lang="en-US" dirty="0"/>
                  <a:t>weight, operator, </a:t>
                </a:r>
              </a:p>
              <a:p>
                <a:pPr marL="0" indent="0">
                  <a:buNone/>
                </a:pPr>
                <a:r>
                  <a:rPr lang="en-US" dirty="0"/>
                  <a:t>within + </a:t>
                </a:r>
                <a:r>
                  <a:rPr lang="en-US" dirty="0">
                    <a:latin typeface="Cambria Math"/>
                    <a:ea typeface="Cambria Math"/>
                  </a:rPr>
                  <a:t>θ b</a:t>
                </a:r>
                <a:r>
                  <a:rPr lang="en-US" dirty="0"/>
                  <a:t>etween = </a:t>
                </a:r>
                <a:r>
                  <a:rPr lang="en-US" dirty="0" err="1"/>
                  <a:t>x</a:t>
                </a:r>
                <a:r>
                  <a:rPr lang="en-US" baseline="-25000" dirty="0" err="1"/>
                  <a:t>it</a:t>
                </a:r>
                <a:r>
                  <a:rPr lang="en-US" dirty="0"/>
                  <a:t> – x</a:t>
                </a:r>
                <a:r>
                  <a:rPr lang="en-US" baseline="-25000" dirty="0"/>
                  <a:t>i.</a:t>
                </a:r>
                <a:r>
                  <a:rPr lang="en-US" dirty="0"/>
                  <a:t> + </a:t>
                </a:r>
                <a:r>
                  <a:rPr lang="en-US" dirty="0">
                    <a:latin typeface="Cambria Math"/>
                    <a:ea typeface="Cambria Math"/>
                  </a:rPr>
                  <a:t>θ </a:t>
                </a:r>
                <a:r>
                  <a:rPr lang="en-US" dirty="0"/>
                  <a:t>x</a:t>
                </a:r>
                <a:r>
                  <a:rPr lang="en-US" baseline="-25000" dirty="0"/>
                  <a:t>i.</a:t>
                </a:r>
                <a:endParaRPr lang="en-US" dirty="0"/>
              </a:p>
              <a:p>
                <a:pPr marL="0" indent="0">
                  <a:buNone/>
                </a:pPr>
                <a:r>
                  <a:rPr lang="en-US" dirty="0">
                    <a:latin typeface="Cambria Math"/>
                    <a:ea typeface="Cambria Math"/>
                  </a:rPr>
                  <a:t>Case θ =1: </a:t>
                </a:r>
                <a:r>
                  <a:rPr lang="en-US" dirty="0" err="1"/>
                  <a:t>x</a:t>
                </a:r>
                <a:r>
                  <a:rPr lang="en-US" baseline="-25000" dirty="0" err="1"/>
                  <a:t>it</a:t>
                </a:r>
                <a:r>
                  <a:rPr lang="en-US" baseline="-25000" dirty="0"/>
                  <a:t>  </a:t>
                </a:r>
                <a:r>
                  <a:rPr lang="en-US" dirty="0"/>
                  <a:t>OLS = within + between.</a:t>
                </a:r>
              </a:p>
              <a:p>
                <a:pPr marL="0" indent="0">
                  <a:buNone/>
                </a:pPr>
                <a:r>
                  <a:rPr lang="en-US" dirty="0">
                    <a:latin typeface="Cambria Math"/>
                    <a:ea typeface="Cambria Math"/>
                  </a:rPr>
                  <a:t>Case θ =0: </a:t>
                </a:r>
                <a:r>
                  <a:rPr lang="en-US" dirty="0" err="1"/>
                  <a:t>x</a:t>
                </a:r>
                <a:r>
                  <a:rPr lang="en-US" baseline="-25000" dirty="0" err="1"/>
                  <a:t>it</a:t>
                </a:r>
                <a:r>
                  <a:rPr lang="en-US" dirty="0"/>
                  <a:t> – x</a:t>
                </a:r>
                <a:r>
                  <a:rPr lang="en-US" baseline="-25000" dirty="0"/>
                  <a:t>i.  </a:t>
                </a:r>
                <a:r>
                  <a:rPr lang="en-US" dirty="0"/>
                  <a:t>One-way fixed effects. </a:t>
                </a:r>
                <a:endParaRPr lang="en-US" baseline="-25000" dirty="0"/>
              </a:p>
              <a:p>
                <a:pPr marL="0" indent="0">
                  <a:buNone/>
                </a:pPr>
                <a:endParaRPr lang="en-US" dirty="0"/>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395536" y="1600200"/>
                <a:ext cx="8229600" cy="5141168"/>
              </a:xfrm>
              <a:blipFill rotWithShape="1">
                <a:blip r:embed="rId2"/>
                <a:stretch>
                  <a:fillRect l="-1926" r="-1111"/>
                </a:stretch>
              </a:blipFill>
            </p:spPr>
            <p:txBody>
              <a:bodyPr/>
              <a:lstStyle/>
              <a:p>
                <a:r>
                  <a:rPr lang="en-GB">
                    <a:noFill/>
                  </a:rPr>
                  <a:t> </a:t>
                </a:r>
              </a:p>
            </p:txBody>
          </p:sp>
        </mc:Fallback>
      </mc:AlternateContent>
    </p:spTree>
    <p:extLst>
      <p:ext uri="{BB962C8B-B14F-4D97-AF65-F5344CB8AC3E}">
        <p14:creationId xmlns:p14="http://schemas.microsoft.com/office/powerpoint/2010/main" val="206217005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0" y="274638"/>
            <a:ext cx="9144000" cy="1858962"/>
          </a:xfrm>
        </p:spPr>
        <p:txBody>
          <a:bodyPr/>
          <a:lstStyle/>
          <a:p>
            <a:r>
              <a:rPr lang="fr-FR" altLang="fr-FR"/>
              <a:t>Analysis of variance: Orthogonal sub-spaces: Within versus Between</a:t>
            </a:r>
          </a:p>
        </p:txBody>
      </p:sp>
      <p:sp>
        <p:nvSpPr>
          <p:cNvPr id="10243" name="Espace réservé du contenu 3"/>
          <p:cNvSpPr>
            <a:spLocks noGrp="1"/>
          </p:cNvSpPr>
          <p:nvPr>
            <p:ph idx="1"/>
          </p:nvPr>
        </p:nvSpPr>
        <p:spPr/>
        <p:txBody>
          <a:bodyPr>
            <a:normAutofit lnSpcReduction="10000"/>
          </a:bodyPr>
          <a:lstStyle/>
          <a:p>
            <a:pPr marL="0" indent="0">
              <a:buFontTx/>
              <a:buNone/>
            </a:pPr>
            <a:r>
              <a:rPr lang="fr-FR" altLang="fr-FR" dirty="0"/>
              <a:t> </a:t>
            </a:r>
          </a:p>
          <a:p>
            <a:pPr marL="0" indent="0">
              <a:buFontTx/>
              <a:buNone/>
            </a:pPr>
            <a:r>
              <a:rPr lang="fr-FR" altLang="fr-FR" dirty="0" err="1"/>
              <a:t>cov</a:t>
            </a:r>
            <a:r>
              <a:rPr lang="fr-FR" altLang="fr-FR" dirty="0"/>
              <a:t>(  </a:t>
            </a:r>
            <a:r>
              <a:rPr lang="fr-FR" altLang="fr-FR" b="1" dirty="0"/>
              <a:t>x(</a:t>
            </a:r>
            <a:r>
              <a:rPr lang="fr-FR" altLang="fr-FR" b="1" dirty="0" err="1"/>
              <a:t>it</a:t>
            </a:r>
            <a:r>
              <a:rPr lang="fr-FR" altLang="fr-FR" b="1" dirty="0"/>
              <a:t>)-x(i.)</a:t>
            </a:r>
            <a:r>
              <a:rPr lang="fr-FR" altLang="fr-FR" dirty="0"/>
              <a:t> ,    </a:t>
            </a:r>
            <a:r>
              <a:rPr lang="fr-FR" altLang="fr-FR" b="1" dirty="0"/>
              <a:t>x(i.)</a:t>
            </a:r>
            <a:r>
              <a:rPr lang="fr-FR" altLang="fr-FR" dirty="0"/>
              <a:t>  ) = 0</a:t>
            </a:r>
          </a:p>
          <a:p>
            <a:pPr marL="0" indent="0">
              <a:buFontTx/>
              <a:buNone/>
            </a:pPr>
            <a:r>
              <a:rPr lang="fr-FR" altLang="fr-FR" dirty="0" err="1"/>
              <a:t>Overall</a:t>
            </a:r>
            <a:r>
              <a:rPr lang="fr-FR" altLang="fr-FR" dirty="0"/>
              <a:t> variance = (</a:t>
            </a:r>
            <a:r>
              <a:rPr lang="fr-FR" altLang="fr-FR" dirty="0">
                <a:solidFill>
                  <a:srgbClr val="FF0000"/>
                </a:solidFill>
              </a:rPr>
              <a:t>for </a:t>
            </a:r>
            <a:r>
              <a:rPr lang="fr-FR" altLang="fr-FR" dirty="0" err="1">
                <a:solidFill>
                  <a:srgbClr val="FF0000"/>
                </a:solidFill>
              </a:rPr>
              <a:t>example</a:t>
            </a:r>
            <a:r>
              <a:rPr lang="fr-FR" altLang="fr-FR" dirty="0"/>
              <a:t>)</a:t>
            </a:r>
          </a:p>
          <a:p>
            <a:pPr marL="0" indent="0">
              <a:buFontTx/>
              <a:buNone/>
            </a:pPr>
            <a:r>
              <a:rPr lang="fr-FR" altLang="fr-FR" b="1" dirty="0"/>
              <a:t>30%</a:t>
            </a:r>
            <a:r>
              <a:rPr lang="fr-FR" altLang="fr-FR" dirty="0"/>
              <a:t> </a:t>
            </a:r>
            <a:r>
              <a:rPr lang="fr-FR" altLang="fr-FR" dirty="0" err="1"/>
              <a:t>Within</a:t>
            </a:r>
            <a:r>
              <a:rPr lang="fr-FR" altLang="fr-FR" dirty="0"/>
              <a:t>: </a:t>
            </a:r>
            <a:r>
              <a:rPr lang="fr-FR" altLang="fr-FR" dirty="0" err="1"/>
              <a:t>deviation</a:t>
            </a:r>
            <a:r>
              <a:rPr lang="fr-FR" altLang="fr-FR" dirty="0"/>
              <a:t> </a:t>
            </a:r>
            <a:r>
              <a:rPr lang="fr-FR" altLang="fr-FR" dirty="0" err="1"/>
              <a:t>from</a:t>
            </a:r>
            <a:r>
              <a:rPr lang="fr-FR" altLang="fr-FR" dirty="0"/>
              <a:t> </a:t>
            </a:r>
            <a:r>
              <a:rPr lang="fr-FR" altLang="fr-FR" dirty="0" err="1"/>
              <a:t>this</a:t>
            </a:r>
            <a:r>
              <a:rPr lang="fr-FR" altLang="fr-FR" dirty="0"/>
              <a:t> </a:t>
            </a:r>
            <a:r>
              <a:rPr lang="fr-FR" altLang="fr-FR" dirty="0" err="1"/>
              <a:t>average</a:t>
            </a:r>
            <a:r>
              <a:rPr lang="fr-FR" altLang="fr-FR" dirty="0"/>
              <a:t>, NT-N, </a:t>
            </a:r>
            <a:r>
              <a:rPr lang="fr-FR" altLang="fr-FR" dirty="0" err="1"/>
              <a:t>Regression</a:t>
            </a:r>
            <a:r>
              <a:rPr lang="fr-FR" altLang="fr-FR" dirty="0"/>
              <a:t> on </a:t>
            </a:r>
            <a:r>
              <a:rPr lang="fr-FR" altLang="fr-FR" dirty="0" err="1"/>
              <a:t>within</a:t>
            </a:r>
            <a:r>
              <a:rPr lang="fr-FR" altLang="fr-FR" dirty="0"/>
              <a:t> </a:t>
            </a:r>
            <a:r>
              <a:rPr lang="fr-FR" altLang="fr-FR" dirty="0" err="1"/>
              <a:t>transformed</a:t>
            </a:r>
            <a:r>
              <a:rPr lang="fr-FR" altLang="fr-FR" dirty="0"/>
              <a:t> variables X(</a:t>
            </a:r>
            <a:r>
              <a:rPr lang="fr-FR" altLang="fr-FR" dirty="0" err="1"/>
              <a:t>it</a:t>
            </a:r>
            <a:r>
              <a:rPr lang="fr-FR" altLang="fr-FR" dirty="0"/>
              <a:t>) – X(i.)  = </a:t>
            </a:r>
            <a:r>
              <a:rPr lang="fr-FR" altLang="fr-FR" dirty="0" err="1"/>
              <a:t>fixed</a:t>
            </a:r>
            <a:r>
              <a:rPr lang="fr-FR" altLang="fr-FR" dirty="0"/>
              <a:t> </a:t>
            </a:r>
            <a:r>
              <a:rPr lang="fr-FR" altLang="fr-FR" dirty="0" err="1"/>
              <a:t>effect</a:t>
            </a:r>
            <a:r>
              <a:rPr lang="fr-FR" altLang="fr-FR" dirty="0"/>
              <a:t> </a:t>
            </a:r>
            <a:r>
              <a:rPr lang="fr-FR" altLang="fr-FR" dirty="0" err="1"/>
              <a:t>models</a:t>
            </a:r>
            <a:r>
              <a:rPr lang="fr-FR" altLang="fr-FR" dirty="0"/>
              <a:t>.</a:t>
            </a:r>
          </a:p>
          <a:p>
            <a:pPr marL="0" indent="0">
              <a:buFontTx/>
              <a:buNone/>
            </a:pPr>
            <a:r>
              <a:rPr lang="fr-FR" altLang="fr-FR" b="1" dirty="0"/>
              <a:t>70%</a:t>
            </a:r>
            <a:r>
              <a:rPr lang="fr-FR" altLang="fr-FR" dirty="0"/>
              <a:t> </a:t>
            </a:r>
            <a:r>
              <a:rPr lang="fr-FR" altLang="fr-FR" dirty="0" err="1"/>
              <a:t>Between</a:t>
            </a:r>
            <a:r>
              <a:rPr lang="fr-FR" altLang="fr-FR" dirty="0"/>
              <a:t>: </a:t>
            </a:r>
            <a:r>
              <a:rPr lang="fr-FR" altLang="fr-FR" dirty="0" err="1"/>
              <a:t>average</a:t>
            </a:r>
            <a:r>
              <a:rPr lang="fr-FR" altLang="fr-FR" dirty="0"/>
              <a:t> over time of </a:t>
            </a:r>
            <a:r>
              <a:rPr lang="fr-FR" altLang="fr-FR" dirty="0" err="1"/>
              <a:t>of</a:t>
            </a:r>
            <a:r>
              <a:rPr lang="fr-FR" altLang="fr-FR" dirty="0"/>
              <a:t> cross sections, dimension N = good for time invariant </a:t>
            </a:r>
            <a:r>
              <a:rPr lang="fr-FR" altLang="fr-FR" dirty="0" err="1"/>
              <a:t>inference</a:t>
            </a:r>
            <a:r>
              <a:rPr lang="fr-FR" altLang="fr-FR" dirty="0"/>
              <a:t>.  X(i.)</a:t>
            </a:r>
          </a:p>
          <a:p>
            <a:pPr marL="0" indent="0">
              <a:buFontTx/>
              <a:buNone/>
            </a:pPr>
            <a:endParaRPr lang="fr-FR" altLang="fr-FR" dirty="0"/>
          </a:p>
        </p:txBody>
      </p:sp>
    </p:spTree>
    <p:extLst>
      <p:ext uri="{BB962C8B-B14F-4D97-AF65-F5344CB8AC3E}">
        <p14:creationId xmlns:p14="http://schemas.microsoft.com/office/powerpoint/2010/main" val="186648929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ChangeArrowheads="1"/>
          </p:cNvSpPr>
          <p:nvPr/>
        </p:nvSpPr>
        <p:spPr bwMode="auto">
          <a:xfrm>
            <a:off x="0" y="1125538"/>
            <a:ext cx="4788024"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sz="1800" dirty="0">
                <a:latin typeface="Times New Roman" pitchFamily="18" charset="0"/>
              </a:rPr>
              <a:t>  </a:t>
            </a:r>
            <a:r>
              <a:rPr lang="fr-FR" altLang="fr-FR" dirty="0">
                <a:latin typeface="Times New Roman" pitchFamily="18" charset="0"/>
              </a:rPr>
              <a:t>variable |  variance</a:t>
            </a:r>
          </a:p>
          <a:p>
            <a:pPr eaLnBrk="1" hangingPunct="1">
              <a:spcBef>
                <a:spcPct val="0"/>
              </a:spcBef>
              <a:buFontTx/>
              <a:buNone/>
            </a:pPr>
            <a:r>
              <a:rPr lang="fr-FR" altLang="fr-FR" dirty="0">
                <a:latin typeface="Times New Roman" pitchFamily="18" charset="0"/>
              </a:rPr>
              <a:t>   </a:t>
            </a:r>
            <a:r>
              <a:rPr lang="fr-FR" altLang="fr-FR" dirty="0" err="1">
                <a:latin typeface="Times New Roman" pitchFamily="18" charset="0"/>
              </a:rPr>
              <a:t>gdpg</a:t>
            </a:r>
            <a:r>
              <a:rPr lang="fr-FR" altLang="fr-FR" dirty="0">
                <a:latin typeface="Times New Roman" pitchFamily="18" charset="0"/>
              </a:rPr>
              <a:t>  |  12.95207</a:t>
            </a:r>
          </a:p>
          <a:p>
            <a:pPr eaLnBrk="1" hangingPunct="1">
              <a:spcBef>
                <a:spcPct val="0"/>
              </a:spcBef>
              <a:buFontTx/>
              <a:buNone/>
            </a:pPr>
            <a:r>
              <a:rPr lang="fr-FR" altLang="fr-FR" dirty="0" err="1">
                <a:latin typeface="Times New Roman" pitchFamily="18" charset="0"/>
              </a:rPr>
              <a:t>wgdpg</a:t>
            </a:r>
            <a:r>
              <a:rPr lang="fr-FR" altLang="fr-FR" dirty="0">
                <a:latin typeface="Times New Roman" pitchFamily="18" charset="0"/>
              </a:rPr>
              <a:t> |  8.132692  (</a:t>
            </a:r>
            <a:r>
              <a:rPr lang="fr-FR" altLang="fr-FR" b="1" dirty="0">
                <a:solidFill>
                  <a:schemeClr val="accent4"/>
                </a:solidFill>
                <a:latin typeface="Times New Roman" pitchFamily="18" charset="0"/>
              </a:rPr>
              <a:t>63%</a:t>
            </a:r>
            <a:r>
              <a:rPr lang="fr-FR" altLang="fr-FR" dirty="0">
                <a:latin typeface="Times New Roman" pitchFamily="18" charset="0"/>
              </a:rPr>
              <a:t>)</a:t>
            </a:r>
          </a:p>
          <a:p>
            <a:pPr eaLnBrk="1" hangingPunct="1">
              <a:spcBef>
                <a:spcPct val="0"/>
              </a:spcBef>
              <a:buFontTx/>
              <a:buNone/>
            </a:pPr>
            <a:r>
              <a:rPr lang="fr-FR" altLang="fr-FR" dirty="0">
                <a:latin typeface="Times New Roman" pitchFamily="18" charset="0"/>
              </a:rPr>
              <a:t> </a:t>
            </a:r>
            <a:r>
              <a:rPr lang="fr-FR" altLang="fr-FR" dirty="0" err="1">
                <a:latin typeface="Times New Roman" pitchFamily="18" charset="0"/>
              </a:rPr>
              <a:t>mgdpg</a:t>
            </a:r>
            <a:r>
              <a:rPr lang="fr-FR" altLang="fr-FR" dirty="0">
                <a:latin typeface="Times New Roman" pitchFamily="18" charset="0"/>
              </a:rPr>
              <a:t> |  4.8193</a:t>
            </a:r>
          </a:p>
          <a:p>
            <a:pPr eaLnBrk="1" hangingPunct="1">
              <a:spcBef>
                <a:spcPct val="0"/>
              </a:spcBef>
              <a:buFontTx/>
              <a:buNone/>
            </a:pPr>
            <a:endParaRPr lang="fr-FR" altLang="fr-FR" dirty="0">
              <a:latin typeface="Times New Roman" pitchFamily="18" charset="0"/>
            </a:endParaRPr>
          </a:p>
          <a:p>
            <a:pPr eaLnBrk="1" hangingPunct="1">
              <a:spcBef>
                <a:spcPct val="0"/>
              </a:spcBef>
              <a:buFontTx/>
              <a:buNone/>
            </a:pPr>
            <a:r>
              <a:rPr lang="fr-FR" altLang="fr-FR" dirty="0">
                <a:latin typeface="Times New Roman" pitchFamily="18" charset="0"/>
              </a:rPr>
              <a:t> </a:t>
            </a:r>
            <a:r>
              <a:rPr lang="fr-FR" altLang="fr-FR" dirty="0" err="1">
                <a:latin typeface="Times New Roman" pitchFamily="18" charset="0"/>
              </a:rPr>
              <a:t>policy</a:t>
            </a:r>
            <a:r>
              <a:rPr lang="fr-FR" altLang="fr-FR" dirty="0">
                <a:latin typeface="Times New Roman" pitchFamily="18" charset="0"/>
              </a:rPr>
              <a:t>   |  1.591617</a:t>
            </a:r>
          </a:p>
          <a:p>
            <a:pPr eaLnBrk="1" hangingPunct="1">
              <a:spcBef>
                <a:spcPct val="0"/>
              </a:spcBef>
              <a:buFontTx/>
              <a:buNone/>
            </a:pPr>
            <a:r>
              <a:rPr lang="fr-FR" altLang="fr-FR" dirty="0">
                <a:latin typeface="Times New Roman" pitchFamily="18" charset="0"/>
              </a:rPr>
              <a:t> </a:t>
            </a:r>
            <a:r>
              <a:rPr lang="fr-FR" altLang="fr-FR" dirty="0" err="1">
                <a:latin typeface="Times New Roman" pitchFamily="18" charset="0"/>
              </a:rPr>
              <a:t>wpolicy</a:t>
            </a:r>
            <a:r>
              <a:rPr lang="fr-FR" altLang="fr-FR" dirty="0">
                <a:latin typeface="Times New Roman" pitchFamily="18" charset="0"/>
              </a:rPr>
              <a:t> |  .7358689 (</a:t>
            </a:r>
            <a:r>
              <a:rPr lang="fr-FR" altLang="fr-FR" b="1" dirty="0">
                <a:solidFill>
                  <a:schemeClr val="accent4"/>
                </a:solidFill>
                <a:latin typeface="Times New Roman" pitchFamily="18" charset="0"/>
              </a:rPr>
              <a:t>45%</a:t>
            </a:r>
            <a:r>
              <a:rPr lang="fr-FR" altLang="fr-FR" dirty="0">
                <a:latin typeface="Times New Roman" pitchFamily="18" charset="0"/>
              </a:rPr>
              <a:t>)</a:t>
            </a:r>
          </a:p>
          <a:p>
            <a:pPr eaLnBrk="1" hangingPunct="1">
              <a:spcBef>
                <a:spcPct val="0"/>
              </a:spcBef>
              <a:buFontTx/>
              <a:buNone/>
            </a:pPr>
            <a:r>
              <a:rPr lang="fr-FR" altLang="fr-FR" dirty="0" err="1">
                <a:latin typeface="Times New Roman" pitchFamily="18" charset="0"/>
              </a:rPr>
              <a:t>mpolicy</a:t>
            </a:r>
            <a:r>
              <a:rPr lang="fr-FR" altLang="fr-FR" dirty="0">
                <a:latin typeface="Times New Roman" pitchFamily="18" charset="0"/>
              </a:rPr>
              <a:t> |  .8557484</a:t>
            </a:r>
          </a:p>
          <a:p>
            <a:pPr eaLnBrk="1" hangingPunct="1">
              <a:spcBef>
                <a:spcPct val="0"/>
              </a:spcBef>
              <a:buFontTx/>
              <a:buNone/>
            </a:pPr>
            <a:r>
              <a:rPr lang="fr-FR" altLang="fr-FR" dirty="0">
                <a:latin typeface="Times New Roman" pitchFamily="18" charset="0"/>
              </a:rPr>
              <a:t>  </a:t>
            </a:r>
            <a:r>
              <a:rPr lang="fr-FR" altLang="fr-FR" dirty="0" err="1">
                <a:latin typeface="Times New Roman" pitchFamily="18" charset="0"/>
              </a:rPr>
              <a:t>eda</a:t>
            </a:r>
            <a:r>
              <a:rPr lang="fr-FR" altLang="fr-FR" dirty="0">
                <a:latin typeface="Times New Roman" pitchFamily="18" charset="0"/>
              </a:rPr>
              <a:t>     |  4.281359</a:t>
            </a:r>
          </a:p>
          <a:p>
            <a:pPr eaLnBrk="1" hangingPunct="1">
              <a:spcBef>
                <a:spcPct val="0"/>
              </a:spcBef>
              <a:buFontTx/>
              <a:buNone/>
            </a:pPr>
            <a:r>
              <a:rPr lang="fr-FR" altLang="fr-FR" dirty="0">
                <a:latin typeface="Times New Roman" pitchFamily="18" charset="0"/>
              </a:rPr>
              <a:t>  </a:t>
            </a:r>
            <a:r>
              <a:rPr lang="fr-FR" altLang="fr-FR" dirty="0" err="1">
                <a:latin typeface="Times New Roman" pitchFamily="18" charset="0"/>
              </a:rPr>
              <a:t>weda</a:t>
            </a:r>
            <a:r>
              <a:rPr lang="fr-FR" altLang="fr-FR" dirty="0">
                <a:latin typeface="Times New Roman" pitchFamily="18" charset="0"/>
              </a:rPr>
              <a:t>   |  1.202634  (</a:t>
            </a:r>
            <a:r>
              <a:rPr lang="fr-FR" altLang="fr-FR" b="1" dirty="0">
                <a:latin typeface="Times New Roman" pitchFamily="18" charset="0"/>
              </a:rPr>
              <a:t>28%</a:t>
            </a:r>
            <a:r>
              <a:rPr lang="fr-FR" altLang="fr-FR" dirty="0">
                <a:latin typeface="Times New Roman" pitchFamily="18" charset="0"/>
              </a:rPr>
              <a:t>)      </a:t>
            </a:r>
            <a:r>
              <a:rPr lang="fr-FR" altLang="fr-FR" dirty="0" err="1">
                <a:latin typeface="Times New Roman" pitchFamily="18" charset="0"/>
              </a:rPr>
              <a:t>mmeda</a:t>
            </a:r>
            <a:r>
              <a:rPr lang="fr-FR" altLang="fr-FR" dirty="0">
                <a:latin typeface="Times New Roman" pitchFamily="18" charset="0"/>
              </a:rPr>
              <a:t> |  3.078725</a:t>
            </a:r>
          </a:p>
          <a:p>
            <a:pPr eaLnBrk="1" hangingPunct="1">
              <a:spcBef>
                <a:spcPct val="0"/>
              </a:spcBef>
              <a:buFontTx/>
              <a:buNone/>
            </a:pPr>
            <a:r>
              <a:rPr lang="fr-FR" altLang="fr-FR" b="1" dirty="0">
                <a:latin typeface="Times New Roman" pitchFamily="18" charset="0"/>
              </a:rPr>
              <a:t> </a:t>
            </a:r>
          </a:p>
        </p:txBody>
      </p:sp>
      <p:sp>
        <p:nvSpPr>
          <p:cNvPr id="12291" name="Titre 9"/>
          <p:cNvSpPr>
            <a:spLocks noGrp="1"/>
          </p:cNvSpPr>
          <p:nvPr>
            <p:ph type="title"/>
          </p:nvPr>
        </p:nvSpPr>
        <p:spPr/>
        <p:txBody>
          <a:bodyPr/>
          <a:lstStyle/>
          <a:p>
            <a:r>
              <a:rPr lang="fr-FR" altLang="fr-FR" dirty="0"/>
              <a:t>BD: N=275: </a:t>
            </a:r>
            <a:r>
              <a:rPr lang="fr-FR" altLang="fr-FR" dirty="0" err="1"/>
              <a:t>Analysis</a:t>
            </a:r>
            <a:r>
              <a:rPr lang="fr-FR" altLang="fr-FR" dirty="0"/>
              <a:t> of variance</a:t>
            </a:r>
          </a:p>
        </p:txBody>
      </p:sp>
      <p:sp>
        <p:nvSpPr>
          <p:cNvPr id="12292" name="Espace réservé du contenu 11"/>
          <p:cNvSpPr>
            <a:spLocks noGrp="1"/>
          </p:cNvSpPr>
          <p:nvPr>
            <p:ph sz="half" idx="2"/>
          </p:nvPr>
        </p:nvSpPr>
        <p:spPr>
          <a:xfrm>
            <a:off x="5076056" y="1600200"/>
            <a:ext cx="4067944" cy="5141168"/>
          </a:xfrm>
        </p:spPr>
        <p:txBody>
          <a:bodyPr/>
          <a:lstStyle/>
          <a:p>
            <a:pPr marL="0" indent="0">
              <a:buFontTx/>
              <a:buNone/>
            </a:pPr>
            <a:r>
              <a:rPr lang="fr-FR" altLang="fr-FR" b="1" dirty="0" err="1"/>
              <a:t>Within</a:t>
            </a:r>
            <a:r>
              <a:rPr lang="fr-FR" altLang="fr-FR" b="1" dirty="0"/>
              <a:t>/</a:t>
            </a:r>
            <a:r>
              <a:rPr lang="fr-FR" altLang="fr-FR" b="1" dirty="0" err="1"/>
              <a:t>overall</a:t>
            </a:r>
            <a:endParaRPr lang="fr-FR" altLang="fr-FR" b="1" dirty="0"/>
          </a:p>
          <a:p>
            <a:pPr marL="0" indent="0">
              <a:buFontTx/>
              <a:buNone/>
            </a:pPr>
            <a:r>
              <a:rPr lang="fr-FR" altLang="fr-FR" dirty="0"/>
              <a:t>For the </a:t>
            </a:r>
            <a:r>
              <a:rPr lang="fr-FR" altLang="fr-FR" dirty="0" err="1"/>
              <a:t>dependent</a:t>
            </a:r>
            <a:r>
              <a:rPr lang="fr-FR" altLang="fr-FR" dirty="0"/>
              <a:t>:</a:t>
            </a:r>
          </a:p>
          <a:p>
            <a:pPr marL="0" indent="0">
              <a:buFontTx/>
              <a:buNone/>
            </a:pPr>
            <a:r>
              <a:rPr lang="fr-FR" altLang="fr-FR" dirty="0"/>
              <a:t>GDPG: </a:t>
            </a:r>
            <a:r>
              <a:rPr lang="fr-FR" altLang="fr-FR" b="1" dirty="0"/>
              <a:t>63%</a:t>
            </a:r>
            <a:r>
              <a:rPr lang="fr-FR" altLang="fr-FR" dirty="0"/>
              <a:t> </a:t>
            </a:r>
            <a:r>
              <a:rPr lang="fr-FR" altLang="fr-FR" dirty="0" err="1"/>
              <a:t>rather</a:t>
            </a:r>
            <a:r>
              <a:rPr lang="fr-FR" altLang="fr-FR" dirty="0"/>
              <a:t> high</a:t>
            </a:r>
          </a:p>
          <a:p>
            <a:pPr marL="0" indent="0">
              <a:buFontTx/>
              <a:buNone/>
            </a:pPr>
            <a:r>
              <a:rPr lang="fr-FR" altLang="fr-FR" dirty="0"/>
              <a:t>Good news for </a:t>
            </a:r>
            <a:r>
              <a:rPr lang="fr-FR" altLang="fr-FR" dirty="0" err="1"/>
              <a:t>fixed</a:t>
            </a:r>
            <a:r>
              <a:rPr lang="fr-FR" altLang="fr-FR" dirty="0"/>
              <a:t> </a:t>
            </a:r>
            <a:r>
              <a:rPr lang="fr-FR" altLang="fr-FR" dirty="0" err="1"/>
              <a:t>effects</a:t>
            </a:r>
            <a:r>
              <a:rPr lang="fr-FR" altLang="fr-FR" dirty="0"/>
              <a:t> model!</a:t>
            </a:r>
          </a:p>
          <a:p>
            <a:pPr marL="0" indent="0">
              <a:buFontTx/>
              <a:buNone/>
            </a:pPr>
            <a:r>
              <a:rPr lang="fr-FR" altLang="fr-FR" dirty="0"/>
              <a:t>POLICY: 45%</a:t>
            </a:r>
          </a:p>
          <a:p>
            <a:pPr marL="0" indent="0">
              <a:buFontTx/>
              <a:buNone/>
            </a:pPr>
            <a:r>
              <a:rPr lang="fr-FR" altLang="fr-FR" dirty="0"/>
              <a:t>IEDA: 28%: </a:t>
            </a:r>
            <a:r>
              <a:rPr lang="fr-FR" altLang="fr-FR" dirty="0" err="1"/>
              <a:t>relatively</a:t>
            </a:r>
            <a:r>
              <a:rPr lang="fr-FR" altLang="fr-FR" dirty="0"/>
              <a:t> </a:t>
            </a:r>
            <a:r>
              <a:rPr lang="fr-FR" altLang="fr-FR" dirty="0" err="1"/>
              <a:t>low</a:t>
            </a:r>
            <a:r>
              <a:rPr lang="fr-FR" altLang="fr-FR" dirty="0"/>
              <a:t> variance in </a:t>
            </a:r>
            <a:r>
              <a:rPr lang="fr-FR" altLang="fr-FR" dirty="0" err="1"/>
              <a:t>within</a:t>
            </a:r>
            <a:r>
              <a:rPr lang="fr-FR" altLang="fr-FR" dirty="0"/>
              <a:t>.</a:t>
            </a:r>
          </a:p>
          <a:p>
            <a:pPr marL="0" indent="0">
              <a:buFontTx/>
              <a:buNone/>
            </a:pPr>
            <a:r>
              <a:rPr lang="fr-FR" altLang="fr-FR" dirty="0"/>
              <a:t>CRGE, SSA, EASIA: 0%</a:t>
            </a:r>
          </a:p>
        </p:txBody>
      </p:sp>
    </p:spTree>
    <p:extLst>
      <p:ext uri="{BB962C8B-B14F-4D97-AF65-F5344CB8AC3E}">
        <p14:creationId xmlns:p14="http://schemas.microsoft.com/office/powerpoint/2010/main" val="49223063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re 1"/>
          <p:cNvSpPr>
            <a:spLocks noGrp="1"/>
          </p:cNvSpPr>
          <p:nvPr>
            <p:ph type="title"/>
          </p:nvPr>
        </p:nvSpPr>
        <p:spPr/>
        <p:txBody>
          <a:bodyPr>
            <a:normAutofit fontScale="90000"/>
          </a:bodyPr>
          <a:lstStyle/>
          <a:p>
            <a:r>
              <a:rPr lang="fr-FR" altLang="fr-FR"/>
              <a:t>Dimension of subspaces of observations</a:t>
            </a:r>
          </a:p>
        </p:txBody>
      </p:sp>
      <p:sp>
        <p:nvSpPr>
          <p:cNvPr id="52227" name="Espace réservé du contenu 2"/>
          <p:cNvSpPr>
            <a:spLocks noGrp="1"/>
          </p:cNvSpPr>
          <p:nvPr>
            <p:ph idx="1"/>
          </p:nvPr>
        </p:nvSpPr>
        <p:spPr/>
        <p:txBody>
          <a:bodyPr/>
          <a:lstStyle/>
          <a:p>
            <a:pPr marL="0" indent="0">
              <a:buFontTx/>
              <a:buNone/>
            </a:pPr>
            <a:r>
              <a:rPr lang="fr-FR" altLang="fr-FR"/>
              <a:t>NT = N (between) + (NT – N) (within).</a:t>
            </a:r>
          </a:p>
          <a:p>
            <a:pPr marL="0" indent="0">
              <a:buFontTx/>
              <a:buNone/>
            </a:pPr>
            <a:endParaRPr lang="fr-FR" altLang="fr-FR"/>
          </a:p>
          <a:p>
            <a:pPr marL="0" indent="0">
              <a:buFontTx/>
              <a:buNone/>
            </a:pPr>
            <a:r>
              <a:rPr lang="fr-FR" altLang="fr-FR"/>
              <a:t>Then in each subspace:</a:t>
            </a:r>
          </a:p>
          <a:p>
            <a:pPr marL="0" indent="0">
              <a:buFontTx/>
              <a:buNone/>
            </a:pPr>
            <a:r>
              <a:rPr lang="fr-FR" altLang="fr-FR"/>
              <a:t>Between regression leads to an analysis of variance with prediction and residual</a:t>
            </a:r>
          </a:p>
          <a:p>
            <a:pPr marL="0" indent="0">
              <a:buFontTx/>
              <a:buNone/>
            </a:pPr>
            <a:r>
              <a:rPr lang="fr-FR" altLang="fr-FR"/>
              <a:t>Within regression leads to an analysis of variance with prediction and residual</a:t>
            </a:r>
          </a:p>
          <a:p>
            <a:pPr marL="0" indent="0">
              <a:buFontTx/>
              <a:buNone/>
            </a:pPr>
            <a:endParaRPr lang="fr-FR" altLang="fr-FR"/>
          </a:p>
        </p:txBody>
      </p:sp>
    </p:spTree>
    <p:extLst>
      <p:ext uri="{BB962C8B-B14F-4D97-AF65-F5344CB8AC3E}">
        <p14:creationId xmlns:p14="http://schemas.microsoft.com/office/powerpoint/2010/main" val="78635388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fontScale="90000"/>
          </a:bodyPr>
          <a:lstStyle/>
          <a:p>
            <a:r>
              <a:rPr lang="fr-FR" dirty="0"/>
              <a:t>W/B + </a:t>
            </a:r>
            <a:r>
              <a:rPr lang="fr-FR" dirty="0" err="1"/>
              <a:t>Forecast</a:t>
            </a:r>
            <a:r>
              <a:rPr lang="fr-FR" dirty="0"/>
              <a:t>/</a:t>
            </a:r>
            <a:r>
              <a:rPr lang="fr-FR" dirty="0" err="1"/>
              <a:t>residuals</a:t>
            </a:r>
            <a:r>
              <a:rPr lang="fr-FR" dirty="0"/>
              <a:t>: </a:t>
            </a:r>
            <a:br>
              <a:rPr lang="fr-FR" dirty="0"/>
            </a:br>
            <a:r>
              <a:rPr lang="fr-FR" dirty="0"/>
              <a:t>2 </a:t>
            </a:r>
            <a:r>
              <a:rPr lang="fr-FR" dirty="0" err="1"/>
              <a:t>combined</a:t>
            </a:r>
            <a:r>
              <a:rPr lang="fr-FR" dirty="0"/>
              <a:t> </a:t>
            </a:r>
            <a:r>
              <a:rPr lang="fr-FR" dirty="0" err="1"/>
              <a:t>analysis</a:t>
            </a:r>
            <a:r>
              <a:rPr lang="fr-FR" dirty="0"/>
              <a:t> of variance</a:t>
            </a:r>
          </a:p>
        </p:txBody>
      </p:sp>
      <p:sp>
        <p:nvSpPr>
          <p:cNvPr id="4" name="Espace réservé du contenu 3"/>
          <p:cNvSpPr>
            <a:spLocks noGrp="1"/>
          </p:cNvSpPr>
          <p:nvPr>
            <p:ph idx="1"/>
          </p:nvPr>
        </p:nvSpPr>
        <p:spPr/>
        <p:txBody>
          <a:bodyPr/>
          <a:lstStyle/>
          <a:p>
            <a:pPr marL="0" indent="0">
              <a:buNone/>
            </a:pPr>
            <a:r>
              <a:rPr lang="fr-FR" dirty="0" err="1"/>
              <a:t>Between</a:t>
            </a:r>
            <a:r>
              <a:rPr lang="fr-FR" dirty="0"/>
              <a:t> </a:t>
            </a:r>
            <a:r>
              <a:rPr lang="fr-FR" dirty="0" err="1"/>
              <a:t>regression</a:t>
            </a:r>
            <a:r>
              <a:rPr lang="fr-FR" dirty="0"/>
              <a:t> </a:t>
            </a:r>
            <a:r>
              <a:rPr lang="fr-FR" dirty="0" err="1"/>
              <a:t>analysis</a:t>
            </a:r>
            <a:r>
              <a:rPr lang="fr-FR" dirty="0"/>
              <a:t> of variance</a:t>
            </a:r>
          </a:p>
          <a:p>
            <a:pPr marL="0" indent="0">
              <a:buNone/>
            </a:pPr>
            <a:r>
              <a:rPr lang="fr-FR" dirty="0"/>
              <a:t>Y(i.) = </a:t>
            </a:r>
          </a:p>
          <a:p>
            <a:pPr marL="0" indent="0">
              <a:buNone/>
            </a:pPr>
            <a:r>
              <a:rPr lang="fr-FR" dirty="0" err="1"/>
              <a:t>Forecast</a:t>
            </a:r>
            <a:r>
              <a:rPr lang="fr-FR" dirty="0"/>
              <a:t> </a:t>
            </a:r>
            <a:r>
              <a:rPr lang="fr-FR" dirty="0" err="1"/>
              <a:t>with</a:t>
            </a:r>
            <a:r>
              <a:rPr lang="fr-FR" dirty="0"/>
              <a:t> X(i.) + </a:t>
            </a:r>
            <a:r>
              <a:rPr lang="fr-FR" dirty="0" err="1"/>
              <a:t>Residuals</a:t>
            </a:r>
            <a:r>
              <a:rPr lang="fr-FR" dirty="0"/>
              <a:t> </a:t>
            </a:r>
          </a:p>
          <a:p>
            <a:pPr marL="0" indent="0">
              <a:buNone/>
            </a:pPr>
            <a:endParaRPr lang="fr-FR" dirty="0"/>
          </a:p>
          <a:p>
            <a:pPr marL="0" indent="0">
              <a:buNone/>
            </a:pPr>
            <a:r>
              <a:rPr lang="fr-FR" dirty="0" err="1"/>
              <a:t>Within</a:t>
            </a:r>
            <a:r>
              <a:rPr lang="fr-FR" dirty="0"/>
              <a:t> </a:t>
            </a:r>
            <a:r>
              <a:rPr lang="fr-FR" dirty="0" err="1"/>
              <a:t>regression</a:t>
            </a:r>
            <a:r>
              <a:rPr lang="fr-FR" dirty="0"/>
              <a:t> </a:t>
            </a:r>
            <a:r>
              <a:rPr lang="fr-FR" dirty="0" err="1"/>
              <a:t>analysis</a:t>
            </a:r>
            <a:r>
              <a:rPr lang="fr-FR" dirty="0"/>
              <a:t> of variance:</a:t>
            </a:r>
          </a:p>
          <a:p>
            <a:pPr marL="0" indent="0">
              <a:buNone/>
            </a:pPr>
            <a:r>
              <a:rPr lang="fr-FR" dirty="0"/>
              <a:t>Y(</a:t>
            </a:r>
            <a:r>
              <a:rPr lang="fr-FR" dirty="0" err="1"/>
              <a:t>it</a:t>
            </a:r>
            <a:r>
              <a:rPr lang="fr-FR" dirty="0"/>
              <a:t>) – Y(i.) = </a:t>
            </a:r>
          </a:p>
          <a:p>
            <a:pPr marL="0" indent="0">
              <a:buNone/>
            </a:pPr>
            <a:r>
              <a:rPr lang="fr-FR" dirty="0" err="1"/>
              <a:t>Forecast</a:t>
            </a:r>
            <a:r>
              <a:rPr lang="fr-FR" dirty="0"/>
              <a:t> </a:t>
            </a:r>
            <a:r>
              <a:rPr lang="fr-FR" dirty="0" err="1"/>
              <a:t>with</a:t>
            </a:r>
            <a:r>
              <a:rPr lang="fr-FR" dirty="0"/>
              <a:t> X(</a:t>
            </a:r>
            <a:r>
              <a:rPr lang="fr-FR" dirty="0" err="1"/>
              <a:t>it</a:t>
            </a:r>
            <a:r>
              <a:rPr lang="fr-FR" dirty="0"/>
              <a:t>)-X(i.) + </a:t>
            </a:r>
            <a:r>
              <a:rPr lang="fr-FR" dirty="0" err="1"/>
              <a:t>Residuals</a:t>
            </a:r>
            <a:r>
              <a:rPr lang="fr-FR" dirty="0"/>
              <a:t> </a:t>
            </a:r>
          </a:p>
          <a:p>
            <a:pPr marL="0" indent="0">
              <a:buNone/>
            </a:pPr>
            <a:endParaRPr lang="fr-FR" dirty="0"/>
          </a:p>
        </p:txBody>
      </p:sp>
    </p:spTree>
    <p:extLst>
      <p:ext uri="{BB962C8B-B14F-4D97-AF65-F5344CB8AC3E}">
        <p14:creationId xmlns:p14="http://schemas.microsoft.com/office/powerpoint/2010/main" val="252427562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Two</a:t>
            </a:r>
            <a:r>
              <a:rPr lang="fr-FR" dirty="0"/>
              <a:t> </a:t>
            </a:r>
            <a:r>
              <a:rPr lang="fr-FR" dirty="0" err="1"/>
              <a:t>analysis</a:t>
            </a:r>
            <a:r>
              <a:rPr lang="fr-FR" dirty="0"/>
              <a:t> of variance:</a:t>
            </a:r>
            <a:br>
              <a:rPr lang="fr-FR" dirty="0"/>
            </a:br>
            <a:r>
              <a:rPr lang="fr-FR" dirty="0"/>
              <a:t>63% </a:t>
            </a:r>
            <a:r>
              <a:rPr lang="fr-FR" dirty="0" err="1"/>
              <a:t>within</a:t>
            </a:r>
            <a:r>
              <a:rPr lang="fr-FR" dirty="0"/>
              <a:t>, 37% </a:t>
            </a:r>
            <a:r>
              <a:rPr lang="fr-FR" dirty="0" err="1"/>
              <a:t>between</a:t>
            </a:r>
            <a:endParaRPr lang="fr-FR" dirty="0"/>
          </a:p>
        </p:txBody>
      </p:sp>
      <p:sp>
        <p:nvSpPr>
          <p:cNvPr id="3" name="Espace réservé du contenu 2"/>
          <p:cNvSpPr>
            <a:spLocks noGrp="1"/>
          </p:cNvSpPr>
          <p:nvPr>
            <p:ph idx="1"/>
          </p:nvPr>
        </p:nvSpPr>
        <p:spPr/>
        <p:txBody>
          <a:bodyPr>
            <a:normAutofit lnSpcReduction="10000"/>
          </a:bodyPr>
          <a:lstStyle/>
          <a:p>
            <a:pPr marL="514350" indent="-514350" eaLnBrk="1" hangingPunct="1">
              <a:spcBef>
                <a:spcPct val="0"/>
              </a:spcBef>
              <a:buFont typeface="+mj-lt"/>
              <a:buAutoNum type="arabicPeriod"/>
            </a:pPr>
            <a:r>
              <a:rPr lang="fr-FR" altLang="fr-FR" dirty="0">
                <a:latin typeface="+mj-lt"/>
              </a:rPr>
              <a:t>A </a:t>
            </a:r>
            <a:r>
              <a:rPr lang="fr-FR" altLang="fr-FR" dirty="0" err="1">
                <a:latin typeface="+mj-lt"/>
              </a:rPr>
              <a:t>fixed</a:t>
            </a:r>
            <a:r>
              <a:rPr lang="fr-FR" altLang="fr-FR" dirty="0">
                <a:latin typeface="+mj-lt"/>
              </a:rPr>
              <a:t> </a:t>
            </a:r>
            <a:r>
              <a:rPr lang="fr-FR" altLang="fr-FR" dirty="0" err="1">
                <a:latin typeface="+mj-lt"/>
              </a:rPr>
              <a:t>effect</a:t>
            </a:r>
            <a:r>
              <a:rPr lang="fr-FR" altLang="fr-FR" dirty="0">
                <a:latin typeface="+mj-lt"/>
              </a:rPr>
              <a:t> model </a:t>
            </a:r>
            <a:r>
              <a:rPr lang="fr-FR" altLang="fr-FR" dirty="0" err="1">
                <a:latin typeface="+mj-lt"/>
              </a:rPr>
              <a:t>explains</a:t>
            </a:r>
            <a:r>
              <a:rPr lang="fr-FR" altLang="fr-FR" dirty="0">
                <a:latin typeface="+mj-lt"/>
              </a:rPr>
              <a:t> « </a:t>
            </a:r>
            <a:r>
              <a:rPr lang="fr-FR" altLang="fr-FR" dirty="0" err="1">
                <a:latin typeface="+mj-lt"/>
              </a:rPr>
              <a:t>within</a:t>
            </a:r>
            <a:r>
              <a:rPr lang="fr-FR" altLang="fr-FR" dirty="0">
                <a:latin typeface="+mj-lt"/>
              </a:rPr>
              <a:t> variance » </a:t>
            </a:r>
            <a:r>
              <a:rPr lang="fr-FR" altLang="fr-FR" dirty="0" err="1">
                <a:latin typeface="+mj-lt"/>
              </a:rPr>
              <a:t>with</a:t>
            </a:r>
            <a:r>
              <a:rPr lang="fr-FR" altLang="fr-FR" dirty="0">
                <a:latin typeface="+mj-lt"/>
              </a:rPr>
              <a:t> an R2 of 15.09% </a:t>
            </a:r>
          </a:p>
          <a:p>
            <a:pPr marL="514350" indent="-514350" eaLnBrk="1" hangingPunct="1">
              <a:spcBef>
                <a:spcPct val="0"/>
              </a:spcBef>
              <a:buFont typeface="+mj-lt"/>
              <a:buAutoNum type="arabicPeriod"/>
            </a:pPr>
            <a:r>
              <a:rPr lang="fr-FR" altLang="fr-FR" dirty="0">
                <a:latin typeface="+mj-lt"/>
              </a:rPr>
              <a:t>A </a:t>
            </a:r>
            <a:r>
              <a:rPr lang="fr-FR" altLang="fr-FR" dirty="0" err="1">
                <a:latin typeface="+mj-lt"/>
              </a:rPr>
              <a:t>between</a:t>
            </a:r>
            <a:r>
              <a:rPr lang="fr-FR" altLang="fr-FR" dirty="0">
                <a:latin typeface="+mj-lt"/>
              </a:rPr>
              <a:t> </a:t>
            </a:r>
            <a:r>
              <a:rPr lang="fr-FR" altLang="fr-FR" dirty="0" err="1">
                <a:latin typeface="+mj-lt"/>
              </a:rPr>
              <a:t>estimator</a:t>
            </a:r>
            <a:r>
              <a:rPr lang="fr-FR" altLang="fr-FR" dirty="0">
                <a:latin typeface="+mj-lt"/>
              </a:rPr>
              <a:t> </a:t>
            </a:r>
            <a:r>
              <a:rPr lang="fr-FR" altLang="fr-FR" dirty="0" err="1">
                <a:latin typeface="+mj-lt"/>
              </a:rPr>
              <a:t>explaines</a:t>
            </a:r>
            <a:r>
              <a:rPr lang="fr-FR" altLang="fr-FR" dirty="0">
                <a:latin typeface="+mj-lt"/>
              </a:rPr>
              <a:t> « </a:t>
            </a:r>
            <a:r>
              <a:rPr lang="fr-FR" altLang="fr-FR" dirty="0" err="1">
                <a:latin typeface="+mj-lt"/>
              </a:rPr>
              <a:t>between</a:t>
            </a:r>
            <a:r>
              <a:rPr lang="fr-FR" altLang="fr-FR" dirty="0">
                <a:latin typeface="+mj-lt"/>
              </a:rPr>
              <a:t> variance </a:t>
            </a:r>
            <a:r>
              <a:rPr lang="fr-FR" altLang="fr-FR" dirty="0" err="1">
                <a:latin typeface="+mj-lt"/>
              </a:rPr>
              <a:t>with</a:t>
            </a:r>
            <a:r>
              <a:rPr lang="fr-FR" altLang="fr-FR" dirty="0">
                <a:latin typeface="+mj-lt"/>
              </a:rPr>
              <a:t> an R2 of 57%</a:t>
            </a:r>
          </a:p>
          <a:p>
            <a:pPr eaLnBrk="1" hangingPunct="1">
              <a:spcBef>
                <a:spcPct val="0"/>
              </a:spcBef>
              <a:buFontTx/>
              <a:buNone/>
            </a:pPr>
            <a:r>
              <a:rPr lang="fr-FR" altLang="fr-FR" dirty="0" err="1">
                <a:latin typeface="+mj-lt"/>
              </a:rPr>
              <a:t>Both</a:t>
            </a:r>
            <a:r>
              <a:rPr lang="fr-FR" altLang="fr-FR" dirty="0">
                <a:latin typeface="+mj-lt"/>
              </a:rPr>
              <a:t> </a:t>
            </a:r>
            <a:r>
              <a:rPr lang="fr-FR" altLang="fr-FR" dirty="0" err="1">
                <a:latin typeface="+mj-lt"/>
              </a:rPr>
              <a:t>models</a:t>
            </a:r>
            <a:r>
              <a:rPr lang="fr-FR" altLang="fr-FR" dirty="0">
                <a:latin typeface="+mj-lt"/>
              </a:rPr>
              <a:t> </a:t>
            </a:r>
            <a:r>
              <a:rPr lang="fr-FR" altLang="fr-FR" dirty="0" err="1">
                <a:latin typeface="+mj-lt"/>
              </a:rPr>
              <a:t>explains</a:t>
            </a:r>
            <a:r>
              <a:rPr lang="fr-FR" altLang="fr-FR" dirty="0">
                <a:latin typeface="+mj-lt"/>
              </a:rPr>
              <a:t> 30.45% of variance:</a:t>
            </a:r>
          </a:p>
          <a:p>
            <a:pPr eaLnBrk="1" hangingPunct="1">
              <a:spcBef>
                <a:spcPct val="0"/>
              </a:spcBef>
              <a:buFontTx/>
              <a:buNone/>
            </a:pPr>
            <a:r>
              <a:rPr lang="fr-FR" altLang="fr-FR" dirty="0">
                <a:solidFill>
                  <a:srgbClr val="FF0000"/>
                </a:solidFill>
                <a:latin typeface="+mj-lt"/>
              </a:rPr>
              <a:t>   15.09% of 63% + 57.17% of 37%</a:t>
            </a:r>
            <a:r>
              <a:rPr lang="fr-FR" altLang="fr-FR" dirty="0">
                <a:latin typeface="+mj-lt"/>
              </a:rPr>
              <a:t> </a:t>
            </a:r>
          </a:p>
          <a:p>
            <a:pPr eaLnBrk="1" hangingPunct="1">
              <a:spcBef>
                <a:spcPct val="0"/>
              </a:spcBef>
              <a:buFontTx/>
              <a:buNone/>
            </a:pPr>
            <a:r>
              <a:rPr lang="fr-FR" altLang="fr-FR" dirty="0">
                <a:latin typeface="+mj-lt"/>
              </a:rPr>
              <a:t>= 9.45%               +   21%              = </a:t>
            </a:r>
            <a:r>
              <a:rPr lang="fr-FR" altLang="fr-FR" b="1" dirty="0">
                <a:latin typeface="+mj-lt"/>
              </a:rPr>
              <a:t>30.45%</a:t>
            </a:r>
            <a:r>
              <a:rPr lang="fr-FR" altLang="fr-FR" dirty="0">
                <a:latin typeface="+mj-lt"/>
              </a:rPr>
              <a:t> </a:t>
            </a:r>
          </a:p>
          <a:p>
            <a:pPr eaLnBrk="1" hangingPunct="1">
              <a:spcBef>
                <a:spcPct val="0"/>
              </a:spcBef>
              <a:buFontTx/>
              <a:buNone/>
            </a:pPr>
            <a:r>
              <a:rPr lang="fr-FR" altLang="fr-FR" dirty="0" err="1">
                <a:latin typeface="+mj-lt"/>
              </a:rPr>
              <a:t>Degrees</a:t>
            </a:r>
            <a:r>
              <a:rPr lang="fr-FR" altLang="fr-FR" dirty="0">
                <a:latin typeface="+mj-lt"/>
              </a:rPr>
              <a:t> of </a:t>
            </a:r>
            <a:r>
              <a:rPr lang="fr-FR" altLang="fr-FR" dirty="0" err="1">
                <a:latin typeface="+mj-lt"/>
              </a:rPr>
              <a:t>freedom</a:t>
            </a:r>
            <a:r>
              <a:rPr lang="fr-FR" altLang="fr-FR" dirty="0">
                <a:latin typeface="+mj-lt"/>
              </a:rPr>
              <a:t> (k=3): </a:t>
            </a:r>
          </a:p>
          <a:p>
            <a:pPr marL="0" indent="0">
              <a:buNone/>
            </a:pPr>
            <a:r>
              <a:rPr lang="fr-FR" b="1" dirty="0">
                <a:solidFill>
                  <a:srgbClr val="FF0000"/>
                </a:solidFill>
                <a:latin typeface="+mj-lt"/>
              </a:rPr>
              <a:t>NT-N-k</a:t>
            </a:r>
            <a:r>
              <a:rPr lang="fr-FR" b="1" dirty="0">
                <a:latin typeface="+mj-lt"/>
              </a:rPr>
              <a:t>=275-56-3=216 </a:t>
            </a:r>
            <a:r>
              <a:rPr lang="fr-FR" dirty="0">
                <a:latin typeface="+mj-lt"/>
              </a:rPr>
              <a:t>+ </a:t>
            </a:r>
            <a:r>
              <a:rPr lang="fr-FR" b="1" dirty="0">
                <a:solidFill>
                  <a:srgbClr val="FF0000"/>
                </a:solidFill>
                <a:latin typeface="+mj-lt"/>
              </a:rPr>
              <a:t>N-k-1</a:t>
            </a:r>
            <a:r>
              <a:rPr lang="fr-FR" b="1" dirty="0">
                <a:latin typeface="+mj-lt"/>
              </a:rPr>
              <a:t>= 56-3-1=52</a:t>
            </a:r>
          </a:p>
        </p:txBody>
      </p:sp>
    </p:spTree>
    <p:extLst>
      <p:ext uri="{BB962C8B-B14F-4D97-AF65-F5344CB8AC3E}">
        <p14:creationId xmlns:p14="http://schemas.microsoft.com/office/powerpoint/2010/main" val="357579539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ChangeArrowheads="1"/>
          </p:cNvSpPr>
          <p:nvPr/>
        </p:nvSpPr>
        <p:spPr bwMode="auto">
          <a:xfrm>
            <a:off x="0" y="0"/>
            <a:ext cx="9144000" cy="59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fr-FR" altLang="fr-FR" sz="1800" dirty="0">
              <a:latin typeface="Times New Roman" pitchFamily="18" charset="0"/>
            </a:endParaRPr>
          </a:p>
          <a:p>
            <a:pPr eaLnBrk="1" hangingPunct="1">
              <a:spcBef>
                <a:spcPct val="0"/>
              </a:spcBef>
              <a:buFontTx/>
              <a:buNone/>
            </a:pPr>
            <a:r>
              <a:rPr lang="fr-FR" altLang="fr-FR" sz="2400" b="1" dirty="0">
                <a:latin typeface="Times New Roman" pitchFamily="18" charset="0"/>
              </a:rPr>
              <a:t>WITHIN (FIXED EFFECTS) ESTIMATION (default </a:t>
            </a:r>
            <a:r>
              <a:rPr lang="fr-FR" altLang="fr-FR" sz="2400" b="1" dirty="0" err="1">
                <a:latin typeface="Times New Roman" pitchFamily="18" charset="0"/>
              </a:rPr>
              <a:t>std</a:t>
            </a:r>
            <a:r>
              <a:rPr lang="fr-FR" altLang="fr-FR" sz="2400" b="1" dirty="0">
                <a:latin typeface="Times New Roman" pitchFamily="18" charset="0"/>
              </a:rPr>
              <a:t> </a:t>
            </a:r>
            <a:r>
              <a:rPr lang="fr-FR" altLang="fr-FR" sz="2400" b="1" dirty="0" err="1">
                <a:latin typeface="Times New Roman" pitchFamily="18" charset="0"/>
              </a:rPr>
              <a:t>err</a:t>
            </a:r>
            <a:r>
              <a:rPr lang="fr-FR" altLang="fr-FR" sz="2400" b="1" dirty="0">
                <a:latin typeface="Times New Roman" pitchFamily="18" charset="0"/>
              </a:rPr>
              <a:t>.)</a:t>
            </a:r>
          </a:p>
          <a:p>
            <a:pPr eaLnBrk="1" hangingPunct="1">
              <a:spcBef>
                <a:spcPct val="0"/>
              </a:spcBef>
              <a:buFontTx/>
              <a:buNone/>
            </a:pPr>
            <a:r>
              <a:rPr lang="fr-FR" altLang="fr-FR" sz="2400" b="1" dirty="0">
                <a:latin typeface="Times New Roman" pitchFamily="18" charset="0"/>
              </a:rPr>
              <a:t>R-</a:t>
            </a:r>
            <a:r>
              <a:rPr lang="fr-FR" altLang="fr-FR" sz="2400" b="1" dirty="0" err="1">
                <a:latin typeface="Times New Roman" pitchFamily="18" charset="0"/>
              </a:rPr>
              <a:t>squared</a:t>
            </a:r>
            <a:r>
              <a:rPr lang="fr-FR" altLang="fr-FR" sz="2400" b="1" dirty="0">
                <a:latin typeface="Times New Roman" pitchFamily="18" charset="0"/>
              </a:rPr>
              <a:t>     =  </a:t>
            </a:r>
            <a:r>
              <a:rPr lang="fr-FR" altLang="fr-FR" sz="2400" b="1" dirty="0">
                <a:solidFill>
                  <a:srgbClr val="FF0000"/>
                </a:solidFill>
                <a:latin typeface="Times New Roman" pitchFamily="18" charset="0"/>
              </a:rPr>
              <a:t>15.09%</a:t>
            </a:r>
            <a:r>
              <a:rPr lang="fr-FR" altLang="fr-FR" sz="2400" dirty="0">
                <a:solidFill>
                  <a:srgbClr val="FF0000"/>
                </a:solidFill>
                <a:latin typeface="Times New Roman" pitchFamily="18" charset="0"/>
              </a:rPr>
              <a:t> </a:t>
            </a:r>
            <a:r>
              <a:rPr lang="fr-FR" altLang="fr-FR" sz="2400" b="1" dirty="0">
                <a:solidFill>
                  <a:srgbClr val="FF0000"/>
                </a:solidFill>
                <a:latin typeface="Times New Roman" pitchFamily="18" charset="0"/>
              </a:rPr>
              <a:t>OF 63%</a:t>
            </a:r>
            <a:r>
              <a:rPr lang="fr-FR" altLang="fr-FR" sz="2400" b="1" dirty="0">
                <a:latin typeface="Times New Roman" pitchFamily="18" charset="0"/>
              </a:rPr>
              <a:t> (</a:t>
            </a:r>
            <a:r>
              <a:rPr lang="fr-FR" altLang="fr-FR" sz="2400" b="1" dirty="0" err="1">
                <a:latin typeface="Times New Roman" pitchFamily="18" charset="0"/>
              </a:rPr>
              <a:t>share</a:t>
            </a:r>
            <a:r>
              <a:rPr lang="fr-FR" altLang="fr-FR" sz="2400" b="1" dirty="0">
                <a:latin typeface="Times New Roman" pitchFamily="18" charset="0"/>
              </a:rPr>
              <a:t> of </a:t>
            </a:r>
            <a:r>
              <a:rPr lang="fr-FR" altLang="fr-FR" sz="2400" b="1" dirty="0" err="1">
                <a:latin typeface="Times New Roman" pitchFamily="18" charset="0"/>
              </a:rPr>
              <a:t>within</a:t>
            </a:r>
            <a:r>
              <a:rPr lang="fr-FR" altLang="fr-FR" sz="2400" b="1" dirty="0">
                <a:latin typeface="Times New Roman" pitchFamily="18" charset="0"/>
              </a:rPr>
              <a:t> variance of </a:t>
            </a:r>
            <a:r>
              <a:rPr lang="fr-FR" altLang="fr-FR" sz="2400" b="1" dirty="0" err="1">
                <a:latin typeface="Times New Roman" pitchFamily="18" charset="0"/>
              </a:rPr>
              <a:t>gdpg</a:t>
            </a:r>
            <a:r>
              <a:rPr lang="fr-FR" altLang="fr-FR" sz="2400" b="1" dirty="0">
                <a:latin typeface="Times New Roman" pitchFamily="18" charset="0"/>
              </a:rPr>
              <a:t>)</a:t>
            </a:r>
            <a:r>
              <a:rPr lang="fr-FR" altLang="fr-FR" sz="2400" dirty="0">
                <a:latin typeface="Times New Roman" pitchFamily="18" charset="0"/>
              </a:rPr>
              <a:t> </a:t>
            </a:r>
          </a:p>
          <a:p>
            <a:pPr eaLnBrk="1" hangingPunct="1">
              <a:spcBef>
                <a:spcPct val="0"/>
              </a:spcBef>
              <a:buFontTx/>
              <a:buNone/>
            </a:pPr>
            <a:r>
              <a:rPr lang="fr-FR" altLang="fr-FR" sz="2400" dirty="0">
                <a:latin typeface="Times New Roman" pitchFamily="18" charset="0"/>
              </a:rPr>
              <a:t>= </a:t>
            </a:r>
            <a:r>
              <a:rPr lang="fr-FR" altLang="fr-FR" sz="2400" b="1" dirty="0">
                <a:latin typeface="Times New Roman" pitchFamily="18" charset="0"/>
              </a:rPr>
              <a:t>9.45%</a:t>
            </a:r>
            <a:r>
              <a:rPr lang="fr-FR" altLang="fr-FR" sz="2400" dirty="0">
                <a:latin typeface="Times New Roman" pitchFamily="18" charset="0"/>
              </a:rPr>
              <a:t> </a:t>
            </a:r>
            <a:r>
              <a:rPr lang="fr-FR" altLang="fr-FR" sz="2400" b="1" dirty="0">
                <a:latin typeface="Times New Roman" pitchFamily="18" charset="0"/>
              </a:rPr>
              <a:t>of </a:t>
            </a:r>
            <a:r>
              <a:rPr lang="fr-FR" altLang="fr-FR" sz="2400" b="1" dirty="0" err="1">
                <a:latin typeface="Times New Roman" pitchFamily="18" charset="0"/>
              </a:rPr>
              <a:t>overall</a:t>
            </a:r>
            <a:r>
              <a:rPr lang="fr-FR" altLang="fr-FR" sz="2400" b="1" dirty="0">
                <a:latin typeface="Times New Roman" pitchFamily="18" charset="0"/>
              </a:rPr>
              <a:t> total variance of </a:t>
            </a:r>
            <a:r>
              <a:rPr lang="fr-FR" altLang="fr-FR" sz="2400" b="1" dirty="0" err="1">
                <a:latin typeface="Times New Roman" pitchFamily="18" charset="0"/>
              </a:rPr>
              <a:t>gdpg</a:t>
            </a:r>
            <a:r>
              <a:rPr lang="fr-FR" altLang="fr-FR" sz="2400" b="1" dirty="0">
                <a:latin typeface="Times New Roman" pitchFamily="18" charset="0"/>
              </a:rPr>
              <a:t>  (not </a:t>
            </a:r>
            <a:r>
              <a:rPr lang="fr-FR" altLang="fr-FR" sz="2400" b="1" dirty="0" err="1">
                <a:latin typeface="Times New Roman" pitchFamily="18" charset="0"/>
              </a:rPr>
              <a:t>overwhelming</a:t>
            </a:r>
            <a:r>
              <a:rPr lang="fr-FR" altLang="fr-FR" sz="2400" b="1" dirty="0">
                <a:latin typeface="Times New Roman" pitchFamily="18" charset="0"/>
              </a:rPr>
              <a:t>)</a:t>
            </a:r>
            <a:endParaRPr lang="fr-FR" altLang="fr-FR" sz="2400" dirty="0">
              <a:latin typeface="Times New Roman" pitchFamily="18" charset="0"/>
            </a:endParaRPr>
          </a:p>
          <a:p>
            <a:pPr eaLnBrk="1" hangingPunct="1">
              <a:spcBef>
                <a:spcPct val="0"/>
              </a:spcBef>
              <a:buFontTx/>
              <a:buNone/>
            </a:pPr>
            <a:r>
              <a:rPr lang="fr-FR" altLang="fr-FR" sz="2400" b="1" dirty="0">
                <a:latin typeface="Times New Roman" pitchFamily="18" charset="0"/>
              </a:rPr>
              <a:t>BUT </a:t>
            </a:r>
            <a:r>
              <a:rPr lang="fr-FR" altLang="fr-FR" sz="2400" b="1" dirty="0" err="1">
                <a:latin typeface="Times New Roman" pitchFamily="18" charset="0"/>
              </a:rPr>
              <a:t>estimated</a:t>
            </a:r>
            <a:r>
              <a:rPr lang="fr-FR" altLang="fr-FR" sz="2400" b="1" dirty="0">
                <a:latin typeface="Times New Roman" pitchFamily="18" charset="0"/>
              </a:rPr>
              <a:t> </a:t>
            </a:r>
            <a:r>
              <a:rPr lang="fr-FR" altLang="fr-FR" sz="2400" b="1" dirty="0" err="1">
                <a:latin typeface="Times New Roman" pitchFamily="18" charset="0"/>
              </a:rPr>
              <a:t>parameters</a:t>
            </a:r>
            <a:r>
              <a:rPr lang="fr-FR" altLang="fr-FR" sz="2400" b="1" dirty="0">
                <a:latin typeface="Times New Roman" pitchFamily="18" charset="0"/>
              </a:rPr>
              <a:t> </a:t>
            </a:r>
            <a:r>
              <a:rPr lang="fr-FR" altLang="fr-FR" sz="2400" b="1" dirty="0" err="1">
                <a:latin typeface="Times New Roman" pitchFamily="18" charset="0"/>
              </a:rPr>
              <a:t>without</a:t>
            </a:r>
            <a:r>
              <a:rPr lang="fr-FR" altLang="fr-FR" sz="2400" b="1" dirty="0">
                <a:latin typeface="Times New Roman" pitchFamily="18" charset="0"/>
              </a:rPr>
              <a:t> alpha(i) </a:t>
            </a:r>
            <a:r>
              <a:rPr lang="fr-FR" altLang="fr-FR" sz="2400" b="1" dirty="0" err="1">
                <a:latin typeface="Times New Roman" pitchFamily="18" charset="0"/>
              </a:rPr>
              <a:t>endogeneity</a:t>
            </a:r>
            <a:r>
              <a:rPr lang="fr-FR" altLang="fr-FR" sz="2400" b="1" dirty="0">
                <a:latin typeface="Times New Roman" pitchFamily="18" charset="0"/>
              </a:rPr>
              <a:t> </a:t>
            </a:r>
            <a:r>
              <a:rPr lang="fr-FR" altLang="fr-FR" sz="2400" b="1" dirty="0" err="1">
                <a:latin typeface="Times New Roman" pitchFamily="18" charset="0"/>
              </a:rPr>
              <a:t>bias</a:t>
            </a:r>
            <a:r>
              <a:rPr lang="fr-FR" altLang="fr-FR" sz="2400" b="1" dirty="0">
                <a:latin typeface="Times New Roman" pitchFamily="18" charset="0"/>
              </a:rPr>
              <a:t>.</a:t>
            </a:r>
          </a:p>
          <a:p>
            <a:pPr eaLnBrk="1" hangingPunct="1">
              <a:spcBef>
                <a:spcPct val="0"/>
              </a:spcBef>
              <a:buFontTx/>
              <a:buNone/>
            </a:pPr>
            <a:r>
              <a:rPr lang="fr-FR" altLang="fr-FR" sz="2400" dirty="0" err="1">
                <a:latin typeface="Times New Roman" pitchFamily="18" charset="0"/>
              </a:rPr>
              <a:t>Root</a:t>
            </a:r>
            <a:r>
              <a:rPr lang="fr-FR" altLang="fr-FR" sz="2400" dirty="0">
                <a:latin typeface="Times New Roman" pitchFamily="18" charset="0"/>
              </a:rPr>
              <a:t> MSE      =  2.6423</a:t>
            </a:r>
          </a:p>
          <a:p>
            <a:pPr eaLnBrk="1" hangingPunct="1">
              <a:spcBef>
                <a:spcPct val="0"/>
              </a:spcBef>
              <a:buFontTx/>
              <a:buNone/>
            </a:pPr>
            <a:r>
              <a:rPr lang="fr-FR" altLang="fr-FR" sz="2400" dirty="0" err="1">
                <a:latin typeface="Times New Roman" pitchFamily="18" charset="0"/>
              </a:rPr>
              <a:t>Estimated</a:t>
            </a:r>
            <a:r>
              <a:rPr lang="fr-FR" altLang="fr-FR" sz="2400" dirty="0">
                <a:latin typeface="Times New Roman" pitchFamily="18" charset="0"/>
              </a:rPr>
              <a:t> </a:t>
            </a:r>
            <a:r>
              <a:rPr lang="fr-FR" altLang="fr-FR" sz="2400" dirty="0" err="1">
                <a:latin typeface="Times New Roman" pitchFamily="18" charset="0"/>
              </a:rPr>
              <a:t>with</a:t>
            </a:r>
            <a:r>
              <a:rPr lang="fr-FR" altLang="fr-FR" sz="2400" dirty="0">
                <a:latin typeface="Times New Roman" pitchFamily="18" charset="0"/>
              </a:rPr>
              <a:t> « reg »: incorrect </a:t>
            </a:r>
            <a:r>
              <a:rPr lang="fr-FR" altLang="fr-FR" sz="2400" dirty="0" err="1">
                <a:latin typeface="Times New Roman" pitchFamily="18" charset="0"/>
              </a:rPr>
              <a:t>degrees</a:t>
            </a:r>
            <a:r>
              <a:rPr lang="fr-FR" altLang="fr-FR" sz="2400" dirty="0">
                <a:latin typeface="Times New Roman" pitchFamily="18" charset="0"/>
              </a:rPr>
              <a:t> of </a:t>
            </a:r>
            <a:r>
              <a:rPr lang="fr-FR" altLang="fr-FR" sz="2400" dirty="0" err="1">
                <a:latin typeface="Times New Roman" pitchFamily="18" charset="0"/>
              </a:rPr>
              <a:t>freedom</a:t>
            </a:r>
            <a:r>
              <a:rPr lang="fr-FR" altLang="fr-FR" sz="2400" dirty="0">
                <a:latin typeface="Times New Roman" pitchFamily="18" charset="0"/>
              </a:rPr>
              <a:t> for standard </a:t>
            </a:r>
            <a:r>
              <a:rPr lang="fr-FR" altLang="fr-FR" sz="2400" dirty="0" err="1">
                <a:latin typeface="Times New Roman" pitchFamily="18" charset="0"/>
              </a:rPr>
              <a:t>errors</a:t>
            </a:r>
            <a:r>
              <a:rPr lang="fr-FR" altLang="fr-FR" sz="2400" dirty="0">
                <a:latin typeface="Times New Roman" pitchFamily="18" charset="0"/>
              </a:rPr>
              <a:t>:</a:t>
            </a:r>
          </a:p>
          <a:p>
            <a:pPr eaLnBrk="1" hangingPunct="1">
              <a:spcBef>
                <a:spcPct val="0"/>
              </a:spcBef>
              <a:buFontTx/>
              <a:buNone/>
            </a:pPr>
            <a:r>
              <a:rPr lang="fr-FR" altLang="fr-FR" sz="2400" i="1" dirty="0">
                <a:latin typeface="Times New Roman" pitchFamily="18" charset="0"/>
              </a:rPr>
              <a:t>N.Tbar-k-1</a:t>
            </a:r>
            <a:r>
              <a:rPr lang="fr-FR" altLang="fr-FR" sz="2400" dirty="0">
                <a:latin typeface="Times New Roman" pitchFamily="18" charset="0"/>
              </a:rPr>
              <a:t> </a:t>
            </a:r>
            <a:r>
              <a:rPr lang="fr-FR" altLang="fr-FR" sz="2400" dirty="0" err="1">
                <a:latin typeface="Times New Roman" pitchFamily="18" charset="0"/>
              </a:rPr>
              <a:t>instead</a:t>
            </a:r>
            <a:r>
              <a:rPr lang="fr-FR" altLang="fr-FR" sz="2400" dirty="0">
                <a:latin typeface="Times New Roman" pitchFamily="18" charset="0"/>
              </a:rPr>
              <a:t> of </a:t>
            </a:r>
            <a:r>
              <a:rPr lang="fr-FR" altLang="fr-FR" sz="2400" i="1" dirty="0" err="1">
                <a:latin typeface="Times New Roman" pitchFamily="18" charset="0"/>
              </a:rPr>
              <a:t>N.Tbar</a:t>
            </a:r>
            <a:r>
              <a:rPr lang="fr-FR" altLang="fr-FR" sz="2400" i="1" dirty="0">
                <a:latin typeface="Times New Roman" pitchFamily="18" charset="0"/>
              </a:rPr>
              <a:t>-N-k</a:t>
            </a:r>
          </a:p>
          <a:p>
            <a:pPr eaLnBrk="1" hangingPunct="1">
              <a:spcBef>
                <a:spcPct val="0"/>
              </a:spcBef>
              <a:buFontTx/>
              <a:buNone/>
            </a:pPr>
            <a:r>
              <a:rPr lang="fr-FR" altLang="fr-FR" sz="2400" dirty="0">
                <a:latin typeface="Times New Roman" pitchFamily="18" charset="0"/>
              </a:rPr>
              <a:t>----------------------------------------------------------------------------</a:t>
            </a:r>
          </a:p>
          <a:p>
            <a:pPr eaLnBrk="1" hangingPunct="1">
              <a:spcBef>
                <a:spcPct val="0"/>
              </a:spcBef>
              <a:buFontTx/>
              <a:buNone/>
            </a:pPr>
            <a:r>
              <a:rPr lang="fr-FR" altLang="fr-FR" sz="2400" dirty="0">
                <a:latin typeface="Times New Roman" pitchFamily="18" charset="0"/>
              </a:rPr>
              <a:t>        </a:t>
            </a:r>
            <a:r>
              <a:rPr lang="fr-FR" altLang="fr-FR" sz="2400" dirty="0" err="1">
                <a:latin typeface="Times New Roman" pitchFamily="18" charset="0"/>
              </a:rPr>
              <a:t>gdpg</a:t>
            </a:r>
            <a:r>
              <a:rPr lang="fr-FR" altLang="fr-FR" sz="2400" dirty="0">
                <a:latin typeface="Times New Roman" pitchFamily="18" charset="0"/>
              </a:rPr>
              <a:t> |      </a:t>
            </a:r>
            <a:r>
              <a:rPr lang="fr-FR" altLang="fr-FR" sz="2400" dirty="0" err="1">
                <a:latin typeface="Times New Roman" pitchFamily="18" charset="0"/>
              </a:rPr>
              <a:t>Coef</a:t>
            </a:r>
            <a:r>
              <a:rPr lang="fr-FR" altLang="fr-FR" sz="2400" dirty="0">
                <a:latin typeface="Times New Roman" pitchFamily="18" charset="0"/>
              </a:rPr>
              <a:t>.   </a:t>
            </a:r>
            <a:r>
              <a:rPr lang="fr-FR" altLang="fr-FR" sz="2400" dirty="0" err="1">
                <a:latin typeface="Times New Roman" pitchFamily="18" charset="0"/>
              </a:rPr>
              <a:t>Std</a:t>
            </a:r>
            <a:r>
              <a:rPr lang="fr-FR" altLang="fr-FR" sz="2400" dirty="0">
                <a:latin typeface="Times New Roman" pitchFamily="18" charset="0"/>
              </a:rPr>
              <a:t>. </a:t>
            </a:r>
            <a:r>
              <a:rPr lang="fr-FR" altLang="fr-FR" sz="2400" dirty="0" err="1">
                <a:latin typeface="Times New Roman" pitchFamily="18" charset="0"/>
              </a:rPr>
              <a:t>Err</a:t>
            </a:r>
            <a:r>
              <a:rPr lang="fr-FR" altLang="fr-FR" sz="2400" dirty="0">
                <a:latin typeface="Times New Roman" pitchFamily="18" charset="0"/>
              </a:rPr>
              <a:t>.      t    P&gt;|t|     [95% </a:t>
            </a:r>
            <a:r>
              <a:rPr lang="fr-FR" altLang="fr-FR" sz="2400" dirty="0" err="1">
                <a:latin typeface="Times New Roman" pitchFamily="18" charset="0"/>
              </a:rPr>
              <a:t>Conf</a:t>
            </a:r>
            <a:r>
              <a:rPr lang="fr-FR" altLang="fr-FR" sz="2400" dirty="0">
                <a:latin typeface="Times New Roman" pitchFamily="18" charset="0"/>
              </a:rPr>
              <a:t>. </a:t>
            </a:r>
            <a:r>
              <a:rPr lang="fr-FR" altLang="fr-FR" sz="2400" dirty="0" err="1">
                <a:latin typeface="Times New Roman" pitchFamily="18" charset="0"/>
              </a:rPr>
              <a:t>Interval</a:t>
            </a:r>
            <a:r>
              <a:rPr lang="fr-FR" altLang="fr-FR" sz="2400" dirty="0">
                <a:latin typeface="Times New Roman" pitchFamily="18" charset="0"/>
              </a:rPr>
              <a:t>]</a:t>
            </a:r>
          </a:p>
          <a:p>
            <a:pPr eaLnBrk="1" hangingPunct="1">
              <a:spcBef>
                <a:spcPct val="0"/>
              </a:spcBef>
              <a:buFontTx/>
              <a:buNone/>
            </a:pPr>
            <a:r>
              <a:rPr lang="fr-FR" altLang="fr-FR" sz="2400" dirty="0">
                <a:latin typeface="Times New Roman" pitchFamily="18" charset="0"/>
              </a:rPr>
              <a:t>      </a:t>
            </a:r>
            <a:r>
              <a:rPr lang="fr-FR" altLang="fr-FR" sz="2400" dirty="0" err="1">
                <a:latin typeface="Times New Roman" pitchFamily="18" charset="0"/>
              </a:rPr>
              <a:t>policy</a:t>
            </a:r>
            <a:r>
              <a:rPr lang="fr-FR" altLang="fr-FR" sz="2400" dirty="0">
                <a:latin typeface="Times New Roman" pitchFamily="18" charset="0"/>
              </a:rPr>
              <a:t> |    .878318   .2087423     4.21   0.000     .4668853    1.289751</a:t>
            </a:r>
          </a:p>
          <a:p>
            <a:pPr eaLnBrk="1" hangingPunct="1">
              <a:spcBef>
                <a:spcPct val="0"/>
              </a:spcBef>
              <a:buFontTx/>
              <a:buNone/>
            </a:pPr>
            <a:r>
              <a:rPr lang="fr-FR" altLang="fr-FR" sz="2400" dirty="0">
                <a:latin typeface="Times New Roman" pitchFamily="18" charset="0"/>
              </a:rPr>
              <a:t>        </a:t>
            </a:r>
            <a:r>
              <a:rPr lang="fr-FR" altLang="fr-FR" sz="2400" dirty="0" err="1">
                <a:latin typeface="Times New Roman" pitchFamily="18" charset="0"/>
              </a:rPr>
              <a:t>lgdp</a:t>
            </a:r>
            <a:r>
              <a:rPr lang="fr-FR" altLang="fr-FR" sz="2400" dirty="0">
                <a:latin typeface="Times New Roman" pitchFamily="18" charset="0"/>
              </a:rPr>
              <a:t> |  -3.882033   1.043291    -3.72   0.000    -5.938368   -1.825698</a:t>
            </a:r>
          </a:p>
          <a:p>
            <a:pPr eaLnBrk="1" hangingPunct="1">
              <a:spcBef>
                <a:spcPct val="0"/>
              </a:spcBef>
              <a:buFontTx/>
              <a:buNone/>
            </a:pPr>
            <a:r>
              <a:rPr lang="fr-FR" altLang="fr-FR" sz="2400" dirty="0">
                <a:latin typeface="Times New Roman" pitchFamily="18" charset="0"/>
              </a:rPr>
              <a:t>        m2_1 |   -.049506   .0228887    -2.16   0.032    -.0946198   -.00439  </a:t>
            </a:r>
          </a:p>
          <a:p>
            <a:pPr eaLnBrk="1" hangingPunct="1">
              <a:spcBef>
                <a:spcPct val="0"/>
              </a:spcBef>
              <a:buFontTx/>
              <a:buNone/>
            </a:pPr>
            <a:r>
              <a:rPr lang="fr-FR" altLang="fr-FR" sz="2400" i="1" dirty="0">
                <a:latin typeface="Times New Roman" pitchFamily="18" charset="0"/>
              </a:rPr>
              <a:t>-</a:t>
            </a:r>
          </a:p>
          <a:p>
            <a:pPr eaLnBrk="1" hangingPunct="1">
              <a:spcBef>
                <a:spcPct val="0"/>
              </a:spcBef>
              <a:buFontTx/>
              <a:buNone/>
            </a:pPr>
            <a:endParaRPr lang="fr-FR" altLang="fr-FR" sz="2400" i="1" dirty="0">
              <a:latin typeface="Times New Roman" pitchFamily="18" charset="0"/>
            </a:endParaRPr>
          </a:p>
          <a:p>
            <a:pPr eaLnBrk="1" hangingPunct="1">
              <a:spcBef>
                <a:spcPct val="0"/>
              </a:spcBef>
              <a:buFontTx/>
              <a:buNone/>
            </a:pPr>
            <a:endParaRPr lang="fr-FR" altLang="fr-FR" sz="2400" dirty="0">
              <a:latin typeface="Times New Roman" pitchFamily="18" charset="0"/>
            </a:endParaRPr>
          </a:p>
        </p:txBody>
      </p:sp>
    </p:spTree>
    <p:extLst>
      <p:ext uri="{BB962C8B-B14F-4D97-AF65-F5344CB8AC3E}">
        <p14:creationId xmlns:p14="http://schemas.microsoft.com/office/powerpoint/2010/main" val="410083248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0" y="0"/>
            <a:ext cx="9144000" cy="738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sz="2400" dirty="0">
                <a:latin typeface="Times New Roman" pitchFamily="18" charset="0"/>
              </a:rPr>
              <a:t>BETWEEN ESTIMATE: N=56</a:t>
            </a:r>
          </a:p>
          <a:p>
            <a:pPr eaLnBrk="1" hangingPunct="1">
              <a:spcBef>
                <a:spcPct val="0"/>
              </a:spcBef>
              <a:buFontTx/>
              <a:buNone/>
            </a:pPr>
            <a:r>
              <a:rPr lang="fr-FR" altLang="fr-FR" sz="2400" dirty="0">
                <a:latin typeface="Times New Roman" pitchFamily="18" charset="0"/>
              </a:rPr>
              <a:t>WEIGHTS FOR UNBALANCED T(i) PER COUNTRY: WEIGHTED LEAST SQUARES</a:t>
            </a:r>
          </a:p>
          <a:p>
            <a:pPr eaLnBrk="1" hangingPunct="1">
              <a:spcBef>
                <a:spcPct val="0"/>
              </a:spcBef>
              <a:buFontTx/>
              <a:buNone/>
            </a:pPr>
            <a:r>
              <a:rPr lang="fr-FR" altLang="fr-FR" sz="2400" dirty="0" err="1">
                <a:latin typeface="Times New Roman" pitchFamily="18" charset="0"/>
              </a:rPr>
              <a:t>When</a:t>
            </a:r>
            <a:r>
              <a:rPr lang="fr-FR" altLang="fr-FR" sz="2400" dirty="0">
                <a:latin typeface="Times New Roman" pitchFamily="18" charset="0"/>
              </a:rPr>
              <a:t> Policy </a:t>
            </a:r>
            <a:r>
              <a:rPr lang="fr-FR" altLang="fr-FR" sz="2400" dirty="0" err="1">
                <a:latin typeface="Times New Roman" pitchFamily="18" charset="0"/>
              </a:rPr>
              <a:t>is</a:t>
            </a:r>
            <a:r>
              <a:rPr lang="fr-FR" altLang="fr-FR" sz="2400" dirty="0">
                <a:latin typeface="Times New Roman" pitchFamily="18" charset="0"/>
              </a:rPr>
              <a:t> the </a:t>
            </a:r>
            <a:r>
              <a:rPr lang="fr-FR" altLang="fr-FR" sz="2400" dirty="0" err="1">
                <a:latin typeface="Times New Roman" pitchFamily="18" charset="0"/>
              </a:rPr>
              <a:t>only</a:t>
            </a:r>
            <a:r>
              <a:rPr lang="fr-FR" altLang="fr-FR" sz="2400" dirty="0">
                <a:latin typeface="Times New Roman" pitchFamily="18" charset="0"/>
              </a:rPr>
              <a:t> </a:t>
            </a:r>
            <a:r>
              <a:rPr lang="fr-FR" altLang="fr-FR" sz="2400" dirty="0" err="1">
                <a:latin typeface="Times New Roman" pitchFamily="18" charset="0"/>
              </a:rPr>
              <a:t>regressor</a:t>
            </a:r>
            <a:r>
              <a:rPr lang="fr-FR" altLang="fr-FR" sz="2400" dirty="0">
                <a:latin typeface="Times New Roman" pitchFamily="18" charset="0"/>
              </a:rPr>
              <a:t>: </a:t>
            </a:r>
            <a:r>
              <a:rPr lang="fr-FR" altLang="fr-FR" sz="2400" b="1" dirty="0">
                <a:solidFill>
                  <a:srgbClr val="FF0000"/>
                </a:solidFill>
                <a:latin typeface="Times New Roman" pitchFamily="18" charset="0"/>
              </a:rPr>
              <a:t>R2=51.51%</a:t>
            </a:r>
            <a:r>
              <a:rPr lang="fr-FR" altLang="fr-FR" sz="2400" b="1" dirty="0">
                <a:latin typeface="Times New Roman" pitchFamily="18" charset="0"/>
              </a:rPr>
              <a:t>, </a:t>
            </a:r>
            <a:r>
              <a:rPr lang="fr-FR" altLang="fr-FR" sz="2400" b="1" dirty="0" err="1">
                <a:latin typeface="Times New Roman" pitchFamily="18" charset="0"/>
              </a:rPr>
              <a:t>cf</a:t>
            </a:r>
            <a:r>
              <a:rPr lang="fr-FR" altLang="fr-FR" sz="2400" b="1" dirty="0">
                <a:latin typeface="Times New Roman" pitchFamily="18" charset="0"/>
              </a:rPr>
              <a:t> square of </a:t>
            </a:r>
            <a:r>
              <a:rPr lang="fr-FR" altLang="fr-FR" sz="2400" b="1" dirty="0" err="1">
                <a:latin typeface="Times New Roman" pitchFamily="18" charset="0"/>
              </a:rPr>
              <a:t>unweighted</a:t>
            </a:r>
            <a:r>
              <a:rPr lang="fr-FR" altLang="fr-FR" sz="2400" b="1" dirty="0">
                <a:latin typeface="Times New Roman" pitchFamily="18" charset="0"/>
              </a:rPr>
              <a:t> simple </a:t>
            </a:r>
            <a:r>
              <a:rPr lang="fr-FR" altLang="fr-FR" sz="2400" b="1" dirty="0" err="1">
                <a:latin typeface="Times New Roman" pitchFamily="18" charset="0"/>
              </a:rPr>
              <a:t>correlation</a:t>
            </a:r>
            <a:r>
              <a:rPr lang="fr-FR" altLang="fr-FR" sz="2400" b="1" dirty="0">
                <a:latin typeface="Times New Roman" pitchFamily="18" charset="0"/>
              </a:rPr>
              <a:t> </a:t>
            </a:r>
            <a:r>
              <a:rPr lang="fr-FR" altLang="fr-FR" sz="2400" b="1" dirty="0" err="1">
                <a:latin typeface="Times New Roman" pitchFamily="18" charset="0"/>
              </a:rPr>
              <a:t>with</a:t>
            </a:r>
            <a:r>
              <a:rPr lang="fr-FR" altLang="fr-FR" sz="2400" b="1" dirty="0">
                <a:latin typeface="Times New Roman" pitchFamily="18" charset="0"/>
              </a:rPr>
              <a:t> </a:t>
            </a:r>
            <a:r>
              <a:rPr lang="fr-FR" altLang="fr-FR" sz="2400" b="1" dirty="0" err="1">
                <a:latin typeface="Times New Roman" pitchFamily="18" charset="0"/>
              </a:rPr>
              <a:t>gdpg</a:t>
            </a:r>
            <a:r>
              <a:rPr lang="fr-FR" altLang="fr-FR" sz="2400" b="1" dirty="0">
                <a:latin typeface="Times New Roman" pitchFamily="18" charset="0"/>
              </a:rPr>
              <a:t> (0.7091)</a:t>
            </a:r>
            <a:r>
              <a:rPr lang="fr-FR" altLang="fr-FR" sz="2400" b="1" baseline="30000" dirty="0">
                <a:latin typeface="Times New Roman" pitchFamily="18" charset="0"/>
              </a:rPr>
              <a:t>2</a:t>
            </a:r>
            <a:r>
              <a:rPr lang="fr-FR" altLang="fr-FR" sz="2400" b="1" dirty="0">
                <a:latin typeface="Times New Roman" pitchFamily="18" charset="0"/>
              </a:rPr>
              <a:t>=r</a:t>
            </a:r>
            <a:r>
              <a:rPr lang="fr-FR" altLang="fr-FR" sz="2400" b="1" baseline="30000" dirty="0">
                <a:latin typeface="Times New Roman" pitchFamily="18" charset="0"/>
              </a:rPr>
              <a:t>2</a:t>
            </a:r>
            <a:endParaRPr lang="fr-FR" altLang="fr-FR" sz="2400" dirty="0">
              <a:latin typeface="Times New Roman" pitchFamily="18" charset="0"/>
            </a:endParaRPr>
          </a:p>
          <a:p>
            <a:pPr eaLnBrk="1" hangingPunct="1">
              <a:spcBef>
                <a:spcPct val="0"/>
              </a:spcBef>
              <a:buFontTx/>
              <a:buNone/>
            </a:pPr>
            <a:r>
              <a:rPr lang="fr-FR" altLang="fr-FR" sz="2400" dirty="0">
                <a:latin typeface="Times New Roman" pitchFamily="18" charset="0"/>
              </a:rPr>
              <a:t>R2=</a:t>
            </a:r>
            <a:r>
              <a:rPr lang="fr-FR" altLang="fr-FR" sz="2400" b="1" dirty="0">
                <a:solidFill>
                  <a:srgbClr val="FF0000"/>
                </a:solidFill>
                <a:latin typeface="Times New Roman" pitchFamily="18" charset="0"/>
              </a:rPr>
              <a:t>57.17% OF 37%</a:t>
            </a:r>
            <a:r>
              <a:rPr lang="fr-FR" altLang="fr-FR" sz="2400" dirty="0">
                <a:latin typeface="Times New Roman" pitchFamily="18" charset="0"/>
              </a:rPr>
              <a:t> (THE SHARE OF BETWEEN VARIANCE IN OVERALL VARIANCE OF GDPG): </a:t>
            </a:r>
            <a:r>
              <a:rPr lang="fr-FR" altLang="fr-FR" sz="2400" b="1" dirty="0">
                <a:latin typeface="Times New Roman" pitchFamily="18" charset="0"/>
              </a:rPr>
              <a:t>21%</a:t>
            </a:r>
            <a:r>
              <a:rPr lang="fr-FR" altLang="fr-FR" sz="2400" dirty="0">
                <a:latin typeface="Times New Roman" pitchFamily="18" charset="0"/>
              </a:rPr>
              <a:t> of OVERALL VARIANCE.</a:t>
            </a:r>
          </a:p>
          <a:p>
            <a:pPr eaLnBrk="1" hangingPunct="1">
              <a:spcBef>
                <a:spcPct val="0"/>
              </a:spcBef>
              <a:buFontTx/>
              <a:buNone/>
            </a:pPr>
            <a:r>
              <a:rPr lang="fr-FR" altLang="fr-FR" sz="2400" b="1" dirty="0" err="1">
                <a:latin typeface="Times New Roman" pitchFamily="18" charset="0"/>
              </a:rPr>
              <a:t>Within</a:t>
            </a:r>
            <a:r>
              <a:rPr lang="fr-FR" altLang="fr-FR" sz="2400" b="1" dirty="0">
                <a:latin typeface="Times New Roman" pitchFamily="18" charset="0"/>
              </a:rPr>
              <a:t> + </a:t>
            </a:r>
            <a:r>
              <a:rPr lang="fr-FR" altLang="fr-FR" sz="2400" b="1" dirty="0" err="1">
                <a:latin typeface="Times New Roman" pitchFamily="18" charset="0"/>
              </a:rPr>
              <a:t>Between</a:t>
            </a:r>
            <a:r>
              <a:rPr lang="fr-FR" altLang="fr-FR" sz="2400" b="1" dirty="0">
                <a:latin typeface="Times New Roman" pitchFamily="18" charset="0"/>
              </a:rPr>
              <a:t> : </a:t>
            </a:r>
            <a:r>
              <a:rPr lang="fr-FR" altLang="fr-FR" sz="2400" b="1" dirty="0">
                <a:solidFill>
                  <a:srgbClr val="FF0000"/>
                </a:solidFill>
                <a:latin typeface="Times New Roman" pitchFamily="18" charset="0"/>
              </a:rPr>
              <a:t>15.09% of 63% + 57.17% of 37%</a:t>
            </a:r>
            <a:r>
              <a:rPr lang="fr-FR" altLang="fr-FR" sz="2400" b="1" dirty="0">
                <a:latin typeface="Times New Roman" pitchFamily="18" charset="0"/>
              </a:rPr>
              <a:t> = 9.45%+21%</a:t>
            </a:r>
          </a:p>
          <a:p>
            <a:pPr eaLnBrk="1" hangingPunct="1">
              <a:spcBef>
                <a:spcPct val="0"/>
              </a:spcBef>
              <a:buFontTx/>
              <a:buNone/>
            </a:pPr>
            <a:r>
              <a:rPr lang="fr-FR" altLang="fr-FR" sz="2400" dirty="0">
                <a:latin typeface="Times New Roman" pitchFamily="18" charset="0"/>
              </a:rPr>
              <a:t>Alpha(i) </a:t>
            </a:r>
            <a:r>
              <a:rPr lang="fr-FR" altLang="fr-FR" sz="2400" dirty="0" err="1">
                <a:latin typeface="Times New Roman" pitchFamily="18" charset="0"/>
              </a:rPr>
              <a:t>biased</a:t>
            </a:r>
            <a:r>
              <a:rPr lang="fr-FR" altLang="fr-FR" sz="2400" dirty="0">
                <a:latin typeface="Times New Roman" pitchFamily="18" charset="0"/>
              </a:rPr>
              <a:t> </a:t>
            </a:r>
            <a:r>
              <a:rPr lang="fr-FR" altLang="fr-FR" sz="2400" dirty="0" err="1">
                <a:latin typeface="Times New Roman" pitchFamily="18" charset="0"/>
              </a:rPr>
              <a:t>parameters</a:t>
            </a:r>
            <a:r>
              <a:rPr lang="fr-FR" altLang="fr-FR" sz="2400" dirty="0">
                <a:latin typeface="Times New Roman" pitchFamily="18" charset="0"/>
              </a:rPr>
              <a:t>. </a:t>
            </a:r>
          </a:p>
          <a:p>
            <a:pPr eaLnBrk="1" hangingPunct="1">
              <a:spcBef>
                <a:spcPct val="0"/>
              </a:spcBef>
              <a:buFontTx/>
              <a:buNone/>
            </a:pPr>
            <a:r>
              <a:rPr lang="fr-FR" altLang="fr-FR" sz="2400" dirty="0">
                <a:latin typeface="Times New Roman" pitchFamily="18" charset="0"/>
              </a:rPr>
              <a:t>TIME INVARIANT VARIABLES ARE NOT YET INCLUDED</a:t>
            </a:r>
          </a:p>
          <a:p>
            <a:pPr eaLnBrk="1" hangingPunct="1">
              <a:spcBef>
                <a:spcPct val="0"/>
              </a:spcBef>
              <a:buFontTx/>
              <a:buNone/>
            </a:pPr>
            <a:r>
              <a:rPr lang="fr-FR" altLang="fr-FR" sz="2400" dirty="0">
                <a:latin typeface="Times New Roman" pitchFamily="18" charset="0"/>
              </a:rPr>
              <a:t>RMSE= 2.572 = 1.604 x 1.604</a:t>
            </a:r>
          </a:p>
          <a:p>
            <a:pPr eaLnBrk="1" hangingPunct="1">
              <a:spcBef>
                <a:spcPct val="0"/>
              </a:spcBef>
              <a:buFontTx/>
              <a:buNone/>
            </a:pPr>
            <a:r>
              <a:rPr lang="fr-FR" altLang="fr-FR" sz="2400" dirty="0">
                <a:latin typeface="Times New Roman" pitchFamily="18" charset="0"/>
              </a:rPr>
              <a:t>------------------------------------------------------------------------</a:t>
            </a:r>
          </a:p>
          <a:p>
            <a:pPr eaLnBrk="1" hangingPunct="1">
              <a:spcBef>
                <a:spcPct val="0"/>
              </a:spcBef>
              <a:buFontTx/>
              <a:buNone/>
            </a:pPr>
            <a:r>
              <a:rPr lang="fr-FR" altLang="fr-FR" sz="2400" dirty="0">
                <a:latin typeface="Times New Roman" pitchFamily="18" charset="0"/>
              </a:rPr>
              <a:t>        </a:t>
            </a:r>
            <a:r>
              <a:rPr lang="fr-FR" altLang="fr-FR" sz="2400" dirty="0" err="1">
                <a:latin typeface="Times New Roman" pitchFamily="18" charset="0"/>
              </a:rPr>
              <a:t>gdpg</a:t>
            </a:r>
            <a:r>
              <a:rPr lang="fr-FR" altLang="fr-FR" sz="2400" dirty="0">
                <a:latin typeface="Times New Roman" pitchFamily="18" charset="0"/>
              </a:rPr>
              <a:t> |      </a:t>
            </a:r>
            <a:r>
              <a:rPr lang="fr-FR" altLang="fr-FR" sz="2400" dirty="0" err="1">
                <a:latin typeface="Times New Roman" pitchFamily="18" charset="0"/>
              </a:rPr>
              <a:t>Coef</a:t>
            </a:r>
            <a:r>
              <a:rPr lang="fr-FR" altLang="fr-FR" sz="2400" dirty="0">
                <a:latin typeface="Times New Roman" pitchFamily="18" charset="0"/>
              </a:rPr>
              <a:t>.   </a:t>
            </a:r>
            <a:r>
              <a:rPr lang="fr-FR" altLang="fr-FR" sz="2400" dirty="0" err="1">
                <a:latin typeface="Times New Roman" pitchFamily="18" charset="0"/>
              </a:rPr>
              <a:t>Std</a:t>
            </a:r>
            <a:r>
              <a:rPr lang="fr-FR" altLang="fr-FR" sz="2400" dirty="0">
                <a:latin typeface="Times New Roman" pitchFamily="18" charset="0"/>
              </a:rPr>
              <a:t>. </a:t>
            </a:r>
            <a:r>
              <a:rPr lang="fr-FR" altLang="fr-FR" sz="2400" dirty="0" err="1">
                <a:latin typeface="Times New Roman" pitchFamily="18" charset="0"/>
              </a:rPr>
              <a:t>Err</a:t>
            </a:r>
            <a:r>
              <a:rPr lang="fr-FR" altLang="fr-FR" sz="2400" dirty="0">
                <a:latin typeface="Times New Roman" pitchFamily="18" charset="0"/>
              </a:rPr>
              <a:t>.      t    P&gt;|t|     [95% </a:t>
            </a:r>
            <a:r>
              <a:rPr lang="fr-FR" altLang="fr-FR" sz="2400" dirty="0" err="1">
                <a:latin typeface="Times New Roman" pitchFamily="18" charset="0"/>
              </a:rPr>
              <a:t>Conf</a:t>
            </a:r>
            <a:r>
              <a:rPr lang="fr-FR" altLang="fr-FR" sz="2400" dirty="0">
                <a:latin typeface="Times New Roman" pitchFamily="18" charset="0"/>
              </a:rPr>
              <a:t>. </a:t>
            </a:r>
            <a:r>
              <a:rPr lang="fr-FR" altLang="fr-FR" sz="2400" dirty="0" err="1">
                <a:latin typeface="Times New Roman" pitchFamily="18" charset="0"/>
              </a:rPr>
              <a:t>Interval</a:t>
            </a:r>
            <a:r>
              <a:rPr lang="fr-FR" altLang="fr-FR" sz="2400" dirty="0">
                <a:latin typeface="Times New Roman" pitchFamily="18" charset="0"/>
              </a:rPr>
              <a:t>]</a:t>
            </a:r>
          </a:p>
          <a:p>
            <a:pPr eaLnBrk="1" hangingPunct="1">
              <a:spcBef>
                <a:spcPct val="0"/>
              </a:spcBef>
              <a:buFontTx/>
              <a:buNone/>
            </a:pPr>
            <a:r>
              <a:rPr lang="fr-FR" altLang="fr-FR" sz="2400" dirty="0">
                <a:latin typeface="Times New Roman" pitchFamily="18" charset="0"/>
              </a:rPr>
              <a:t>-------------+----------------------------------------------------------------</a:t>
            </a:r>
          </a:p>
          <a:p>
            <a:pPr eaLnBrk="1" hangingPunct="1">
              <a:spcBef>
                <a:spcPct val="0"/>
              </a:spcBef>
              <a:buFontTx/>
              <a:buNone/>
            </a:pPr>
            <a:r>
              <a:rPr lang="fr-FR" altLang="fr-FR" sz="2400" dirty="0">
                <a:latin typeface="Times New Roman" pitchFamily="18" charset="0"/>
              </a:rPr>
              <a:t>      </a:t>
            </a:r>
            <a:r>
              <a:rPr lang="fr-FR" altLang="fr-FR" sz="2400" dirty="0" err="1">
                <a:latin typeface="Times New Roman" pitchFamily="18" charset="0"/>
              </a:rPr>
              <a:t>policy</a:t>
            </a:r>
            <a:r>
              <a:rPr lang="fr-FR" altLang="fr-FR" sz="2400" dirty="0">
                <a:latin typeface="Times New Roman" pitchFamily="18" charset="0"/>
              </a:rPr>
              <a:t> |   1.816484   .2393748     7.59   0.000     1.336143    2.296824</a:t>
            </a:r>
          </a:p>
          <a:p>
            <a:pPr eaLnBrk="1" hangingPunct="1">
              <a:spcBef>
                <a:spcPct val="0"/>
              </a:spcBef>
              <a:buFontTx/>
              <a:buNone/>
            </a:pPr>
            <a:r>
              <a:rPr lang="fr-FR" altLang="fr-FR" sz="2400" dirty="0">
                <a:latin typeface="Times New Roman" pitchFamily="18" charset="0"/>
              </a:rPr>
              <a:t>        </a:t>
            </a:r>
            <a:r>
              <a:rPr lang="fr-FR" altLang="fr-FR" sz="2400" dirty="0" err="1">
                <a:latin typeface="Times New Roman" pitchFamily="18" charset="0"/>
              </a:rPr>
              <a:t>lgdp</a:t>
            </a:r>
            <a:r>
              <a:rPr lang="fr-FR" altLang="fr-FR" sz="2400" dirty="0">
                <a:latin typeface="Times New Roman" pitchFamily="18" charset="0"/>
              </a:rPr>
              <a:t> |   .3931539   .3101081     1.27   0.211    -.2291234    1.015431</a:t>
            </a:r>
          </a:p>
          <a:p>
            <a:pPr eaLnBrk="1" hangingPunct="1">
              <a:spcBef>
                <a:spcPct val="0"/>
              </a:spcBef>
              <a:buFontTx/>
              <a:buNone/>
            </a:pPr>
            <a:r>
              <a:rPr lang="fr-FR" altLang="fr-FR" sz="2400" dirty="0">
                <a:latin typeface="Times New Roman" pitchFamily="18" charset="0"/>
              </a:rPr>
              <a:t>        m2_1 |   .0403462   .0204063     1.98   0.053     -.000602    .0812943</a:t>
            </a:r>
          </a:p>
          <a:p>
            <a:pPr eaLnBrk="1" hangingPunct="1">
              <a:spcBef>
                <a:spcPct val="0"/>
              </a:spcBef>
              <a:buFontTx/>
              <a:buNone/>
            </a:pPr>
            <a:r>
              <a:rPr lang="fr-FR" altLang="fr-FR" sz="2400" dirty="0">
                <a:latin typeface="Times New Roman" pitchFamily="18" charset="0"/>
              </a:rPr>
              <a:t>       _cons |  -5.105835   2.233604    -2.29   0.026     -9.58789   -.6237802</a:t>
            </a:r>
          </a:p>
          <a:p>
            <a:pPr eaLnBrk="1" hangingPunct="1">
              <a:spcBef>
                <a:spcPct val="0"/>
              </a:spcBef>
              <a:buFontTx/>
              <a:buNone/>
            </a:pPr>
            <a:r>
              <a:rPr lang="fr-FR" altLang="fr-FR" sz="2400" dirty="0">
                <a:latin typeface="Times New Roman" pitchFamily="18" charset="0"/>
              </a:rPr>
              <a:t>------------------------------------------------------------------------------</a:t>
            </a:r>
          </a:p>
          <a:p>
            <a:pPr eaLnBrk="1" hangingPunct="1">
              <a:spcBef>
                <a:spcPct val="0"/>
              </a:spcBef>
              <a:buFontTx/>
              <a:buNone/>
            </a:pPr>
            <a:endParaRPr lang="fr-FR" altLang="fr-FR" sz="1800" dirty="0">
              <a:latin typeface="Times New Roman" pitchFamily="18" charset="0"/>
            </a:endParaRPr>
          </a:p>
        </p:txBody>
      </p:sp>
    </p:spTree>
    <p:extLst>
      <p:ext uri="{BB962C8B-B14F-4D97-AF65-F5344CB8AC3E}">
        <p14:creationId xmlns:p14="http://schemas.microsoft.com/office/powerpoint/2010/main" val="22632428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re 3"/>
          <p:cNvSpPr>
            <a:spLocks noGrp="1"/>
          </p:cNvSpPr>
          <p:nvPr>
            <p:ph type="ctrTitle"/>
          </p:nvPr>
        </p:nvSpPr>
        <p:spPr/>
        <p:txBody>
          <a:bodyPr>
            <a:noAutofit/>
          </a:bodyPr>
          <a:lstStyle/>
          <a:p>
            <a:r>
              <a:rPr lang="fr-FR" altLang="fr-FR" sz="3600" dirty="0"/>
              <a:t>6. </a:t>
            </a:r>
            <a:r>
              <a:rPr lang="fr-FR" altLang="fr-FR" sz="3600" dirty="0" err="1"/>
              <a:t>Univariate</a:t>
            </a:r>
            <a:r>
              <a:rPr lang="fr-FR" altLang="fr-FR" sz="3600" dirty="0"/>
              <a:t> </a:t>
            </a:r>
            <a:r>
              <a:rPr lang="fr-FR" altLang="fr-FR" sz="3600" dirty="0" err="1"/>
              <a:t>statistics</a:t>
            </a:r>
            <a:r>
              <a:rPr lang="fr-FR" altLang="fr-FR" sz="3600" dirty="0"/>
              <a:t>:</a:t>
            </a:r>
            <a:br>
              <a:rPr lang="fr-FR" altLang="fr-FR" sz="3600" dirty="0"/>
            </a:br>
            <a:r>
              <a:rPr lang="fr-FR" altLang="fr-FR" sz="3600" dirty="0" err="1"/>
              <a:t>Within</a:t>
            </a:r>
            <a:r>
              <a:rPr lang="fr-FR" altLang="fr-FR" sz="3600" dirty="0"/>
              <a:t> vs </a:t>
            </a:r>
            <a:r>
              <a:rPr lang="fr-FR" altLang="fr-FR" sz="3600" dirty="0" err="1">
                <a:solidFill>
                  <a:srgbClr val="FF0000"/>
                </a:solidFill>
              </a:rPr>
              <a:t>Between</a:t>
            </a:r>
            <a:r>
              <a:rPr lang="fr-FR" altLang="fr-FR" sz="3600" dirty="0">
                <a:solidFill>
                  <a:srgbClr val="FF0000"/>
                </a:solidFill>
              </a:rPr>
              <a:t> (</a:t>
            </a:r>
            <a:r>
              <a:rPr lang="fr-FR" altLang="fr-FR" sz="3600" dirty="0" err="1">
                <a:solidFill>
                  <a:srgbClr val="FF0000"/>
                </a:solidFill>
              </a:rPr>
              <a:t>biased</a:t>
            </a:r>
            <a:r>
              <a:rPr lang="fr-FR" altLang="fr-FR" sz="3600" dirty="0">
                <a:solidFill>
                  <a:srgbClr val="FF0000"/>
                </a:solidFill>
              </a:rPr>
              <a:t>)</a:t>
            </a:r>
            <a:br>
              <a:rPr lang="fr-FR" altLang="fr-FR" sz="3600" dirty="0"/>
            </a:br>
            <a:r>
              <a:rPr lang="fr-FR" altLang="fr-FR" sz="3600" dirty="0" err="1"/>
              <a:t>Two</a:t>
            </a:r>
            <a:r>
              <a:rPr lang="fr-FR" altLang="fr-FR" sz="3600" dirty="0"/>
              <a:t> </a:t>
            </a:r>
            <a:r>
              <a:rPr lang="fr-FR" altLang="fr-FR" sz="3600" dirty="0" err="1"/>
              <a:t>way</a:t>
            </a:r>
            <a:r>
              <a:rPr lang="fr-FR" altLang="fr-FR" sz="3600" dirty="0"/>
              <a:t> FE vs First </a:t>
            </a:r>
            <a:r>
              <a:rPr lang="fr-FR" altLang="fr-FR" sz="3600" dirty="0" err="1"/>
              <a:t>differences</a:t>
            </a:r>
            <a:endParaRPr lang="fr-FR" altLang="fr-FR" sz="3600" dirty="0"/>
          </a:p>
        </p:txBody>
      </p:sp>
    </p:spTree>
    <p:extLst>
      <p:ext uri="{BB962C8B-B14F-4D97-AF65-F5344CB8AC3E}">
        <p14:creationId xmlns:p14="http://schemas.microsoft.com/office/powerpoint/2010/main" val="27077910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What</a:t>
            </a:r>
            <a:r>
              <a:rPr lang="fr-FR" dirty="0"/>
              <a:t> to look for </a:t>
            </a:r>
            <a:r>
              <a:rPr lang="fr-FR" dirty="0" err="1"/>
              <a:t>with</a:t>
            </a:r>
            <a:r>
              <a:rPr lang="fr-FR" dirty="0"/>
              <a:t> </a:t>
            </a:r>
            <a:r>
              <a:rPr lang="fr-FR" dirty="0" err="1"/>
              <a:t>univariate</a:t>
            </a:r>
            <a:r>
              <a:rPr lang="fr-FR" dirty="0"/>
              <a:t> distributions graphs, </a:t>
            </a:r>
            <a:r>
              <a:rPr lang="fr-FR" dirty="0" err="1"/>
              <a:t>statistics</a:t>
            </a:r>
            <a:r>
              <a:rPr lang="fr-FR" dirty="0"/>
              <a:t>?</a:t>
            </a:r>
          </a:p>
        </p:txBody>
      </p:sp>
      <p:sp>
        <p:nvSpPr>
          <p:cNvPr id="3" name="Espace réservé du contenu 2"/>
          <p:cNvSpPr>
            <a:spLocks noGrp="1"/>
          </p:cNvSpPr>
          <p:nvPr>
            <p:ph idx="1"/>
          </p:nvPr>
        </p:nvSpPr>
        <p:spPr/>
        <p:txBody>
          <a:bodyPr>
            <a:normAutofit lnSpcReduction="10000"/>
          </a:bodyPr>
          <a:lstStyle/>
          <a:p>
            <a:pPr marL="514350" indent="-514350" algn="just">
              <a:buFontTx/>
              <a:buAutoNum type="arabicParenR"/>
            </a:pPr>
            <a:r>
              <a:rPr lang="fr-FR" dirty="0"/>
              <a:t>Compare </a:t>
            </a:r>
            <a:r>
              <a:rPr lang="fr-FR" dirty="0" err="1"/>
              <a:t>skewness</a:t>
            </a:r>
            <a:r>
              <a:rPr lang="fr-FR" dirty="0"/>
              <a:t> and </a:t>
            </a:r>
            <a:r>
              <a:rPr lang="fr-FR" dirty="0" err="1"/>
              <a:t>kurtosis</a:t>
            </a:r>
            <a:r>
              <a:rPr lang="fr-FR" dirty="0"/>
              <a:t> of </a:t>
            </a:r>
            <a:r>
              <a:rPr lang="fr-FR" dirty="0" err="1"/>
              <a:t>dependent</a:t>
            </a:r>
            <a:r>
              <a:rPr lang="fr-FR" dirty="0"/>
              <a:t> variable </a:t>
            </a:r>
            <a:r>
              <a:rPr lang="fr-FR" dirty="0" err="1"/>
              <a:t>along</a:t>
            </a:r>
            <a:r>
              <a:rPr lang="fr-FR" dirty="0"/>
              <a:t> </a:t>
            </a:r>
            <a:r>
              <a:rPr lang="fr-FR" dirty="0" err="1"/>
              <a:t>with</a:t>
            </a:r>
            <a:r>
              <a:rPr lang="fr-FR" dirty="0"/>
              <a:t> </a:t>
            </a:r>
            <a:r>
              <a:rPr lang="fr-FR" dirty="0" err="1"/>
              <a:t>explanatory</a:t>
            </a:r>
            <a:r>
              <a:rPr lang="fr-FR" dirty="0"/>
              <a:t> variables. </a:t>
            </a:r>
          </a:p>
          <a:p>
            <a:pPr marL="514350" indent="-514350" algn="just">
              <a:buFontTx/>
              <a:buAutoNum type="arabicParenR"/>
            </a:pPr>
            <a:r>
              <a:rPr lang="fr-FR" dirty="0"/>
              <a:t>For </a:t>
            </a:r>
            <a:r>
              <a:rPr lang="fr-FR" dirty="0" err="1"/>
              <a:t>Within</a:t>
            </a:r>
            <a:r>
              <a:rPr lang="fr-FR" dirty="0"/>
              <a:t> </a:t>
            </a:r>
            <a:r>
              <a:rPr lang="fr-FR" dirty="0" err="1"/>
              <a:t>transformed</a:t>
            </a:r>
            <a:r>
              <a:rPr lang="fr-FR" dirty="0"/>
              <a:t>: plot </a:t>
            </a:r>
            <a:r>
              <a:rPr lang="fr-FR" dirty="0" err="1"/>
              <a:t>boxplots</a:t>
            </a:r>
            <a:r>
              <a:rPr lang="fr-FR" dirty="0"/>
              <a:t> by </a:t>
            </a:r>
            <a:r>
              <a:rPr lang="fr-FR" dirty="0" err="1"/>
              <a:t>individuals</a:t>
            </a:r>
            <a:r>
              <a:rPr lang="fr-FR" dirty="0"/>
              <a:t>: check large variance </a:t>
            </a:r>
            <a:r>
              <a:rPr lang="fr-FR" dirty="0" err="1"/>
              <a:t>individuals</a:t>
            </a:r>
            <a:r>
              <a:rPr lang="fr-FR" dirty="0"/>
              <a:t>?</a:t>
            </a:r>
          </a:p>
          <a:p>
            <a:pPr marL="514350" indent="-514350" algn="just">
              <a:buAutoNum type="arabicParenR"/>
            </a:pPr>
            <a:r>
              <a:rPr lang="fr-FR" dirty="0"/>
              <a:t>Check max and min </a:t>
            </a:r>
            <a:r>
              <a:rPr lang="fr-FR" dirty="0" err="1"/>
              <a:t>larger</a:t>
            </a:r>
            <a:r>
              <a:rPr lang="fr-FR" dirty="0"/>
              <a:t> </a:t>
            </a:r>
            <a:r>
              <a:rPr lang="fr-FR" dirty="0" err="1"/>
              <a:t>than</a:t>
            </a:r>
            <a:r>
              <a:rPr lang="fr-FR" dirty="0"/>
              <a:t> 3 sigma </a:t>
            </a:r>
            <a:r>
              <a:rPr lang="fr-FR" dirty="0" err="1"/>
              <a:t>from</a:t>
            </a:r>
            <a:r>
              <a:rPr lang="fr-FR" dirty="0"/>
              <a:t> the </a:t>
            </a:r>
            <a:r>
              <a:rPr lang="fr-FR" dirty="0" err="1"/>
              <a:t>mean</a:t>
            </a:r>
            <a:r>
              <a:rPr lang="fr-FR" dirty="0"/>
              <a:t> = </a:t>
            </a:r>
            <a:r>
              <a:rPr lang="fr-FR" b="1" u="sng" dirty="0">
                <a:solidFill>
                  <a:srgbClr val="FF0000"/>
                </a:solidFill>
              </a:rPr>
              <a:t>INFLUENTIAL OBSERVATIONS MATTERS.</a:t>
            </a:r>
          </a:p>
        </p:txBody>
      </p:sp>
    </p:spTree>
    <p:extLst>
      <p:ext uri="{BB962C8B-B14F-4D97-AF65-F5344CB8AC3E}">
        <p14:creationId xmlns:p14="http://schemas.microsoft.com/office/powerpoint/2010/main" val="428174624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Burnside</a:t>
            </a:r>
            <a:r>
              <a:rPr lang="fr-FR" dirty="0"/>
              <a:t> and Dollar data</a:t>
            </a:r>
          </a:p>
        </p:txBody>
      </p:sp>
      <p:sp>
        <p:nvSpPr>
          <p:cNvPr id="3" name="Espace réservé du contenu 2"/>
          <p:cNvSpPr>
            <a:spLocks noGrp="1"/>
          </p:cNvSpPr>
          <p:nvPr>
            <p:ph idx="1"/>
          </p:nvPr>
        </p:nvSpPr>
        <p:spPr/>
        <p:txBody>
          <a:bodyPr>
            <a:normAutofit lnSpcReduction="10000"/>
          </a:bodyPr>
          <a:lstStyle/>
          <a:p>
            <a:pPr marL="0" indent="0">
              <a:buNone/>
            </a:pPr>
            <a:r>
              <a:rPr lang="fr-FR" dirty="0" err="1"/>
              <a:t>Growth</a:t>
            </a:r>
            <a:r>
              <a:rPr lang="fr-FR" dirty="0"/>
              <a:t> rate GDP per </a:t>
            </a:r>
            <a:r>
              <a:rPr lang="fr-FR" dirty="0" err="1"/>
              <a:t>head</a:t>
            </a:r>
            <a:r>
              <a:rPr lang="fr-FR" dirty="0"/>
              <a:t> = </a:t>
            </a:r>
            <a:r>
              <a:rPr lang="fr-FR" b="1" dirty="0"/>
              <a:t>first </a:t>
            </a:r>
            <a:r>
              <a:rPr lang="fr-FR" b="1" dirty="0" err="1"/>
              <a:t>differences</a:t>
            </a:r>
            <a:r>
              <a:rPr lang="fr-FR" b="1" dirty="0"/>
              <a:t> of ln(Y/L), </a:t>
            </a:r>
            <a:r>
              <a:rPr lang="fr-FR" b="1" dirty="0" err="1"/>
              <a:t>average</a:t>
            </a:r>
            <a:r>
              <a:rPr lang="fr-FR" b="1" dirty="0"/>
              <a:t> over four </a:t>
            </a:r>
            <a:r>
              <a:rPr lang="fr-FR" b="1" dirty="0" err="1"/>
              <a:t>years</a:t>
            </a:r>
            <a:r>
              <a:rPr lang="fr-FR" b="1" dirty="0"/>
              <a:t>, 1970-1990 (at </a:t>
            </a:r>
            <a:r>
              <a:rPr lang="fr-FR" b="1" dirty="0" err="1"/>
              <a:t>most</a:t>
            </a:r>
            <a:r>
              <a:rPr lang="fr-FR" b="1" dirty="0"/>
              <a:t> T=6, N=56).</a:t>
            </a:r>
          </a:p>
          <a:p>
            <a:pPr marL="0" indent="0">
              <a:buNone/>
            </a:pPr>
            <a:r>
              <a:rPr lang="fr-FR" b="1" dirty="0"/>
              <a:t> </a:t>
            </a:r>
            <a:r>
              <a:rPr lang="fr-FR" dirty="0"/>
              <a:t>EDA: </a:t>
            </a:r>
            <a:r>
              <a:rPr lang="fr-FR" dirty="0" err="1"/>
              <a:t>aid</a:t>
            </a:r>
            <a:r>
              <a:rPr lang="fr-FR" dirty="0"/>
              <a:t> (ODA)/GDP (</a:t>
            </a:r>
            <a:r>
              <a:rPr lang="fr-FR" dirty="0" err="1"/>
              <a:t>received</a:t>
            </a:r>
            <a:r>
              <a:rPr lang="fr-FR" dirty="0"/>
              <a:t> in a country)=</a:t>
            </a:r>
            <a:r>
              <a:rPr lang="fr-FR" b="1" dirty="0" err="1"/>
              <a:t>levels</a:t>
            </a:r>
            <a:r>
              <a:rPr lang="fr-FR" b="1" dirty="0"/>
              <a:t>, </a:t>
            </a:r>
            <a:r>
              <a:rPr lang="fr-FR" b="1" dirty="0" err="1"/>
              <a:t>average</a:t>
            </a:r>
            <a:r>
              <a:rPr lang="fr-FR" b="1" dirty="0"/>
              <a:t> over four </a:t>
            </a:r>
            <a:r>
              <a:rPr lang="fr-FR" b="1" dirty="0" err="1"/>
              <a:t>years</a:t>
            </a:r>
            <a:endParaRPr lang="fr-FR" b="1" dirty="0"/>
          </a:p>
          <a:p>
            <a:pPr marL="0" indent="0">
              <a:buNone/>
            </a:pPr>
            <a:r>
              <a:rPr lang="fr-FR" dirty="0"/>
              <a:t>POLICY: a </a:t>
            </a:r>
            <a:r>
              <a:rPr lang="fr-FR" dirty="0" err="1"/>
              <a:t>linear</a:t>
            </a:r>
            <a:r>
              <a:rPr lang="fr-FR" dirty="0"/>
              <a:t> </a:t>
            </a:r>
            <a:r>
              <a:rPr lang="fr-FR" dirty="0" err="1"/>
              <a:t>combination</a:t>
            </a:r>
            <a:r>
              <a:rPr lang="fr-FR" dirty="0"/>
              <a:t> of inflation, budget </a:t>
            </a:r>
            <a:r>
              <a:rPr lang="fr-FR" dirty="0" err="1"/>
              <a:t>deficit</a:t>
            </a:r>
            <a:r>
              <a:rPr lang="fr-FR" dirty="0"/>
              <a:t> and </a:t>
            </a:r>
            <a:r>
              <a:rPr lang="fr-FR" dirty="0" err="1"/>
              <a:t>openness</a:t>
            </a:r>
            <a:r>
              <a:rPr lang="fr-FR" dirty="0"/>
              <a:t> = </a:t>
            </a:r>
            <a:r>
              <a:rPr lang="fr-FR" dirty="0" err="1"/>
              <a:t>levels</a:t>
            </a:r>
            <a:endParaRPr lang="fr-FR" dirty="0"/>
          </a:p>
          <a:p>
            <a:pPr marL="0" indent="0">
              <a:buNone/>
            </a:pPr>
            <a:r>
              <a:rPr lang="fr-FR" dirty="0"/>
              <a:t>(</a:t>
            </a:r>
            <a:r>
              <a:rPr lang="fr-FR" dirty="0" err="1"/>
              <a:t>Their</a:t>
            </a:r>
            <a:r>
              <a:rPr lang="fr-FR" dirty="0"/>
              <a:t> </a:t>
            </a:r>
            <a:r>
              <a:rPr lang="fr-FR" dirty="0" err="1"/>
              <a:t>paper</a:t>
            </a:r>
            <a:r>
              <a:rPr lang="fr-FR" dirty="0"/>
              <a:t> </a:t>
            </a:r>
            <a:r>
              <a:rPr lang="fr-FR" dirty="0" err="1"/>
              <a:t>does</a:t>
            </a:r>
            <a:r>
              <a:rPr lang="fr-FR" dirty="0"/>
              <a:t> not use panel data </a:t>
            </a:r>
            <a:r>
              <a:rPr lang="fr-FR" dirty="0" err="1"/>
              <a:t>estimators</a:t>
            </a:r>
            <a:r>
              <a:rPr lang="fr-FR" dirty="0"/>
              <a:t>, </a:t>
            </a:r>
            <a:r>
              <a:rPr lang="fr-FR" dirty="0" err="1"/>
              <a:t>although</a:t>
            </a:r>
            <a:r>
              <a:rPr lang="fr-FR" dirty="0"/>
              <a:t> </a:t>
            </a:r>
            <a:r>
              <a:rPr lang="fr-FR" dirty="0" err="1"/>
              <a:t>there</a:t>
            </a:r>
            <a:r>
              <a:rPr lang="fr-FR" dirty="0"/>
              <a:t> are panel data).</a:t>
            </a:r>
          </a:p>
        </p:txBody>
      </p:sp>
    </p:spTree>
    <p:extLst>
      <p:ext uri="{BB962C8B-B14F-4D97-AF65-F5344CB8AC3E}">
        <p14:creationId xmlns:p14="http://schemas.microsoft.com/office/powerpoint/2010/main" val="234779612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2800" dirty="0" err="1"/>
              <a:t>Comparing</a:t>
            </a:r>
            <a:r>
              <a:rPr lang="fr-FR" sz="2800" dirty="0"/>
              <a:t> distributions </a:t>
            </a:r>
            <a:r>
              <a:rPr lang="fr-FR" sz="2800" dirty="0" err="1"/>
              <a:t>may</a:t>
            </a:r>
            <a:r>
              <a:rPr lang="fr-FR" sz="2800" dirty="0"/>
              <a:t> </a:t>
            </a:r>
            <a:r>
              <a:rPr lang="fr-FR" sz="2800" dirty="0" err="1"/>
              <a:t>predict</a:t>
            </a:r>
            <a:r>
              <a:rPr lang="fr-FR" sz="2800" dirty="0"/>
              <a:t> the non-</a:t>
            </a:r>
            <a:r>
              <a:rPr lang="fr-FR" sz="2800" dirty="0" err="1"/>
              <a:t>normality</a:t>
            </a:r>
            <a:r>
              <a:rPr lang="fr-FR" sz="2800" dirty="0"/>
              <a:t> of </a:t>
            </a:r>
            <a:r>
              <a:rPr lang="fr-FR" sz="2800" dirty="0" err="1"/>
              <a:t>residuals</a:t>
            </a:r>
            <a:r>
              <a:rPr lang="fr-FR" sz="2800" dirty="0"/>
              <a:t> (</a:t>
            </a:r>
            <a:r>
              <a:rPr lang="fr-FR" sz="2800" dirty="0" err="1"/>
              <a:t>exactly</a:t>
            </a:r>
            <a:r>
              <a:rPr lang="fr-FR" sz="2800" dirty="0"/>
              <a:t> </a:t>
            </a:r>
            <a:r>
              <a:rPr lang="fr-FR" sz="2800" dirty="0" err="1"/>
              <a:t>true</a:t>
            </a:r>
            <a:r>
              <a:rPr lang="fr-FR" sz="2800" dirty="0"/>
              <a:t> if no </a:t>
            </a:r>
            <a:r>
              <a:rPr lang="fr-FR" sz="2800" dirty="0" err="1"/>
              <a:t>other</a:t>
            </a:r>
            <a:r>
              <a:rPr lang="fr-FR" sz="2800" dirty="0"/>
              <a:t> </a:t>
            </a:r>
            <a:r>
              <a:rPr lang="fr-FR" sz="2800" dirty="0" err="1"/>
              <a:t>regressors</a:t>
            </a:r>
            <a:r>
              <a:rPr lang="fr-FR" sz="2800" dirty="0"/>
              <a:t>) </a:t>
            </a:r>
            <a:endParaRPr lang="fr-FR" dirty="0"/>
          </a:p>
        </p:txBody>
      </p:sp>
      <p:sp>
        <p:nvSpPr>
          <p:cNvPr id="3" name="Espace réservé du contenu 2"/>
          <p:cNvSpPr>
            <a:spLocks noGrp="1"/>
          </p:cNvSpPr>
          <p:nvPr>
            <p:ph idx="1"/>
          </p:nvPr>
        </p:nvSpPr>
        <p:spPr/>
        <p:txBody>
          <a:bodyPr>
            <a:normAutofit fontScale="62500" lnSpcReduction="20000"/>
          </a:bodyPr>
          <a:lstStyle/>
          <a:p>
            <a:pPr marL="0" indent="0">
              <a:buNone/>
            </a:pPr>
            <a:r>
              <a:rPr lang="en-US" sz="3500" b="1" dirty="0"/>
              <a:t>Y –Xβ = ε NORMAL disturbances for t-test.</a:t>
            </a:r>
          </a:p>
          <a:p>
            <a:pPr marL="514350" indent="-514350">
              <a:buFont typeface="+mj-lt"/>
              <a:buAutoNum type="arabicPeriod"/>
            </a:pPr>
            <a:r>
              <a:rPr lang="en-US" sz="3500" dirty="0"/>
              <a:t>If X do not vary, their covariance with Y is zero and the parameter β is zero, and Y should be normal for </a:t>
            </a:r>
            <a:r>
              <a:rPr lang="en-US" sz="3500" b="1" dirty="0"/>
              <a:t>ε</a:t>
            </a:r>
            <a:r>
              <a:rPr lang="en-US" sz="3500" dirty="0"/>
              <a:t> to be normal.</a:t>
            </a:r>
          </a:p>
          <a:p>
            <a:pPr marL="514350" indent="-514350">
              <a:buFont typeface="+mj-lt"/>
              <a:buAutoNum type="arabicPeriod"/>
            </a:pPr>
            <a:r>
              <a:rPr lang="en-US" sz="3500" dirty="0"/>
              <a:t>A linear combination of normal laws is normal: if Y and X follow a normal law, then </a:t>
            </a:r>
            <a:r>
              <a:rPr lang="en-US" sz="3500" b="1" dirty="0"/>
              <a:t>ε</a:t>
            </a:r>
            <a:r>
              <a:rPr lang="en-US" sz="3500" dirty="0"/>
              <a:t> is normal.</a:t>
            </a:r>
          </a:p>
          <a:p>
            <a:pPr marL="514350" indent="-514350">
              <a:buFont typeface="+mj-lt"/>
              <a:buAutoNum type="arabicPeriod"/>
            </a:pPr>
            <a:r>
              <a:rPr lang="en-US" sz="3500" dirty="0"/>
              <a:t>Else, Y and X should have the SAME pattern of skewness and excess kurtosis, so that the residuals are not skewed and with normal kurtosis (equal to 3). </a:t>
            </a:r>
          </a:p>
          <a:p>
            <a:pPr marL="514350" indent="-514350">
              <a:buFont typeface="+mj-lt"/>
              <a:buAutoNum type="arabicPeriod"/>
            </a:pPr>
            <a:r>
              <a:rPr lang="en-US" sz="3500" dirty="0"/>
              <a:t>If Y is not skewed and X skewed (or conversely): the residuals will be skewed.</a:t>
            </a:r>
          </a:p>
          <a:p>
            <a:pPr marL="514350" indent="-514350">
              <a:buFont typeface="+mj-lt"/>
              <a:buAutoNum type="arabicPeriod"/>
            </a:pPr>
            <a:r>
              <a:rPr lang="en-US" sz="3500" dirty="0"/>
              <a:t>If Y has normal-Kurtosis (equal to 3) and X not-normal Kurtosis (or conversely): the residuals will have non normal Kurtosis.</a:t>
            </a:r>
            <a:endParaRPr lang="fr-FR" sz="3500" b="1" dirty="0"/>
          </a:p>
        </p:txBody>
      </p:sp>
    </p:spTree>
    <p:extLst>
      <p:ext uri="{BB962C8B-B14F-4D97-AF65-F5344CB8AC3E}">
        <p14:creationId xmlns:p14="http://schemas.microsoft.com/office/powerpoint/2010/main" val="3808024280"/>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9188" y="1556792"/>
            <a:ext cx="6905625" cy="5153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re 3"/>
          <p:cNvSpPr>
            <a:spLocks noGrp="1"/>
          </p:cNvSpPr>
          <p:nvPr>
            <p:ph type="title"/>
          </p:nvPr>
        </p:nvSpPr>
        <p:spPr/>
        <p:txBody>
          <a:bodyPr>
            <a:normAutofit fontScale="90000"/>
          </a:bodyPr>
          <a:lstStyle/>
          <a:p>
            <a:r>
              <a:rPr lang="en-US" dirty="0"/>
              <a:t>Example: Kurtosis dependent </a:t>
            </a:r>
            <a:br>
              <a:rPr lang="en-US" dirty="0"/>
            </a:br>
            <a:r>
              <a:rPr lang="en-US" dirty="0"/>
              <a:t>Kurtosis forecast, kurtosis residuals</a:t>
            </a:r>
          </a:p>
        </p:txBody>
      </p:sp>
    </p:spTree>
    <p:extLst>
      <p:ext uri="{BB962C8B-B14F-4D97-AF65-F5344CB8AC3E}">
        <p14:creationId xmlns:p14="http://schemas.microsoft.com/office/powerpoint/2010/main" val="70558582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323528" y="188640"/>
            <a:ext cx="8460432" cy="6075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435314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3" y="461963"/>
            <a:ext cx="8372475" cy="593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859943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090613"/>
            <a:ext cx="9143999" cy="467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500357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09650"/>
            <a:ext cx="9144000" cy="4838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980059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39" y="620688"/>
            <a:ext cx="8715797" cy="5688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733399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dirty="0"/>
              <a:t>Comparing by country distributions</a:t>
            </a:r>
            <a:br>
              <a:rPr lang="en-US" dirty="0"/>
            </a:br>
            <a:r>
              <a:rPr lang="en-US" dirty="0"/>
              <a:t>within, two-way FE, FD</a:t>
            </a:r>
          </a:p>
        </p:txBody>
      </p:sp>
      <p:sp>
        <p:nvSpPr>
          <p:cNvPr id="3" name="Espace réservé du contenu 2"/>
          <p:cNvSpPr>
            <a:spLocks noGrp="1"/>
          </p:cNvSpPr>
          <p:nvPr>
            <p:ph idx="1"/>
          </p:nvPr>
        </p:nvSpPr>
        <p:spPr/>
        <p:txBody>
          <a:bodyPr>
            <a:normAutofit fontScale="92500" lnSpcReduction="10000"/>
          </a:bodyPr>
          <a:lstStyle/>
          <a:p>
            <a:pPr marL="0" indent="0" algn="just">
              <a:buNone/>
            </a:pPr>
            <a:r>
              <a:rPr lang="en-US" dirty="0"/>
              <a:t>Most common country cases: the majority of the distributions by country of GDPG varies, whereas there is negligible variations of EDA/GDP after Within, two-way FE, FD.</a:t>
            </a:r>
          </a:p>
          <a:p>
            <a:pPr marL="0" indent="0" algn="just">
              <a:buNone/>
            </a:pPr>
            <a:r>
              <a:rPr lang="en-US" dirty="0"/>
              <a:t>Therefore, if there is non-zero correlation, it is likely to be driven by a few countries with large up and down time-variation of EDA/GDP (EDA= economic development assistance). </a:t>
            </a:r>
          </a:p>
          <a:p>
            <a:pPr marL="0" indent="0" algn="just">
              <a:buNone/>
            </a:pPr>
            <a:r>
              <a:rPr lang="en-US" dirty="0"/>
              <a:t>Within = one way fixed effects.</a:t>
            </a:r>
            <a:br>
              <a:rPr lang="en-US" dirty="0"/>
            </a:br>
            <a:r>
              <a:rPr lang="en-US" dirty="0"/>
              <a:t>Between = biased estimate (seen later).</a:t>
            </a:r>
          </a:p>
        </p:txBody>
      </p:sp>
    </p:spTree>
    <p:extLst>
      <p:ext uri="{BB962C8B-B14F-4D97-AF65-F5344CB8AC3E}">
        <p14:creationId xmlns:p14="http://schemas.microsoft.com/office/powerpoint/2010/main" val="85213318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6600"/>
            <a:ext cx="8915263" cy="63813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67393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31" y="332656"/>
            <a:ext cx="9064560" cy="6264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915547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376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52838"/>
            <a:ext cx="9144000" cy="313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585368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Within</a:t>
            </a:r>
            <a:r>
              <a:rPr lang="fr-FR" dirty="0"/>
              <a:t> distributions </a:t>
            </a:r>
            <a:br>
              <a:rPr lang="fr-FR" dirty="0"/>
            </a:br>
            <a:r>
              <a:rPr lang="fr-FR" dirty="0"/>
              <a:t>« </a:t>
            </a:r>
            <a:r>
              <a:rPr lang="fr-FR" dirty="0" err="1"/>
              <a:t>symmetry</a:t>
            </a:r>
            <a:r>
              <a:rPr lang="fr-FR" dirty="0"/>
              <a:t> and </a:t>
            </a:r>
            <a:r>
              <a:rPr lang="fr-FR" dirty="0" err="1"/>
              <a:t>kurtosis</a:t>
            </a:r>
            <a:r>
              <a:rPr lang="fr-FR" dirty="0"/>
              <a:t> »</a:t>
            </a:r>
          </a:p>
        </p:txBody>
      </p:sp>
      <p:sp>
        <p:nvSpPr>
          <p:cNvPr id="3" name="Espace réservé du contenu 2"/>
          <p:cNvSpPr>
            <a:spLocks noGrp="1"/>
          </p:cNvSpPr>
          <p:nvPr>
            <p:ph idx="1"/>
          </p:nvPr>
        </p:nvSpPr>
        <p:spPr/>
        <p:txBody>
          <a:bodyPr>
            <a:normAutofit lnSpcReduction="10000"/>
          </a:bodyPr>
          <a:lstStyle/>
          <a:p>
            <a:pPr marL="514350" indent="-514350">
              <a:buFont typeface="+mj-lt"/>
              <a:buAutoNum type="arabicPeriod"/>
            </a:pPr>
            <a:r>
              <a:rPr lang="fr-FR" dirty="0"/>
              <a:t>The </a:t>
            </a:r>
            <a:r>
              <a:rPr lang="fr-FR" b="1" dirty="0" err="1"/>
              <a:t>mean</a:t>
            </a:r>
            <a:r>
              <a:rPr lang="fr-FR" dirty="0"/>
              <a:t> </a:t>
            </a:r>
            <a:r>
              <a:rPr lang="fr-FR" dirty="0" err="1"/>
              <a:t>is</a:t>
            </a:r>
            <a:r>
              <a:rPr lang="fr-FR" dirty="0"/>
              <a:t> </a:t>
            </a:r>
            <a:r>
              <a:rPr lang="fr-FR" dirty="0" err="1"/>
              <a:t>always</a:t>
            </a:r>
            <a:r>
              <a:rPr lang="fr-FR" dirty="0"/>
              <a:t> </a:t>
            </a:r>
            <a:r>
              <a:rPr lang="fr-FR" dirty="0" err="1"/>
              <a:t>zero</a:t>
            </a:r>
            <a:r>
              <a:rPr lang="fr-FR" dirty="0"/>
              <a:t>, and </a:t>
            </a:r>
            <a:r>
              <a:rPr lang="fr-FR" dirty="0" err="1"/>
              <a:t>also</a:t>
            </a:r>
            <a:r>
              <a:rPr lang="fr-FR" dirty="0"/>
              <a:t> for </a:t>
            </a:r>
            <a:r>
              <a:rPr lang="fr-FR" dirty="0" err="1"/>
              <a:t>sub</a:t>
            </a:r>
            <a:r>
              <a:rPr lang="fr-FR" dirty="0"/>
              <a:t>-distributions for </a:t>
            </a:r>
            <a:r>
              <a:rPr lang="fr-FR" dirty="0" err="1"/>
              <a:t>each</a:t>
            </a:r>
            <a:r>
              <a:rPr lang="fr-FR" dirty="0"/>
              <a:t> </a:t>
            </a:r>
            <a:r>
              <a:rPr lang="fr-FR" dirty="0" err="1"/>
              <a:t>individual</a:t>
            </a:r>
            <a:r>
              <a:rPr lang="fr-FR" dirty="0"/>
              <a:t>.</a:t>
            </a:r>
          </a:p>
          <a:p>
            <a:pPr marL="514350" indent="-514350">
              <a:buFont typeface="+mj-lt"/>
              <a:buAutoNum type="arabicPeriod"/>
            </a:pPr>
            <a:r>
              <a:rPr lang="fr-FR" dirty="0"/>
              <a:t>The </a:t>
            </a:r>
            <a:r>
              <a:rPr lang="fr-FR" dirty="0" err="1"/>
              <a:t>sum</a:t>
            </a:r>
            <a:r>
              <a:rPr lang="fr-FR" dirty="0"/>
              <a:t> of </a:t>
            </a:r>
            <a:r>
              <a:rPr lang="fr-FR" dirty="0" err="1"/>
              <a:t>above</a:t>
            </a:r>
            <a:r>
              <a:rPr lang="fr-FR" dirty="0"/>
              <a:t> </a:t>
            </a:r>
            <a:r>
              <a:rPr lang="fr-FR" dirty="0" err="1"/>
              <a:t>mean</a:t>
            </a:r>
            <a:r>
              <a:rPr lang="fr-FR" dirty="0"/>
              <a:t> = the </a:t>
            </a:r>
            <a:r>
              <a:rPr lang="fr-FR" dirty="0" err="1"/>
              <a:t>sum</a:t>
            </a:r>
            <a:r>
              <a:rPr lang="fr-FR" dirty="0"/>
              <a:t> of </a:t>
            </a:r>
            <a:r>
              <a:rPr lang="fr-FR" dirty="0" err="1"/>
              <a:t>below</a:t>
            </a:r>
            <a:r>
              <a:rPr lang="fr-FR" dirty="0"/>
              <a:t> </a:t>
            </a:r>
            <a:r>
              <a:rPr lang="fr-FR" dirty="0" err="1"/>
              <a:t>mean</a:t>
            </a:r>
            <a:r>
              <a:rPr lang="fr-FR" dirty="0"/>
              <a:t> by </a:t>
            </a:r>
            <a:r>
              <a:rPr lang="fr-FR" dirty="0" err="1"/>
              <a:t>individuals</a:t>
            </a:r>
            <a:r>
              <a:rPr lang="fr-FR" dirty="0"/>
              <a:t>: the distribution are not </a:t>
            </a:r>
            <a:r>
              <a:rPr lang="fr-FR" dirty="0" err="1"/>
              <a:t>too</a:t>
            </a:r>
            <a:r>
              <a:rPr lang="fr-FR" dirty="0"/>
              <a:t> far </a:t>
            </a:r>
            <a:r>
              <a:rPr lang="fr-FR" dirty="0" err="1"/>
              <a:t>from</a:t>
            </a:r>
            <a:r>
              <a:rPr lang="fr-FR" dirty="0"/>
              <a:t> </a:t>
            </a:r>
            <a:r>
              <a:rPr lang="fr-FR" b="1" dirty="0" err="1"/>
              <a:t>symmetry</a:t>
            </a:r>
            <a:r>
              <a:rPr lang="fr-FR" dirty="0"/>
              <a:t> (</a:t>
            </a:r>
            <a:r>
              <a:rPr lang="fr-FR" dirty="0" err="1"/>
              <a:t>skewness</a:t>
            </a:r>
            <a:r>
              <a:rPr lang="fr-FR" dirty="0"/>
              <a:t> close to </a:t>
            </a:r>
            <a:r>
              <a:rPr lang="fr-FR" dirty="0" err="1"/>
              <a:t>zero</a:t>
            </a:r>
            <a:r>
              <a:rPr lang="fr-FR" dirty="0"/>
              <a:t>).</a:t>
            </a:r>
          </a:p>
          <a:p>
            <a:pPr marL="514350" indent="-514350">
              <a:buFont typeface="+mj-lt"/>
              <a:buAutoNum type="arabicPeriod"/>
            </a:pPr>
            <a:r>
              <a:rPr lang="fr-FR" dirty="0"/>
              <a:t>It </a:t>
            </a:r>
            <a:r>
              <a:rPr lang="fr-FR" dirty="0" err="1"/>
              <a:t>is</a:t>
            </a:r>
            <a:r>
              <a:rPr lang="fr-FR" dirty="0"/>
              <a:t> a </a:t>
            </a:r>
            <a:r>
              <a:rPr lang="fr-FR" b="1" dirty="0"/>
              <a:t>MIXTURE</a:t>
            </a:r>
            <a:r>
              <a:rPr lang="fr-FR" dirty="0"/>
              <a:t> (a </a:t>
            </a:r>
            <a:r>
              <a:rPr lang="fr-FR" dirty="0" err="1"/>
              <a:t>sum</a:t>
            </a:r>
            <a:r>
              <a:rPr lang="fr-FR" dirty="0"/>
              <a:t>) of distributions BY </a:t>
            </a:r>
            <a:r>
              <a:rPr lang="fr-FR" dirty="0" err="1"/>
              <a:t>individuals</a:t>
            </a:r>
            <a:r>
              <a:rPr lang="fr-FR" dirty="0"/>
              <a:t> </a:t>
            </a:r>
            <a:r>
              <a:rPr lang="fr-FR" dirty="0" err="1"/>
              <a:t>with</a:t>
            </a:r>
            <a:r>
              <a:rPr lang="fr-FR" dirty="0"/>
              <a:t> </a:t>
            </a:r>
            <a:r>
              <a:rPr lang="fr-FR" dirty="0" err="1"/>
              <a:t>same</a:t>
            </a:r>
            <a:r>
              <a:rPr lang="fr-FR" dirty="0"/>
              <a:t> </a:t>
            </a:r>
            <a:r>
              <a:rPr lang="fr-FR" dirty="0" err="1"/>
              <a:t>mean</a:t>
            </a:r>
            <a:r>
              <a:rPr lang="fr-FR" dirty="0"/>
              <a:t>=</a:t>
            </a:r>
            <a:r>
              <a:rPr lang="fr-FR" dirty="0" err="1"/>
              <a:t>zero</a:t>
            </a:r>
            <a:r>
              <a:rPr lang="fr-FR" dirty="0"/>
              <a:t> and </a:t>
            </a:r>
            <a:r>
              <a:rPr lang="fr-FR" b="1" dirty="0" err="1"/>
              <a:t>different</a:t>
            </a:r>
            <a:r>
              <a:rPr lang="fr-FR" dirty="0"/>
              <a:t> standard </a:t>
            </a:r>
            <a:r>
              <a:rPr lang="fr-FR" dirty="0" err="1"/>
              <a:t>errors</a:t>
            </a:r>
            <a:r>
              <a:rPr lang="fr-FR" dirty="0"/>
              <a:t> by </a:t>
            </a:r>
            <a:r>
              <a:rPr lang="fr-FR" dirty="0" err="1"/>
              <a:t>individuals</a:t>
            </a:r>
            <a:endParaRPr lang="fr-FR" dirty="0"/>
          </a:p>
          <a:p>
            <a:pPr marL="0" indent="0">
              <a:buNone/>
            </a:pPr>
            <a:endParaRPr lang="fr-FR" dirty="0"/>
          </a:p>
        </p:txBody>
      </p:sp>
    </p:spTree>
    <p:extLst>
      <p:ext uri="{BB962C8B-B14F-4D97-AF65-F5344CB8AC3E}">
        <p14:creationId xmlns:p14="http://schemas.microsoft.com/office/powerpoint/2010/main" val="190668639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Within</a:t>
            </a:r>
            <a:r>
              <a:rPr lang="fr-FR" dirty="0"/>
              <a:t>: </a:t>
            </a:r>
            <a:r>
              <a:rPr lang="fr-FR" dirty="0" err="1"/>
              <a:t>outliers</a:t>
            </a:r>
            <a:r>
              <a:rPr lang="fr-FR" dirty="0"/>
              <a:t>, </a:t>
            </a:r>
            <a:r>
              <a:rPr lang="fr-FR" dirty="0" err="1"/>
              <a:t>kurtosis</a:t>
            </a:r>
            <a:endParaRPr lang="fr-FR" dirty="0"/>
          </a:p>
        </p:txBody>
      </p:sp>
      <p:sp>
        <p:nvSpPr>
          <p:cNvPr id="3" name="Espace réservé du contenu 2"/>
          <p:cNvSpPr>
            <a:spLocks noGrp="1"/>
          </p:cNvSpPr>
          <p:nvPr>
            <p:ph idx="1"/>
          </p:nvPr>
        </p:nvSpPr>
        <p:spPr/>
        <p:txBody>
          <a:bodyPr>
            <a:normAutofit lnSpcReduction="10000"/>
          </a:bodyPr>
          <a:lstStyle/>
          <a:p>
            <a:pPr marL="0" indent="0">
              <a:buNone/>
            </a:pPr>
            <a:r>
              <a:rPr lang="fr-FR" dirty="0"/>
              <a:t>4. </a:t>
            </a:r>
            <a:r>
              <a:rPr lang="fr-FR" b="1" dirty="0"/>
              <a:t>High </a:t>
            </a:r>
            <a:r>
              <a:rPr lang="fr-FR" b="1" dirty="0" err="1"/>
              <a:t>leverage</a:t>
            </a:r>
            <a:r>
              <a:rPr lang="fr-FR" b="1" dirty="0"/>
              <a:t> observations far </a:t>
            </a:r>
            <a:r>
              <a:rPr lang="fr-FR" b="1" dirty="0" err="1"/>
              <a:t>above</a:t>
            </a:r>
            <a:r>
              <a:rPr lang="fr-FR" b="1" dirty="0"/>
              <a:t> the </a:t>
            </a:r>
            <a:r>
              <a:rPr lang="fr-FR" b="1" dirty="0" err="1"/>
              <a:t>mean</a:t>
            </a:r>
            <a:r>
              <a:rPr lang="fr-FR" dirty="0"/>
              <a:t> for an </a:t>
            </a:r>
            <a:r>
              <a:rPr lang="fr-FR" dirty="0" err="1"/>
              <a:t>individual</a:t>
            </a:r>
            <a:r>
              <a:rPr lang="fr-FR" dirty="0"/>
              <a:t> are </a:t>
            </a:r>
            <a:r>
              <a:rPr lang="fr-FR" dirty="0" err="1"/>
              <a:t>balanced</a:t>
            </a:r>
            <a:r>
              <a:rPr lang="fr-FR" dirty="0"/>
              <a:t> by high </a:t>
            </a:r>
            <a:r>
              <a:rPr lang="fr-FR" dirty="0" err="1"/>
              <a:t>leverage</a:t>
            </a:r>
            <a:r>
              <a:rPr lang="fr-FR" dirty="0"/>
              <a:t> observation far </a:t>
            </a:r>
            <a:r>
              <a:rPr lang="fr-FR" dirty="0" err="1"/>
              <a:t>below</a:t>
            </a:r>
            <a:r>
              <a:rPr lang="fr-FR" dirty="0"/>
              <a:t> the </a:t>
            </a:r>
            <a:r>
              <a:rPr lang="fr-FR" dirty="0" err="1"/>
              <a:t>mean</a:t>
            </a:r>
            <a:r>
              <a:rPr lang="fr-FR" dirty="0"/>
              <a:t> for the </a:t>
            </a:r>
            <a:r>
              <a:rPr lang="fr-FR" dirty="0" err="1"/>
              <a:t>individual</a:t>
            </a:r>
            <a:r>
              <a:rPr lang="fr-FR" dirty="0"/>
              <a:t>. (large standard </a:t>
            </a:r>
            <a:r>
              <a:rPr lang="fr-FR" dirty="0" err="1"/>
              <a:t>error</a:t>
            </a:r>
            <a:r>
              <a:rPr lang="fr-FR" dirty="0"/>
              <a:t> for </a:t>
            </a:r>
            <a:r>
              <a:rPr lang="fr-FR" dirty="0" err="1"/>
              <a:t>this</a:t>
            </a:r>
            <a:r>
              <a:rPr lang="fr-FR" dirty="0"/>
              <a:t> </a:t>
            </a:r>
            <a:r>
              <a:rPr lang="fr-FR" dirty="0" err="1"/>
              <a:t>individual</a:t>
            </a:r>
            <a:r>
              <a:rPr lang="fr-FR" dirty="0"/>
              <a:t>).</a:t>
            </a:r>
          </a:p>
          <a:p>
            <a:pPr marL="0" indent="0">
              <a:buNone/>
            </a:pPr>
            <a:r>
              <a:rPr lang="fr-FR" dirty="0"/>
              <a:t>5. </a:t>
            </a:r>
            <a:r>
              <a:rPr lang="fr-FR" b="1" dirty="0" err="1"/>
              <a:t>Kurtosis</a:t>
            </a:r>
            <a:r>
              <a:rPr lang="fr-FR" b="1" dirty="0"/>
              <a:t>, </a:t>
            </a:r>
            <a:r>
              <a:rPr lang="fr-FR" b="1" dirty="0" err="1"/>
              <a:t>Platykurtic</a:t>
            </a:r>
            <a:r>
              <a:rPr lang="fr-FR" b="1" dirty="0"/>
              <a:t> case</a:t>
            </a:r>
            <a:r>
              <a:rPr lang="fr-FR" dirty="0"/>
              <a:t>: </a:t>
            </a:r>
            <a:r>
              <a:rPr lang="fr-FR" dirty="0" err="1"/>
              <a:t>individuals</a:t>
            </a:r>
            <a:r>
              <a:rPr lang="fr-FR" dirty="0"/>
              <a:t> for </a:t>
            </a:r>
            <a:r>
              <a:rPr lang="fr-FR" dirty="0" err="1"/>
              <a:t>which</a:t>
            </a:r>
            <a:r>
              <a:rPr lang="fr-FR" dirty="0"/>
              <a:t> the variable (1) </a:t>
            </a:r>
            <a:r>
              <a:rPr lang="fr-FR" dirty="0" err="1"/>
              <a:t>did</a:t>
            </a:r>
            <a:r>
              <a:rPr lang="fr-FR" dirty="0"/>
              <a:t> not change at all over time = time-invariant = value ZERO (2) </a:t>
            </a:r>
            <a:r>
              <a:rPr lang="fr-FR" dirty="0" err="1"/>
              <a:t>did</a:t>
            </a:r>
            <a:r>
              <a:rPr lang="fr-FR" dirty="0"/>
              <a:t> change </a:t>
            </a:r>
            <a:r>
              <a:rPr lang="fr-FR" dirty="0" err="1"/>
              <a:t>very</a:t>
            </a:r>
            <a:r>
              <a:rPr lang="fr-FR" dirty="0"/>
              <a:t> </a:t>
            </a:r>
            <a:r>
              <a:rPr lang="fr-FR" dirty="0" err="1"/>
              <a:t>little</a:t>
            </a:r>
            <a:r>
              <a:rPr lang="fr-FR" dirty="0"/>
              <a:t> = close to </a:t>
            </a:r>
            <a:r>
              <a:rPr lang="fr-FR" dirty="0" err="1"/>
              <a:t>Zero</a:t>
            </a:r>
            <a:r>
              <a:rPr lang="fr-FR" dirty="0"/>
              <a:t>.</a:t>
            </a:r>
          </a:p>
          <a:p>
            <a:pPr marL="0" indent="0">
              <a:buNone/>
            </a:pPr>
            <a:endParaRPr lang="fr-FR" dirty="0"/>
          </a:p>
        </p:txBody>
      </p:sp>
    </p:spTree>
    <p:extLst>
      <p:ext uri="{BB962C8B-B14F-4D97-AF65-F5344CB8AC3E}">
        <p14:creationId xmlns:p14="http://schemas.microsoft.com/office/powerpoint/2010/main" val="416539034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Within</a:t>
            </a:r>
            <a:r>
              <a:rPr lang="fr-FR" dirty="0"/>
              <a:t>: </a:t>
            </a:r>
            <a:r>
              <a:rPr lang="fr-FR" dirty="0" err="1"/>
              <a:t>platykurtic</a:t>
            </a:r>
            <a:r>
              <a:rPr lang="fr-FR" dirty="0"/>
              <a:t>: </a:t>
            </a:r>
            <a:r>
              <a:rPr lang="fr-FR" dirty="0" err="1"/>
              <a:t>example</a:t>
            </a:r>
            <a:endParaRPr lang="fr-FR" dirty="0"/>
          </a:p>
        </p:txBody>
      </p:sp>
      <p:sp>
        <p:nvSpPr>
          <p:cNvPr id="3" name="Espace réservé du contenu 2"/>
          <p:cNvSpPr>
            <a:spLocks noGrp="1"/>
          </p:cNvSpPr>
          <p:nvPr>
            <p:ph idx="1"/>
          </p:nvPr>
        </p:nvSpPr>
        <p:spPr/>
        <p:txBody>
          <a:bodyPr>
            <a:normAutofit fontScale="92500"/>
          </a:bodyPr>
          <a:lstStyle/>
          <a:p>
            <a:pPr marL="0" indent="0">
              <a:buNone/>
            </a:pPr>
            <a:r>
              <a:rPr lang="fr-FR" dirty="0" err="1"/>
              <a:t>Average</a:t>
            </a:r>
            <a:r>
              <a:rPr lang="fr-FR" dirty="0"/>
              <a:t> </a:t>
            </a:r>
            <a:r>
              <a:rPr lang="fr-FR" dirty="0" err="1"/>
              <a:t>growth</a:t>
            </a:r>
            <a:r>
              <a:rPr lang="fr-FR" dirty="0"/>
              <a:t> </a:t>
            </a:r>
            <a:r>
              <a:rPr lang="fr-FR" dirty="0" err="1"/>
              <a:t>is</a:t>
            </a:r>
            <a:r>
              <a:rPr lang="fr-FR" dirty="0"/>
              <a:t> a </a:t>
            </a:r>
            <a:r>
              <a:rPr lang="fr-FR" dirty="0" err="1"/>
              <a:t>little</a:t>
            </a:r>
            <a:r>
              <a:rPr lang="fr-FR" dirty="0"/>
              <a:t> bit over-</a:t>
            </a:r>
            <a:r>
              <a:rPr lang="fr-FR" dirty="0" err="1"/>
              <a:t>concentrated</a:t>
            </a:r>
            <a:r>
              <a:rPr lang="fr-FR" dirty="0"/>
              <a:t>. </a:t>
            </a:r>
            <a:r>
              <a:rPr lang="fr-FR" dirty="0" err="1"/>
              <a:t>Usually</a:t>
            </a:r>
            <a:r>
              <a:rPr lang="fr-FR" dirty="0"/>
              <a:t>, </a:t>
            </a:r>
            <a:r>
              <a:rPr lang="fr-FR" dirty="0" err="1"/>
              <a:t>growth</a:t>
            </a:r>
            <a:r>
              <a:rPr lang="fr-FR" dirty="0"/>
              <a:t> rates </a:t>
            </a:r>
            <a:r>
              <a:rPr lang="fr-FR" dirty="0" err="1"/>
              <a:t>follow</a:t>
            </a:r>
            <a:r>
              <a:rPr lang="fr-FR" dirty="0"/>
              <a:t> a </a:t>
            </a:r>
            <a:r>
              <a:rPr lang="fr-FR" dirty="0" err="1"/>
              <a:t>symmetric</a:t>
            </a:r>
            <a:r>
              <a:rPr lang="fr-FR" dirty="0"/>
              <a:t> </a:t>
            </a:r>
            <a:r>
              <a:rPr lang="fr-FR" dirty="0" err="1"/>
              <a:t>triangular</a:t>
            </a:r>
            <a:r>
              <a:rPr lang="fr-FR" dirty="0"/>
              <a:t> distribution, not a normal distribution.</a:t>
            </a:r>
          </a:p>
          <a:p>
            <a:pPr marL="0" indent="0">
              <a:buNone/>
            </a:pPr>
            <a:r>
              <a:rPr lang="fr-FR" dirty="0"/>
              <a:t>But </a:t>
            </a:r>
            <a:r>
              <a:rPr lang="fr-FR" dirty="0" err="1"/>
              <a:t>within</a:t>
            </a:r>
            <a:r>
              <a:rPr lang="fr-FR" dirty="0"/>
              <a:t> ODA/GDP has a </a:t>
            </a:r>
            <a:r>
              <a:rPr lang="fr-FR" dirty="0" err="1"/>
              <a:t>gigantic</a:t>
            </a:r>
            <a:r>
              <a:rPr lang="fr-FR" dirty="0"/>
              <a:t> </a:t>
            </a:r>
            <a:r>
              <a:rPr lang="fr-FR" dirty="0" err="1"/>
              <a:t>spike</a:t>
            </a:r>
            <a:r>
              <a:rPr lang="fr-FR" dirty="0"/>
              <a:t> in </a:t>
            </a:r>
            <a:r>
              <a:rPr lang="fr-FR" dirty="0" err="1"/>
              <a:t>zero</a:t>
            </a:r>
            <a:r>
              <a:rPr lang="fr-FR" dirty="0"/>
              <a:t>. Large countries has </a:t>
            </a:r>
            <a:r>
              <a:rPr lang="fr-FR" dirty="0" err="1"/>
              <a:t>small</a:t>
            </a:r>
            <a:r>
              <a:rPr lang="fr-FR" dirty="0"/>
              <a:t> ODA/GDP, </a:t>
            </a:r>
            <a:r>
              <a:rPr lang="fr-FR" dirty="0" err="1"/>
              <a:t>some</a:t>
            </a:r>
            <a:r>
              <a:rPr lang="fr-FR" dirty="0"/>
              <a:t> do not change or change </a:t>
            </a:r>
            <a:r>
              <a:rPr lang="fr-FR" dirty="0" err="1"/>
              <a:t>very</a:t>
            </a:r>
            <a:r>
              <a:rPr lang="fr-FR" dirty="0"/>
              <a:t> </a:t>
            </a:r>
            <a:r>
              <a:rPr lang="fr-FR" dirty="0" err="1"/>
              <a:t>little</a:t>
            </a:r>
            <a:r>
              <a:rPr lang="fr-FR" dirty="0"/>
              <a:t> </a:t>
            </a:r>
            <a:r>
              <a:rPr lang="fr-FR" dirty="0" err="1"/>
              <a:t>from</a:t>
            </a:r>
            <a:r>
              <a:rPr lang="fr-FR" dirty="0"/>
              <a:t> </a:t>
            </a:r>
            <a:r>
              <a:rPr lang="fr-FR" dirty="0" err="1"/>
              <a:t>their</a:t>
            </a:r>
            <a:r>
              <a:rPr lang="fr-FR" dirty="0"/>
              <a:t> </a:t>
            </a:r>
            <a:r>
              <a:rPr lang="fr-FR" dirty="0" err="1"/>
              <a:t>mean</a:t>
            </a:r>
            <a:r>
              <a:rPr lang="fr-FR" dirty="0"/>
              <a:t> over time (note </a:t>
            </a:r>
            <a:r>
              <a:rPr lang="fr-FR" dirty="0" err="1"/>
              <a:t>that</a:t>
            </a:r>
            <a:r>
              <a:rPr lang="fr-FR" dirty="0"/>
              <a:t> </a:t>
            </a:r>
            <a:r>
              <a:rPr lang="fr-FR" dirty="0" err="1"/>
              <a:t>they</a:t>
            </a:r>
            <a:r>
              <a:rPr lang="fr-FR" dirty="0"/>
              <a:t> are </a:t>
            </a:r>
            <a:r>
              <a:rPr lang="fr-FR" dirty="0" err="1"/>
              <a:t>already</a:t>
            </a:r>
            <a:r>
              <a:rPr lang="fr-FR" dirty="0"/>
              <a:t> </a:t>
            </a:r>
            <a:r>
              <a:rPr lang="fr-FR" dirty="0" err="1"/>
              <a:t>averaged</a:t>
            </a:r>
            <a:r>
              <a:rPr lang="fr-FR" dirty="0"/>
              <a:t> over 4 </a:t>
            </a:r>
            <a:r>
              <a:rPr lang="fr-FR" dirty="0" err="1"/>
              <a:t>years</a:t>
            </a:r>
            <a:r>
              <a:rPr lang="fr-FR" dirty="0"/>
              <a:t>, </a:t>
            </a:r>
            <a:r>
              <a:rPr lang="fr-FR" dirty="0" err="1"/>
              <a:t>which</a:t>
            </a:r>
            <a:r>
              <a:rPr lang="fr-FR" dirty="0"/>
              <a:t> </a:t>
            </a:r>
            <a:r>
              <a:rPr lang="fr-FR" dirty="0" err="1"/>
              <a:t>reduces</a:t>
            </a:r>
            <a:r>
              <a:rPr lang="fr-FR" dirty="0"/>
              <a:t> variance).</a:t>
            </a:r>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1417531940"/>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Kurtosis</a:t>
            </a:r>
            <a:endParaRPr lang="fr-FR" dirty="0"/>
          </a:p>
        </p:txBody>
      </p:sp>
      <p:sp>
        <p:nvSpPr>
          <p:cNvPr id="3" name="Espace réservé du contenu 2"/>
          <p:cNvSpPr>
            <a:spLocks noGrp="1"/>
          </p:cNvSpPr>
          <p:nvPr>
            <p:ph idx="1"/>
          </p:nvPr>
        </p:nvSpPr>
        <p:spPr/>
        <p:txBody>
          <a:bodyPr/>
          <a:lstStyle/>
          <a:p>
            <a:pPr marL="0" indent="0">
              <a:buNone/>
            </a:pPr>
            <a:r>
              <a:rPr lang="fr-FR" dirty="0"/>
              <a:t>The « </a:t>
            </a:r>
            <a:r>
              <a:rPr lang="fr-FR" dirty="0" err="1"/>
              <a:t>Kurtosis</a:t>
            </a:r>
            <a:r>
              <a:rPr lang="fr-FR" dirty="0"/>
              <a:t> gap » large </a:t>
            </a:r>
            <a:r>
              <a:rPr lang="fr-FR" dirty="0" err="1"/>
              <a:t>difference</a:t>
            </a:r>
            <a:r>
              <a:rPr lang="fr-FR" dirty="0"/>
              <a:t> of </a:t>
            </a:r>
            <a:r>
              <a:rPr lang="fr-FR" dirty="0" err="1"/>
              <a:t>under-kurtosis</a:t>
            </a:r>
            <a:r>
              <a:rPr lang="fr-FR" dirty="0"/>
              <a:t> </a:t>
            </a:r>
            <a:r>
              <a:rPr lang="fr-FR" dirty="0" err="1"/>
              <a:t>implies</a:t>
            </a:r>
            <a:r>
              <a:rPr lang="fr-FR" dirty="0"/>
              <a:t> </a:t>
            </a:r>
            <a:r>
              <a:rPr lang="fr-FR" dirty="0" err="1"/>
              <a:t>that</a:t>
            </a:r>
            <a:r>
              <a:rPr lang="fr-FR" dirty="0"/>
              <a:t> ODA/GDP has not </a:t>
            </a:r>
            <a:r>
              <a:rPr lang="fr-FR" dirty="0" err="1"/>
              <a:t>enough</a:t>
            </a:r>
            <a:r>
              <a:rPr lang="fr-FR" dirty="0"/>
              <a:t> variance for </a:t>
            </a:r>
            <a:r>
              <a:rPr lang="fr-FR" dirty="0" err="1"/>
              <a:t>many</a:t>
            </a:r>
            <a:r>
              <a:rPr lang="fr-FR" dirty="0"/>
              <a:t> </a:t>
            </a:r>
            <a:r>
              <a:rPr lang="fr-FR" dirty="0" err="1"/>
              <a:t>individuals</a:t>
            </a:r>
            <a:r>
              <a:rPr lang="fr-FR" dirty="0"/>
              <a:t> to </a:t>
            </a:r>
            <a:r>
              <a:rPr lang="fr-FR" dirty="0" err="1"/>
              <a:t>explain</a:t>
            </a:r>
            <a:r>
              <a:rPr lang="fr-FR" dirty="0"/>
              <a:t> the </a:t>
            </a:r>
            <a:r>
              <a:rPr lang="fr-FR" dirty="0" err="1"/>
              <a:t>dependent</a:t>
            </a:r>
            <a:r>
              <a:rPr lang="fr-FR" dirty="0"/>
              <a:t> variable.</a:t>
            </a:r>
          </a:p>
          <a:p>
            <a:pPr marL="0" indent="0">
              <a:buNone/>
            </a:pPr>
            <a:endParaRPr lang="fr-FR" dirty="0"/>
          </a:p>
          <a:p>
            <a:pPr marL="0" indent="0">
              <a:buNone/>
            </a:pPr>
            <a:r>
              <a:rPr lang="fr-FR" dirty="0"/>
              <a:t>6. </a:t>
            </a:r>
            <a:r>
              <a:rPr lang="fr-FR" b="1" dirty="0" err="1"/>
              <a:t>Kurtosis</a:t>
            </a:r>
            <a:r>
              <a:rPr lang="fr-FR" b="1" dirty="0"/>
              <a:t>, </a:t>
            </a:r>
            <a:r>
              <a:rPr lang="fr-FR" b="1" dirty="0" err="1"/>
              <a:t>Leptokurtic</a:t>
            </a:r>
            <a:r>
              <a:rPr lang="fr-FR" b="1" dirty="0"/>
              <a:t> case</a:t>
            </a:r>
            <a:r>
              <a:rPr lang="fr-FR" dirty="0"/>
              <a:t>: fat </a:t>
            </a:r>
            <a:r>
              <a:rPr lang="fr-FR" dirty="0" err="1"/>
              <a:t>tails</a:t>
            </a:r>
            <a:r>
              <a:rPr lang="fr-FR" dirty="0"/>
              <a:t>: </a:t>
            </a:r>
            <a:r>
              <a:rPr lang="fr-FR" dirty="0" err="1"/>
              <a:t>happens</a:t>
            </a:r>
            <a:r>
              <a:rPr lang="fr-FR" dirty="0"/>
              <a:t> for stock </a:t>
            </a:r>
            <a:r>
              <a:rPr lang="fr-FR" dirty="0" err="1"/>
              <a:t>market</a:t>
            </a:r>
            <a:r>
              <a:rPr lang="fr-FR" dirty="0"/>
              <a:t> </a:t>
            </a:r>
            <a:r>
              <a:rPr lang="fr-FR" dirty="0" err="1"/>
              <a:t>returns</a:t>
            </a:r>
            <a:r>
              <a:rPr lang="fr-FR" dirty="0"/>
              <a:t> for </a:t>
            </a:r>
            <a:r>
              <a:rPr lang="fr-FR" dirty="0" err="1"/>
              <a:t>different</a:t>
            </a:r>
            <a:r>
              <a:rPr lang="fr-FR" dirty="0"/>
              <a:t> </a:t>
            </a:r>
            <a:r>
              <a:rPr lang="fr-FR" dirty="0" err="1"/>
              <a:t>securities</a:t>
            </a:r>
            <a:r>
              <a:rPr lang="fr-FR" dirty="0"/>
              <a:t>.</a:t>
            </a:r>
          </a:p>
          <a:p>
            <a:pPr marL="0" indent="0">
              <a:buNone/>
            </a:pPr>
            <a:endParaRPr lang="fr-FR" dirty="0"/>
          </a:p>
        </p:txBody>
      </p:sp>
    </p:spTree>
    <p:extLst>
      <p:ext uri="{BB962C8B-B14F-4D97-AF65-F5344CB8AC3E}">
        <p14:creationId xmlns:p14="http://schemas.microsoft.com/office/powerpoint/2010/main" val="339899782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48775" cy="678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062814"/>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Autofit/>
          </a:bodyPr>
          <a:lstStyle/>
          <a:p>
            <a:r>
              <a:rPr lang="en-US" sz="2400" dirty="0"/>
              <a:t>Eda/</a:t>
            </a:r>
            <a:r>
              <a:rPr lang="en-US" sz="2400" dirty="0" err="1"/>
              <a:t>gdp</a:t>
            </a:r>
            <a:r>
              <a:rPr lang="en-US" sz="2400" dirty="0"/>
              <a:t> standardized outliers within (</a:t>
            </a:r>
            <a:r>
              <a:rPr lang="en-US" sz="2400" dirty="0" err="1"/>
              <a:t>x</a:t>
            </a:r>
            <a:r>
              <a:rPr lang="en-US" sz="2400" baseline="-25000" dirty="0" err="1"/>
              <a:t>it</a:t>
            </a:r>
            <a:r>
              <a:rPr lang="en-US" sz="2400" dirty="0"/>
              <a:t>-x</a:t>
            </a:r>
            <a:r>
              <a:rPr lang="en-US" sz="2400" baseline="-25000" dirty="0"/>
              <a:t>i.</a:t>
            </a:r>
            <a:r>
              <a:rPr lang="en-US" sz="2400" dirty="0"/>
              <a:t>)/sigma(sample)</a:t>
            </a:r>
            <a:br>
              <a:rPr lang="en-US" sz="2400" dirty="0"/>
            </a:br>
            <a:r>
              <a:rPr lang="en-US" sz="2400" dirty="0"/>
              <a:t>Within: sign symmetry by country </a:t>
            </a:r>
            <a:br>
              <a:rPr lang="en-US" sz="2400" dirty="0"/>
            </a:br>
            <a:r>
              <a:rPr lang="en-US" sz="2400" dirty="0"/>
              <a:t>because the sum by country of within transformed is zero</a:t>
            </a:r>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883117005"/>
              </p:ext>
            </p:extLst>
          </p:nvPr>
        </p:nvGraphicFramePr>
        <p:xfrm>
          <a:off x="457200" y="1600200"/>
          <a:ext cx="8229600" cy="3749040"/>
        </p:xfrm>
        <a:graphic>
          <a:graphicData uri="http://schemas.openxmlformats.org/drawingml/2006/table">
            <a:tbl>
              <a:tblPr firstRow="1" bandRow="1">
                <a:tableStyleId>{5940675A-B579-460E-94D1-54222C63F5DA}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sz="2400" dirty="0"/>
                        <a:t>Country</a:t>
                      </a:r>
                    </a:p>
                  </a:txBody>
                  <a:tcPr/>
                </a:tc>
                <a:tc>
                  <a:txBody>
                    <a:bodyPr/>
                    <a:lstStyle/>
                    <a:p>
                      <a:r>
                        <a:rPr lang="en-US" sz="2400" dirty="0"/>
                        <a:t>Positive</a:t>
                      </a:r>
                    </a:p>
                  </a:txBody>
                  <a:tcPr/>
                </a:tc>
                <a:tc>
                  <a:txBody>
                    <a:bodyPr/>
                    <a:lstStyle/>
                    <a:p>
                      <a:r>
                        <a:rPr lang="en-US" sz="2400" dirty="0"/>
                        <a:t>Negative</a:t>
                      </a:r>
                    </a:p>
                  </a:txBody>
                  <a:tcPr/>
                </a:tc>
                <a:extLst>
                  <a:ext uri="{0D108BD9-81ED-4DB2-BD59-A6C34878D82A}">
                    <a16:rowId xmlns:a16="http://schemas.microsoft.com/office/drawing/2014/main" val="10000"/>
                  </a:ext>
                </a:extLst>
              </a:tr>
              <a:tr h="370840">
                <a:tc>
                  <a:txBody>
                    <a:bodyPr/>
                    <a:lstStyle/>
                    <a:p>
                      <a:r>
                        <a:rPr lang="en-US" sz="2400" dirty="0"/>
                        <a:t>Guyana</a:t>
                      </a:r>
                    </a:p>
                  </a:txBody>
                  <a:tcPr/>
                </a:tc>
                <a:tc>
                  <a:txBody>
                    <a:bodyPr/>
                    <a:lstStyle/>
                    <a:p>
                      <a:r>
                        <a:rPr lang="en-US" sz="2400" dirty="0"/>
                        <a:t>90-93:</a:t>
                      </a:r>
                      <a:r>
                        <a:rPr lang="en-US" sz="2400" baseline="0" dirty="0"/>
                        <a:t> 7.45&gt;&gt;2</a:t>
                      </a:r>
                    </a:p>
                    <a:p>
                      <a:endParaRPr lang="en-US" sz="2400" dirty="0"/>
                    </a:p>
                  </a:txBody>
                  <a:tcPr/>
                </a:tc>
                <a:tc>
                  <a:txBody>
                    <a:bodyPr/>
                    <a:lstStyle/>
                    <a:p>
                      <a:r>
                        <a:rPr lang="en-US" sz="2400" dirty="0"/>
                        <a:t>74-77:  -2.45</a:t>
                      </a:r>
                    </a:p>
                    <a:p>
                      <a:r>
                        <a:rPr lang="en-US" sz="2400" dirty="0"/>
                        <a:t>70-73:</a:t>
                      </a:r>
                      <a:r>
                        <a:rPr lang="en-US" sz="2400" baseline="0" dirty="0"/>
                        <a:t>  -2.19</a:t>
                      </a:r>
                      <a:endParaRPr lang="en-US" sz="2400" dirty="0"/>
                    </a:p>
                  </a:txBody>
                  <a:tcPr/>
                </a:tc>
                <a:extLst>
                  <a:ext uri="{0D108BD9-81ED-4DB2-BD59-A6C34878D82A}">
                    <a16:rowId xmlns:a16="http://schemas.microsoft.com/office/drawing/2014/main" val="10001"/>
                  </a:ext>
                </a:extLst>
              </a:tr>
              <a:tr h="370840">
                <a:tc>
                  <a:txBody>
                    <a:bodyPr/>
                    <a:lstStyle/>
                    <a:p>
                      <a:r>
                        <a:rPr lang="en-US" sz="2400" dirty="0"/>
                        <a:t>Gambia</a:t>
                      </a:r>
                    </a:p>
                  </a:txBody>
                  <a:tcPr/>
                </a:tc>
                <a:tc>
                  <a:txBody>
                    <a:bodyPr/>
                    <a:lstStyle/>
                    <a:p>
                      <a:r>
                        <a:rPr lang="en-US" sz="2400" dirty="0"/>
                        <a:t>86-89:</a:t>
                      </a:r>
                      <a:r>
                        <a:rPr lang="en-US" sz="2400" baseline="0" dirty="0"/>
                        <a:t> 5.14&gt;&gt;2</a:t>
                      </a:r>
                    </a:p>
                    <a:p>
                      <a:r>
                        <a:rPr lang="en-US" sz="2400" baseline="0" dirty="0"/>
                        <a:t>90-93: 2.10</a:t>
                      </a:r>
                      <a:endParaRPr lang="en-US" sz="2400" dirty="0"/>
                    </a:p>
                  </a:txBody>
                  <a:tcPr/>
                </a:tc>
                <a:tc>
                  <a:txBody>
                    <a:bodyPr/>
                    <a:lstStyle/>
                    <a:p>
                      <a:r>
                        <a:rPr lang="en-US" sz="2400" dirty="0"/>
                        <a:t>70-73:</a:t>
                      </a:r>
                      <a:r>
                        <a:rPr lang="en-US" sz="2400" baseline="0" dirty="0"/>
                        <a:t> -4.49&gt;&gt;2</a:t>
                      </a:r>
                    </a:p>
                    <a:p>
                      <a:r>
                        <a:rPr lang="en-US" sz="2400" baseline="0" dirty="0"/>
                        <a:t>74-77: -3.51&gt;&gt;2</a:t>
                      </a:r>
                      <a:endParaRPr lang="en-US" sz="2400" dirty="0"/>
                    </a:p>
                  </a:txBody>
                  <a:tcPr/>
                </a:tc>
                <a:extLst>
                  <a:ext uri="{0D108BD9-81ED-4DB2-BD59-A6C34878D82A}">
                    <a16:rowId xmlns:a16="http://schemas.microsoft.com/office/drawing/2014/main" val="10002"/>
                  </a:ext>
                </a:extLst>
              </a:tr>
              <a:tr h="370840">
                <a:tc>
                  <a:txBody>
                    <a:bodyPr/>
                    <a:lstStyle/>
                    <a:p>
                      <a:r>
                        <a:rPr lang="en-US" sz="2400" dirty="0"/>
                        <a:t>Nicaragua</a:t>
                      </a:r>
                    </a:p>
                  </a:txBody>
                  <a:tcPr/>
                </a:tc>
                <a:tc>
                  <a:txBody>
                    <a:bodyPr/>
                    <a:lstStyle/>
                    <a:p>
                      <a:r>
                        <a:rPr lang="en-US" sz="2400" dirty="0"/>
                        <a:t>90-93: 4.84</a:t>
                      </a:r>
                      <a:r>
                        <a:rPr lang="en-US" sz="2400" baseline="0" dirty="0"/>
                        <a:t>&gt;&gt;2</a:t>
                      </a:r>
                      <a:endParaRPr lang="en-US" sz="2400" dirty="0"/>
                    </a:p>
                  </a:txBody>
                  <a:tcPr/>
                </a:tc>
                <a:tc>
                  <a:txBody>
                    <a:bodyPr/>
                    <a:lstStyle/>
                    <a:p>
                      <a:r>
                        <a:rPr lang="en-US" sz="2400" dirty="0"/>
                        <a:t>70-73:</a:t>
                      </a:r>
                      <a:r>
                        <a:rPr lang="en-US" sz="2400" baseline="0" dirty="0"/>
                        <a:t> -2.47</a:t>
                      </a:r>
                    </a:p>
                    <a:p>
                      <a:r>
                        <a:rPr lang="en-US" sz="2400" baseline="0" dirty="0"/>
                        <a:t>74-77: -2.39</a:t>
                      </a:r>
                      <a:endParaRPr lang="en-US" sz="2400" dirty="0"/>
                    </a:p>
                  </a:txBody>
                  <a:tcPr/>
                </a:tc>
                <a:extLst>
                  <a:ext uri="{0D108BD9-81ED-4DB2-BD59-A6C34878D82A}">
                    <a16:rowId xmlns:a16="http://schemas.microsoft.com/office/drawing/2014/main" val="10003"/>
                  </a:ext>
                </a:extLst>
              </a:tr>
              <a:tr h="370840">
                <a:tc>
                  <a:txBody>
                    <a:bodyPr/>
                    <a:lstStyle/>
                    <a:p>
                      <a:r>
                        <a:rPr lang="en-US" sz="2400" dirty="0"/>
                        <a:t>Zambia</a:t>
                      </a:r>
                    </a:p>
                  </a:txBody>
                  <a:tcPr/>
                </a:tc>
                <a:tc>
                  <a:txBody>
                    <a:bodyPr/>
                    <a:lstStyle/>
                    <a:p>
                      <a:r>
                        <a:rPr lang="en-US" sz="2400" dirty="0"/>
                        <a:t>90-93: 4.21</a:t>
                      </a:r>
                      <a:r>
                        <a:rPr lang="en-US" sz="2400" baseline="0" dirty="0"/>
                        <a:t>&gt;&gt;2</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aseline="0" dirty="0"/>
                        <a:t>74-77: -2.14 etc.</a:t>
                      </a:r>
                      <a:endParaRPr lang="en-US" sz="2400" dirty="0"/>
                    </a:p>
                    <a:p>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0742398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Within</a:t>
            </a:r>
            <a:r>
              <a:rPr lang="fr-FR" sz="3600" dirty="0"/>
              <a:t> </a:t>
            </a:r>
            <a:r>
              <a:rPr lang="fr-FR" sz="3600" dirty="0" err="1"/>
              <a:t>correlation</a:t>
            </a:r>
            <a:r>
              <a:rPr lang="fr-FR" sz="3600" dirty="0"/>
              <a:t> </a:t>
            </a:r>
            <a:r>
              <a:rPr lang="fr-FR" sz="3600" dirty="0" err="1"/>
              <a:t>growth</a:t>
            </a:r>
            <a:r>
              <a:rPr lang="fr-FR" sz="3600" dirty="0"/>
              <a:t> of GDP/ </a:t>
            </a:r>
            <a:r>
              <a:rPr lang="fr-FR" sz="3600" dirty="0" err="1"/>
              <a:t>head</a:t>
            </a:r>
            <a:r>
              <a:rPr lang="fr-FR" sz="3600" dirty="0"/>
              <a:t> and </a:t>
            </a:r>
            <a:r>
              <a:rPr lang="fr-FR" sz="3600" dirty="0" err="1"/>
              <a:t>Aid</a:t>
            </a:r>
            <a:r>
              <a:rPr lang="fr-FR" sz="3600" dirty="0"/>
              <a:t>/GDP: 272 observations NT-N</a:t>
            </a:r>
          </a:p>
        </p:txBody>
      </p:sp>
      <p:sp>
        <p:nvSpPr>
          <p:cNvPr id="3" name="Espace réservé du contenu 2"/>
          <p:cNvSpPr>
            <a:spLocks noGrp="1"/>
          </p:cNvSpPr>
          <p:nvPr>
            <p:ph idx="1"/>
          </p:nvPr>
        </p:nvSpPr>
        <p:spPr/>
        <p:txBody>
          <a:bodyPr/>
          <a:lstStyle/>
          <a:p>
            <a:pPr marL="514350" indent="-514350">
              <a:buFont typeface="+mj-lt"/>
              <a:buAutoNum type="arabicPeriod"/>
            </a:pPr>
            <a:r>
              <a:rPr lang="fr-FR" b="1" dirty="0" err="1"/>
              <a:t>Symmetry</a:t>
            </a:r>
            <a:r>
              <a:rPr lang="fr-FR" dirty="0"/>
              <a:t> on horizontal and vertical axis.</a:t>
            </a:r>
          </a:p>
          <a:p>
            <a:pPr marL="514350" indent="-514350">
              <a:buFont typeface="+mj-lt"/>
              <a:buAutoNum type="arabicPeriod"/>
            </a:pPr>
            <a:r>
              <a:rPr lang="fr-FR" b="1" dirty="0"/>
              <a:t>High </a:t>
            </a:r>
            <a:r>
              <a:rPr lang="fr-FR" b="1" dirty="0" err="1"/>
              <a:t>leverage</a:t>
            </a:r>
            <a:r>
              <a:rPr lang="fr-FR" dirty="0"/>
              <a:t> horizontal axis (ODA/GDP): observations </a:t>
            </a:r>
            <a:r>
              <a:rPr lang="fr-FR" dirty="0" err="1"/>
              <a:t>balanced</a:t>
            </a:r>
            <a:r>
              <a:rPr lang="fr-FR" dirty="0"/>
              <a:t> by countries </a:t>
            </a:r>
            <a:r>
              <a:rPr lang="fr-FR" dirty="0" err="1"/>
              <a:t>left</a:t>
            </a:r>
            <a:r>
              <a:rPr lang="fr-FR" dirty="0"/>
              <a:t> and right (GMB6, GMB2).</a:t>
            </a:r>
          </a:p>
          <a:p>
            <a:pPr marL="514350" indent="-514350">
              <a:buFont typeface="+mj-lt"/>
              <a:buAutoNum type="arabicPeriod"/>
            </a:pPr>
            <a:r>
              <a:rPr lang="fr-FR" dirty="0"/>
              <a:t>High </a:t>
            </a:r>
            <a:r>
              <a:rPr lang="fr-FR" dirty="0" err="1"/>
              <a:t>leverage</a:t>
            </a:r>
            <a:r>
              <a:rPr lang="fr-FR" dirty="0"/>
              <a:t> horizontal axis (</a:t>
            </a:r>
            <a:r>
              <a:rPr lang="el-GR" dirty="0">
                <a:latin typeface="Cambria Math"/>
                <a:ea typeface="Cambria Math"/>
              </a:rPr>
              <a:t>Δ</a:t>
            </a:r>
            <a:r>
              <a:rPr lang="fr-FR" dirty="0">
                <a:latin typeface="Cambria Math"/>
                <a:ea typeface="Cambria Math"/>
              </a:rPr>
              <a:t>Ln(GDP/L)</a:t>
            </a:r>
            <a:r>
              <a:rPr lang="fr-FR" dirty="0"/>
              <a:t>): </a:t>
            </a:r>
            <a:r>
              <a:rPr lang="fr-FR" dirty="0" err="1"/>
              <a:t>balanced</a:t>
            </a:r>
            <a:r>
              <a:rPr lang="fr-FR" dirty="0"/>
              <a:t> by countries top and down (GAB3, GAB4)</a:t>
            </a:r>
          </a:p>
        </p:txBody>
      </p:sp>
    </p:spTree>
    <p:extLst>
      <p:ext uri="{BB962C8B-B14F-4D97-AF65-F5344CB8AC3E}">
        <p14:creationId xmlns:p14="http://schemas.microsoft.com/office/powerpoint/2010/main" val="1799869176"/>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Within</a:t>
            </a:r>
            <a:r>
              <a:rPr lang="fr-FR" sz="3600" dirty="0"/>
              <a:t> </a:t>
            </a:r>
            <a:r>
              <a:rPr lang="fr-FR" sz="3600" dirty="0" err="1"/>
              <a:t>correlation</a:t>
            </a:r>
            <a:r>
              <a:rPr lang="fr-FR" sz="3600" dirty="0"/>
              <a:t> </a:t>
            </a:r>
            <a:r>
              <a:rPr lang="fr-FR" sz="3600" dirty="0" err="1"/>
              <a:t>growth</a:t>
            </a:r>
            <a:r>
              <a:rPr lang="fr-FR" sz="3600" dirty="0"/>
              <a:t> of GDP/ </a:t>
            </a:r>
            <a:r>
              <a:rPr lang="fr-FR" sz="3600" dirty="0" err="1"/>
              <a:t>head</a:t>
            </a:r>
            <a:r>
              <a:rPr lang="fr-FR" sz="3600" dirty="0"/>
              <a:t> and </a:t>
            </a:r>
            <a:r>
              <a:rPr lang="fr-FR" sz="3600" dirty="0" err="1"/>
              <a:t>Aid</a:t>
            </a:r>
            <a:r>
              <a:rPr lang="fr-FR" sz="3600" dirty="0"/>
              <a:t>/GDP: </a:t>
            </a:r>
            <a:r>
              <a:rPr lang="fr-FR" sz="3600" b="1" dirty="0" err="1"/>
              <a:t>Kurtosis</a:t>
            </a:r>
            <a:r>
              <a:rPr lang="fr-FR" sz="3600" dirty="0"/>
              <a:t> </a:t>
            </a:r>
            <a:r>
              <a:rPr lang="fr-FR" sz="3600" dirty="0" err="1"/>
              <a:t>differences</a:t>
            </a:r>
            <a:endParaRPr lang="fr-FR" sz="3600" dirty="0"/>
          </a:p>
        </p:txBody>
      </p:sp>
      <p:sp>
        <p:nvSpPr>
          <p:cNvPr id="3" name="Espace réservé du contenu 2"/>
          <p:cNvSpPr>
            <a:spLocks noGrp="1"/>
          </p:cNvSpPr>
          <p:nvPr>
            <p:ph idx="1"/>
          </p:nvPr>
        </p:nvSpPr>
        <p:spPr/>
        <p:txBody>
          <a:bodyPr/>
          <a:lstStyle/>
          <a:p>
            <a:pPr marL="514350" indent="-514350">
              <a:buFont typeface="+mj-lt"/>
              <a:buAutoNum type="arabicPeriod"/>
            </a:pPr>
            <a:r>
              <a:rPr lang="fr-FR" dirty="0"/>
              <a:t>Horizontal axis: </a:t>
            </a:r>
            <a:r>
              <a:rPr lang="fr-FR" dirty="0" err="1"/>
              <a:t>Many</a:t>
            </a:r>
            <a:r>
              <a:rPr lang="fr-FR" dirty="0"/>
              <a:t> observations close to </a:t>
            </a:r>
            <a:r>
              <a:rPr lang="fr-FR" dirty="0" err="1"/>
              <a:t>zero</a:t>
            </a:r>
            <a:r>
              <a:rPr lang="fr-FR" dirty="0"/>
              <a:t> for </a:t>
            </a:r>
            <a:r>
              <a:rPr lang="fr-FR" dirty="0" err="1"/>
              <a:t>within</a:t>
            </a:r>
            <a:r>
              <a:rPr lang="fr-FR" dirty="0"/>
              <a:t> </a:t>
            </a:r>
            <a:r>
              <a:rPr lang="fr-FR" dirty="0" err="1"/>
              <a:t>transformed</a:t>
            </a:r>
            <a:r>
              <a:rPr lang="fr-FR" dirty="0"/>
              <a:t> </a:t>
            </a:r>
            <a:r>
              <a:rPr lang="fr-FR" dirty="0" err="1"/>
              <a:t>aid</a:t>
            </a:r>
            <a:r>
              <a:rPr lang="fr-FR" dirty="0"/>
              <a:t>/GDP: close to the </a:t>
            </a:r>
            <a:r>
              <a:rPr lang="fr-FR" dirty="0" err="1"/>
              <a:t>mean</a:t>
            </a:r>
            <a:r>
              <a:rPr lang="fr-FR" dirty="0"/>
              <a:t> over time (</a:t>
            </a:r>
            <a:r>
              <a:rPr lang="fr-FR" dirty="0" err="1"/>
              <a:t>Highly</a:t>
            </a:r>
            <a:r>
              <a:rPr lang="fr-FR" dirty="0"/>
              <a:t> LEPTOKURTIC).</a:t>
            </a:r>
          </a:p>
          <a:p>
            <a:pPr marL="514350" indent="-514350">
              <a:buFont typeface="+mj-lt"/>
              <a:buAutoNum type="arabicPeriod"/>
            </a:pPr>
            <a:r>
              <a:rPr lang="fr-FR" dirty="0"/>
              <a:t>Vertical axis, </a:t>
            </a:r>
            <a:r>
              <a:rPr lang="fr-FR" dirty="0" err="1"/>
              <a:t>Many</a:t>
            </a:r>
            <a:r>
              <a:rPr lang="fr-FR" dirty="0"/>
              <a:t> </a:t>
            </a:r>
            <a:r>
              <a:rPr lang="fr-FR" dirty="0" err="1"/>
              <a:t>symmetric</a:t>
            </a:r>
            <a:r>
              <a:rPr lang="fr-FR" dirty="0"/>
              <a:t> observation more spread </a:t>
            </a:r>
            <a:r>
              <a:rPr lang="fr-FR" dirty="0" err="1"/>
              <a:t>around</a:t>
            </a:r>
            <a:r>
              <a:rPr lang="fr-FR" dirty="0"/>
              <a:t> the </a:t>
            </a:r>
            <a:r>
              <a:rPr lang="fr-FR" dirty="0" err="1"/>
              <a:t>mean</a:t>
            </a:r>
            <a:r>
              <a:rPr lang="fr-FR" dirty="0"/>
              <a:t> </a:t>
            </a:r>
            <a:r>
              <a:rPr lang="fr-FR" dirty="0" err="1"/>
              <a:t>zero</a:t>
            </a:r>
            <a:r>
              <a:rPr lang="fr-FR" dirty="0"/>
              <a:t>.</a:t>
            </a:r>
          </a:p>
        </p:txBody>
      </p:sp>
    </p:spTree>
    <p:extLst>
      <p:ext uri="{BB962C8B-B14F-4D97-AF65-F5344CB8AC3E}">
        <p14:creationId xmlns:p14="http://schemas.microsoft.com/office/powerpoint/2010/main" val="2761702739"/>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Within</a:t>
            </a:r>
            <a:r>
              <a:rPr lang="fr-FR" sz="3600" dirty="0"/>
              <a:t> </a:t>
            </a:r>
            <a:r>
              <a:rPr lang="fr-FR" sz="3600" dirty="0" err="1"/>
              <a:t>correlation</a:t>
            </a:r>
            <a:r>
              <a:rPr lang="fr-FR" sz="3600" dirty="0"/>
              <a:t> </a:t>
            </a:r>
            <a:r>
              <a:rPr lang="fr-FR" sz="3600" dirty="0" err="1"/>
              <a:t>growth</a:t>
            </a:r>
            <a:r>
              <a:rPr lang="fr-FR" sz="3600" dirty="0"/>
              <a:t> of GDP/ </a:t>
            </a:r>
            <a:r>
              <a:rPr lang="fr-FR" sz="3600" dirty="0" err="1"/>
              <a:t>head</a:t>
            </a:r>
            <a:r>
              <a:rPr lang="fr-FR" sz="3600" dirty="0"/>
              <a:t> and </a:t>
            </a:r>
            <a:r>
              <a:rPr lang="fr-FR" sz="3600" dirty="0" err="1"/>
              <a:t>Aid</a:t>
            </a:r>
            <a:r>
              <a:rPr lang="fr-FR" sz="3600" dirty="0"/>
              <a:t>/GDP: </a:t>
            </a:r>
            <a:r>
              <a:rPr lang="fr-FR" sz="3600" b="1" dirty="0" err="1"/>
              <a:t>Correlation</a:t>
            </a:r>
            <a:endParaRPr lang="fr-FR" sz="3600" b="1" dirty="0"/>
          </a:p>
        </p:txBody>
      </p:sp>
      <p:sp>
        <p:nvSpPr>
          <p:cNvPr id="3" name="Espace réservé du contenu 2"/>
          <p:cNvSpPr>
            <a:spLocks noGrp="1"/>
          </p:cNvSpPr>
          <p:nvPr>
            <p:ph idx="1"/>
          </p:nvPr>
        </p:nvSpPr>
        <p:spPr/>
        <p:txBody>
          <a:bodyPr/>
          <a:lstStyle/>
          <a:p>
            <a:pPr marL="514350" indent="-514350">
              <a:buFont typeface="+mj-lt"/>
              <a:buAutoNum type="arabicPeriod"/>
            </a:pPr>
            <a:r>
              <a:rPr lang="fr-FR" sz="2800" dirty="0" err="1"/>
              <a:t>Zero</a:t>
            </a:r>
            <a:r>
              <a:rPr lang="fr-FR" sz="2800" dirty="0"/>
              <a:t> </a:t>
            </a:r>
            <a:r>
              <a:rPr lang="fr-FR" sz="2800" dirty="0" err="1"/>
              <a:t>correlation</a:t>
            </a:r>
            <a:endParaRPr lang="fr-FR" sz="2800" dirty="0"/>
          </a:p>
          <a:p>
            <a:pPr marL="514350" indent="-514350">
              <a:buFont typeface="+mj-lt"/>
              <a:buAutoNum type="arabicPeriod"/>
            </a:pPr>
            <a:r>
              <a:rPr lang="fr-FR" sz="2800" dirty="0"/>
              <a:t>No </a:t>
            </a:r>
            <a:r>
              <a:rPr lang="fr-FR" sz="2800" dirty="0" err="1"/>
              <a:t>quadratic</a:t>
            </a:r>
            <a:r>
              <a:rPr lang="fr-FR" sz="2800" dirty="0"/>
              <a:t> fit (</a:t>
            </a:r>
            <a:r>
              <a:rPr lang="fr-FR" sz="2800" dirty="0" err="1"/>
              <a:t>only</a:t>
            </a:r>
            <a:r>
              <a:rPr lang="fr-FR" sz="2800" dirty="0"/>
              <a:t> for Guyana GUY7 versus </a:t>
            </a:r>
            <a:r>
              <a:rPr lang="fr-FR" sz="2800" dirty="0" err="1"/>
              <a:t>Gambia</a:t>
            </a:r>
            <a:r>
              <a:rPr lang="fr-FR" sz="2800" dirty="0"/>
              <a:t> GMB3 and GUY3)</a:t>
            </a:r>
          </a:p>
          <a:p>
            <a:pPr marL="514350" indent="-514350">
              <a:buFont typeface="+mj-lt"/>
              <a:buAutoNum type="arabicPeriod"/>
            </a:pPr>
            <a:r>
              <a:rPr lang="fr-FR" sz="2800" dirty="0"/>
              <a:t>Non </a:t>
            </a:r>
            <a:r>
              <a:rPr lang="fr-FR" sz="2800" dirty="0" err="1"/>
              <a:t>linear</a:t>
            </a:r>
            <a:r>
              <a:rPr lang="fr-FR" sz="2800" dirty="0"/>
              <a:t> </a:t>
            </a:r>
            <a:r>
              <a:rPr lang="fr-FR" sz="2800" dirty="0" err="1"/>
              <a:t>lowess</a:t>
            </a:r>
            <a:r>
              <a:rPr lang="fr-FR" sz="2800" dirty="0"/>
              <a:t> fit due to « </a:t>
            </a:r>
            <a:r>
              <a:rPr lang="fr-FR" sz="2800" dirty="0" err="1"/>
              <a:t>symmetric</a:t>
            </a:r>
            <a:r>
              <a:rPr lang="fr-FR" sz="2800" dirty="0"/>
              <a:t> » </a:t>
            </a:r>
            <a:r>
              <a:rPr lang="fr-FR" sz="2800" dirty="0" err="1"/>
              <a:t>outliers</a:t>
            </a:r>
            <a:r>
              <a:rPr lang="fr-FR" sz="2800" dirty="0"/>
              <a:t> for positive </a:t>
            </a:r>
            <a:r>
              <a:rPr lang="fr-FR" sz="2800" dirty="0" err="1"/>
              <a:t>growth</a:t>
            </a:r>
            <a:r>
              <a:rPr lang="fr-FR" sz="2800" dirty="0"/>
              <a:t>: (</a:t>
            </a:r>
            <a:r>
              <a:rPr lang="fr-FR" sz="2800" dirty="0" err="1"/>
              <a:t>only</a:t>
            </a:r>
            <a:r>
              <a:rPr lang="fr-FR" sz="2800" dirty="0"/>
              <a:t> for Guyana GUY7 versus </a:t>
            </a:r>
            <a:r>
              <a:rPr lang="fr-FR" sz="2800" dirty="0" err="1"/>
              <a:t>Gambia</a:t>
            </a:r>
            <a:r>
              <a:rPr lang="fr-FR" sz="2800" dirty="0"/>
              <a:t> GMB3 and GUY3)</a:t>
            </a:r>
          </a:p>
          <a:p>
            <a:pPr marL="514350" indent="-514350">
              <a:buFont typeface="+mj-lt"/>
              <a:buAutoNum type="arabicPeriod"/>
            </a:pPr>
            <a:r>
              <a:rPr lang="fr-FR" sz="2800" dirty="0" err="1"/>
              <a:t>These</a:t>
            </a:r>
            <a:r>
              <a:rPr lang="fr-FR" sz="2800" dirty="0"/>
              <a:t> </a:t>
            </a:r>
            <a:r>
              <a:rPr lang="fr-FR" sz="2800" dirty="0" err="1"/>
              <a:t>outliers</a:t>
            </a:r>
            <a:r>
              <a:rPr lang="fr-FR" sz="2800" dirty="0"/>
              <a:t> (</a:t>
            </a:r>
            <a:r>
              <a:rPr lang="fr-FR" sz="2800" dirty="0" err="1"/>
              <a:t>big</a:t>
            </a:r>
            <a:r>
              <a:rPr lang="fr-FR" sz="2800" dirty="0"/>
              <a:t> change over time of ODA/GDP for a </a:t>
            </a:r>
            <a:r>
              <a:rPr lang="fr-FR" sz="2800" dirty="0" err="1"/>
              <a:t>given</a:t>
            </a:r>
            <a:r>
              <a:rPr lang="fr-FR" sz="2800" dirty="0"/>
              <a:t> country) are NOT the </a:t>
            </a:r>
            <a:r>
              <a:rPr lang="fr-FR" sz="2800" dirty="0" err="1"/>
              <a:t>same</a:t>
            </a:r>
            <a:r>
              <a:rPr lang="fr-FR" sz="2800" dirty="0"/>
              <a:t> </a:t>
            </a:r>
            <a:r>
              <a:rPr lang="fr-FR" sz="2800" dirty="0" err="1"/>
              <a:t>individuals</a:t>
            </a:r>
            <a:r>
              <a:rPr lang="fr-FR" sz="2800" dirty="0"/>
              <a:t> </a:t>
            </a:r>
            <a:r>
              <a:rPr lang="fr-FR" sz="2800" dirty="0" err="1"/>
              <a:t>than</a:t>
            </a:r>
            <a:r>
              <a:rPr lang="fr-FR" sz="2800" dirty="0"/>
              <a:t> in </a:t>
            </a:r>
            <a:r>
              <a:rPr lang="fr-FR" sz="2800" dirty="0" err="1"/>
              <a:t>Between</a:t>
            </a:r>
            <a:r>
              <a:rPr lang="fr-FR" sz="2800" dirty="0"/>
              <a:t>.</a:t>
            </a:r>
          </a:p>
        </p:txBody>
      </p:sp>
    </p:spTree>
    <p:extLst>
      <p:ext uri="{BB962C8B-B14F-4D97-AF65-F5344CB8AC3E}">
        <p14:creationId xmlns:p14="http://schemas.microsoft.com/office/powerpoint/2010/main" val="396824748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74638"/>
            <a:ext cx="8229600" cy="1143000"/>
          </a:xfrm>
        </p:spPr>
        <p:txBody>
          <a:bodyPr>
            <a:normAutofit fontScale="90000"/>
          </a:bodyPr>
          <a:lstStyle/>
          <a:p>
            <a:r>
              <a:rPr lang="fr-FR" dirty="0" err="1"/>
              <a:t>Within</a:t>
            </a:r>
            <a:r>
              <a:rPr lang="fr-FR" dirty="0"/>
              <a:t> </a:t>
            </a:r>
            <a:r>
              <a:rPr lang="fr-FR" dirty="0" err="1"/>
              <a:t>tranformed</a:t>
            </a:r>
            <a:r>
              <a:rPr lang="fr-FR" dirty="0"/>
              <a:t> variable: if N </a:t>
            </a:r>
            <a:r>
              <a:rPr lang="fr-FR" dirty="0" err="1"/>
              <a:t>small</a:t>
            </a:r>
            <a:r>
              <a:rPr lang="fr-FR" dirty="0"/>
              <a:t>, do </a:t>
            </a:r>
            <a:r>
              <a:rPr lang="fr-FR" dirty="0" err="1"/>
              <a:t>boxplots</a:t>
            </a:r>
            <a:r>
              <a:rPr lang="fr-FR" dirty="0"/>
              <a:t> by </a:t>
            </a:r>
            <a:r>
              <a:rPr lang="fr-FR" dirty="0" err="1"/>
              <a:t>individuals</a:t>
            </a:r>
            <a:endParaRPr lang="fr-FR" dirty="0"/>
          </a:p>
        </p:txBody>
      </p:sp>
      <p:sp>
        <p:nvSpPr>
          <p:cNvPr id="3" name="Espace réservé du contenu 2"/>
          <p:cNvSpPr>
            <a:spLocks noGrp="1"/>
          </p:cNvSpPr>
          <p:nvPr>
            <p:ph idx="1"/>
          </p:nvPr>
        </p:nvSpPr>
        <p:spPr/>
        <p:txBody>
          <a:bodyPr/>
          <a:lstStyle/>
          <a:p>
            <a:pPr marL="0" indent="0">
              <a:buNone/>
            </a:pPr>
            <a:r>
              <a:rPr lang="fr-FR" dirty="0" err="1"/>
              <a:t>Compute</a:t>
            </a:r>
            <a:r>
              <a:rPr lang="fr-FR" dirty="0"/>
              <a:t> </a:t>
            </a:r>
            <a:r>
              <a:rPr lang="fr-FR" dirty="0" err="1"/>
              <a:t>boxplot</a:t>
            </a:r>
            <a:r>
              <a:rPr lang="fr-FR" dirty="0"/>
              <a:t> by </a:t>
            </a:r>
            <a:r>
              <a:rPr lang="fr-FR" dirty="0" err="1"/>
              <a:t>individuals</a:t>
            </a:r>
            <a:r>
              <a:rPr lang="fr-FR" dirty="0"/>
              <a:t> for </a:t>
            </a:r>
            <a:r>
              <a:rPr lang="fr-FR" dirty="0" err="1"/>
              <a:t>dependent</a:t>
            </a:r>
            <a:r>
              <a:rPr lang="fr-FR" dirty="0"/>
              <a:t> and key </a:t>
            </a:r>
            <a:r>
              <a:rPr lang="fr-FR" dirty="0" err="1"/>
              <a:t>explanatory</a:t>
            </a:r>
            <a:r>
              <a:rPr lang="fr-FR" dirty="0"/>
              <a:t> variable.</a:t>
            </a:r>
          </a:p>
          <a:p>
            <a:pPr marL="0" indent="0">
              <a:buNone/>
            </a:pPr>
            <a:endParaRPr lang="fr-FR" dirty="0"/>
          </a:p>
          <a:p>
            <a:pPr marL="0" indent="0">
              <a:buNone/>
            </a:pPr>
            <a:r>
              <a:rPr lang="fr-FR" dirty="0" err="1"/>
              <a:t>Order</a:t>
            </a:r>
            <a:r>
              <a:rPr lang="fr-FR" dirty="0"/>
              <a:t> </a:t>
            </a:r>
            <a:r>
              <a:rPr lang="fr-FR" dirty="0" err="1"/>
              <a:t>then</a:t>
            </a:r>
            <a:r>
              <a:rPr lang="fr-FR" dirty="0"/>
              <a:t> </a:t>
            </a:r>
            <a:r>
              <a:rPr lang="fr-FR" dirty="0" err="1"/>
              <a:t>from</a:t>
            </a:r>
            <a:r>
              <a:rPr lang="fr-FR" dirty="0"/>
              <a:t> </a:t>
            </a:r>
            <a:r>
              <a:rPr lang="fr-FR" dirty="0" err="1"/>
              <a:t>largest</a:t>
            </a:r>
            <a:r>
              <a:rPr lang="fr-FR" dirty="0"/>
              <a:t> </a:t>
            </a:r>
            <a:r>
              <a:rPr lang="fr-FR" dirty="0" err="1"/>
              <a:t>mean</a:t>
            </a:r>
            <a:r>
              <a:rPr lang="fr-FR" dirty="0"/>
              <a:t> to </a:t>
            </a:r>
            <a:r>
              <a:rPr lang="fr-FR" dirty="0" err="1"/>
              <a:t>lowest</a:t>
            </a:r>
            <a:r>
              <a:rPr lang="fr-FR" dirty="0"/>
              <a:t> </a:t>
            </a:r>
            <a:r>
              <a:rPr lang="fr-FR" dirty="0" err="1"/>
              <a:t>mean</a:t>
            </a:r>
            <a:r>
              <a:rPr lang="fr-FR" dirty="0"/>
              <a:t>.</a:t>
            </a:r>
          </a:p>
          <a:p>
            <a:pPr marL="0" indent="0">
              <a:buNone/>
            </a:pPr>
            <a:endParaRPr lang="fr-FR" dirty="0"/>
          </a:p>
          <a:p>
            <a:pPr marL="0" indent="0">
              <a:buNone/>
            </a:pPr>
            <a:r>
              <a:rPr lang="fr-FR" dirty="0"/>
              <a:t>Compare to </a:t>
            </a:r>
            <a:r>
              <a:rPr lang="fr-FR" dirty="0" err="1"/>
              <a:t>boxplots</a:t>
            </a:r>
            <a:r>
              <a:rPr lang="fr-FR" dirty="0"/>
              <a:t> of </a:t>
            </a:r>
            <a:r>
              <a:rPr lang="fr-FR" dirty="0" err="1"/>
              <a:t>residuals</a:t>
            </a:r>
            <a:r>
              <a:rPr lang="fr-FR" dirty="0"/>
              <a:t> by country.</a:t>
            </a:r>
          </a:p>
          <a:p>
            <a:pPr marL="0" indent="0">
              <a:buNone/>
            </a:pPr>
            <a:endParaRPr lang="fr-FR" dirty="0"/>
          </a:p>
        </p:txBody>
      </p:sp>
    </p:spTree>
    <p:extLst>
      <p:ext uri="{BB962C8B-B14F-4D97-AF65-F5344CB8AC3E}">
        <p14:creationId xmlns:p14="http://schemas.microsoft.com/office/powerpoint/2010/main" val="2197157003"/>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1"/>
          <p:cNvSpPr>
            <a:spLocks noGrp="1"/>
          </p:cNvSpPr>
          <p:nvPr>
            <p:ph type="title"/>
          </p:nvPr>
        </p:nvSpPr>
        <p:spPr>
          <a:xfrm>
            <a:off x="457200" y="274638"/>
            <a:ext cx="8229600" cy="2290762"/>
          </a:xfrm>
        </p:spPr>
        <p:txBody>
          <a:bodyPr>
            <a:normAutofit fontScale="90000"/>
          </a:bodyPr>
          <a:lstStyle/>
          <a:p>
            <a:r>
              <a:rPr lang="fr-FR" altLang="fr-FR"/>
              <a:t>Aid</a:t>
            </a:r>
            <a:r>
              <a:rPr lang="fr-FR" altLang="fr-FR" baseline="30000"/>
              <a:t>2</a:t>
            </a:r>
            <a:r>
              <a:rPr lang="fr-FR" altLang="fr-FR"/>
              <a:t>*Policy ordered by its mean values over time per country.</a:t>
            </a:r>
            <a:br>
              <a:rPr lang="fr-FR" altLang="fr-FR"/>
            </a:br>
            <a:r>
              <a:rPr lang="fr-FR" altLang="fr-FR"/>
              <a:t>A few very large country-outliers</a:t>
            </a:r>
            <a:br>
              <a:rPr lang="fr-FR" altLang="fr-FR"/>
            </a:br>
            <a:endParaRPr lang="fr-FR" altLang="fr-FR"/>
          </a:p>
        </p:txBody>
      </p:sp>
      <p:pic>
        <p:nvPicPr>
          <p:cNvPr id="3072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2275" y="3094038"/>
            <a:ext cx="5133975" cy="376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702093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0" y="3636963"/>
            <a:ext cx="4392613" cy="322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7" name="Titre 4"/>
          <p:cNvSpPr>
            <a:spLocks noGrp="1"/>
          </p:cNvSpPr>
          <p:nvPr>
            <p:ph type="title"/>
          </p:nvPr>
        </p:nvSpPr>
        <p:spPr>
          <a:xfrm>
            <a:off x="-107950" y="274638"/>
            <a:ext cx="9251950" cy="2867025"/>
          </a:xfrm>
        </p:spPr>
        <p:txBody>
          <a:bodyPr/>
          <a:lstStyle/>
          <a:p>
            <a:r>
              <a:rPr lang="fr-FR" altLang="fr-FR"/>
              <a:t>Boxplots (per country) of aid*policy and Aid</a:t>
            </a:r>
            <a:r>
              <a:rPr lang="fr-FR" altLang="fr-FR" baseline="30000"/>
              <a:t>2</a:t>
            </a:r>
            <a:r>
              <a:rPr lang="fr-FR" altLang="fr-FR"/>
              <a:t>*Policy ordered by aid*policy(i.): only a few countries depart from « small » values</a:t>
            </a:r>
          </a:p>
        </p:txBody>
      </p:sp>
      <p:pic>
        <p:nvPicPr>
          <p:cNvPr id="3174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3438" y="3695700"/>
            <a:ext cx="4235450" cy="310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078719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Between</a:t>
            </a:r>
            <a:r>
              <a:rPr lang="fr-FR" dirty="0"/>
              <a:t>: </a:t>
            </a:r>
            <a:r>
              <a:rPr lang="fr-FR" dirty="0" err="1"/>
              <a:t>Skewness</a:t>
            </a:r>
            <a:r>
              <a:rPr lang="fr-FR" dirty="0"/>
              <a:t> and </a:t>
            </a:r>
            <a:br>
              <a:rPr lang="fr-FR" dirty="0"/>
            </a:br>
            <a:r>
              <a:rPr lang="fr-FR" dirty="0"/>
              <a:t>N&lt;&lt; NT-N</a:t>
            </a:r>
          </a:p>
        </p:txBody>
      </p:sp>
      <p:sp>
        <p:nvSpPr>
          <p:cNvPr id="3" name="Espace réservé du contenu 2"/>
          <p:cNvSpPr>
            <a:spLocks noGrp="1"/>
          </p:cNvSpPr>
          <p:nvPr>
            <p:ph idx="1"/>
          </p:nvPr>
        </p:nvSpPr>
        <p:spPr/>
        <p:txBody>
          <a:bodyPr/>
          <a:lstStyle/>
          <a:p>
            <a:pPr marL="0" indent="0">
              <a:buNone/>
            </a:pPr>
            <a:r>
              <a:rPr lang="fr-FR" sz="2800" dirty="0"/>
              <a:t>The distribution (</a:t>
            </a:r>
            <a:r>
              <a:rPr lang="fr-FR" sz="2800" dirty="0" err="1"/>
              <a:t>average</a:t>
            </a:r>
            <a:r>
              <a:rPr lang="fr-FR" sz="2800" dirty="0"/>
              <a:t> of cross section) </a:t>
            </a:r>
            <a:r>
              <a:rPr lang="fr-FR" sz="2800" dirty="0" err="1"/>
              <a:t>can</a:t>
            </a:r>
            <a:r>
              <a:rPr lang="fr-FR" sz="2800" dirty="0"/>
              <a:t> </a:t>
            </a:r>
            <a:r>
              <a:rPr lang="fr-FR" sz="2800" dirty="0" err="1"/>
              <a:t>be</a:t>
            </a:r>
            <a:r>
              <a:rPr lang="fr-FR" sz="2800" dirty="0"/>
              <a:t> </a:t>
            </a:r>
            <a:r>
              <a:rPr lang="fr-FR" sz="2800" dirty="0" err="1"/>
              <a:t>very</a:t>
            </a:r>
            <a:r>
              <a:rPr lang="fr-FR" sz="2800" dirty="0"/>
              <a:t> </a:t>
            </a:r>
            <a:r>
              <a:rPr lang="fr-FR" sz="2800" dirty="0" err="1"/>
              <a:t>different</a:t>
            </a:r>
            <a:r>
              <a:rPr lang="fr-FR" sz="2800" dirty="0"/>
              <a:t> </a:t>
            </a:r>
            <a:r>
              <a:rPr lang="fr-FR" sz="2800" dirty="0" err="1"/>
              <a:t>from</a:t>
            </a:r>
            <a:r>
              <a:rPr lang="fr-FR" sz="2800" dirty="0"/>
              <a:t> the </a:t>
            </a:r>
            <a:r>
              <a:rPr lang="fr-FR" sz="2800" dirty="0" err="1"/>
              <a:t>within-transformed</a:t>
            </a:r>
            <a:r>
              <a:rPr lang="fr-FR" sz="2800" dirty="0"/>
              <a:t> (</a:t>
            </a:r>
            <a:r>
              <a:rPr lang="fr-FR" sz="2800" dirty="0" err="1"/>
              <a:t>pooled</a:t>
            </a:r>
            <a:r>
              <a:rPr lang="fr-FR" sz="2800" dirty="0"/>
              <a:t> time-</a:t>
            </a:r>
            <a:r>
              <a:rPr lang="fr-FR" sz="2800" dirty="0" err="1"/>
              <a:t>series</a:t>
            </a:r>
            <a:r>
              <a:rPr lang="fr-FR" sz="2800" dirty="0"/>
              <a:t> </a:t>
            </a:r>
            <a:r>
              <a:rPr lang="fr-FR" sz="2800" dirty="0" err="1"/>
              <a:t>demeaned</a:t>
            </a:r>
            <a:r>
              <a:rPr lang="fr-FR" sz="2800" dirty="0"/>
              <a:t> by </a:t>
            </a:r>
            <a:r>
              <a:rPr lang="fr-FR" sz="2800" dirty="0" err="1"/>
              <a:t>individuals</a:t>
            </a:r>
            <a:r>
              <a:rPr lang="fr-FR" sz="2800" dirty="0"/>
              <a:t>).</a:t>
            </a:r>
          </a:p>
          <a:p>
            <a:pPr marL="0" indent="0">
              <a:buNone/>
            </a:pPr>
            <a:r>
              <a:rPr lang="fr-FR" sz="2800" dirty="0"/>
              <a:t>It </a:t>
            </a:r>
            <a:r>
              <a:rPr lang="fr-FR" sz="2800" dirty="0" err="1"/>
              <a:t>is</a:t>
            </a:r>
            <a:r>
              <a:rPr lang="fr-FR" sz="2800" dirty="0"/>
              <a:t> </a:t>
            </a:r>
            <a:r>
              <a:rPr lang="fr-FR" sz="2800" dirty="0" err="1"/>
              <a:t>often</a:t>
            </a:r>
            <a:r>
              <a:rPr lang="fr-FR" sz="2800" dirty="0"/>
              <a:t> </a:t>
            </a:r>
            <a:r>
              <a:rPr lang="fr-FR" sz="2800" dirty="0" err="1"/>
              <a:t>related</a:t>
            </a:r>
            <a:r>
              <a:rPr lang="fr-FR" sz="2800" dirty="0"/>
              <a:t> to </a:t>
            </a:r>
            <a:r>
              <a:rPr lang="fr-FR" sz="2800" dirty="0" err="1"/>
              <a:t>our</a:t>
            </a:r>
            <a:r>
              <a:rPr lang="fr-FR" sz="2800" dirty="0"/>
              <a:t> « </a:t>
            </a:r>
            <a:r>
              <a:rPr lang="fr-FR" sz="2800" dirty="0" err="1"/>
              <a:t>prior</a:t>
            </a:r>
            <a:r>
              <a:rPr lang="fr-FR" sz="2800" dirty="0"/>
              <a:t> intuition » </a:t>
            </a:r>
            <a:r>
              <a:rPr lang="fr-FR" sz="2800" dirty="0" err="1"/>
              <a:t>grounded</a:t>
            </a:r>
            <a:r>
              <a:rPr lang="fr-FR" sz="2800" dirty="0"/>
              <a:t> on observations of cross-section </a:t>
            </a:r>
            <a:r>
              <a:rPr lang="fr-FR" sz="2800" dirty="0" err="1"/>
              <a:t>differences</a:t>
            </a:r>
            <a:r>
              <a:rPr lang="fr-FR" sz="2800" dirty="0"/>
              <a:t>, </a:t>
            </a:r>
            <a:r>
              <a:rPr lang="fr-FR" sz="2800" dirty="0" err="1"/>
              <a:t>much</a:t>
            </a:r>
            <a:r>
              <a:rPr lang="fr-FR" sz="2800" dirty="0"/>
              <a:t> more </a:t>
            </a:r>
            <a:r>
              <a:rPr lang="fr-FR" sz="2800" dirty="0" err="1"/>
              <a:t>than</a:t>
            </a:r>
            <a:r>
              <a:rPr lang="fr-FR" sz="2800" dirty="0"/>
              <a:t> </a:t>
            </a:r>
            <a:r>
              <a:rPr lang="fr-FR" sz="2800" dirty="0" err="1"/>
              <a:t>fixed-effect</a:t>
            </a:r>
            <a:r>
              <a:rPr lang="fr-FR" sz="2800" dirty="0"/>
              <a:t> </a:t>
            </a:r>
            <a:r>
              <a:rPr lang="fr-FR" sz="2800" dirty="0" err="1"/>
              <a:t>within</a:t>
            </a:r>
            <a:r>
              <a:rPr lang="fr-FR" sz="2800" dirty="0"/>
              <a:t>.</a:t>
            </a:r>
          </a:p>
          <a:p>
            <a:pPr marL="0" indent="0">
              <a:buNone/>
            </a:pPr>
            <a:r>
              <a:rPr lang="fr-FR" sz="2800" dirty="0" err="1"/>
              <a:t>Regression</a:t>
            </a:r>
            <a:r>
              <a:rPr lang="fr-FR" sz="2800" dirty="0"/>
              <a:t> </a:t>
            </a:r>
            <a:r>
              <a:rPr lang="fr-FR" sz="2800" dirty="0" err="1"/>
              <a:t>is</a:t>
            </a:r>
            <a:r>
              <a:rPr lang="fr-FR" sz="2800" dirty="0"/>
              <a:t> </a:t>
            </a:r>
            <a:r>
              <a:rPr lang="fr-FR" sz="2800" dirty="0" err="1"/>
              <a:t>likely</a:t>
            </a:r>
            <a:r>
              <a:rPr lang="fr-FR" sz="2800" dirty="0"/>
              <a:t> to have </a:t>
            </a:r>
            <a:r>
              <a:rPr lang="fr-FR" sz="2800" dirty="0" err="1"/>
              <a:t>biased</a:t>
            </a:r>
            <a:r>
              <a:rPr lang="fr-FR" sz="2800" dirty="0"/>
              <a:t> coefficients.</a:t>
            </a:r>
          </a:p>
        </p:txBody>
      </p:sp>
    </p:spTree>
    <p:extLst>
      <p:ext uri="{BB962C8B-B14F-4D97-AF65-F5344CB8AC3E}">
        <p14:creationId xmlns:p14="http://schemas.microsoft.com/office/powerpoint/2010/main" val="2095985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 y="34925"/>
            <a:ext cx="9169400" cy="376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3716338"/>
            <a:ext cx="9169400" cy="314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263701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Between</a:t>
            </a:r>
            <a:r>
              <a:rPr lang="fr-FR" sz="3600" dirty="0"/>
              <a:t>: </a:t>
            </a:r>
            <a:r>
              <a:rPr lang="fr-FR" sz="3600" dirty="0" err="1"/>
              <a:t>difference</a:t>
            </a:r>
            <a:r>
              <a:rPr lang="fr-FR" sz="3600" dirty="0"/>
              <a:t> of </a:t>
            </a:r>
            <a:r>
              <a:rPr lang="fr-FR" sz="3600" dirty="0" err="1"/>
              <a:t>skewness</a:t>
            </a:r>
            <a:br>
              <a:rPr lang="fr-FR" sz="3600" dirty="0"/>
            </a:br>
            <a:r>
              <a:rPr lang="fr-FR" sz="3600" dirty="0"/>
              <a:t>(</a:t>
            </a:r>
            <a:r>
              <a:rPr lang="fr-FR" sz="3600" dirty="0" err="1"/>
              <a:t>within</a:t>
            </a:r>
            <a:r>
              <a:rPr lang="fr-FR" sz="3600" dirty="0"/>
              <a:t>: </a:t>
            </a:r>
            <a:r>
              <a:rPr lang="fr-FR" sz="3600" dirty="0" err="1"/>
              <a:t>difference</a:t>
            </a:r>
            <a:r>
              <a:rPr lang="fr-FR" sz="3600" dirty="0"/>
              <a:t> of </a:t>
            </a:r>
            <a:r>
              <a:rPr lang="fr-FR" sz="3600" dirty="0" err="1"/>
              <a:t>kurtosis</a:t>
            </a:r>
            <a:r>
              <a:rPr lang="fr-FR" sz="3600" dirty="0"/>
              <a:t>)</a:t>
            </a:r>
          </a:p>
        </p:txBody>
      </p:sp>
      <p:sp>
        <p:nvSpPr>
          <p:cNvPr id="3" name="Espace réservé du contenu 2"/>
          <p:cNvSpPr>
            <a:spLocks noGrp="1"/>
          </p:cNvSpPr>
          <p:nvPr>
            <p:ph idx="1"/>
          </p:nvPr>
        </p:nvSpPr>
        <p:spPr/>
        <p:txBody>
          <a:bodyPr/>
          <a:lstStyle/>
          <a:p>
            <a:pPr marL="514350" indent="-514350">
              <a:buAutoNum type="arabicPeriod"/>
            </a:pPr>
            <a:r>
              <a:rPr lang="fr-FR" sz="2800" dirty="0" err="1"/>
              <a:t>Growth</a:t>
            </a:r>
            <a:r>
              <a:rPr lang="fr-FR" sz="2800" dirty="0"/>
              <a:t> rate </a:t>
            </a:r>
            <a:r>
              <a:rPr lang="fr-FR" sz="2800" dirty="0" err="1"/>
              <a:t>remains</a:t>
            </a:r>
            <a:r>
              <a:rPr lang="fr-FR" sz="2800" dirty="0"/>
              <a:t> </a:t>
            </a:r>
            <a:r>
              <a:rPr lang="fr-FR" sz="2800" dirty="0" err="1"/>
              <a:t>symmetric</a:t>
            </a:r>
            <a:r>
              <a:rPr lang="fr-FR" sz="2800" dirty="0"/>
              <a:t> in cross section, </a:t>
            </a:r>
            <a:r>
              <a:rPr lang="fr-FR" sz="2800" dirty="0" err="1"/>
              <a:t>with</a:t>
            </a:r>
            <a:r>
              <a:rPr lang="fr-FR" sz="2800" dirty="0"/>
              <a:t> </a:t>
            </a:r>
            <a:r>
              <a:rPr lang="fr-FR" sz="2800" dirty="0" err="1"/>
              <a:t>some</a:t>
            </a:r>
            <a:r>
              <a:rPr lang="fr-FR" sz="2800" dirty="0"/>
              <a:t> </a:t>
            </a:r>
            <a:r>
              <a:rPr lang="fr-FR" sz="2800" dirty="0" err="1"/>
              <a:t>holes</a:t>
            </a:r>
            <a:r>
              <a:rPr lang="fr-FR" sz="2800" dirty="0"/>
              <a:t> in the distribution, not far </a:t>
            </a:r>
            <a:r>
              <a:rPr lang="fr-FR" sz="2800" dirty="0" err="1"/>
              <a:t>from</a:t>
            </a:r>
            <a:r>
              <a:rPr lang="fr-FR" sz="2800" dirty="0"/>
              <a:t> a normal (or a </a:t>
            </a:r>
            <a:r>
              <a:rPr lang="fr-FR" sz="2800" dirty="0" err="1"/>
              <a:t>symmetric</a:t>
            </a:r>
            <a:r>
              <a:rPr lang="fr-FR" sz="2800" dirty="0"/>
              <a:t> </a:t>
            </a:r>
            <a:r>
              <a:rPr lang="fr-FR" sz="2800" dirty="0" err="1"/>
              <a:t>triangular</a:t>
            </a:r>
            <a:r>
              <a:rPr lang="fr-FR" sz="2800" dirty="0"/>
              <a:t> distribution)</a:t>
            </a:r>
          </a:p>
          <a:p>
            <a:pPr marL="514350" indent="-514350">
              <a:buFontTx/>
              <a:buAutoNum type="arabicPeriod"/>
            </a:pPr>
            <a:r>
              <a:rPr lang="fr-FR" sz="2800" dirty="0"/>
              <a:t>ODA/GDP has a </a:t>
            </a:r>
            <a:r>
              <a:rPr lang="fr-FR" sz="2800" dirty="0" err="1"/>
              <a:t>huge</a:t>
            </a:r>
            <a:r>
              <a:rPr lang="fr-FR" sz="2800" dirty="0"/>
              <a:t> </a:t>
            </a:r>
            <a:r>
              <a:rPr lang="fr-FR" sz="2800" dirty="0" err="1"/>
              <a:t>spike</a:t>
            </a:r>
            <a:r>
              <a:rPr lang="fr-FR" sz="2800" dirty="0"/>
              <a:t> in </a:t>
            </a:r>
            <a:r>
              <a:rPr lang="fr-FR" sz="2800" dirty="0" err="1"/>
              <a:t>near-zero</a:t>
            </a:r>
            <a:r>
              <a:rPr lang="fr-FR" sz="2800" dirty="0"/>
              <a:t> (</a:t>
            </a:r>
            <a:r>
              <a:rPr lang="fr-FR" sz="2800" dirty="0" err="1"/>
              <a:t>negligible</a:t>
            </a:r>
            <a:r>
              <a:rPr lang="fr-FR" sz="2800" dirty="0"/>
              <a:t> ODA/GDP&gt;0) and a few high positive </a:t>
            </a:r>
            <a:r>
              <a:rPr lang="fr-FR" sz="2800" dirty="0" err="1"/>
              <a:t>leverage</a:t>
            </a:r>
            <a:r>
              <a:rPr lang="fr-FR" sz="2800" dirty="0"/>
              <a:t> observation = </a:t>
            </a:r>
            <a:r>
              <a:rPr lang="fr-FR" sz="2800" dirty="0" err="1"/>
              <a:t>extremely</a:t>
            </a:r>
            <a:r>
              <a:rPr lang="fr-FR" sz="2800" dirty="0"/>
              <a:t> </a:t>
            </a:r>
            <a:r>
              <a:rPr lang="fr-FR" sz="2800" dirty="0" err="1"/>
              <a:t>skewed</a:t>
            </a:r>
            <a:r>
              <a:rPr lang="fr-FR" sz="2800" dirty="0"/>
              <a:t>= not normal. 8 countries out of 56 </a:t>
            </a:r>
            <a:r>
              <a:rPr lang="fr-FR" sz="2800" dirty="0" err="1"/>
              <a:t>with</a:t>
            </a:r>
            <a:r>
              <a:rPr lang="fr-FR" sz="2800" dirty="0"/>
              <a:t> </a:t>
            </a:r>
            <a:r>
              <a:rPr lang="fr-FR" sz="2800" dirty="0" err="1"/>
              <a:t>average</a:t>
            </a:r>
            <a:r>
              <a:rPr lang="fr-FR" sz="2800" dirty="0"/>
              <a:t> </a:t>
            </a:r>
            <a:r>
              <a:rPr lang="fr-FR" sz="2800" dirty="0" err="1"/>
              <a:t>aid</a:t>
            </a:r>
            <a:r>
              <a:rPr lang="fr-FR" sz="2800" dirty="0"/>
              <a:t>/GDP </a:t>
            </a:r>
            <a:r>
              <a:rPr lang="fr-FR" sz="2800" dirty="0" err="1"/>
              <a:t>larger</a:t>
            </a:r>
            <a:r>
              <a:rPr lang="fr-FR" sz="2800" dirty="0"/>
              <a:t> </a:t>
            </a:r>
            <a:r>
              <a:rPr lang="fr-FR" sz="2800" dirty="0" err="1"/>
              <a:t>than</a:t>
            </a:r>
            <a:r>
              <a:rPr lang="fr-FR" sz="2800" dirty="0"/>
              <a:t> 5%, </a:t>
            </a:r>
            <a:r>
              <a:rPr lang="fr-FR" sz="2800" dirty="0" err="1"/>
              <a:t>around</a:t>
            </a:r>
            <a:r>
              <a:rPr lang="fr-FR" sz="2800" dirty="0"/>
              <a:t> 25 countries </a:t>
            </a:r>
            <a:r>
              <a:rPr lang="fr-FR" sz="2800" dirty="0" err="1"/>
              <a:t>less</a:t>
            </a:r>
            <a:r>
              <a:rPr lang="fr-FR" sz="2800" dirty="0"/>
              <a:t> </a:t>
            </a:r>
            <a:r>
              <a:rPr lang="fr-FR" sz="2800" dirty="0" err="1"/>
              <a:t>than</a:t>
            </a:r>
            <a:r>
              <a:rPr lang="fr-FR" sz="2800" dirty="0"/>
              <a:t> 1% (</a:t>
            </a:r>
            <a:r>
              <a:rPr lang="fr-FR" sz="2800" dirty="0" err="1"/>
              <a:t>skewness</a:t>
            </a:r>
            <a:r>
              <a:rPr lang="fr-FR" sz="2800" dirty="0"/>
              <a:t>).</a:t>
            </a:r>
          </a:p>
          <a:p>
            <a:pPr marL="514350" indent="-514350">
              <a:buAutoNum type="arabicPeriod"/>
            </a:pPr>
            <a:endParaRPr lang="fr-FR" dirty="0"/>
          </a:p>
        </p:txBody>
      </p:sp>
    </p:spTree>
    <p:extLst>
      <p:ext uri="{BB962C8B-B14F-4D97-AF65-F5344CB8AC3E}">
        <p14:creationId xmlns:p14="http://schemas.microsoft.com/office/powerpoint/2010/main" val="345756252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384"/>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5245174"/>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Between</a:t>
            </a:r>
            <a:r>
              <a:rPr lang="fr-FR" sz="3600" dirty="0"/>
              <a:t> </a:t>
            </a:r>
            <a:r>
              <a:rPr lang="fr-FR" sz="3600" dirty="0" err="1"/>
              <a:t>correlation</a:t>
            </a:r>
            <a:r>
              <a:rPr lang="fr-FR" sz="3600" dirty="0"/>
              <a:t> </a:t>
            </a:r>
            <a:r>
              <a:rPr lang="fr-FR" sz="3600" dirty="0" err="1"/>
              <a:t>growth</a:t>
            </a:r>
            <a:r>
              <a:rPr lang="fr-FR" sz="3600" dirty="0"/>
              <a:t> of GDP/ </a:t>
            </a:r>
            <a:r>
              <a:rPr lang="fr-FR" sz="3600" dirty="0" err="1"/>
              <a:t>head</a:t>
            </a:r>
            <a:r>
              <a:rPr lang="fr-FR" sz="3600" dirty="0"/>
              <a:t> and </a:t>
            </a:r>
            <a:r>
              <a:rPr lang="fr-FR" sz="3600" dirty="0" err="1"/>
              <a:t>Aid</a:t>
            </a:r>
            <a:r>
              <a:rPr lang="fr-FR" sz="3600" dirty="0"/>
              <a:t>/GDP: N=56 countries.</a:t>
            </a:r>
          </a:p>
        </p:txBody>
      </p:sp>
      <p:sp>
        <p:nvSpPr>
          <p:cNvPr id="3" name="Espace réservé du contenu 2"/>
          <p:cNvSpPr>
            <a:spLocks noGrp="1"/>
          </p:cNvSpPr>
          <p:nvPr>
            <p:ph idx="1"/>
          </p:nvPr>
        </p:nvSpPr>
        <p:spPr/>
        <p:txBody>
          <a:bodyPr>
            <a:normAutofit lnSpcReduction="10000"/>
          </a:bodyPr>
          <a:lstStyle/>
          <a:p>
            <a:pPr marL="514350" indent="-514350">
              <a:buFont typeface="+mj-lt"/>
              <a:buAutoNum type="arabicPeriod"/>
            </a:pPr>
            <a:r>
              <a:rPr lang="fr-FR" dirty="0"/>
              <a:t>NEGATIVE simple </a:t>
            </a:r>
            <a:r>
              <a:rPr lang="fr-FR" dirty="0" err="1"/>
              <a:t>correlation</a:t>
            </a:r>
            <a:endParaRPr lang="fr-FR" dirty="0"/>
          </a:p>
          <a:p>
            <a:pPr marL="514350" indent="-514350">
              <a:buFont typeface="+mj-lt"/>
              <a:buAutoNum type="arabicPeriod"/>
            </a:pPr>
            <a:r>
              <a:rPr lang="fr-FR" dirty="0" err="1"/>
              <a:t>Quadratic</a:t>
            </a:r>
            <a:r>
              <a:rPr lang="fr-FR" dirty="0"/>
              <a:t> fit </a:t>
            </a:r>
          </a:p>
          <a:p>
            <a:pPr marL="514350" indent="-514350">
              <a:buFont typeface="+mj-lt"/>
              <a:buAutoNum type="arabicPeriod"/>
            </a:pPr>
            <a:r>
              <a:rPr lang="fr-FR" dirty="0"/>
              <a:t>Non </a:t>
            </a:r>
            <a:r>
              <a:rPr lang="fr-FR" dirty="0" err="1"/>
              <a:t>linear</a:t>
            </a:r>
            <a:r>
              <a:rPr lang="fr-FR" dirty="0"/>
              <a:t> </a:t>
            </a:r>
            <a:r>
              <a:rPr lang="fr-FR" dirty="0" err="1"/>
              <a:t>lowess</a:t>
            </a:r>
            <a:r>
              <a:rPr lang="fr-FR" dirty="0"/>
              <a:t> fit = </a:t>
            </a:r>
            <a:r>
              <a:rPr lang="fr-FR" dirty="0" err="1"/>
              <a:t>quadratic</a:t>
            </a:r>
            <a:r>
              <a:rPr lang="fr-FR" dirty="0"/>
              <a:t> for Mali. </a:t>
            </a:r>
          </a:p>
          <a:p>
            <a:pPr marL="514350" indent="-514350">
              <a:buFont typeface="+mj-lt"/>
              <a:buAutoNum type="arabicPeriod"/>
            </a:pPr>
            <a:r>
              <a:rPr lang="fr-FR" dirty="0"/>
              <a:t>Large </a:t>
            </a:r>
            <a:r>
              <a:rPr lang="fr-FR" dirty="0" err="1"/>
              <a:t>Residuals</a:t>
            </a:r>
            <a:r>
              <a:rPr lang="fr-FR" dirty="0"/>
              <a:t> (non « </a:t>
            </a:r>
            <a:r>
              <a:rPr lang="fr-FR" dirty="0" err="1"/>
              <a:t>symmetric</a:t>
            </a:r>
            <a:r>
              <a:rPr lang="fr-FR" dirty="0"/>
              <a:t> ») </a:t>
            </a:r>
            <a:r>
              <a:rPr lang="fr-FR" dirty="0" err="1"/>
              <a:t>Outliers</a:t>
            </a:r>
            <a:r>
              <a:rPr lang="fr-FR" dirty="0"/>
              <a:t>: </a:t>
            </a:r>
            <a:r>
              <a:rPr lang="fr-FR" b="1" dirty="0"/>
              <a:t>Botswana, Mali, </a:t>
            </a:r>
            <a:r>
              <a:rPr lang="fr-FR" b="1" dirty="0" err="1"/>
              <a:t>Ethiopia</a:t>
            </a:r>
            <a:r>
              <a:rPr lang="fr-FR" b="1" dirty="0"/>
              <a:t>, </a:t>
            </a:r>
            <a:r>
              <a:rPr lang="fr-FR" b="1" dirty="0" err="1"/>
              <a:t>Korea</a:t>
            </a:r>
            <a:r>
              <a:rPr lang="fr-FR" b="1" dirty="0"/>
              <a:t>,</a:t>
            </a:r>
          </a:p>
          <a:p>
            <a:pPr marL="514350" indent="-514350">
              <a:buFont typeface="+mj-lt"/>
              <a:buAutoNum type="arabicPeriod"/>
            </a:pPr>
            <a:r>
              <a:rPr lang="fr-FR" dirty="0"/>
              <a:t>8 countries out of 56 </a:t>
            </a:r>
            <a:r>
              <a:rPr lang="fr-FR" dirty="0" err="1"/>
              <a:t>with</a:t>
            </a:r>
            <a:r>
              <a:rPr lang="fr-FR" dirty="0"/>
              <a:t> </a:t>
            </a:r>
            <a:r>
              <a:rPr lang="fr-FR" dirty="0" err="1"/>
              <a:t>average</a:t>
            </a:r>
            <a:r>
              <a:rPr lang="fr-FR" dirty="0"/>
              <a:t> </a:t>
            </a:r>
            <a:r>
              <a:rPr lang="fr-FR" dirty="0" err="1"/>
              <a:t>aid</a:t>
            </a:r>
            <a:r>
              <a:rPr lang="fr-FR" dirty="0"/>
              <a:t>/GDP </a:t>
            </a:r>
            <a:r>
              <a:rPr lang="fr-FR" dirty="0" err="1"/>
              <a:t>larger</a:t>
            </a:r>
            <a:r>
              <a:rPr lang="fr-FR" dirty="0"/>
              <a:t> </a:t>
            </a:r>
            <a:r>
              <a:rPr lang="fr-FR" dirty="0" err="1"/>
              <a:t>than</a:t>
            </a:r>
            <a:r>
              <a:rPr lang="fr-FR" dirty="0"/>
              <a:t> 5%, </a:t>
            </a:r>
            <a:r>
              <a:rPr lang="fr-FR" dirty="0" err="1"/>
              <a:t>around</a:t>
            </a:r>
            <a:r>
              <a:rPr lang="fr-FR" dirty="0"/>
              <a:t> 25 countries </a:t>
            </a:r>
            <a:r>
              <a:rPr lang="fr-FR" dirty="0" err="1"/>
              <a:t>less</a:t>
            </a:r>
            <a:r>
              <a:rPr lang="fr-FR" dirty="0"/>
              <a:t> </a:t>
            </a:r>
            <a:r>
              <a:rPr lang="fr-FR" dirty="0" err="1"/>
              <a:t>than</a:t>
            </a:r>
            <a:r>
              <a:rPr lang="fr-FR" dirty="0"/>
              <a:t> 1% (</a:t>
            </a:r>
            <a:r>
              <a:rPr lang="fr-FR" dirty="0" err="1"/>
              <a:t>skewness</a:t>
            </a:r>
            <a:r>
              <a:rPr lang="fr-FR" dirty="0"/>
              <a:t>).</a:t>
            </a:r>
          </a:p>
        </p:txBody>
      </p:sp>
    </p:spTree>
    <p:extLst>
      <p:ext uri="{BB962C8B-B14F-4D97-AF65-F5344CB8AC3E}">
        <p14:creationId xmlns:p14="http://schemas.microsoft.com/office/powerpoint/2010/main" val="104022126"/>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re 3"/>
          <p:cNvSpPr>
            <a:spLocks noGrp="1"/>
          </p:cNvSpPr>
          <p:nvPr>
            <p:ph type="ctrTitle"/>
          </p:nvPr>
        </p:nvSpPr>
        <p:spPr/>
        <p:txBody>
          <a:bodyPr/>
          <a:lstStyle/>
          <a:p>
            <a:r>
              <a:rPr lang="fr-FR" altLang="fr-FR" dirty="0"/>
              <a:t>7. </a:t>
            </a:r>
            <a:r>
              <a:rPr lang="fr-FR" altLang="fr-FR" dirty="0" err="1"/>
              <a:t>Bivariate</a:t>
            </a:r>
            <a:r>
              <a:rPr lang="fr-FR" altLang="fr-FR" dirty="0"/>
              <a:t> </a:t>
            </a:r>
            <a:r>
              <a:rPr lang="fr-FR" altLang="fr-FR" dirty="0" err="1"/>
              <a:t>Statistics</a:t>
            </a:r>
            <a:r>
              <a:rPr lang="fr-FR" altLang="fr-FR" dirty="0"/>
              <a:t>:</a:t>
            </a:r>
            <a:br>
              <a:rPr lang="fr-FR" altLang="fr-FR" dirty="0"/>
            </a:br>
            <a:r>
              <a:rPr lang="fr-FR" altLang="fr-FR" b="1" u="sng" dirty="0" err="1"/>
              <a:t>Within</a:t>
            </a:r>
            <a:r>
              <a:rPr lang="fr-FR" altLang="fr-FR" dirty="0"/>
              <a:t> vs </a:t>
            </a:r>
            <a:r>
              <a:rPr lang="fr-FR" altLang="fr-FR" dirty="0" err="1"/>
              <a:t>Between</a:t>
            </a:r>
            <a:endParaRPr lang="fr-FR" altLang="fr-FR" dirty="0"/>
          </a:p>
        </p:txBody>
      </p:sp>
    </p:spTree>
    <p:extLst>
      <p:ext uri="{BB962C8B-B14F-4D97-AF65-F5344CB8AC3E}">
        <p14:creationId xmlns:p14="http://schemas.microsoft.com/office/powerpoint/2010/main" val="191104956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re 1"/>
          <p:cNvSpPr>
            <a:spLocks noGrp="1"/>
          </p:cNvSpPr>
          <p:nvPr>
            <p:ph type="title"/>
          </p:nvPr>
        </p:nvSpPr>
        <p:spPr/>
        <p:txBody>
          <a:bodyPr>
            <a:normAutofit fontScale="90000"/>
          </a:bodyPr>
          <a:lstStyle/>
          <a:p>
            <a:r>
              <a:rPr lang="fr-FR" altLang="fr-FR" dirty="0"/>
              <a:t>Do not use the « OLS » simple </a:t>
            </a:r>
            <a:r>
              <a:rPr lang="fr-FR" altLang="fr-FR" dirty="0" err="1"/>
              <a:t>correlation</a:t>
            </a:r>
            <a:r>
              <a:rPr lang="fr-FR" altLang="fr-FR" dirty="0"/>
              <a:t> matrix.</a:t>
            </a:r>
          </a:p>
        </p:txBody>
      </p:sp>
      <p:sp>
        <p:nvSpPr>
          <p:cNvPr id="56323" name="Espace réservé du contenu 2"/>
          <p:cNvSpPr>
            <a:spLocks noGrp="1"/>
          </p:cNvSpPr>
          <p:nvPr>
            <p:ph idx="1"/>
          </p:nvPr>
        </p:nvSpPr>
        <p:spPr/>
        <p:txBody>
          <a:bodyPr/>
          <a:lstStyle/>
          <a:p>
            <a:pPr marL="0" indent="0">
              <a:buFontTx/>
              <a:buNone/>
            </a:pPr>
            <a:r>
              <a:rPr lang="fr-FR" altLang="fr-FR" dirty="0" err="1"/>
              <a:t>Prefered</a:t>
            </a:r>
            <a:r>
              <a:rPr lang="fr-FR" altLang="fr-FR" dirty="0"/>
              <a:t> model: FIXED EFFECTS (</a:t>
            </a:r>
            <a:r>
              <a:rPr lang="fr-FR" altLang="fr-FR" dirty="0" err="1"/>
              <a:t>within</a:t>
            </a:r>
            <a:r>
              <a:rPr lang="fr-FR" altLang="fr-FR" dirty="0"/>
              <a:t>)</a:t>
            </a:r>
          </a:p>
          <a:p>
            <a:pPr marL="0" indent="0">
              <a:buFontTx/>
              <a:buNone/>
            </a:pPr>
            <a:r>
              <a:rPr lang="fr-FR" altLang="fr-FR" dirty="0"/>
              <a:t>The non </a:t>
            </a:r>
            <a:r>
              <a:rPr lang="fr-FR" altLang="fr-FR" dirty="0" err="1"/>
              <a:t>transformed</a:t>
            </a:r>
            <a:r>
              <a:rPr lang="fr-FR" altLang="fr-FR" dirty="0"/>
              <a:t> (OLS) simple </a:t>
            </a:r>
            <a:r>
              <a:rPr lang="fr-FR" altLang="fr-FR" dirty="0" err="1"/>
              <a:t>correlation</a:t>
            </a:r>
            <a:r>
              <a:rPr lang="fr-FR" altLang="fr-FR" dirty="0"/>
              <a:t> matrix </a:t>
            </a:r>
            <a:r>
              <a:rPr lang="fr-FR" altLang="fr-FR" dirty="0" err="1"/>
              <a:t>is</a:t>
            </a:r>
            <a:r>
              <a:rPr lang="fr-FR" altLang="fr-FR" dirty="0"/>
              <a:t> NOT the </a:t>
            </a:r>
            <a:r>
              <a:rPr lang="fr-FR" altLang="fr-FR" dirty="0" err="1"/>
              <a:t>corresponding</a:t>
            </a:r>
            <a:r>
              <a:rPr lang="fr-FR" altLang="fr-FR" dirty="0"/>
              <a:t> matrix</a:t>
            </a:r>
          </a:p>
          <a:p>
            <a:pPr marL="0" indent="0">
              <a:buFontTx/>
              <a:buNone/>
            </a:pPr>
            <a:endParaRPr lang="fr-FR" altLang="fr-FR" dirty="0"/>
          </a:p>
          <a:p>
            <a:pPr marL="0" indent="0">
              <a:buFontTx/>
              <a:buNone/>
            </a:pPr>
            <a:r>
              <a:rPr lang="fr-FR" altLang="fr-FR" dirty="0"/>
              <a:t>The WITHIN </a:t>
            </a:r>
            <a:r>
              <a:rPr lang="fr-FR" altLang="fr-FR" dirty="0" err="1"/>
              <a:t>transformed</a:t>
            </a:r>
            <a:r>
              <a:rPr lang="fr-FR" altLang="fr-FR" dirty="0"/>
              <a:t> </a:t>
            </a:r>
            <a:r>
              <a:rPr lang="fr-FR" altLang="fr-FR" dirty="0" err="1"/>
              <a:t>correlation</a:t>
            </a:r>
            <a:r>
              <a:rPr lang="fr-FR" altLang="fr-FR" dirty="0"/>
              <a:t> matrix </a:t>
            </a:r>
            <a:r>
              <a:rPr lang="fr-FR" altLang="fr-FR" dirty="0" err="1"/>
              <a:t>is</a:t>
            </a:r>
            <a:r>
              <a:rPr lang="fr-FR" altLang="fr-FR" dirty="0"/>
              <a:t> relevant.</a:t>
            </a:r>
          </a:p>
        </p:txBody>
      </p:sp>
    </p:spTree>
    <p:extLst>
      <p:ext uri="{BB962C8B-B14F-4D97-AF65-F5344CB8AC3E}">
        <p14:creationId xmlns:p14="http://schemas.microsoft.com/office/powerpoint/2010/main" val="1478451248"/>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re 1"/>
          <p:cNvSpPr>
            <a:spLocks noGrp="1"/>
          </p:cNvSpPr>
          <p:nvPr>
            <p:ph type="title"/>
          </p:nvPr>
        </p:nvSpPr>
        <p:spPr/>
        <p:txBody>
          <a:bodyPr/>
          <a:lstStyle/>
          <a:p>
            <a:r>
              <a:rPr lang="fr-FR" altLang="fr-FR" dirty="0"/>
              <a:t>Compare W vs B </a:t>
            </a:r>
            <a:r>
              <a:rPr lang="fr-FR" altLang="fr-FR" dirty="0" err="1"/>
              <a:t>correlations</a:t>
            </a:r>
            <a:endParaRPr lang="fr-FR" altLang="fr-FR" dirty="0"/>
          </a:p>
        </p:txBody>
      </p:sp>
      <p:sp>
        <p:nvSpPr>
          <p:cNvPr id="57347" name="Espace réservé du contenu 2"/>
          <p:cNvSpPr>
            <a:spLocks noGrp="1"/>
          </p:cNvSpPr>
          <p:nvPr>
            <p:ph idx="1"/>
          </p:nvPr>
        </p:nvSpPr>
        <p:spPr/>
        <p:txBody>
          <a:bodyPr/>
          <a:lstStyle/>
          <a:p>
            <a:pPr marL="0" indent="0">
              <a:buFontTx/>
              <a:buNone/>
            </a:pPr>
            <a:r>
              <a:rPr lang="fr-FR" altLang="fr-FR" dirty="0" err="1"/>
              <a:t>Ideally</a:t>
            </a:r>
            <a:r>
              <a:rPr lang="fr-FR" altLang="fr-FR" dirty="0"/>
              <a:t>, </a:t>
            </a:r>
            <a:r>
              <a:rPr lang="fr-FR" altLang="fr-FR" dirty="0" err="1"/>
              <a:t>similar</a:t>
            </a:r>
            <a:r>
              <a:rPr lang="fr-FR" altLang="fr-FR" dirty="0"/>
              <a:t> WITHIN BETWEEN simple </a:t>
            </a:r>
            <a:r>
              <a:rPr lang="fr-FR" altLang="fr-FR" dirty="0" err="1"/>
              <a:t>correlation</a:t>
            </a:r>
            <a:r>
              <a:rPr lang="fr-FR" altLang="fr-FR" dirty="0"/>
              <a:t> </a:t>
            </a:r>
            <a:r>
              <a:rPr lang="fr-FR" altLang="fr-FR" dirty="0" err="1"/>
              <a:t>between</a:t>
            </a:r>
            <a:r>
              <a:rPr lang="fr-FR" altLang="fr-FR" dirty="0"/>
              <a:t> </a:t>
            </a:r>
            <a:r>
              <a:rPr lang="fr-FR" altLang="fr-FR" dirty="0" err="1"/>
              <a:t>dependent</a:t>
            </a:r>
            <a:r>
              <a:rPr lang="fr-FR" altLang="fr-FR" dirty="0"/>
              <a:t> and </a:t>
            </a:r>
            <a:r>
              <a:rPr lang="fr-FR" altLang="fr-FR" dirty="0" err="1"/>
              <a:t>regressors</a:t>
            </a:r>
            <a:r>
              <a:rPr lang="fr-FR" altLang="fr-FR" dirty="0"/>
              <a:t>, as </a:t>
            </a:r>
            <a:r>
              <a:rPr lang="fr-FR" altLang="fr-FR" dirty="0" err="1"/>
              <a:t>well</a:t>
            </a:r>
            <a:r>
              <a:rPr lang="fr-FR" altLang="fr-FR" dirty="0"/>
              <a:t> as </a:t>
            </a:r>
            <a:r>
              <a:rPr lang="fr-FR" altLang="fr-FR" dirty="0" err="1"/>
              <a:t>similar</a:t>
            </a:r>
            <a:r>
              <a:rPr lang="fr-FR" altLang="fr-FR" dirty="0"/>
              <a:t> </a:t>
            </a:r>
            <a:r>
              <a:rPr lang="fr-FR" altLang="fr-FR" dirty="0" err="1"/>
              <a:t>share</a:t>
            </a:r>
            <a:r>
              <a:rPr lang="fr-FR" altLang="fr-FR" dirty="0"/>
              <a:t> of variance (standard </a:t>
            </a:r>
            <a:r>
              <a:rPr lang="fr-FR" altLang="fr-FR" dirty="0" err="1"/>
              <a:t>errors</a:t>
            </a:r>
            <a:r>
              <a:rPr lang="fr-FR" altLang="fr-FR" dirty="0"/>
              <a:t>) in </a:t>
            </a:r>
            <a:r>
              <a:rPr lang="fr-FR" altLang="fr-FR" dirty="0" err="1"/>
              <a:t>within</a:t>
            </a:r>
            <a:r>
              <a:rPr lang="fr-FR" altLang="fr-FR" dirty="0"/>
              <a:t> and </a:t>
            </a:r>
            <a:r>
              <a:rPr lang="fr-FR" altLang="fr-FR" dirty="0" err="1"/>
              <a:t>between</a:t>
            </a:r>
            <a:r>
              <a:rPr lang="fr-FR" altLang="fr-FR" dirty="0"/>
              <a:t> dimensions.</a:t>
            </a:r>
          </a:p>
        </p:txBody>
      </p:sp>
    </p:spTree>
    <p:extLst>
      <p:ext uri="{BB962C8B-B14F-4D97-AF65-F5344CB8AC3E}">
        <p14:creationId xmlns:p14="http://schemas.microsoft.com/office/powerpoint/2010/main" val="806154176"/>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re 1"/>
          <p:cNvSpPr>
            <a:spLocks noGrp="1"/>
          </p:cNvSpPr>
          <p:nvPr>
            <p:ph type="title"/>
          </p:nvPr>
        </p:nvSpPr>
        <p:spPr/>
        <p:txBody>
          <a:bodyPr/>
          <a:lstStyle/>
          <a:p>
            <a:r>
              <a:rPr lang="fr-FR" altLang="fr-FR" dirty="0"/>
              <a:t>Compare W vs B </a:t>
            </a:r>
            <a:r>
              <a:rPr lang="fr-FR" altLang="fr-FR" dirty="0" err="1"/>
              <a:t>correlations</a:t>
            </a:r>
            <a:endParaRPr lang="fr-FR" altLang="fr-FR" dirty="0"/>
          </a:p>
        </p:txBody>
      </p:sp>
      <p:sp>
        <p:nvSpPr>
          <p:cNvPr id="57347" name="Espace réservé du contenu 2"/>
          <p:cNvSpPr>
            <a:spLocks noGrp="1"/>
          </p:cNvSpPr>
          <p:nvPr>
            <p:ph idx="1"/>
          </p:nvPr>
        </p:nvSpPr>
        <p:spPr/>
        <p:txBody>
          <a:bodyPr/>
          <a:lstStyle/>
          <a:p>
            <a:pPr marL="0" indent="0">
              <a:buFontTx/>
              <a:buNone/>
            </a:pPr>
            <a:r>
              <a:rPr lang="fr-FR" altLang="fr-FR" dirty="0" err="1"/>
              <a:t>Would</a:t>
            </a:r>
            <a:r>
              <a:rPr lang="fr-FR" altLang="fr-FR" dirty="0"/>
              <a:t> lead to </a:t>
            </a:r>
            <a:r>
              <a:rPr lang="fr-FR" altLang="fr-FR" dirty="0" err="1"/>
              <a:t>identical</a:t>
            </a:r>
            <a:r>
              <a:rPr lang="fr-FR" altLang="fr-FR" dirty="0"/>
              <a:t> betas in </a:t>
            </a:r>
            <a:r>
              <a:rPr lang="fr-FR" altLang="fr-FR" dirty="0" err="1"/>
              <a:t>within</a:t>
            </a:r>
            <a:r>
              <a:rPr lang="fr-FR" altLang="fr-FR" dirty="0"/>
              <a:t> and </a:t>
            </a:r>
            <a:r>
              <a:rPr lang="fr-FR" altLang="fr-FR" dirty="0" err="1"/>
              <a:t>between</a:t>
            </a:r>
            <a:r>
              <a:rPr lang="fr-FR" altLang="fr-FR" dirty="0"/>
              <a:t>, an </a:t>
            </a:r>
            <a:r>
              <a:rPr lang="fr-FR" altLang="fr-FR" dirty="0" err="1"/>
              <a:t>acceptance</a:t>
            </a:r>
            <a:r>
              <a:rPr lang="fr-FR" altLang="fr-FR" dirty="0"/>
              <a:t> of </a:t>
            </a:r>
            <a:r>
              <a:rPr lang="fr-FR" altLang="fr-FR" dirty="0" err="1"/>
              <a:t>equality</a:t>
            </a:r>
            <a:r>
              <a:rPr lang="fr-FR" altLang="fr-FR" dirty="0"/>
              <a:t> of </a:t>
            </a:r>
            <a:r>
              <a:rPr lang="fr-FR" altLang="fr-FR" dirty="0" err="1"/>
              <a:t>both</a:t>
            </a:r>
            <a:r>
              <a:rPr lang="fr-FR" altLang="fr-FR" dirty="0"/>
              <a:t> sets of </a:t>
            </a:r>
            <a:r>
              <a:rPr lang="fr-FR" altLang="fr-FR" dirty="0" err="1"/>
              <a:t>parameters</a:t>
            </a:r>
            <a:r>
              <a:rPr lang="fr-FR" altLang="fr-FR" dirty="0"/>
              <a:t> in Hausman tests </a:t>
            </a:r>
            <a:r>
              <a:rPr lang="fr-FR" altLang="fr-FR" dirty="0" err="1"/>
              <a:t>constrasting</a:t>
            </a:r>
            <a:r>
              <a:rPr lang="fr-FR" altLang="fr-FR" dirty="0"/>
              <a:t> </a:t>
            </a:r>
            <a:r>
              <a:rPr lang="fr-FR" altLang="fr-FR" dirty="0" err="1"/>
              <a:t>Within</a:t>
            </a:r>
            <a:r>
              <a:rPr lang="fr-FR" altLang="fr-FR" dirty="0"/>
              <a:t> and </a:t>
            </a:r>
            <a:r>
              <a:rPr lang="fr-FR" altLang="fr-FR" dirty="0" err="1"/>
              <a:t>Between</a:t>
            </a:r>
            <a:r>
              <a:rPr lang="fr-FR" altLang="fr-FR" dirty="0"/>
              <a:t>.</a:t>
            </a:r>
          </a:p>
          <a:p>
            <a:pPr marL="0" indent="0">
              <a:buFontTx/>
              <a:buNone/>
            </a:pPr>
            <a:endParaRPr lang="fr-FR" altLang="fr-FR" dirty="0"/>
          </a:p>
          <a:p>
            <a:pPr marL="0" indent="0">
              <a:buFontTx/>
              <a:buNone/>
            </a:pPr>
            <a:r>
              <a:rPr lang="fr-FR" altLang="fr-FR" dirty="0" err="1"/>
              <a:t>Then</a:t>
            </a:r>
            <a:r>
              <a:rPr lang="fr-FR" altLang="fr-FR" dirty="0"/>
              <a:t> the </a:t>
            </a:r>
            <a:r>
              <a:rPr lang="fr-FR" altLang="fr-FR" dirty="0" err="1"/>
              <a:t>overall</a:t>
            </a:r>
            <a:r>
              <a:rPr lang="fr-FR" altLang="fr-FR" dirty="0"/>
              <a:t> variance </a:t>
            </a:r>
            <a:r>
              <a:rPr lang="fr-FR" altLang="fr-FR" dirty="0" err="1"/>
              <a:t>would</a:t>
            </a:r>
            <a:r>
              <a:rPr lang="fr-FR" altLang="fr-FR" dirty="0"/>
              <a:t> </a:t>
            </a:r>
            <a:r>
              <a:rPr lang="fr-FR" altLang="fr-FR" dirty="0" err="1"/>
              <a:t>be</a:t>
            </a:r>
            <a:r>
              <a:rPr lang="fr-FR" altLang="fr-FR" dirty="0"/>
              <a:t> </a:t>
            </a:r>
            <a:r>
              <a:rPr lang="fr-FR" altLang="fr-FR" dirty="0" err="1"/>
              <a:t>fully</a:t>
            </a:r>
            <a:r>
              <a:rPr lang="fr-FR" altLang="fr-FR" dirty="0"/>
              <a:t> </a:t>
            </a:r>
            <a:r>
              <a:rPr lang="fr-FR" altLang="fr-FR" dirty="0" err="1"/>
              <a:t>explained</a:t>
            </a:r>
            <a:r>
              <a:rPr lang="fr-FR" altLang="fr-FR" dirty="0"/>
              <a:t> by the OLS model.</a:t>
            </a:r>
          </a:p>
        </p:txBody>
      </p:sp>
    </p:spTree>
    <p:extLst>
      <p:ext uri="{BB962C8B-B14F-4D97-AF65-F5344CB8AC3E}">
        <p14:creationId xmlns:p14="http://schemas.microsoft.com/office/powerpoint/2010/main" val="171891019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4624"/>
            <a:ext cx="935513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310551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48775" cy="678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343035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Within</a:t>
            </a:r>
            <a:r>
              <a:rPr lang="fr-FR" sz="3600" dirty="0"/>
              <a:t> </a:t>
            </a:r>
            <a:r>
              <a:rPr lang="fr-FR" sz="3600" dirty="0" err="1"/>
              <a:t>correlation</a:t>
            </a:r>
            <a:r>
              <a:rPr lang="fr-FR" sz="3600" dirty="0"/>
              <a:t> </a:t>
            </a:r>
            <a:r>
              <a:rPr lang="fr-FR" sz="3600" dirty="0" err="1"/>
              <a:t>growth</a:t>
            </a:r>
            <a:r>
              <a:rPr lang="fr-FR" sz="3600" dirty="0"/>
              <a:t> of GDP/ </a:t>
            </a:r>
            <a:r>
              <a:rPr lang="fr-FR" sz="3600" dirty="0" err="1"/>
              <a:t>head</a:t>
            </a:r>
            <a:r>
              <a:rPr lang="fr-FR" sz="3600" dirty="0"/>
              <a:t> and </a:t>
            </a:r>
            <a:r>
              <a:rPr lang="fr-FR" sz="3600" dirty="0" err="1"/>
              <a:t>Aid</a:t>
            </a:r>
            <a:r>
              <a:rPr lang="fr-FR" sz="3600" dirty="0"/>
              <a:t>/GDP: 272 observations</a:t>
            </a:r>
          </a:p>
        </p:txBody>
      </p:sp>
      <p:sp>
        <p:nvSpPr>
          <p:cNvPr id="3" name="Espace réservé du contenu 2"/>
          <p:cNvSpPr>
            <a:spLocks noGrp="1"/>
          </p:cNvSpPr>
          <p:nvPr>
            <p:ph idx="1"/>
          </p:nvPr>
        </p:nvSpPr>
        <p:spPr/>
        <p:txBody>
          <a:bodyPr/>
          <a:lstStyle/>
          <a:p>
            <a:pPr marL="514350" indent="-514350">
              <a:buFont typeface="+mj-lt"/>
              <a:buAutoNum type="arabicPeriod"/>
            </a:pPr>
            <a:r>
              <a:rPr lang="fr-FR" dirty="0" err="1"/>
              <a:t>Zero</a:t>
            </a:r>
            <a:r>
              <a:rPr lang="fr-FR" dirty="0"/>
              <a:t> </a:t>
            </a:r>
            <a:r>
              <a:rPr lang="fr-FR" dirty="0" err="1"/>
              <a:t>correlation</a:t>
            </a:r>
            <a:endParaRPr lang="fr-FR" dirty="0"/>
          </a:p>
          <a:p>
            <a:pPr marL="514350" indent="-514350">
              <a:buFont typeface="+mj-lt"/>
              <a:buAutoNum type="arabicPeriod"/>
            </a:pPr>
            <a:r>
              <a:rPr lang="fr-FR" dirty="0"/>
              <a:t>No </a:t>
            </a:r>
            <a:r>
              <a:rPr lang="fr-FR" dirty="0" err="1"/>
              <a:t>quadratic</a:t>
            </a:r>
            <a:r>
              <a:rPr lang="fr-FR" dirty="0"/>
              <a:t> fit </a:t>
            </a:r>
          </a:p>
          <a:p>
            <a:pPr marL="514350" indent="-514350">
              <a:buFont typeface="+mj-lt"/>
              <a:buAutoNum type="arabicPeriod"/>
            </a:pPr>
            <a:r>
              <a:rPr lang="fr-FR" dirty="0"/>
              <a:t>Non </a:t>
            </a:r>
            <a:r>
              <a:rPr lang="fr-FR" dirty="0" err="1"/>
              <a:t>linear</a:t>
            </a:r>
            <a:r>
              <a:rPr lang="fr-FR" dirty="0"/>
              <a:t> </a:t>
            </a:r>
            <a:r>
              <a:rPr lang="fr-FR" dirty="0" err="1"/>
              <a:t>lowess</a:t>
            </a:r>
            <a:r>
              <a:rPr lang="fr-FR" dirty="0"/>
              <a:t> fit due to « </a:t>
            </a:r>
            <a:r>
              <a:rPr lang="fr-FR" dirty="0" err="1"/>
              <a:t>symmetric</a:t>
            </a:r>
            <a:r>
              <a:rPr lang="fr-FR" dirty="0"/>
              <a:t> » </a:t>
            </a:r>
            <a:r>
              <a:rPr lang="fr-FR" dirty="0" err="1"/>
              <a:t>outliers</a:t>
            </a:r>
            <a:r>
              <a:rPr lang="fr-FR" dirty="0"/>
              <a:t>: </a:t>
            </a:r>
            <a:r>
              <a:rPr lang="fr-FR" dirty="0" err="1"/>
              <a:t>Gambia</a:t>
            </a:r>
            <a:r>
              <a:rPr lang="fr-FR" dirty="0"/>
              <a:t>, Guyana, Nicaragua / Gabon = </a:t>
            </a:r>
            <a:r>
              <a:rPr lang="fr-FR" dirty="0" err="1"/>
              <a:t>different</a:t>
            </a:r>
            <a:r>
              <a:rPr lang="fr-FR" dirty="0"/>
              <a:t> </a:t>
            </a:r>
            <a:r>
              <a:rPr lang="fr-FR" dirty="0" err="1"/>
              <a:t>from</a:t>
            </a:r>
            <a:r>
              <a:rPr lang="fr-FR" dirty="0"/>
              <a:t> </a:t>
            </a:r>
            <a:r>
              <a:rPr lang="fr-FR" dirty="0" err="1"/>
              <a:t>Between</a:t>
            </a:r>
            <a:endParaRPr lang="fr-FR" dirty="0"/>
          </a:p>
          <a:p>
            <a:pPr marL="514350" indent="-514350">
              <a:buFont typeface="+mj-lt"/>
              <a:buAutoNum type="arabicPeriod"/>
            </a:pPr>
            <a:r>
              <a:rPr lang="fr-FR" dirty="0" err="1"/>
              <a:t>Many</a:t>
            </a:r>
            <a:r>
              <a:rPr lang="fr-FR" dirty="0"/>
              <a:t> observations close to </a:t>
            </a:r>
            <a:r>
              <a:rPr lang="fr-FR" dirty="0" err="1"/>
              <a:t>zero</a:t>
            </a:r>
            <a:r>
              <a:rPr lang="fr-FR" dirty="0"/>
              <a:t> for </a:t>
            </a:r>
            <a:r>
              <a:rPr lang="fr-FR" dirty="0" err="1"/>
              <a:t>within</a:t>
            </a:r>
            <a:r>
              <a:rPr lang="fr-FR" dirty="0"/>
              <a:t> </a:t>
            </a:r>
            <a:r>
              <a:rPr lang="fr-FR" dirty="0" err="1"/>
              <a:t>transformed</a:t>
            </a:r>
            <a:r>
              <a:rPr lang="fr-FR" dirty="0"/>
              <a:t> </a:t>
            </a:r>
            <a:r>
              <a:rPr lang="fr-FR" dirty="0" err="1"/>
              <a:t>aid</a:t>
            </a:r>
            <a:r>
              <a:rPr lang="fr-FR" dirty="0"/>
              <a:t>/GDP: close to the </a:t>
            </a:r>
            <a:r>
              <a:rPr lang="fr-FR" dirty="0" err="1"/>
              <a:t>mean</a:t>
            </a:r>
            <a:r>
              <a:rPr lang="fr-FR" dirty="0"/>
              <a:t> over time.</a:t>
            </a:r>
          </a:p>
        </p:txBody>
      </p:sp>
    </p:spTree>
    <p:extLst>
      <p:ext uri="{BB962C8B-B14F-4D97-AF65-F5344CB8AC3E}">
        <p14:creationId xmlns:p14="http://schemas.microsoft.com/office/powerpoint/2010/main" val="3001536580"/>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384"/>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3111319"/>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Between</a:t>
            </a:r>
            <a:r>
              <a:rPr lang="fr-FR" sz="3600" dirty="0"/>
              <a:t> </a:t>
            </a:r>
            <a:r>
              <a:rPr lang="fr-FR" sz="3600" dirty="0" err="1"/>
              <a:t>correlation</a:t>
            </a:r>
            <a:r>
              <a:rPr lang="fr-FR" sz="3600" dirty="0"/>
              <a:t> </a:t>
            </a:r>
            <a:r>
              <a:rPr lang="fr-FR" sz="3600" dirty="0" err="1"/>
              <a:t>growth</a:t>
            </a:r>
            <a:r>
              <a:rPr lang="fr-FR" sz="3600" dirty="0"/>
              <a:t> of GDP/ </a:t>
            </a:r>
            <a:r>
              <a:rPr lang="fr-FR" sz="3600" dirty="0" err="1"/>
              <a:t>head</a:t>
            </a:r>
            <a:r>
              <a:rPr lang="fr-FR" sz="3600" dirty="0"/>
              <a:t> and </a:t>
            </a:r>
            <a:r>
              <a:rPr lang="fr-FR" sz="3600" dirty="0" err="1"/>
              <a:t>Aid</a:t>
            </a:r>
            <a:r>
              <a:rPr lang="fr-FR" sz="3600" dirty="0"/>
              <a:t>/GDP: 56 countries obs.</a:t>
            </a:r>
          </a:p>
        </p:txBody>
      </p:sp>
      <p:sp>
        <p:nvSpPr>
          <p:cNvPr id="3" name="Espace réservé du contenu 2"/>
          <p:cNvSpPr>
            <a:spLocks noGrp="1"/>
          </p:cNvSpPr>
          <p:nvPr>
            <p:ph idx="1"/>
          </p:nvPr>
        </p:nvSpPr>
        <p:spPr/>
        <p:txBody>
          <a:bodyPr/>
          <a:lstStyle/>
          <a:p>
            <a:pPr marL="514350" indent="-514350">
              <a:buFont typeface="+mj-lt"/>
              <a:buAutoNum type="arabicPeriod"/>
            </a:pPr>
            <a:r>
              <a:rPr lang="fr-FR" dirty="0" err="1"/>
              <a:t>Negative</a:t>
            </a:r>
            <a:r>
              <a:rPr lang="fr-FR" dirty="0"/>
              <a:t> simple </a:t>
            </a:r>
            <a:r>
              <a:rPr lang="fr-FR" dirty="0" err="1"/>
              <a:t>correlation</a:t>
            </a:r>
            <a:endParaRPr lang="fr-FR" dirty="0"/>
          </a:p>
          <a:p>
            <a:pPr marL="514350" indent="-514350">
              <a:buFont typeface="+mj-lt"/>
              <a:buAutoNum type="arabicPeriod"/>
            </a:pPr>
            <a:r>
              <a:rPr lang="fr-FR" dirty="0" err="1"/>
              <a:t>Quadratic</a:t>
            </a:r>
            <a:r>
              <a:rPr lang="fr-FR" dirty="0"/>
              <a:t> fit </a:t>
            </a:r>
          </a:p>
          <a:p>
            <a:pPr marL="514350" indent="-514350">
              <a:buFont typeface="+mj-lt"/>
              <a:buAutoNum type="arabicPeriod"/>
            </a:pPr>
            <a:r>
              <a:rPr lang="fr-FR" dirty="0"/>
              <a:t>Non </a:t>
            </a:r>
            <a:r>
              <a:rPr lang="fr-FR" dirty="0" err="1"/>
              <a:t>linear</a:t>
            </a:r>
            <a:r>
              <a:rPr lang="fr-FR" dirty="0"/>
              <a:t> </a:t>
            </a:r>
            <a:r>
              <a:rPr lang="fr-FR" dirty="0" err="1"/>
              <a:t>lowess</a:t>
            </a:r>
            <a:r>
              <a:rPr lang="fr-FR" dirty="0"/>
              <a:t> fit = </a:t>
            </a:r>
            <a:r>
              <a:rPr lang="fr-FR" dirty="0" err="1"/>
              <a:t>quadratic</a:t>
            </a:r>
            <a:r>
              <a:rPr lang="fr-FR" dirty="0"/>
              <a:t>. </a:t>
            </a:r>
          </a:p>
          <a:p>
            <a:pPr marL="514350" indent="-514350">
              <a:buFont typeface="+mj-lt"/>
              <a:buAutoNum type="arabicPeriod"/>
            </a:pPr>
            <a:r>
              <a:rPr lang="fr-FR" dirty="0"/>
              <a:t>Large </a:t>
            </a:r>
            <a:r>
              <a:rPr lang="fr-FR" dirty="0" err="1"/>
              <a:t>Residuals</a:t>
            </a:r>
            <a:r>
              <a:rPr lang="fr-FR" dirty="0"/>
              <a:t> (non « </a:t>
            </a:r>
            <a:r>
              <a:rPr lang="fr-FR" dirty="0" err="1"/>
              <a:t>symmetric</a:t>
            </a:r>
            <a:r>
              <a:rPr lang="fr-FR" dirty="0"/>
              <a:t> ») </a:t>
            </a:r>
            <a:r>
              <a:rPr lang="fr-FR" dirty="0" err="1"/>
              <a:t>Outliers</a:t>
            </a:r>
            <a:r>
              <a:rPr lang="fr-FR" dirty="0"/>
              <a:t>: Botswana, Mali, </a:t>
            </a:r>
            <a:r>
              <a:rPr lang="fr-FR" dirty="0" err="1"/>
              <a:t>Ethiopia</a:t>
            </a:r>
            <a:r>
              <a:rPr lang="fr-FR" dirty="0"/>
              <a:t>, </a:t>
            </a:r>
            <a:r>
              <a:rPr lang="fr-FR" dirty="0" err="1"/>
              <a:t>Korea</a:t>
            </a:r>
            <a:r>
              <a:rPr lang="fr-FR" dirty="0"/>
              <a:t>,</a:t>
            </a:r>
          </a:p>
          <a:p>
            <a:pPr marL="514350" indent="-514350">
              <a:buFont typeface="+mj-lt"/>
              <a:buAutoNum type="arabicPeriod"/>
            </a:pPr>
            <a:r>
              <a:rPr lang="fr-FR" dirty="0"/>
              <a:t>8 countries out of 56 </a:t>
            </a:r>
            <a:r>
              <a:rPr lang="fr-FR" dirty="0" err="1"/>
              <a:t>with</a:t>
            </a:r>
            <a:r>
              <a:rPr lang="fr-FR" dirty="0"/>
              <a:t> </a:t>
            </a:r>
            <a:r>
              <a:rPr lang="fr-FR" dirty="0" err="1"/>
              <a:t>average</a:t>
            </a:r>
            <a:r>
              <a:rPr lang="fr-FR" dirty="0"/>
              <a:t> </a:t>
            </a:r>
            <a:r>
              <a:rPr lang="fr-FR" dirty="0" err="1"/>
              <a:t>aid</a:t>
            </a:r>
            <a:r>
              <a:rPr lang="fr-FR" dirty="0"/>
              <a:t>/GDP </a:t>
            </a:r>
            <a:r>
              <a:rPr lang="fr-FR" dirty="0" err="1"/>
              <a:t>larger</a:t>
            </a:r>
            <a:r>
              <a:rPr lang="fr-FR" dirty="0"/>
              <a:t> </a:t>
            </a:r>
            <a:r>
              <a:rPr lang="fr-FR" dirty="0" err="1"/>
              <a:t>than</a:t>
            </a:r>
            <a:r>
              <a:rPr lang="fr-FR" dirty="0"/>
              <a:t> 5%, </a:t>
            </a:r>
            <a:r>
              <a:rPr lang="fr-FR" dirty="0" err="1"/>
              <a:t>around</a:t>
            </a:r>
            <a:r>
              <a:rPr lang="fr-FR" dirty="0"/>
              <a:t> 25 countries </a:t>
            </a:r>
            <a:r>
              <a:rPr lang="fr-FR" dirty="0" err="1"/>
              <a:t>less</a:t>
            </a:r>
            <a:r>
              <a:rPr lang="fr-FR" dirty="0"/>
              <a:t> </a:t>
            </a:r>
            <a:r>
              <a:rPr lang="fr-FR" dirty="0" err="1"/>
              <a:t>than</a:t>
            </a:r>
            <a:r>
              <a:rPr lang="fr-FR" dirty="0"/>
              <a:t> 1% (</a:t>
            </a:r>
            <a:r>
              <a:rPr lang="fr-FR" dirty="0" err="1"/>
              <a:t>skewness</a:t>
            </a:r>
            <a:r>
              <a:rPr lang="fr-FR" dirty="0"/>
              <a:t>).</a:t>
            </a:r>
          </a:p>
        </p:txBody>
      </p:sp>
    </p:spTree>
    <p:extLst>
      <p:ext uri="{BB962C8B-B14F-4D97-AF65-F5344CB8AC3E}">
        <p14:creationId xmlns:p14="http://schemas.microsoft.com/office/powerpoint/2010/main" val="3513308591"/>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OLS = </a:t>
            </a:r>
            <a:r>
              <a:rPr lang="fr-FR" dirty="0" err="1"/>
              <a:t>sum</a:t>
            </a:r>
            <a:r>
              <a:rPr lang="fr-FR" dirty="0"/>
              <a:t> </a:t>
            </a:r>
            <a:r>
              <a:rPr lang="fr-FR" dirty="0" err="1"/>
              <a:t>between</a:t>
            </a:r>
            <a:r>
              <a:rPr lang="fr-FR" dirty="0"/>
              <a:t> plus </a:t>
            </a:r>
            <a:r>
              <a:rPr lang="fr-FR" dirty="0" err="1"/>
              <a:t>within</a:t>
            </a:r>
            <a:endParaRPr lang="fr-FR" dirty="0"/>
          </a:p>
        </p:txBody>
      </p:sp>
      <p:sp>
        <p:nvSpPr>
          <p:cNvPr id="3" name="Espace réservé du contenu 2"/>
          <p:cNvSpPr>
            <a:spLocks noGrp="1"/>
          </p:cNvSpPr>
          <p:nvPr>
            <p:ph idx="1"/>
          </p:nvPr>
        </p:nvSpPr>
        <p:spPr/>
        <p:txBody>
          <a:bodyPr/>
          <a:lstStyle/>
          <a:p>
            <a:pPr marL="0" indent="0">
              <a:buNone/>
            </a:pPr>
            <a:r>
              <a:rPr lang="fr-FR" dirty="0" err="1"/>
              <a:t>We</a:t>
            </a:r>
            <a:r>
              <a:rPr lang="fr-FR" dirty="0"/>
              <a:t> </a:t>
            </a:r>
            <a:r>
              <a:rPr lang="fr-FR" dirty="0" err="1"/>
              <a:t>would</a:t>
            </a:r>
            <a:r>
              <a:rPr lang="fr-FR" dirty="0"/>
              <a:t> have a mixture of </a:t>
            </a:r>
            <a:r>
              <a:rPr lang="fr-FR" dirty="0" err="1"/>
              <a:t>results</a:t>
            </a:r>
            <a:r>
              <a:rPr lang="fr-FR" dirty="0"/>
              <a:t> of </a:t>
            </a:r>
            <a:r>
              <a:rPr lang="fr-FR" dirty="0" err="1"/>
              <a:t>each</a:t>
            </a:r>
            <a:r>
              <a:rPr lang="fr-FR" dirty="0"/>
              <a:t> </a:t>
            </a:r>
            <a:r>
              <a:rPr lang="fr-FR" dirty="0" err="1"/>
              <a:t>worlds</a:t>
            </a:r>
            <a:r>
              <a:rPr lang="fr-FR" dirty="0"/>
              <a:t> (</a:t>
            </a:r>
            <a:r>
              <a:rPr lang="fr-FR" dirty="0" err="1"/>
              <a:t>Within</a:t>
            </a:r>
            <a:r>
              <a:rPr lang="fr-FR" dirty="0"/>
              <a:t> or </a:t>
            </a:r>
            <a:r>
              <a:rPr lang="fr-FR" dirty="0" err="1"/>
              <a:t>Between</a:t>
            </a:r>
            <a:r>
              <a:rPr lang="fr-FR" dirty="0"/>
              <a:t>)</a:t>
            </a:r>
          </a:p>
          <a:p>
            <a:pPr marL="0" indent="0">
              <a:buNone/>
            </a:pPr>
            <a:endParaRPr lang="fr-FR" dirty="0"/>
          </a:p>
          <a:p>
            <a:pPr marL="0" indent="0">
              <a:buNone/>
            </a:pPr>
            <a:r>
              <a:rPr lang="fr-FR" dirty="0" err="1"/>
              <a:t>Outliers</a:t>
            </a:r>
            <a:r>
              <a:rPr lang="fr-FR" dirty="0"/>
              <a:t> </a:t>
            </a:r>
            <a:r>
              <a:rPr lang="fr-FR" dirty="0" err="1"/>
              <a:t>would</a:t>
            </a:r>
            <a:r>
              <a:rPr lang="fr-FR" dirty="0"/>
              <a:t> </a:t>
            </a:r>
            <a:r>
              <a:rPr lang="fr-FR" dirty="0" err="1"/>
              <a:t>be</a:t>
            </a:r>
            <a:r>
              <a:rPr lang="fr-FR" dirty="0"/>
              <a:t> a mixture of </a:t>
            </a:r>
            <a:r>
              <a:rPr lang="fr-FR" dirty="0" err="1"/>
              <a:t>outliers</a:t>
            </a:r>
            <a:r>
              <a:rPr lang="fr-FR" dirty="0"/>
              <a:t> in </a:t>
            </a:r>
            <a:r>
              <a:rPr lang="fr-FR" dirty="0" err="1"/>
              <a:t>each</a:t>
            </a:r>
            <a:r>
              <a:rPr lang="fr-FR" dirty="0"/>
              <a:t> world (</a:t>
            </a:r>
            <a:r>
              <a:rPr lang="fr-FR" dirty="0" err="1"/>
              <a:t>Within</a:t>
            </a:r>
            <a:r>
              <a:rPr lang="fr-FR" dirty="0"/>
              <a:t> or </a:t>
            </a:r>
            <a:r>
              <a:rPr lang="fr-FR" dirty="0" err="1"/>
              <a:t>between</a:t>
            </a:r>
            <a:r>
              <a:rPr lang="fr-FR" dirty="0"/>
              <a:t>).</a:t>
            </a:r>
          </a:p>
          <a:p>
            <a:pPr marL="0" indent="0">
              <a:buNone/>
            </a:pPr>
            <a:endParaRPr lang="fr-FR" dirty="0"/>
          </a:p>
          <a:p>
            <a:pPr marL="514350" indent="-514350">
              <a:buFont typeface="+mj-lt"/>
              <a:buAutoNum type="arabicPeriod"/>
            </a:pPr>
            <a:r>
              <a:rPr lang="fr-FR" dirty="0" err="1"/>
              <a:t>Within</a:t>
            </a:r>
            <a:r>
              <a:rPr lang="fr-FR" dirty="0"/>
              <a:t> countries (time </a:t>
            </a:r>
            <a:r>
              <a:rPr lang="fr-FR" dirty="0" err="1"/>
              <a:t>series</a:t>
            </a:r>
            <a:r>
              <a:rPr lang="fr-FR" dirty="0"/>
              <a:t> variations)</a:t>
            </a:r>
          </a:p>
          <a:p>
            <a:pPr marL="514350" indent="-514350">
              <a:buFont typeface="+mj-lt"/>
              <a:buAutoNum type="arabicPeriod"/>
            </a:pPr>
            <a:r>
              <a:rPr lang="fr-FR" dirty="0" err="1"/>
              <a:t>Across</a:t>
            </a:r>
            <a:r>
              <a:rPr lang="fr-FR" dirty="0"/>
              <a:t> (</a:t>
            </a:r>
            <a:r>
              <a:rPr lang="fr-FR" dirty="0" err="1"/>
              <a:t>Between</a:t>
            </a:r>
            <a:r>
              <a:rPr lang="fr-FR" dirty="0"/>
              <a:t>) countries</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2242239129"/>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2382357"/>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Within</a:t>
            </a:r>
            <a:r>
              <a:rPr lang="fr-FR" sz="3600" dirty="0"/>
              <a:t> </a:t>
            </a:r>
            <a:r>
              <a:rPr lang="fr-FR" sz="3600" dirty="0" err="1"/>
              <a:t>correlation</a:t>
            </a:r>
            <a:r>
              <a:rPr lang="fr-FR" sz="3600" dirty="0"/>
              <a:t> </a:t>
            </a:r>
            <a:r>
              <a:rPr lang="fr-FR" sz="3600" dirty="0" err="1"/>
              <a:t>growth</a:t>
            </a:r>
            <a:r>
              <a:rPr lang="fr-FR" sz="3600" dirty="0"/>
              <a:t> of GDP/ </a:t>
            </a:r>
            <a:r>
              <a:rPr lang="fr-FR" sz="3600" dirty="0" err="1"/>
              <a:t>head</a:t>
            </a:r>
            <a:r>
              <a:rPr lang="fr-FR" sz="3600" dirty="0"/>
              <a:t> and </a:t>
            </a:r>
            <a:r>
              <a:rPr lang="fr-FR" sz="3600" dirty="0" err="1"/>
              <a:t>Policies</a:t>
            </a:r>
            <a:r>
              <a:rPr lang="fr-FR" sz="3600" dirty="0"/>
              <a:t>: 272 observations</a:t>
            </a:r>
          </a:p>
        </p:txBody>
      </p:sp>
      <p:sp>
        <p:nvSpPr>
          <p:cNvPr id="3" name="Espace réservé du contenu 2"/>
          <p:cNvSpPr>
            <a:spLocks noGrp="1"/>
          </p:cNvSpPr>
          <p:nvPr>
            <p:ph idx="1"/>
          </p:nvPr>
        </p:nvSpPr>
        <p:spPr/>
        <p:txBody>
          <a:bodyPr/>
          <a:lstStyle/>
          <a:p>
            <a:pPr marL="514350" indent="-514350">
              <a:buFont typeface="+mj-lt"/>
              <a:buAutoNum type="arabicPeriod"/>
            </a:pPr>
            <a:r>
              <a:rPr lang="fr-FR" dirty="0"/>
              <a:t>Positive </a:t>
            </a:r>
            <a:r>
              <a:rPr lang="fr-FR" dirty="0" err="1"/>
              <a:t>correlation</a:t>
            </a:r>
            <a:r>
              <a:rPr lang="fr-FR" dirty="0"/>
              <a:t>: </a:t>
            </a:r>
            <a:r>
              <a:rPr lang="fr-FR" b="1" dirty="0"/>
              <a:t>r = 0.25</a:t>
            </a:r>
          </a:p>
          <a:p>
            <a:pPr marL="514350" indent="-514350">
              <a:buFont typeface="+mj-lt"/>
              <a:buAutoNum type="arabicPeriod"/>
            </a:pPr>
            <a:r>
              <a:rPr lang="fr-FR" dirty="0"/>
              <a:t>No </a:t>
            </a:r>
            <a:r>
              <a:rPr lang="fr-FR" dirty="0" err="1"/>
              <a:t>quadratic</a:t>
            </a:r>
            <a:r>
              <a:rPr lang="fr-FR" dirty="0"/>
              <a:t> fit </a:t>
            </a:r>
          </a:p>
          <a:p>
            <a:pPr marL="514350" indent="-514350">
              <a:buFont typeface="+mj-lt"/>
              <a:buAutoNum type="arabicPeriod"/>
            </a:pPr>
            <a:r>
              <a:rPr lang="fr-FR" dirty="0"/>
              <a:t>Non </a:t>
            </a:r>
            <a:r>
              <a:rPr lang="fr-FR" dirty="0" err="1"/>
              <a:t>linear</a:t>
            </a:r>
            <a:r>
              <a:rPr lang="fr-FR" dirty="0"/>
              <a:t> </a:t>
            </a:r>
            <a:r>
              <a:rPr lang="fr-FR" dirty="0" err="1"/>
              <a:t>lowess</a:t>
            </a:r>
            <a:r>
              <a:rPr lang="fr-FR" dirty="0"/>
              <a:t> fit = </a:t>
            </a:r>
            <a:r>
              <a:rPr lang="fr-FR" dirty="0" err="1"/>
              <a:t>linear</a:t>
            </a:r>
            <a:endParaRPr lang="fr-FR" dirty="0"/>
          </a:p>
          <a:p>
            <a:pPr marL="514350" indent="-514350">
              <a:buFont typeface="+mj-lt"/>
              <a:buAutoNum type="arabicPeriod"/>
            </a:pPr>
            <a:r>
              <a:rPr lang="fr-FR" dirty="0"/>
              <a:t>Large </a:t>
            </a:r>
            <a:r>
              <a:rPr lang="fr-FR" dirty="0" err="1"/>
              <a:t>residuals</a:t>
            </a:r>
            <a:r>
              <a:rPr lang="fr-FR" dirty="0"/>
              <a:t> </a:t>
            </a:r>
            <a:r>
              <a:rPr lang="fr-FR" dirty="0" err="1"/>
              <a:t>outliers</a:t>
            </a:r>
            <a:r>
              <a:rPr lang="fr-FR" dirty="0"/>
              <a:t>: 2 x Gabon,  Comores, Nicaragua.</a:t>
            </a:r>
          </a:p>
          <a:p>
            <a:pPr marL="514350" indent="-514350">
              <a:buFont typeface="+mj-lt"/>
              <a:buAutoNum type="arabicPeriod"/>
            </a:pPr>
            <a:r>
              <a:rPr lang="fr-FR" dirty="0"/>
              <a:t>High </a:t>
            </a:r>
            <a:r>
              <a:rPr lang="fr-FR" dirty="0" err="1"/>
              <a:t>leverage</a:t>
            </a:r>
            <a:r>
              <a:rPr lang="fr-FR" dirty="0"/>
              <a:t> Bolivia (</a:t>
            </a:r>
            <a:r>
              <a:rPr lang="fr-FR" dirty="0" err="1"/>
              <a:t>bad</a:t>
            </a:r>
            <a:r>
              <a:rPr lang="fr-FR" dirty="0"/>
              <a:t> </a:t>
            </a:r>
            <a:r>
              <a:rPr lang="fr-FR" dirty="0" err="1"/>
              <a:t>policy</a:t>
            </a:r>
            <a:r>
              <a:rPr lang="fr-FR" dirty="0"/>
              <a:t> one </a:t>
            </a:r>
            <a:r>
              <a:rPr lang="fr-FR" dirty="0" err="1"/>
              <a:t>period</a:t>
            </a:r>
            <a:r>
              <a:rPr lang="fr-FR" dirty="0"/>
              <a:t>)</a:t>
            </a:r>
          </a:p>
          <a:p>
            <a:pPr marL="514350" indent="-514350">
              <a:buFont typeface="+mj-lt"/>
              <a:buAutoNum type="arabicPeriod"/>
            </a:pPr>
            <a:r>
              <a:rPr lang="fr-FR" dirty="0" err="1"/>
              <a:t>Many</a:t>
            </a:r>
            <a:r>
              <a:rPr lang="fr-FR" dirty="0"/>
              <a:t> observations at </a:t>
            </a:r>
            <a:r>
              <a:rPr lang="fr-FR" dirty="0" err="1"/>
              <a:t>zero</a:t>
            </a:r>
            <a:r>
              <a:rPr lang="fr-FR" dirty="0"/>
              <a:t>/</a:t>
            </a:r>
            <a:r>
              <a:rPr lang="fr-FR" dirty="0" err="1"/>
              <a:t>zero</a:t>
            </a:r>
            <a:r>
              <a:rPr lang="fr-FR" dirty="0"/>
              <a:t>.</a:t>
            </a:r>
          </a:p>
        </p:txBody>
      </p:sp>
    </p:spTree>
    <p:extLst>
      <p:ext uri="{BB962C8B-B14F-4D97-AF65-F5344CB8AC3E}">
        <p14:creationId xmlns:p14="http://schemas.microsoft.com/office/powerpoint/2010/main" val="1339096217"/>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8" y="0"/>
            <a:ext cx="9104312"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0660814"/>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err="1"/>
              <a:t>Between</a:t>
            </a:r>
            <a:r>
              <a:rPr lang="fr-FR" sz="3600" dirty="0"/>
              <a:t> </a:t>
            </a:r>
            <a:r>
              <a:rPr lang="fr-FR" sz="3600" dirty="0" err="1"/>
              <a:t>correlation</a:t>
            </a:r>
            <a:r>
              <a:rPr lang="fr-FR" sz="3600" dirty="0"/>
              <a:t> </a:t>
            </a:r>
            <a:r>
              <a:rPr lang="fr-FR" sz="3600" dirty="0" err="1"/>
              <a:t>growth</a:t>
            </a:r>
            <a:r>
              <a:rPr lang="fr-FR" sz="3600" dirty="0"/>
              <a:t> of GDP/ </a:t>
            </a:r>
            <a:r>
              <a:rPr lang="fr-FR" sz="3600" dirty="0" err="1"/>
              <a:t>head</a:t>
            </a:r>
            <a:r>
              <a:rPr lang="fr-FR" sz="3600" dirty="0"/>
              <a:t> and </a:t>
            </a:r>
            <a:r>
              <a:rPr lang="fr-FR" sz="3600" dirty="0" err="1"/>
              <a:t>Policies</a:t>
            </a:r>
            <a:r>
              <a:rPr lang="fr-FR" sz="3600" dirty="0"/>
              <a:t>: 52 observations</a:t>
            </a:r>
          </a:p>
        </p:txBody>
      </p:sp>
      <p:sp>
        <p:nvSpPr>
          <p:cNvPr id="3" name="Espace réservé du contenu 2"/>
          <p:cNvSpPr>
            <a:spLocks noGrp="1"/>
          </p:cNvSpPr>
          <p:nvPr>
            <p:ph idx="1"/>
          </p:nvPr>
        </p:nvSpPr>
        <p:spPr/>
        <p:txBody>
          <a:bodyPr/>
          <a:lstStyle/>
          <a:p>
            <a:pPr marL="514350" indent="-514350">
              <a:buFont typeface="+mj-lt"/>
              <a:buAutoNum type="arabicPeriod"/>
            </a:pPr>
            <a:r>
              <a:rPr lang="fr-FR" dirty="0"/>
              <a:t>Positive </a:t>
            </a:r>
            <a:r>
              <a:rPr lang="fr-FR" dirty="0" err="1"/>
              <a:t>correlation</a:t>
            </a:r>
            <a:r>
              <a:rPr lang="fr-FR" dirty="0"/>
              <a:t>: </a:t>
            </a:r>
            <a:r>
              <a:rPr lang="fr-FR" b="1" dirty="0"/>
              <a:t>r=0.72</a:t>
            </a:r>
            <a:r>
              <a:rPr lang="fr-FR" dirty="0"/>
              <a:t> &gt;&gt; r=0.25 (W)</a:t>
            </a:r>
          </a:p>
          <a:p>
            <a:pPr marL="514350" indent="-514350">
              <a:buFont typeface="+mj-lt"/>
              <a:buAutoNum type="arabicPeriod"/>
            </a:pPr>
            <a:r>
              <a:rPr lang="fr-FR" dirty="0"/>
              <a:t>No </a:t>
            </a:r>
            <a:r>
              <a:rPr lang="fr-FR" dirty="0" err="1"/>
              <a:t>quadratic</a:t>
            </a:r>
            <a:r>
              <a:rPr lang="fr-FR" dirty="0"/>
              <a:t> fit </a:t>
            </a:r>
          </a:p>
          <a:p>
            <a:pPr marL="514350" indent="-514350">
              <a:buFont typeface="+mj-lt"/>
              <a:buAutoNum type="arabicPeriod"/>
            </a:pPr>
            <a:r>
              <a:rPr lang="fr-FR" dirty="0"/>
              <a:t>Non </a:t>
            </a:r>
            <a:r>
              <a:rPr lang="fr-FR" dirty="0" err="1"/>
              <a:t>linear</a:t>
            </a:r>
            <a:r>
              <a:rPr lang="fr-FR" dirty="0"/>
              <a:t> </a:t>
            </a:r>
            <a:r>
              <a:rPr lang="fr-FR" dirty="0" err="1"/>
              <a:t>lowess</a:t>
            </a:r>
            <a:r>
              <a:rPr lang="fr-FR" dirty="0"/>
              <a:t> fit = </a:t>
            </a:r>
            <a:r>
              <a:rPr lang="fr-FR" dirty="0" err="1"/>
              <a:t>linear</a:t>
            </a:r>
            <a:endParaRPr lang="fr-FR" dirty="0"/>
          </a:p>
          <a:p>
            <a:pPr marL="514350" indent="-514350">
              <a:buFont typeface="+mj-lt"/>
              <a:buAutoNum type="arabicPeriod"/>
            </a:pPr>
            <a:r>
              <a:rPr lang="fr-FR" dirty="0"/>
              <a:t>Large </a:t>
            </a:r>
            <a:r>
              <a:rPr lang="fr-FR" dirty="0" err="1"/>
              <a:t>residuals</a:t>
            </a:r>
            <a:r>
              <a:rPr lang="fr-FR" dirty="0"/>
              <a:t> </a:t>
            </a:r>
            <a:r>
              <a:rPr lang="fr-FR" dirty="0" err="1"/>
              <a:t>outliers</a:t>
            </a:r>
            <a:r>
              <a:rPr lang="fr-FR" dirty="0"/>
              <a:t>: </a:t>
            </a:r>
            <a:r>
              <a:rPr lang="fr-FR" dirty="0" err="1"/>
              <a:t>Egypt</a:t>
            </a:r>
            <a:r>
              <a:rPr lang="fr-FR" dirty="0"/>
              <a:t>, </a:t>
            </a:r>
            <a:r>
              <a:rPr lang="fr-FR" dirty="0" err="1"/>
              <a:t>Ethiopia</a:t>
            </a:r>
            <a:endParaRPr lang="fr-FR" dirty="0"/>
          </a:p>
          <a:p>
            <a:pPr marL="514350" indent="-514350">
              <a:buFont typeface="+mj-lt"/>
              <a:buAutoNum type="arabicPeriod"/>
            </a:pPr>
            <a:r>
              <a:rPr lang="fr-FR" dirty="0"/>
              <a:t>High </a:t>
            </a:r>
            <a:r>
              <a:rPr lang="fr-FR" dirty="0" err="1"/>
              <a:t>leverage</a:t>
            </a:r>
            <a:r>
              <a:rPr lang="fr-FR" dirty="0"/>
              <a:t> [far </a:t>
            </a:r>
            <a:r>
              <a:rPr lang="fr-FR" dirty="0" err="1"/>
              <a:t>from</a:t>
            </a:r>
            <a:r>
              <a:rPr lang="fr-FR" dirty="0"/>
              <a:t> the </a:t>
            </a:r>
            <a:r>
              <a:rPr lang="fr-FR" dirty="0" err="1"/>
              <a:t>mean</a:t>
            </a:r>
            <a:r>
              <a:rPr lang="fr-FR" dirty="0"/>
              <a:t> point] Botswana, </a:t>
            </a:r>
            <a:r>
              <a:rPr lang="fr-FR" dirty="0" err="1"/>
              <a:t>Korea</a:t>
            </a:r>
            <a:r>
              <a:rPr lang="fr-FR" dirty="0"/>
              <a:t> (</a:t>
            </a:r>
            <a:r>
              <a:rPr lang="fr-FR" dirty="0" err="1"/>
              <a:t>Growth</a:t>
            </a:r>
            <a:r>
              <a:rPr lang="fr-FR" dirty="0"/>
              <a:t> Miracles)</a:t>
            </a:r>
          </a:p>
          <a:p>
            <a:pPr marL="514350" indent="-514350">
              <a:buFont typeface="+mj-lt"/>
              <a:buAutoNum type="arabicPeriod"/>
            </a:pPr>
            <a:r>
              <a:rPr lang="fr-FR" dirty="0" err="1"/>
              <a:t>Many</a:t>
            </a:r>
            <a:r>
              <a:rPr lang="fr-FR" dirty="0"/>
              <a:t> observations </a:t>
            </a:r>
            <a:r>
              <a:rPr lang="fr-FR" dirty="0" err="1"/>
              <a:t>around</a:t>
            </a:r>
            <a:r>
              <a:rPr lang="fr-FR" dirty="0"/>
              <a:t> </a:t>
            </a:r>
            <a:r>
              <a:rPr lang="fr-FR" dirty="0" err="1"/>
              <a:t>mean</a:t>
            </a:r>
            <a:r>
              <a:rPr lang="fr-FR" dirty="0"/>
              <a:t> point one/</a:t>
            </a:r>
            <a:r>
              <a:rPr lang="fr-FR" dirty="0" err="1"/>
              <a:t>zero</a:t>
            </a:r>
            <a:r>
              <a:rPr lang="fr-FR" dirty="0"/>
              <a:t>.</a:t>
            </a:r>
          </a:p>
        </p:txBody>
      </p:sp>
    </p:spTree>
    <p:extLst>
      <p:ext uri="{BB962C8B-B14F-4D97-AF65-F5344CB8AC3E}">
        <p14:creationId xmlns:p14="http://schemas.microsoft.com/office/powerpoint/2010/main" val="603752056"/>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re 1"/>
          <p:cNvSpPr>
            <a:spLocks noGrp="1"/>
          </p:cNvSpPr>
          <p:nvPr>
            <p:ph type="title"/>
          </p:nvPr>
        </p:nvSpPr>
        <p:spPr/>
        <p:txBody>
          <a:bodyPr/>
          <a:lstStyle/>
          <a:p>
            <a:r>
              <a:rPr lang="fr-FR" altLang="fr-FR" sz="4000" dirty="0" err="1"/>
              <a:t>Correlation</a:t>
            </a:r>
            <a:r>
              <a:rPr lang="fr-FR" altLang="fr-FR" sz="4000" dirty="0"/>
              <a:t> matrix </a:t>
            </a:r>
            <a:r>
              <a:rPr lang="fr-FR" altLang="fr-FR" sz="4000" dirty="0" err="1"/>
              <a:t>diagnosis</a:t>
            </a:r>
            <a:endParaRPr lang="fr-FR" altLang="fr-FR" sz="4000" dirty="0"/>
          </a:p>
        </p:txBody>
      </p:sp>
      <p:sp>
        <p:nvSpPr>
          <p:cNvPr id="63491" name="Espace réservé du contenu 2"/>
          <p:cNvSpPr>
            <a:spLocks noGrp="1"/>
          </p:cNvSpPr>
          <p:nvPr>
            <p:ph idx="1"/>
          </p:nvPr>
        </p:nvSpPr>
        <p:spPr/>
        <p:txBody>
          <a:bodyPr/>
          <a:lstStyle/>
          <a:p>
            <a:pPr marL="0" indent="0">
              <a:buFontTx/>
              <a:buNone/>
            </a:pPr>
            <a:r>
              <a:rPr lang="fr-FR" altLang="fr-FR" dirty="0"/>
              <a:t> y = a1. x1 + a2 . x2 + e</a:t>
            </a:r>
          </a:p>
          <a:p>
            <a:pPr marL="0" indent="0">
              <a:buFontTx/>
              <a:buNone/>
            </a:pPr>
            <a:r>
              <a:rPr lang="fr-FR" altLang="fr-FR" b="1" dirty="0">
                <a:solidFill>
                  <a:srgbClr val="C00000"/>
                </a:solidFill>
              </a:rPr>
              <a:t>If </a:t>
            </a:r>
            <a:r>
              <a:rPr lang="fr-FR" altLang="fr-FR" b="1" dirty="0" err="1">
                <a:solidFill>
                  <a:srgbClr val="C00000"/>
                </a:solidFill>
              </a:rPr>
              <a:t>corr</a:t>
            </a:r>
            <a:r>
              <a:rPr lang="fr-FR" altLang="fr-FR" b="1" dirty="0">
                <a:solidFill>
                  <a:srgbClr val="C00000"/>
                </a:solidFill>
              </a:rPr>
              <a:t> (y , x1) </a:t>
            </a:r>
            <a:r>
              <a:rPr lang="fr-FR" altLang="fr-FR" b="1" dirty="0" err="1">
                <a:solidFill>
                  <a:srgbClr val="C00000"/>
                </a:solidFill>
              </a:rPr>
              <a:t>below</a:t>
            </a:r>
            <a:r>
              <a:rPr lang="fr-FR" altLang="fr-FR" b="1" dirty="0">
                <a:solidFill>
                  <a:srgbClr val="C00000"/>
                </a:solidFill>
              </a:rPr>
              <a:t> 0.1 in </a:t>
            </a:r>
            <a:r>
              <a:rPr lang="fr-FR" altLang="fr-FR" b="1" dirty="0" err="1">
                <a:solidFill>
                  <a:srgbClr val="C00000"/>
                </a:solidFill>
              </a:rPr>
              <a:t>absolute</a:t>
            </a:r>
            <a:r>
              <a:rPr lang="fr-FR" altLang="fr-FR" b="1" dirty="0">
                <a:solidFill>
                  <a:srgbClr val="C00000"/>
                </a:solidFill>
              </a:rPr>
              <a:t> value </a:t>
            </a:r>
            <a:r>
              <a:rPr lang="fr-FR" altLang="fr-FR" dirty="0"/>
              <a:t>(« </a:t>
            </a:r>
            <a:r>
              <a:rPr lang="fr-FR" altLang="fr-FR" dirty="0" err="1"/>
              <a:t>classical</a:t>
            </a:r>
            <a:r>
              <a:rPr lang="fr-FR" altLang="fr-FR" dirty="0"/>
              <a:t> </a:t>
            </a:r>
            <a:r>
              <a:rPr lang="fr-FR" altLang="fr-FR" dirty="0" err="1"/>
              <a:t>suppressor</a:t>
            </a:r>
            <a:r>
              <a:rPr lang="fr-FR" altLang="fr-FR" dirty="0"/>
              <a:t> »: </a:t>
            </a:r>
            <a:r>
              <a:rPr lang="fr-FR" altLang="fr-FR" dirty="0" err="1"/>
              <a:t>spurious</a:t>
            </a:r>
            <a:r>
              <a:rPr lang="fr-FR" altLang="fr-FR" dirty="0"/>
              <a:t> </a:t>
            </a:r>
            <a:r>
              <a:rPr lang="fr-FR" altLang="fr-FR" dirty="0" err="1"/>
              <a:t>effect</a:t>
            </a:r>
            <a:r>
              <a:rPr lang="fr-FR" altLang="fr-FR" dirty="0"/>
              <a:t> identification </a:t>
            </a:r>
            <a:r>
              <a:rPr lang="fr-FR" altLang="fr-FR" dirty="0" err="1"/>
              <a:t>problem</a:t>
            </a:r>
            <a:r>
              <a:rPr lang="fr-FR" altLang="fr-FR" dirty="0"/>
              <a:t>): if possible, omit x1 in the </a:t>
            </a:r>
            <a:r>
              <a:rPr lang="fr-FR" altLang="fr-FR" dirty="0" err="1"/>
              <a:t>regression</a:t>
            </a:r>
            <a:r>
              <a:rPr lang="fr-FR" altLang="fr-FR" dirty="0"/>
              <a:t>.</a:t>
            </a:r>
          </a:p>
          <a:p>
            <a:pPr marL="0" indent="0">
              <a:buFontTx/>
              <a:buNone/>
            </a:pPr>
            <a:r>
              <a:rPr lang="fr-FR" altLang="fr-FR" b="1" dirty="0">
                <a:solidFill>
                  <a:srgbClr val="C00000"/>
                </a:solidFill>
              </a:rPr>
              <a:t>If </a:t>
            </a:r>
            <a:r>
              <a:rPr lang="fr-FR" altLang="fr-FR" b="1" dirty="0" err="1">
                <a:solidFill>
                  <a:srgbClr val="C00000"/>
                </a:solidFill>
              </a:rPr>
              <a:t>corr</a:t>
            </a:r>
            <a:r>
              <a:rPr lang="fr-FR" altLang="fr-FR" b="1" dirty="0">
                <a:solidFill>
                  <a:srgbClr val="C00000"/>
                </a:solidFill>
              </a:rPr>
              <a:t> (x1, x2) </a:t>
            </a:r>
            <a:r>
              <a:rPr lang="fr-FR" altLang="fr-FR" b="1" dirty="0" err="1">
                <a:solidFill>
                  <a:srgbClr val="C00000"/>
                </a:solidFill>
              </a:rPr>
              <a:t>higher</a:t>
            </a:r>
            <a:r>
              <a:rPr lang="fr-FR" altLang="fr-FR" b="1" dirty="0">
                <a:solidFill>
                  <a:srgbClr val="C00000"/>
                </a:solidFill>
              </a:rPr>
              <a:t> </a:t>
            </a:r>
            <a:r>
              <a:rPr lang="fr-FR" altLang="fr-FR" b="1" dirty="0" err="1">
                <a:solidFill>
                  <a:srgbClr val="C00000"/>
                </a:solidFill>
              </a:rPr>
              <a:t>that</a:t>
            </a:r>
            <a:r>
              <a:rPr lang="fr-FR" altLang="fr-FR" b="1" dirty="0">
                <a:solidFill>
                  <a:srgbClr val="C00000"/>
                </a:solidFill>
              </a:rPr>
              <a:t> 0.8 in </a:t>
            </a:r>
            <a:r>
              <a:rPr lang="fr-FR" altLang="fr-FR" b="1" dirty="0" err="1">
                <a:solidFill>
                  <a:srgbClr val="C00000"/>
                </a:solidFill>
              </a:rPr>
              <a:t>absolute</a:t>
            </a:r>
            <a:r>
              <a:rPr lang="fr-FR" altLang="fr-FR" b="1" dirty="0">
                <a:solidFill>
                  <a:srgbClr val="C00000"/>
                </a:solidFill>
              </a:rPr>
              <a:t> value</a:t>
            </a:r>
            <a:r>
              <a:rPr lang="fr-FR" altLang="fr-FR" dirty="0"/>
              <a:t>: </a:t>
            </a:r>
            <a:r>
              <a:rPr lang="fr-FR" altLang="fr-FR" dirty="0" err="1"/>
              <a:t>near-multicolinerity</a:t>
            </a:r>
            <a:r>
              <a:rPr lang="fr-FR" altLang="fr-FR" dirty="0"/>
              <a:t> </a:t>
            </a:r>
            <a:r>
              <a:rPr lang="fr-FR" altLang="fr-FR" dirty="0" err="1"/>
              <a:t>problem</a:t>
            </a:r>
            <a:r>
              <a:rPr lang="fr-FR" altLang="fr-FR" dirty="0"/>
              <a:t>: if possible, omit x1 OR x2 in the </a:t>
            </a:r>
            <a:r>
              <a:rPr lang="fr-FR" altLang="fr-FR" dirty="0" err="1"/>
              <a:t>regression</a:t>
            </a:r>
            <a:r>
              <a:rPr lang="fr-FR" altLang="fr-FR" dirty="0"/>
              <a:t>.  </a:t>
            </a:r>
          </a:p>
        </p:txBody>
      </p:sp>
    </p:spTree>
    <p:extLst>
      <p:ext uri="{BB962C8B-B14F-4D97-AF65-F5344CB8AC3E}">
        <p14:creationId xmlns:p14="http://schemas.microsoft.com/office/powerpoint/2010/main" val="294329507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t>The simple </a:t>
            </a:r>
            <a:r>
              <a:rPr lang="fr-FR" sz="3600" dirty="0" err="1"/>
              <a:t>correlation</a:t>
            </a:r>
            <a:r>
              <a:rPr lang="fr-FR" sz="3600" dirty="0"/>
              <a:t> matrix </a:t>
            </a:r>
            <a:r>
              <a:rPr lang="fr-FR" sz="3600" dirty="0" err="1"/>
              <a:t>helps</a:t>
            </a:r>
            <a:r>
              <a:rPr lang="fr-FR" sz="3600" dirty="0"/>
              <a:t> to </a:t>
            </a:r>
            <a:r>
              <a:rPr lang="fr-FR" sz="3600" dirty="0" err="1"/>
              <a:t>specify</a:t>
            </a:r>
            <a:r>
              <a:rPr lang="fr-FR" sz="3600" dirty="0"/>
              <a:t> the </a:t>
            </a:r>
            <a:r>
              <a:rPr lang="fr-FR" sz="3600" dirty="0" err="1"/>
              <a:t>multivariate</a:t>
            </a:r>
            <a:r>
              <a:rPr lang="fr-FR" sz="3600" dirty="0"/>
              <a:t> model.</a:t>
            </a:r>
          </a:p>
        </p:txBody>
      </p:sp>
      <p:sp>
        <p:nvSpPr>
          <p:cNvPr id="3" name="Espace réservé du contenu 2"/>
          <p:cNvSpPr>
            <a:spLocks noGrp="1"/>
          </p:cNvSpPr>
          <p:nvPr>
            <p:ph idx="1"/>
          </p:nvPr>
        </p:nvSpPr>
        <p:spPr/>
        <p:txBody>
          <a:bodyPr/>
          <a:lstStyle/>
          <a:p>
            <a:pPr marL="514350" indent="-514350">
              <a:buFont typeface="+mj-lt"/>
              <a:buAutoNum type="arabicPeriod"/>
            </a:pPr>
            <a:r>
              <a:rPr lang="fr-FR" dirty="0" err="1"/>
              <a:t>Helps</a:t>
            </a:r>
            <a:r>
              <a:rPr lang="fr-FR" dirty="0"/>
              <a:t> to select </a:t>
            </a:r>
            <a:r>
              <a:rPr lang="fr-FR" dirty="0" err="1"/>
              <a:t>regressors</a:t>
            </a:r>
            <a:r>
              <a:rPr lang="fr-FR" dirty="0"/>
              <a:t>.</a:t>
            </a:r>
          </a:p>
          <a:p>
            <a:pPr marL="514350" indent="-514350">
              <a:buFont typeface="+mj-lt"/>
              <a:buAutoNum type="arabicPeriod"/>
            </a:pPr>
            <a:r>
              <a:rPr lang="fr-FR" dirty="0" err="1"/>
              <a:t>Indicates</a:t>
            </a:r>
            <a:r>
              <a:rPr lang="fr-FR" dirty="0"/>
              <a:t> </a:t>
            </a:r>
            <a:r>
              <a:rPr lang="fr-FR" dirty="0" err="1"/>
              <a:t>further</a:t>
            </a:r>
            <a:r>
              <a:rPr lang="fr-FR" dirty="0"/>
              <a:t> causal or </a:t>
            </a:r>
            <a:r>
              <a:rPr lang="fr-FR" dirty="0" err="1"/>
              <a:t>endogenous</a:t>
            </a:r>
            <a:r>
              <a:rPr lang="fr-FR" dirty="0"/>
              <a:t> links </a:t>
            </a:r>
            <a:r>
              <a:rPr lang="fr-FR" dirty="0" err="1"/>
              <a:t>between</a:t>
            </a:r>
            <a:r>
              <a:rPr lang="fr-FR" dirty="0"/>
              <a:t> </a:t>
            </a:r>
            <a:r>
              <a:rPr lang="fr-FR" dirty="0" err="1"/>
              <a:t>regressors</a:t>
            </a:r>
            <a:r>
              <a:rPr lang="fr-FR" dirty="0"/>
              <a:t> (</a:t>
            </a:r>
            <a:r>
              <a:rPr lang="fr-FR" dirty="0" err="1"/>
              <a:t>with</a:t>
            </a:r>
            <a:r>
              <a:rPr lang="fr-FR" dirty="0"/>
              <a:t> </a:t>
            </a:r>
            <a:r>
              <a:rPr lang="fr-FR" dirty="0" err="1"/>
              <a:t>their</a:t>
            </a:r>
            <a:r>
              <a:rPr lang="fr-FR" dirty="0"/>
              <a:t> simple </a:t>
            </a:r>
            <a:r>
              <a:rPr lang="fr-FR" dirty="0" err="1"/>
              <a:t>correlation</a:t>
            </a:r>
            <a:r>
              <a:rPr lang="fr-FR" dirty="0"/>
              <a:t> </a:t>
            </a:r>
            <a:r>
              <a:rPr lang="fr-FR" dirty="0" err="1"/>
              <a:t>is</a:t>
            </a:r>
            <a:r>
              <a:rPr lang="fr-FR" dirty="0"/>
              <a:t> </a:t>
            </a:r>
            <a:r>
              <a:rPr lang="fr-FR" dirty="0" err="1"/>
              <a:t>between</a:t>
            </a:r>
            <a:r>
              <a:rPr lang="fr-FR" dirty="0"/>
              <a:t> 0.15 and 0.85) = </a:t>
            </a:r>
            <a:r>
              <a:rPr lang="fr-FR" dirty="0" err="1"/>
              <a:t>this</a:t>
            </a:r>
            <a:r>
              <a:rPr lang="fr-FR" dirty="0"/>
              <a:t> </a:t>
            </a:r>
            <a:r>
              <a:rPr lang="fr-FR" dirty="0" err="1"/>
              <a:t>can</a:t>
            </a:r>
            <a:r>
              <a:rPr lang="fr-FR" dirty="0"/>
              <a:t> </a:t>
            </a:r>
            <a:r>
              <a:rPr lang="fr-FR" dirty="0" err="1"/>
              <a:t>be</a:t>
            </a:r>
            <a:r>
              <a:rPr lang="fr-FR" dirty="0"/>
              <a:t> </a:t>
            </a:r>
            <a:r>
              <a:rPr lang="fr-FR" dirty="0" err="1"/>
              <a:t>used</a:t>
            </a:r>
            <a:r>
              <a:rPr lang="fr-FR" dirty="0"/>
              <a:t> for the first </a:t>
            </a:r>
            <a:r>
              <a:rPr lang="fr-FR" dirty="0" err="1"/>
              <a:t>step</a:t>
            </a:r>
            <a:r>
              <a:rPr lang="fr-FR" dirty="0"/>
              <a:t> of instrumental variables </a:t>
            </a:r>
            <a:r>
              <a:rPr lang="fr-FR" dirty="0" err="1"/>
              <a:t>estimator</a:t>
            </a:r>
            <a:r>
              <a:rPr lang="fr-FR" dirty="0"/>
              <a:t>.</a:t>
            </a:r>
          </a:p>
        </p:txBody>
      </p:sp>
    </p:spTree>
    <p:extLst>
      <p:ext uri="{BB962C8B-B14F-4D97-AF65-F5344CB8AC3E}">
        <p14:creationId xmlns:p14="http://schemas.microsoft.com/office/powerpoint/2010/main" val="297595936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u="sng" dirty="0"/>
              <a:t>Non </a:t>
            </a:r>
            <a:r>
              <a:rPr lang="fr-FR" u="sng" dirty="0" err="1"/>
              <a:t>zero</a:t>
            </a:r>
            <a:r>
              <a:rPr lang="fr-FR" dirty="0"/>
              <a:t> simple </a:t>
            </a:r>
            <a:r>
              <a:rPr lang="fr-FR" dirty="0" err="1"/>
              <a:t>correlation</a:t>
            </a:r>
            <a:r>
              <a:rPr lang="fr-FR" dirty="0"/>
              <a:t> </a:t>
            </a:r>
            <a:r>
              <a:rPr lang="fr-FR" dirty="0" err="1"/>
              <a:t>with</a:t>
            </a:r>
            <a:r>
              <a:rPr lang="fr-FR" dirty="0"/>
              <a:t> </a:t>
            </a:r>
            <a:r>
              <a:rPr lang="fr-FR" dirty="0" err="1"/>
              <a:t>dependent</a:t>
            </a:r>
            <a:r>
              <a:rPr lang="fr-FR" dirty="0"/>
              <a:t> variable (</a:t>
            </a:r>
            <a:r>
              <a:rPr lang="fr-FR" dirty="0" err="1"/>
              <a:t>Within</a:t>
            </a:r>
            <a:r>
              <a:rPr lang="fr-FR" dirty="0"/>
              <a:t>):</a:t>
            </a:r>
          </a:p>
        </p:txBody>
      </p:sp>
      <p:sp>
        <p:nvSpPr>
          <p:cNvPr id="3" name="Espace réservé du contenu 2"/>
          <p:cNvSpPr>
            <a:spLocks noGrp="1"/>
          </p:cNvSpPr>
          <p:nvPr>
            <p:ph idx="1"/>
          </p:nvPr>
        </p:nvSpPr>
        <p:spPr/>
        <p:txBody>
          <a:bodyPr/>
          <a:lstStyle/>
          <a:p>
            <a:pPr marL="0" indent="0">
              <a:buNone/>
            </a:pPr>
            <a:r>
              <a:rPr lang="fr-FR" dirty="0"/>
              <a:t>Time trend (</a:t>
            </a:r>
            <a:r>
              <a:rPr lang="fr-FR" dirty="0" err="1"/>
              <a:t>year</a:t>
            </a:r>
            <a:r>
              <a:rPr lang="fr-FR" dirty="0"/>
              <a:t>) = check if unit </a:t>
            </a:r>
            <a:r>
              <a:rPr lang="fr-FR" dirty="0" err="1"/>
              <a:t>root</a:t>
            </a:r>
            <a:r>
              <a:rPr lang="fr-FR" dirty="0"/>
              <a:t>.</a:t>
            </a:r>
          </a:p>
          <a:p>
            <a:pPr marL="0" indent="0">
              <a:buNone/>
            </a:pPr>
            <a:endParaRPr lang="fr-FR" dirty="0"/>
          </a:p>
          <a:p>
            <a:pPr marL="0" indent="0">
              <a:buNone/>
            </a:pPr>
            <a:r>
              <a:rPr lang="fr-FR" dirty="0" err="1"/>
              <a:t>Dependent</a:t>
            </a:r>
            <a:r>
              <a:rPr lang="fr-FR" dirty="0"/>
              <a:t>: </a:t>
            </a:r>
            <a:r>
              <a:rPr lang="fr-FR" dirty="0" err="1"/>
              <a:t>Growth</a:t>
            </a:r>
            <a:r>
              <a:rPr lang="fr-FR" dirty="0"/>
              <a:t> of GDP/</a:t>
            </a:r>
            <a:r>
              <a:rPr lang="fr-FR" dirty="0" err="1"/>
              <a:t>head</a:t>
            </a:r>
            <a:endParaRPr lang="fr-FR" dirty="0"/>
          </a:p>
          <a:p>
            <a:pPr marL="0" indent="0">
              <a:buNone/>
            </a:pPr>
            <a:r>
              <a:rPr lang="fr-FR" dirty="0" err="1"/>
              <a:t>Explanatory</a:t>
            </a:r>
            <a:r>
              <a:rPr lang="fr-FR" dirty="0"/>
              <a:t> variables:</a:t>
            </a:r>
          </a:p>
          <a:p>
            <a:pPr marL="0" indent="0">
              <a:buNone/>
            </a:pPr>
            <a:r>
              <a:rPr lang="fr-FR" dirty="0"/>
              <a:t>Policy</a:t>
            </a:r>
          </a:p>
          <a:p>
            <a:pPr marL="0" indent="0">
              <a:buNone/>
            </a:pPr>
            <a:r>
              <a:rPr lang="fr-FR" dirty="0"/>
              <a:t>M2/GDP</a:t>
            </a:r>
          </a:p>
          <a:p>
            <a:pPr marL="0" indent="0">
              <a:buNone/>
            </a:pPr>
            <a:r>
              <a:rPr lang="fr-FR" dirty="0" err="1"/>
              <a:t>Lag</a:t>
            </a:r>
            <a:r>
              <a:rPr lang="fr-FR" dirty="0"/>
              <a:t>(</a:t>
            </a:r>
            <a:r>
              <a:rPr lang="fr-FR" dirty="0" err="1"/>
              <a:t>Growth</a:t>
            </a:r>
            <a:r>
              <a:rPr lang="fr-FR" dirty="0"/>
              <a:t> of GDP/</a:t>
            </a:r>
            <a:r>
              <a:rPr lang="fr-FR" dirty="0" err="1"/>
              <a:t>head</a:t>
            </a:r>
            <a:r>
              <a:rPr lang="fr-FR" dirty="0"/>
              <a:t>)</a:t>
            </a:r>
          </a:p>
        </p:txBody>
      </p:sp>
    </p:spTree>
    <p:extLst>
      <p:ext uri="{BB962C8B-B14F-4D97-AF65-F5344CB8AC3E}">
        <p14:creationId xmlns:p14="http://schemas.microsoft.com/office/powerpoint/2010/main" val="1663406157"/>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re 1"/>
          <p:cNvSpPr>
            <a:spLocks noGrp="1"/>
          </p:cNvSpPr>
          <p:nvPr>
            <p:ph type="title"/>
          </p:nvPr>
        </p:nvSpPr>
        <p:spPr>
          <a:xfrm>
            <a:off x="457200" y="274638"/>
            <a:ext cx="8229600" cy="3225800"/>
          </a:xfrm>
        </p:spPr>
        <p:txBody>
          <a:bodyPr>
            <a:normAutofit fontScale="90000"/>
          </a:bodyPr>
          <a:lstStyle/>
          <a:p>
            <a:r>
              <a:rPr lang="fr-FR" altLang="fr-FR" dirty="0"/>
              <a:t>3 </a:t>
            </a:r>
            <a:r>
              <a:rPr lang="fr-FR" altLang="fr-FR" dirty="0" err="1"/>
              <a:t>within</a:t>
            </a:r>
            <a:r>
              <a:rPr lang="fr-FR" altLang="fr-FR" dirty="0"/>
              <a:t> </a:t>
            </a:r>
            <a:r>
              <a:rPr lang="fr-FR" altLang="fr-FR" dirty="0" err="1"/>
              <a:t>transformed</a:t>
            </a:r>
            <a:r>
              <a:rPr lang="fr-FR" altLang="fr-FR" dirty="0"/>
              <a:t> </a:t>
            </a:r>
            <a:r>
              <a:rPr lang="fr-FR" altLang="fr-FR" dirty="0" err="1"/>
              <a:t>regressors</a:t>
            </a:r>
            <a:r>
              <a:rPr lang="fr-FR" altLang="fr-FR" dirty="0"/>
              <a:t> </a:t>
            </a:r>
            <a:r>
              <a:rPr lang="fr-FR" altLang="fr-FR" dirty="0" err="1"/>
              <a:t>with</a:t>
            </a:r>
            <a:r>
              <a:rPr lang="fr-FR" altLang="fr-FR" dirty="0"/>
              <a:t> </a:t>
            </a:r>
            <a:r>
              <a:rPr lang="fr-FR" altLang="fr-FR" dirty="0" err="1"/>
              <a:t>correlation</a:t>
            </a:r>
            <a:r>
              <a:rPr lang="fr-FR" altLang="fr-FR" dirty="0"/>
              <a:t> </a:t>
            </a:r>
            <a:r>
              <a:rPr lang="fr-FR" altLang="fr-FR" dirty="0" err="1"/>
              <a:t>with</a:t>
            </a:r>
            <a:r>
              <a:rPr lang="fr-FR" altLang="fr-FR" dirty="0"/>
              <a:t> </a:t>
            </a:r>
            <a:r>
              <a:rPr lang="fr-FR" altLang="fr-FR" dirty="0" err="1"/>
              <a:t>dependent</a:t>
            </a:r>
            <a:r>
              <a:rPr lang="fr-FR" altLang="fr-FR" dirty="0"/>
              <a:t> </a:t>
            </a:r>
            <a:r>
              <a:rPr lang="fr-FR" altLang="fr-FR" dirty="0" err="1"/>
              <a:t>different</a:t>
            </a:r>
            <a:r>
              <a:rPr lang="fr-FR" altLang="fr-FR" dirty="0"/>
              <a:t> </a:t>
            </a:r>
            <a:r>
              <a:rPr lang="fr-FR" altLang="fr-FR" dirty="0" err="1"/>
              <a:t>from</a:t>
            </a:r>
            <a:r>
              <a:rPr lang="fr-FR" altLang="fr-FR" dirty="0"/>
              <a:t> </a:t>
            </a:r>
            <a:r>
              <a:rPr lang="fr-FR" altLang="fr-FR" dirty="0" err="1"/>
              <a:t>zero</a:t>
            </a:r>
            <a:r>
              <a:rPr lang="fr-FR" altLang="fr-FR" dirty="0"/>
              <a:t>. </a:t>
            </a:r>
            <a:r>
              <a:rPr lang="fr-FR" altLang="fr-FR" dirty="0" err="1"/>
              <a:t>Correlation</a:t>
            </a:r>
            <a:r>
              <a:rPr lang="fr-FR" altLang="fr-FR" dirty="0"/>
              <a:t> wM2 </a:t>
            </a:r>
            <a:r>
              <a:rPr lang="fr-FR" altLang="fr-FR" dirty="0" err="1"/>
              <a:t>with</a:t>
            </a:r>
            <a:r>
              <a:rPr lang="fr-FR" altLang="fr-FR" dirty="0"/>
              <a:t> trend, </a:t>
            </a:r>
            <a:r>
              <a:rPr lang="fr-FR" altLang="fr-FR" dirty="0" err="1"/>
              <a:t>Autocorr</a:t>
            </a:r>
            <a:r>
              <a:rPr lang="fr-FR" altLang="fr-FR" dirty="0"/>
              <a:t> </a:t>
            </a:r>
            <a:r>
              <a:rPr lang="fr-FR" altLang="fr-FR" dirty="0" err="1"/>
              <a:t>wgdpg</a:t>
            </a:r>
            <a:r>
              <a:rPr lang="fr-FR" altLang="fr-FR" dirty="0"/>
              <a:t>: -0.03 for 217 obs.</a:t>
            </a:r>
          </a:p>
        </p:txBody>
      </p:sp>
      <p:sp>
        <p:nvSpPr>
          <p:cNvPr id="17411" name="Rectangle 2"/>
          <p:cNvSpPr>
            <a:spLocks noChangeArrowheads="1"/>
          </p:cNvSpPr>
          <p:nvPr/>
        </p:nvSpPr>
        <p:spPr bwMode="auto">
          <a:xfrm>
            <a:off x="107950" y="3933825"/>
            <a:ext cx="903605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sz="1800">
                <a:latin typeface="Times New Roman" pitchFamily="18" charset="0"/>
              </a:rPr>
              <a:t> </a:t>
            </a:r>
            <a:r>
              <a:rPr lang="fr-FR" altLang="fr-FR" sz="2400">
                <a:latin typeface="Times New Roman" pitchFamily="18" charset="0"/>
              </a:rPr>
              <a:t>|                   year         wgdpg    </a:t>
            </a:r>
            <a:r>
              <a:rPr lang="fr-FR" altLang="fr-FR" sz="2400" b="1">
                <a:solidFill>
                  <a:srgbClr val="FF0000"/>
                </a:solidFill>
                <a:latin typeface="Times New Roman" pitchFamily="18" charset="0"/>
              </a:rPr>
              <a:t>Between</a:t>
            </a:r>
            <a:r>
              <a:rPr lang="fr-FR" altLang="fr-FR" sz="2400">
                <a:latin typeface="Times New Roman" pitchFamily="18" charset="0"/>
              </a:rPr>
              <a:t>    wpolicy    wlgdp  </a:t>
            </a:r>
          </a:p>
          <a:p>
            <a:pPr eaLnBrk="1" hangingPunct="1">
              <a:spcBef>
                <a:spcPct val="0"/>
              </a:spcBef>
              <a:buFontTx/>
              <a:buNone/>
            </a:pPr>
            <a:r>
              <a:rPr lang="fr-FR" altLang="fr-FR" sz="2400">
                <a:latin typeface="Times New Roman" pitchFamily="18" charset="0"/>
              </a:rPr>
              <a:t>       wgdpg |  -0.2737  </a:t>
            </a:r>
          </a:p>
          <a:p>
            <a:pPr eaLnBrk="1" hangingPunct="1">
              <a:spcBef>
                <a:spcPct val="0"/>
              </a:spcBef>
              <a:buFontTx/>
              <a:buNone/>
            </a:pPr>
            <a:r>
              <a:rPr lang="fr-FR" altLang="fr-FR" sz="2400">
                <a:latin typeface="Times New Roman" pitchFamily="18" charset="0"/>
              </a:rPr>
              <a:t>     wpolicy |   0.1806   </a:t>
            </a:r>
            <a:r>
              <a:rPr lang="fr-FR" altLang="fr-FR" sz="2400" b="1">
                <a:solidFill>
                  <a:schemeClr val="tx2"/>
                </a:solidFill>
                <a:latin typeface="Times New Roman" pitchFamily="18" charset="0"/>
              </a:rPr>
              <a:t>0.2488</a:t>
            </a:r>
            <a:r>
              <a:rPr lang="fr-FR" altLang="fr-FR" sz="2400">
                <a:latin typeface="Times New Roman" pitchFamily="18" charset="0"/>
              </a:rPr>
              <a:t> </a:t>
            </a:r>
            <a:r>
              <a:rPr lang="fr-FR" altLang="fr-FR" sz="2400" b="1">
                <a:latin typeface="Times New Roman" pitchFamily="18" charset="0"/>
              </a:rPr>
              <a:t>≠</a:t>
            </a:r>
            <a:r>
              <a:rPr lang="fr-FR" altLang="fr-FR" sz="2400">
                <a:latin typeface="Times New Roman" pitchFamily="18" charset="0"/>
              </a:rPr>
              <a:t>  </a:t>
            </a:r>
            <a:r>
              <a:rPr lang="fr-FR" altLang="fr-FR" sz="2400" b="1">
                <a:solidFill>
                  <a:srgbClr val="FF0000"/>
                </a:solidFill>
                <a:latin typeface="Times New Roman" pitchFamily="18" charset="0"/>
              </a:rPr>
              <a:t>0.7091</a:t>
            </a:r>
          </a:p>
          <a:p>
            <a:pPr eaLnBrk="1" hangingPunct="1">
              <a:spcBef>
                <a:spcPct val="0"/>
              </a:spcBef>
              <a:buFontTx/>
              <a:buNone/>
            </a:pPr>
            <a:r>
              <a:rPr lang="fr-FR" altLang="fr-FR" sz="2400">
                <a:latin typeface="Times New Roman" pitchFamily="18" charset="0"/>
              </a:rPr>
              <a:t>        wlgdp |   0.2887  </a:t>
            </a:r>
            <a:r>
              <a:rPr lang="fr-FR" altLang="fr-FR" sz="2400" b="1">
                <a:solidFill>
                  <a:schemeClr val="tx2"/>
                </a:solidFill>
                <a:latin typeface="Times New Roman" pitchFamily="18" charset="0"/>
              </a:rPr>
              <a:t>-0.2519</a:t>
            </a:r>
            <a:r>
              <a:rPr lang="fr-FR" altLang="fr-FR" sz="2400">
                <a:latin typeface="Times New Roman" pitchFamily="18" charset="0"/>
              </a:rPr>
              <a:t> </a:t>
            </a:r>
            <a:r>
              <a:rPr lang="fr-FR" altLang="fr-FR" sz="2400" b="1">
                <a:latin typeface="Times New Roman" pitchFamily="18" charset="0"/>
              </a:rPr>
              <a:t>≠</a:t>
            </a:r>
            <a:r>
              <a:rPr lang="fr-FR" altLang="fr-FR" sz="2400">
                <a:latin typeface="Times New Roman" pitchFamily="18" charset="0"/>
              </a:rPr>
              <a:t>   </a:t>
            </a:r>
            <a:r>
              <a:rPr lang="fr-FR" altLang="fr-FR" sz="2400" b="1">
                <a:solidFill>
                  <a:srgbClr val="FF0000"/>
                </a:solidFill>
                <a:latin typeface="Times New Roman" pitchFamily="18" charset="0"/>
              </a:rPr>
              <a:t>0.2787</a:t>
            </a:r>
            <a:r>
              <a:rPr lang="fr-FR" altLang="fr-FR" sz="2400">
                <a:latin typeface="Times New Roman" pitchFamily="18" charset="0"/>
              </a:rPr>
              <a:t>     0.0543</a:t>
            </a:r>
          </a:p>
          <a:p>
            <a:pPr eaLnBrk="1" hangingPunct="1">
              <a:spcBef>
                <a:spcPct val="0"/>
              </a:spcBef>
              <a:buFontTx/>
              <a:buNone/>
            </a:pPr>
            <a:r>
              <a:rPr lang="fr-FR" altLang="fr-FR" sz="2400">
                <a:latin typeface="Times New Roman" pitchFamily="18" charset="0"/>
              </a:rPr>
              <a:t>       wm2_1|  0.5588  </a:t>
            </a:r>
            <a:r>
              <a:rPr lang="fr-FR" altLang="fr-FR" sz="2400" b="1">
                <a:solidFill>
                  <a:schemeClr val="tx2"/>
                </a:solidFill>
                <a:latin typeface="Times New Roman" pitchFamily="18" charset="0"/>
              </a:rPr>
              <a:t>-0.1816</a:t>
            </a:r>
            <a:r>
              <a:rPr lang="fr-FR" altLang="fr-FR" sz="2400">
                <a:latin typeface="Times New Roman" pitchFamily="18" charset="0"/>
              </a:rPr>
              <a:t> </a:t>
            </a:r>
            <a:r>
              <a:rPr lang="fr-FR" altLang="fr-FR" sz="2400" b="1">
                <a:latin typeface="Times New Roman" pitchFamily="18" charset="0"/>
              </a:rPr>
              <a:t>≠</a:t>
            </a:r>
            <a:r>
              <a:rPr lang="fr-FR" altLang="fr-FR" sz="2400">
                <a:latin typeface="Times New Roman" pitchFamily="18" charset="0"/>
              </a:rPr>
              <a:t>   </a:t>
            </a:r>
            <a:r>
              <a:rPr lang="fr-FR" altLang="fr-FR" sz="2400" b="1">
                <a:solidFill>
                  <a:srgbClr val="FF0000"/>
                </a:solidFill>
                <a:latin typeface="Times New Roman" pitchFamily="18" charset="0"/>
              </a:rPr>
              <a:t>0.2116</a:t>
            </a:r>
            <a:r>
              <a:rPr lang="fr-FR" altLang="fr-FR" sz="2400">
                <a:latin typeface="Times New Roman" pitchFamily="18" charset="0"/>
              </a:rPr>
              <a:t>       0.0179     0.2009   </a:t>
            </a:r>
          </a:p>
        </p:txBody>
      </p:sp>
    </p:spTree>
    <p:extLst>
      <p:ext uri="{BB962C8B-B14F-4D97-AF65-F5344CB8AC3E}">
        <p14:creationId xmlns:p14="http://schemas.microsoft.com/office/powerpoint/2010/main" val="372020757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Espace réservé du contenu 3"/>
          <p:cNvSpPr>
            <a:spLocks noGrp="1"/>
          </p:cNvSpPr>
          <p:nvPr>
            <p:ph idx="1"/>
          </p:nvPr>
        </p:nvSpPr>
        <p:spPr>
          <a:xfrm>
            <a:off x="457200" y="0"/>
            <a:ext cx="8229600" cy="6858000"/>
          </a:xfrm>
        </p:spPr>
        <p:txBody>
          <a:bodyPr/>
          <a:lstStyle/>
          <a:p>
            <a:pPr marL="0" indent="0">
              <a:buFontTx/>
              <a:buNone/>
            </a:pPr>
            <a:r>
              <a:rPr lang="fr-FR" altLang="fr-FR"/>
              <a:t>Gdp growth is the first difference of log of gdp per head: persistence of gdp per head is wiped out by first differences. In this sample, its auto-correlation is close to zero: no dynamic model necessary. </a:t>
            </a:r>
            <a:r>
              <a:rPr lang="fr-FR" altLang="fr-FR" b="1"/>
              <a:t>No long term interpretation of between.</a:t>
            </a:r>
          </a:p>
          <a:p>
            <a:pPr marL="0" indent="0">
              <a:buFontTx/>
              <a:buNone/>
            </a:pPr>
            <a:r>
              <a:rPr lang="fr-FR" altLang="fr-FR"/>
              <a:t>No very large correlations (&gt;0.8) with trend: </a:t>
            </a:r>
            <a:r>
              <a:rPr lang="fr-FR" altLang="fr-FR" b="1"/>
              <a:t>within may not be subject to spurious time series correlation.</a:t>
            </a:r>
          </a:p>
          <a:p>
            <a:pPr marL="0" indent="0">
              <a:buFontTx/>
              <a:buNone/>
            </a:pPr>
            <a:r>
              <a:rPr lang="fr-FR" altLang="fr-FR"/>
              <a:t>The between / within discrepancy may be related to cov(x(i.), alpha(i) ) endogeneity bias for between.</a:t>
            </a:r>
          </a:p>
        </p:txBody>
      </p:sp>
    </p:spTree>
    <p:extLst>
      <p:ext uri="{BB962C8B-B14F-4D97-AF65-F5344CB8AC3E}">
        <p14:creationId xmlns:p14="http://schemas.microsoft.com/office/powerpoint/2010/main" val="97947164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63" y="76200"/>
            <a:ext cx="9250363" cy="678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6791096"/>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15888"/>
            <a:ext cx="8909050" cy="653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7471504"/>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u="sng" dirty="0" err="1"/>
              <a:t>Zero</a:t>
            </a:r>
            <a:r>
              <a:rPr lang="fr-FR" dirty="0"/>
              <a:t> simple </a:t>
            </a:r>
            <a:r>
              <a:rPr lang="fr-FR" dirty="0" err="1"/>
              <a:t>correlation</a:t>
            </a:r>
            <a:r>
              <a:rPr lang="fr-FR" dirty="0"/>
              <a:t> </a:t>
            </a:r>
            <a:r>
              <a:rPr lang="fr-FR" dirty="0" err="1"/>
              <a:t>with</a:t>
            </a:r>
            <a:r>
              <a:rPr lang="fr-FR" dirty="0"/>
              <a:t> </a:t>
            </a:r>
            <a:r>
              <a:rPr lang="fr-FR" dirty="0" err="1"/>
              <a:t>dependent</a:t>
            </a:r>
            <a:r>
              <a:rPr lang="fr-FR" dirty="0"/>
              <a:t> variable (</a:t>
            </a:r>
            <a:r>
              <a:rPr lang="fr-FR" dirty="0" err="1"/>
              <a:t>Within</a:t>
            </a:r>
            <a:r>
              <a:rPr lang="fr-FR" dirty="0"/>
              <a:t>):</a:t>
            </a:r>
          </a:p>
        </p:txBody>
      </p:sp>
      <p:sp>
        <p:nvSpPr>
          <p:cNvPr id="3" name="Espace réservé du contenu 2"/>
          <p:cNvSpPr>
            <a:spLocks noGrp="1"/>
          </p:cNvSpPr>
          <p:nvPr>
            <p:ph idx="1"/>
          </p:nvPr>
        </p:nvSpPr>
        <p:spPr/>
        <p:txBody>
          <a:bodyPr/>
          <a:lstStyle/>
          <a:p>
            <a:pPr marL="0" indent="0">
              <a:buNone/>
            </a:pPr>
            <a:r>
              <a:rPr lang="fr-FR" dirty="0"/>
              <a:t>Time trend (</a:t>
            </a:r>
            <a:r>
              <a:rPr lang="fr-FR" dirty="0" err="1"/>
              <a:t>year</a:t>
            </a:r>
            <a:r>
              <a:rPr lang="fr-FR" dirty="0"/>
              <a:t>) = check if unit </a:t>
            </a:r>
            <a:r>
              <a:rPr lang="fr-FR" dirty="0" err="1"/>
              <a:t>root</a:t>
            </a:r>
            <a:r>
              <a:rPr lang="fr-FR" dirty="0"/>
              <a:t>.</a:t>
            </a:r>
          </a:p>
          <a:p>
            <a:pPr marL="0" indent="0">
              <a:buNone/>
            </a:pPr>
            <a:endParaRPr lang="fr-FR" dirty="0"/>
          </a:p>
          <a:p>
            <a:pPr marL="0" indent="0">
              <a:buNone/>
            </a:pPr>
            <a:r>
              <a:rPr lang="fr-FR" dirty="0" err="1"/>
              <a:t>Dependent</a:t>
            </a:r>
            <a:r>
              <a:rPr lang="fr-FR" dirty="0"/>
              <a:t>: </a:t>
            </a:r>
            <a:r>
              <a:rPr lang="fr-FR" dirty="0" err="1"/>
              <a:t>Growth</a:t>
            </a:r>
            <a:r>
              <a:rPr lang="fr-FR" dirty="0"/>
              <a:t> of GDP/</a:t>
            </a:r>
            <a:r>
              <a:rPr lang="fr-FR" dirty="0" err="1"/>
              <a:t>head</a:t>
            </a:r>
            <a:endParaRPr lang="fr-FR" dirty="0"/>
          </a:p>
          <a:p>
            <a:pPr marL="0" indent="0">
              <a:buNone/>
            </a:pPr>
            <a:r>
              <a:rPr lang="fr-FR" dirty="0" err="1"/>
              <a:t>Explanatory</a:t>
            </a:r>
            <a:r>
              <a:rPr lang="fr-FR" dirty="0"/>
              <a:t> variables:</a:t>
            </a:r>
          </a:p>
          <a:p>
            <a:pPr marL="0" indent="0">
              <a:buNone/>
            </a:pPr>
            <a:r>
              <a:rPr lang="fr-FR" dirty="0" err="1"/>
              <a:t>Aid</a:t>
            </a:r>
            <a:r>
              <a:rPr lang="fr-FR" dirty="0"/>
              <a:t>/GDP</a:t>
            </a:r>
          </a:p>
          <a:p>
            <a:pPr marL="0" indent="0">
              <a:buNone/>
            </a:pPr>
            <a:r>
              <a:rPr lang="fr-FR" dirty="0" err="1"/>
              <a:t>Aid</a:t>
            </a:r>
            <a:r>
              <a:rPr lang="fr-FR" dirty="0"/>
              <a:t>/GDP * Policy</a:t>
            </a:r>
          </a:p>
          <a:p>
            <a:pPr marL="0" indent="0">
              <a:buNone/>
            </a:pPr>
            <a:r>
              <a:rPr lang="fr-FR" dirty="0" err="1"/>
              <a:t>Aid</a:t>
            </a:r>
            <a:r>
              <a:rPr lang="fr-FR" dirty="0"/>
              <a:t>/GDP* </a:t>
            </a:r>
            <a:r>
              <a:rPr lang="fr-FR" dirty="0" err="1"/>
              <a:t>Aid</a:t>
            </a:r>
            <a:r>
              <a:rPr lang="fr-FR" dirty="0"/>
              <a:t>/GDP * Policy</a:t>
            </a:r>
          </a:p>
          <a:p>
            <a:pPr marL="0" indent="0">
              <a:buNone/>
            </a:pPr>
            <a:endParaRPr lang="fr-FR" dirty="0"/>
          </a:p>
        </p:txBody>
      </p:sp>
    </p:spTree>
    <p:extLst>
      <p:ext uri="{BB962C8B-B14F-4D97-AF65-F5344CB8AC3E}">
        <p14:creationId xmlns:p14="http://schemas.microsoft.com/office/powerpoint/2010/main" val="344431315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1"/>
          <p:cNvSpPr>
            <a:spLocks noGrp="1"/>
          </p:cNvSpPr>
          <p:nvPr>
            <p:ph type="title"/>
          </p:nvPr>
        </p:nvSpPr>
        <p:spPr>
          <a:xfrm>
            <a:off x="0" y="274638"/>
            <a:ext cx="8964613" cy="2362200"/>
          </a:xfrm>
        </p:spPr>
        <p:txBody>
          <a:bodyPr/>
          <a:lstStyle/>
          <a:p>
            <a:r>
              <a:rPr lang="fr-FR" altLang="fr-FR" sz="3600"/>
              <a:t>Poorly correlated </a:t>
            </a:r>
            <a:r>
              <a:rPr lang="fr-FR" altLang="fr-FR" sz="3600" b="1"/>
              <a:t>(&lt;0.1)</a:t>
            </a:r>
            <a:r>
              <a:rPr lang="fr-FR" altLang="fr-FR" sz="3600"/>
              <a:t> with dependent</a:t>
            </a:r>
            <a:br>
              <a:rPr lang="fr-FR" altLang="fr-FR" sz="3600"/>
            </a:br>
            <a:r>
              <a:rPr lang="fr-FR" altLang="fr-FR" sz="3600"/>
              <a:t>(and highly correlated together):</a:t>
            </a:r>
            <a:br>
              <a:rPr lang="fr-FR" altLang="fr-FR" sz="3600"/>
            </a:br>
            <a:r>
              <a:rPr lang="fr-FR" altLang="fr-FR" sz="3600"/>
              <a:t>spurious parameter identification problem</a:t>
            </a:r>
            <a:br>
              <a:rPr lang="fr-FR" altLang="fr-FR" sz="3600"/>
            </a:br>
            <a:r>
              <a:rPr lang="fr-FR" altLang="fr-FR" sz="3600"/>
              <a:t>if not robust to outliers: spurious</a:t>
            </a:r>
          </a:p>
        </p:txBody>
      </p:sp>
      <p:sp>
        <p:nvSpPr>
          <p:cNvPr id="32771" name="Rectangle 2"/>
          <p:cNvSpPr>
            <a:spLocks noChangeArrowheads="1"/>
          </p:cNvSpPr>
          <p:nvPr/>
        </p:nvSpPr>
        <p:spPr bwMode="auto">
          <a:xfrm>
            <a:off x="-3175" y="2349500"/>
            <a:ext cx="8785225"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fr-FR" altLang="fr-FR" sz="1800">
              <a:latin typeface="Times New Roman" pitchFamily="18" charset="0"/>
            </a:endParaRPr>
          </a:p>
          <a:p>
            <a:pPr eaLnBrk="1" hangingPunct="1">
              <a:spcBef>
                <a:spcPct val="0"/>
              </a:spcBef>
              <a:buFontTx/>
              <a:buNone/>
            </a:pPr>
            <a:r>
              <a:rPr lang="fr-FR" altLang="fr-FR" sz="1800">
                <a:latin typeface="Times New Roman" pitchFamily="18" charset="0"/>
              </a:rPr>
              <a:t>   </a:t>
            </a:r>
            <a:r>
              <a:rPr lang="fr-FR" altLang="fr-FR" sz="2400">
                <a:latin typeface="Times New Roman" pitchFamily="18" charset="0"/>
              </a:rPr>
              <a:t>                   |     year     wgdpg     weda    wedapol weda2plcy  wassas </a:t>
            </a:r>
          </a:p>
          <a:p>
            <a:pPr eaLnBrk="1" hangingPunct="1">
              <a:spcBef>
                <a:spcPct val="0"/>
              </a:spcBef>
              <a:buFontTx/>
              <a:buNone/>
            </a:pPr>
            <a:r>
              <a:rPr lang="fr-FR" altLang="fr-FR" sz="2400">
                <a:latin typeface="Times New Roman" pitchFamily="18" charset="0"/>
              </a:rPr>
              <a:t>-------------+---------------------------------------------------------------</a:t>
            </a:r>
          </a:p>
          <a:p>
            <a:pPr eaLnBrk="1" hangingPunct="1">
              <a:spcBef>
                <a:spcPct val="0"/>
              </a:spcBef>
              <a:buFontTx/>
              <a:buNone/>
            </a:pPr>
            <a:r>
              <a:rPr lang="fr-FR" altLang="fr-FR" sz="2400">
                <a:latin typeface="Times New Roman" pitchFamily="18" charset="0"/>
              </a:rPr>
              <a:t>        weda      |   0.3601   </a:t>
            </a:r>
            <a:r>
              <a:rPr lang="fr-FR" altLang="fr-FR" sz="2400" b="1">
                <a:solidFill>
                  <a:srgbClr val="FF0000"/>
                </a:solidFill>
                <a:latin typeface="Times New Roman" pitchFamily="18" charset="0"/>
              </a:rPr>
              <a:t>0.0079</a:t>
            </a:r>
            <a:r>
              <a:rPr lang="fr-FR" altLang="fr-FR" sz="2400">
                <a:latin typeface="Times New Roman" pitchFamily="18" charset="0"/>
              </a:rPr>
              <a:t>   </a:t>
            </a:r>
          </a:p>
          <a:p>
            <a:pPr eaLnBrk="1" hangingPunct="1">
              <a:spcBef>
                <a:spcPct val="0"/>
              </a:spcBef>
              <a:buFontTx/>
              <a:buNone/>
            </a:pPr>
            <a:r>
              <a:rPr lang="fr-FR" altLang="fr-FR" sz="2400">
                <a:latin typeface="Times New Roman" pitchFamily="18" charset="0"/>
              </a:rPr>
              <a:t>  wedapolicy  |   0.1748   </a:t>
            </a:r>
            <a:r>
              <a:rPr lang="fr-FR" altLang="fr-FR" sz="2400" b="1">
                <a:solidFill>
                  <a:srgbClr val="FF0000"/>
                </a:solidFill>
                <a:latin typeface="Times New Roman" pitchFamily="18" charset="0"/>
              </a:rPr>
              <a:t>0.0883</a:t>
            </a:r>
            <a:r>
              <a:rPr lang="fr-FR" altLang="fr-FR" sz="2400">
                <a:latin typeface="Times New Roman" pitchFamily="18" charset="0"/>
              </a:rPr>
              <a:t>   0.4488   </a:t>
            </a:r>
          </a:p>
          <a:p>
            <a:pPr eaLnBrk="1" hangingPunct="1">
              <a:spcBef>
                <a:spcPct val="0"/>
              </a:spcBef>
              <a:buFontTx/>
              <a:buNone/>
            </a:pPr>
            <a:r>
              <a:rPr lang="fr-FR" altLang="fr-FR" sz="2400">
                <a:latin typeface="Times New Roman" pitchFamily="18" charset="0"/>
              </a:rPr>
              <a:t> weda2policy |   0.1383   </a:t>
            </a:r>
            <a:r>
              <a:rPr lang="fr-FR" altLang="fr-FR" sz="2400" b="1">
                <a:solidFill>
                  <a:srgbClr val="FF0000"/>
                </a:solidFill>
                <a:latin typeface="Times New Roman" pitchFamily="18" charset="0"/>
              </a:rPr>
              <a:t>0.0428</a:t>
            </a:r>
            <a:r>
              <a:rPr lang="fr-FR" altLang="fr-FR" sz="2400">
                <a:latin typeface="Times New Roman" pitchFamily="18" charset="0"/>
              </a:rPr>
              <a:t>   0.5147   </a:t>
            </a:r>
            <a:r>
              <a:rPr lang="fr-FR" altLang="fr-FR" sz="2400" b="1">
                <a:solidFill>
                  <a:srgbClr val="FF0000"/>
                </a:solidFill>
                <a:latin typeface="Times New Roman" pitchFamily="18" charset="0"/>
              </a:rPr>
              <a:t>0.9273</a:t>
            </a:r>
            <a:r>
              <a:rPr lang="fr-FR" altLang="fr-FR" sz="2400">
                <a:latin typeface="Times New Roman" pitchFamily="18" charset="0"/>
              </a:rPr>
              <a:t>   </a:t>
            </a:r>
          </a:p>
          <a:p>
            <a:pPr eaLnBrk="1" hangingPunct="1">
              <a:spcBef>
                <a:spcPct val="0"/>
              </a:spcBef>
              <a:buFontTx/>
              <a:buNone/>
            </a:pPr>
            <a:r>
              <a:rPr lang="fr-FR" altLang="fr-FR" sz="2400">
                <a:latin typeface="Times New Roman" pitchFamily="18" charset="0"/>
              </a:rPr>
              <a:t>      wassas     |   0.0761  </a:t>
            </a:r>
            <a:r>
              <a:rPr lang="fr-FR" altLang="fr-FR" sz="2400" b="1">
                <a:solidFill>
                  <a:srgbClr val="FF0000"/>
                </a:solidFill>
                <a:latin typeface="Times New Roman" pitchFamily="18" charset="0"/>
              </a:rPr>
              <a:t>-0.0592</a:t>
            </a:r>
            <a:r>
              <a:rPr lang="fr-FR" altLang="fr-FR" sz="2400">
                <a:latin typeface="Times New Roman" pitchFamily="18" charset="0"/>
              </a:rPr>
              <a:t>   0.0306   0.0162  -0.0020   </a:t>
            </a:r>
          </a:p>
          <a:p>
            <a:pPr eaLnBrk="1" hangingPunct="1">
              <a:spcBef>
                <a:spcPct val="0"/>
              </a:spcBef>
              <a:buFontTx/>
              <a:buNone/>
            </a:pPr>
            <a:r>
              <a:rPr lang="fr-FR" altLang="fr-FR" sz="2400">
                <a:latin typeface="Times New Roman" pitchFamily="18" charset="0"/>
              </a:rPr>
              <a:t> wethnfassas  |   0.0296   </a:t>
            </a:r>
            <a:r>
              <a:rPr lang="fr-FR" altLang="fr-FR" sz="2400" b="1">
                <a:solidFill>
                  <a:srgbClr val="FF0000"/>
                </a:solidFill>
                <a:latin typeface="Times New Roman" pitchFamily="18" charset="0"/>
              </a:rPr>
              <a:t>-0.0219 </a:t>
            </a:r>
            <a:r>
              <a:rPr lang="fr-FR" altLang="fr-FR" sz="2400">
                <a:latin typeface="Times New Roman" pitchFamily="18" charset="0"/>
              </a:rPr>
              <a:t> -0.0003  -0.0070  -0.0088   </a:t>
            </a:r>
            <a:r>
              <a:rPr lang="fr-FR" altLang="fr-FR" sz="2400" b="1">
                <a:solidFill>
                  <a:srgbClr val="FF0000"/>
                </a:solidFill>
                <a:latin typeface="Times New Roman" pitchFamily="18" charset="0"/>
              </a:rPr>
              <a:t>0.8821</a:t>
            </a:r>
            <a:r>
              <a:rPr lang="fr-FR" altLang="fr-FR" sz="2400">
                <a:latin typeface="Times New Roman" pitchFamily="18" charset="0"/>
              </a:rPr>
              <a:t> </a:t>
            </a:r>
          </a:p>
          <a:p>
            <a:pPr eaLnBrk="1" hangingPunct="1">
              <a:spcBef>
                <a:spcPct val="0"/>
              </a:spcBef>
              <a:buFontTx/>
              <a:buNone/>
            </a:pPr>
            <a:endParaRPr lang="fr-FR" altLang="fr-FR" sz="1800">
              <a:latin typeface="Times New Roman" pitchFamily="18" charset="0"/>
            </a:endParaRPr>
          </a:p>
        </p:txBody>
      </p:sp>
    </p:spTree>
    <p:extLst>
      <p:ext uri="{BB962C8B-B14F-4D97-AF65-F5344CB8AC3E}">
        <p14:creationId xmlns:p14="http://schemas.microsoft.com/office/powerpoint/2010/main" val="2718450524"/>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0" y="0"/>
            <a:ext cx="903605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sz="2400">
                <a:latin typeface="Times New Roman" pitchFamily="18" charset="0"/>
              </a:rPr>
              <a:t>                     |    wgdpg  </a:t>
            </a:r>
            <a:r>
              <a:rPr lang="fr-FR" altLang="fr-FR" sz="2400" b="1">
                <a:solidFill>
                  <a:srgbClr val="FF0000"/>
                </a:solidFill>
                <a:latin typeface="Times New Roman" pitchFamily="18" charset="0"/>
              </a:rPr>
              <a:t>between</a:t>
            </a:r>
            <a:r>
              <a:rPr lang="fr-FR" altLang="fr-FR" sz="2400">
                <a:latin typeface="Times New Roman" pitchFamily="18" charset="0"/>
              </a:rPr>
              <a:t>    weda                   wedapolicy</a:t>
            </a:r>
          </a:p>
          <a:p>
            <a:pPr eaLnBrk="1" hangingPunct="1">
              <a:spcBef>
                <a:spcPct val="0"/>
              </a:spcBef>
              <a:buFontTx/>
              <a:buNone/>
            </a:pPr>
            <a:r>
              <a:rPr lang="fr-FR" altLang="fr-FR" sz="2400">
                <a:latin typeface="Times New Roman" pitchFamily="18" charset="0"/>
              </a:rPr>
              <a:t>            weda |   0.0079 </a:t>
            </a:r>
            <a:r>
              <a:rPr lang="fr-FR" altLang="fr-FR" sz="2400" b="1">
                <a:solidFill>
                  <a:srgbClr val="FF0000"/>
                </a:solidFill>
                <a:latin typeface="Times New Roman" pitchFamily="18" charset="0"/>
              </a:rPr>
              <a:t>-0.3417</a:t>
            </a:r>
            <a:r>
              <a:rPr lang="fr-FR" altLang="fr-FR" sz="2400">
                <a:latin typeface="Times New Roman" pitchFamily="18" charset="0"/>
              </a:rPr>
              <a:t> </a:t>
            </a:r>
          </a:p>
          <a:p>
            <a:pPr eaLnBrk="1" hangingPunct="1">
              <a:spcBef>
                <a:spcPct val="0"/>
              </a:spcBef>
              <a:buFontTx/>
              <a:buNone/>
            </a:pPr>
            <a:r>
              <a:rPr lang="fr-FR" altLang="fr-FR" sz="2400">
                <a:latin typeface="Times New Roman" pitchFamily="18" charset="0"/>
              </a:rPr>
              <a:t>  wedapolicy |   0.0883  </a:t>
            </a:r>
            <a:r>
              <a:rPr lang="fr-FR" altLang="fr-FR" sz="2400" b="1">
                <a:solidFill>
                  <a:srgbClr val="FF0000"/>
                </a:solidFill>
                <a:latin typeface="Times New Roman" pitchFamily="18" charset="0"/>
              </a:rPr>
              <a:t>0.1866</a:t>
            </a:r>
            <a:r>
              <a:rPr lang="fr-FR" altLang="fr-FR" sz="2400">
                <a:latin typeface="Times New Roman" pitchFamily="18" charset="0"/>
              </a:rPr>
              <a:t>    0.4488 </a:t>
            </a:r>
            <a:r>
              <a:rPr lang="fr-FR" altLang="fr-FR" sz="2400" b="1">
                <a:solidFill>
                  <a:srgbClr val="FF0000"/>
                </a:solidFill>
                <a:latin typeface="Times New Roman" pitchFamily="18" charset="0"/>
              </a:rPr>
              <a:t>0.5912</a:t>
            </a:r>
            <a:r>
              <a:rPr lang="fr-FR" altLang="fr-FR" sz="2400">
                <a:latin typeface="Times New Roman" pitchFamily="18" charset="0"/>
              </a:rPr>
              <a:t>  </a:t>
            </a:r>
          </a:p>
          <a:p>
            <a:pPr eaLnBrk="1" hangingPunct="1">
              <a:spcBef>
                <a:spcPct val="0"/>
              </a:spcBef>
              <a:buFontTx/>
              <a:buNone/>
            </a:pPr>
            <a:r>
              <a:rPr lang="fr-FR" altLang="fr-FR" sz="2400">
                <a:latin typeface="Times New Roman" pitchFamily="18" charset="0"/>
              </a:rPr>
              <a:t>weda2policy |  0.0428   </a:t>
            </a:r>
            <a:r>
              <a:rPr lang="fr-FR" altLang="fr-FR" sz="2400" b="1">
                <a:solidFill>
                  <a:srgbClr val="FF0000"/>
                </a:solidFill>
                <a:latin typeface="Times New Roman" pitchFamily="18" charset="0"/>
              </a:rPr>
              <a:t>0.0858</a:t>
            </a:r>
            <a:r>
              <a:rPr lang="fr-FR" altLang="fr-FR" sz="2400">
                <a:latin typeface="Times New Roman" pitchFamily="18" charset="0"/>
              </a:rPr>
              <a:t>     0.5147 </a:t>
            </a:r>
            <a:r>
              <a:rPr lang="fr-FR" altLang="fr-FR" sz="2400" b="1">
                <a:solidFill>
                  <a:srgbClr val="FF0000"/>
                </a:solidFill>
                <a:latin typeface="Times New Roman" pitchFamily="18" charset="0"/>
              </a:rPr>
              <a:t>0.6225</a:t>
            </a:r>
            <a:r>
              <a:rPr lang="fr-FR" altLang="fr-FR" sz="2400">
                <a:latin typeface="Times New Roman" pitchFamily="18" charset="0"/>
              </a:rPr>
              <a:t>     0.9273  </a:t>
            </a:r>
            <a:r>
              <a:rPr lang="fr-FR" altLang="fr-FR" sz="2400" b="1">
                <a:solidFill>
                  <a:srgbClr val="FF0000"/>
                </a:solidFill>
                <a:latin typeface="Times New Roman" pitchFamily="18" charset="0"/>
              </a:rPr>
              <a:t>0.9229</a:t>
            </a:r>
          </a:p>
          <a:p>
            <a:pPr eaLnBrk="1" hangingPunct="1">
              <a:spcBef>
                <a:spcPct val="0"/>
              </a:spcBef>
              <a:buFontTx/>
              <a:buNone/>
            </a:pPr>
            <a:endParaRPr lang="fr-FR" altLang="fr-FR" sz="2400" b="1">
              <a:solidFill>
                <a:srgbClr val="FF0000"/>
              </a:solidFill>
              <a:latin typeface="Times New Roman" pitchFamily="18" charset="0"/>
            </a:endParaRPr>
          </a:p>
          <a:p>
            <a:pPr eaLnBrk="1" hangingPunct="1">
              <a:spcBef>
                <a:spcPct val="0"/>
              </a:spcBef>
              <a:buFontTx/>
              <a:buNone/>
            </a:pPr>
            <a:endParaRPr lang="fr-FR" altLang="fr-FR" sz="2400" b="1">
              <a:solidFill>
                <a:srgbClr val="FF0000"/>
              </a:solidFill>
              <a:latin typeface="Times New Roman" pitchFamily="18" charset="0"/>
            </a:endParaRPr>
          </a:p>
          <a:p>
            <a:pPr eaLnBrk="1" hangingPunct="1">
              <a:spcBef>
                <a:spcPct val="0"/>
              </a:spcBef>
              <a:buFontTx/>
              <a:buNone/>
            </a:pPr>
            <a:r>
              <a:rPr lang="fr-FR" altLang="fr-FR" sz="2400" b="1">
                <a:solidFill>
                  <a:srgbClr val="FF0000"/>
                </a:solidFill>
                <a:latin typeface="Times New Roman" pitchFamily="18" charset="0"/>
              </a:rPr>
              <a:t>Parameter identification problem</a:t>
            </a:r>
          </a:p>
          <a:p>
            <a:pPr eaLnBrk="1" hangingPunct="1">
              <a:spcBef>
                <a:spcPct val="0"/>
              </a:spcBef>
              <a:buFontTx/>
              <a:buNone/>
            </a:pPr>
            <a:r>
              <a:rPr lang="fr-FR" altLang="fr-FR" sz="2400" b="1">
                <a:solidFill>
                  <a:srgbClr val="FF0000"/>
                </a:solidFill>
                <a:latin typeface="Times New Roman" pitchFamily="18" charset="0"/>
              </a:rPr>
              <a:t>Check robustness to outliers</a:t>
            </a:r>
          </a:p>
          <a:p>
            <a:pPr eaLnBrk="1" hangingPunct="1">
              <a:spcBef>
                <a:spcPct val="0"/>
              </a:spcBef>
              <a:buFontTx/>
              <a:buNone/>
            </a:pPr>
            <a:endParaRPr lang="fr-FR" altLang="fr-FR" sz="2400">
              <a:latin typeface="Times New Roman" pitchFamily="18" charset="0"/>
            </a:endParaRPr>
          </a:p>
        </p:txBody>
      </p:sp>
    </p:spTree>
    <p:extLst>
      <p:ext uri="{BB962C8B-B14F-4D97-AF65-F5344CB8AC3E}">
        <p14:creationId xmlns:p14="http://schemas.microsoft.com/office/powerpoint/2010/main" val="381676059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338"/>
            <a:ext cx="9248775" cy="678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603337"/>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63" y="0"/>
            <a:ext cx="935513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2163382"/>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Zero</a:t>
            </a:r>
            <a:r>
              <a:rPr lang="fr-FR" dirty="0"/>
              <a:t> </a:t>
            </a:r>
            <a:r>
              <a:rPr lang="fr-FR" dirty="0" err="1"/>
              <a:t>correlation</a:t>
            </a:r>
            <a:r>
              <a:rPr lang="fr-FR" dirty="0"/>
              <a:t> </a:t>
            </a:r>
            <a:r>
              <a:rPr lang="fr-FR" dirty="0" err="1"/>
              <a:t>with</a:t>
            </a:r>
            <a:r>
              <a:rPr lang="fr-FR" dirty="0"/>
              <a:t> </a:t>
            </a:r>
            <a:r>
              <a:rPr lang="fr-FR" dirty="0" err="1"/>
              <a:t>dependent</a:t>
            </a:r>
            <a:endParaRPr lang="fr-FR" dirty="0"/>
          </a:p>
        </p:txBody>
      </p:sp>
      <p:sp>
        <p:nvSpPr>
          <p:cNvPr id="3" name="Espace réservé du contenu 2"/>
          <p:cNvSpPr>
            <a:spLocks noGrp="1"/>
          </p:cNvSpPr>
          <p:nvPr>
            <p:ph idx="1"/>
          </p:nvPr>
        </p:nvSpPr>
        <p:spPr/>
        <p:txBody>
          <a:bodyPr/>
          <a:lstStyle/>
          <a:p>
            <a:pPr marL="0" indent="0">
              <a:buNone/>
            </a:pPr>
            <a:r>
              <a:rPr lang="fr-FR" dirty="0" err="1"/>
              <a:t>Growth</a:t>
            </a:r>
            <a:r>
              <a:rPr lang="fr-FR" dirty="0"/>
              <a:t> of GDP/</a:t>
            </a:r>
            <a:r>
              <a:rPr lang="fr-FR" dirty="0" err="1"/>
              <a:t>head</a:t>
            </a:r>
            <a:endParaRPr lang="fr-FR" dirty="0"/>
          </a:p>
          <a:p>
            <a:pPr marL="0" indent="0">
              <a:buNone/>
            </a:pPr>
            <a:r>
              <a:rPr lang="fr-FR" dirty="0" err="1"/>
              <a:t>Assassinations</a:t>
            </a:r>
            <a:endParaRPr lang="fr-FR" dirty="0"/>
          </a:p>
          <a:p>
            <a:pPr marL="0" indent="0">
              <a:buNone/>
            </a:pPr>
            <a:r>
              <a:rPr lang="fr-FR" dirty="0" err="1"/>
              <a:t>Assassinations</a:t>
            </a:r>
            <a:r>
              <a:rPr lang="fr-FR" dirty="0"/>
              <a:t> * </a:t>
            </a:r>
            <a:r>
              <a:rPr lang="fr-FR" dirty="0" err="1"/>
              <a:t>ethnic</a:t>
            </a:r>
            <a:r>
              <a:rPr lang="fr-FR" dirty="0"/>
              <a:t> </a:t>
            </a:r>
            <a:r>
              <a:rPr lang="fr-FR" dirty="0" err="1"/>
              <a:t>fractionalization</a:t>
            </a:r>
            <a:endParaRPr lang="fr-FR" dirty="0"/>
          </a:p>
          <a:p>
            <a:pPr marL="0" indent="0">
              <a:buNone/>
            </a:pPr>
            <a:endParaRPr lang="fr-FR" dirty="0"/>
          </a:p>
          <a:p>
            <a:pPr marL="0" indent="0">
              <a:buNone/>
            </a:pPr>
            <a:r>
              <a:rPr lang="fr-FR" dirty="0"/>
              <a:t>The </a:t>
            </a:r>
            <a:r>
              <a:rPr lang="fr-FR" dirty="0" err="1"/>
              <a:t>product</a:t>
            </a:r>
            <a:r>
              <a:rPr lang="fr-FR" dirty="0"/>
              <a:t> of variables </a:t>
            </a:r>
            <a:r>
              <a:rPr lang="fr-FR" dirty="0" err="1"/>
              <a:t>is</a:t>
            </a:r>
            <a:r>
              <a:rPr lang="fr-FR" dirty="0"/>
              <a:t> </a:t>
            </a:r>
            <a:r>
              <a:rPr lang="fr-FR" dirty="0" err="1"/>
              <a:t>called</a:t>
            </a:r>
            <a:r>
              <a:rPr lang="fr-FR" dirty="0"/>
              <a:t> an « interaction </a:t>
            </a:r>
            <a:r>
              <a:rPr lang="fr-FR" dirty="0" err="1"/>
              <a:t>term</a:t>
            </a:r>
            <a:r>
              <a:rPr lang="fr-FR" dirty="0"/>
              <a:t> »</a:t>
            </a:r>
          </a:p>
          <a:p>
            <a:pPr marL="0" indent="0">
              <a:buNone/>
            </a:pPr>
            <a:endParaRPr lang="fr-FR" dirty="0"/>
          </a:p>
        </p:txBody>
      </p:sp>
    </p:spTree>
    <p:extLst>
      <p:ext uri="{BB962C8B-B14F-4D97-AF65-F5344CB8AC3E}">
        <p14:creationId xmlns:p14="http://schemas.microsoft.com/office/powerpoint/2010/main" val="4256130044"/>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48775" cy="678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7201077"/>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63" y="-3175"/>
            <a:ext cx="9358313" cy="686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0521898"/>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79512" y="0"/>
            <a:ext cx="8784976"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dirty="0">
                <a:latin typeface="Times New Roman" pitchFamily="18" charset="0"/>
              </a:rPr>
              <a:t>      </a:t>
            </a:r>
            <a:r>
              <a:rPr lang="fr-FR" altLang="fr-FR" dirty="0">
                <a:latin typeface="+mj-lt"/>
              </a:rPr>
              <a:t>             </a:t>
            </a:r>
            <a:r>
              <a:rPr lang="fr-FR" altLang="fr-FR" dirty="0" err="1">
                <a:latin typeface="+mj-lt"/>
              </a:rPr>
              <a:t>wgdpg</a:t>
            </a:r>
            <a:r>
              <a:rPr lang="fr-FR" altLang="fr-FR" dirty="0">
                <a:latin typeface="+mj-lt"/>
              </a:rPr>
              <a:t>      </a:t>
            </a:r>
            <a:r>
              <a:rPr lang="fr-FR" altLang="fr-FR" b="1" dirty="0" err="1">
                <a:solidFill>
                  <a:srgbClr val="FF0000"/>
                </a:solidFill>
                <a:latin typeface="+mj-lt"/>
              </a:rPr>
              <a:t>between</a:t>
            </a:r>
            <a:r>
              <a:rPr lang="fr-FR" altLang="fr-FR" dirty="0">
                <a:latin typeface="+mj-lt"/>
              </a:rPr>
              <a:t>     </a:t>
            </a:r>
            <a:r>
              <a:rPr lang="fr-FR" altLang="fr-FR" dirty="0" err="1">
                <a:latin typeface="+mj-lt"/>
              </a:rPr>
              <a:t>wassas</a:t>
            </a:r>
            <a:r>
              <a:rPr lang="fr-FR" altLang="fr-FR" dirty="0">
                <a:latin typeface="+mj-lt"/>
              </a:rPr>
              <a:t> </a:t>
            </a:r>
          </a:p>
          <a:p>
            <a:pPr eaLnBrk="1" hangingPunct="1">
              <a:spcBef>
                <a:spcPct val="0"/>
              </a:spcBef>
              <a:buFontTx/>
              <a:buNone/>
            </a:pPr>
            <a:r>
              <a:rPr lang="fr-FR" altLang="fr-FR" dirty="0">
                <a:latin typeface="+mj-lt"/>
              </a:rPr>
              <a:t>       </a:t>
            </a:r>
            <a:r>
              <a:rPr lang="fr-FR" altLang="fr-FR" dirty="0" err="1">
                <a:latin typeface="+mj-lt"/>
              </a:rPr>
              <a:t>wassas</a:t>
            </a:r>
            <a:r>
              <a:rPr lang="fr-FR" altLang="fr-FR" dirty="0">
                <a:latin typeface="+mj-lt"/>
              </a:rPr>
              <a:t> |   -0.0592  </a:t>
            </a:r>
            <a:r>
              <a:rPr lang="fr-FR" altLang="fr-FR" b="1" dirty="0">
                <a:solidFill>
                  <a:srgbClr val="FF0000"/>
                </a:solidFill>
                <a:latin typeface="+mj-lt"/>
              </a:rPr>
              <a:t>-0.0690</a:t>
            </a:r>
          </a:p>
          <a:p>
            <a:pPr eaLnBrk="1" hangingPunct="1">
              <a:spcBef>
                <a:spcPct val="0"/>
              </a:spcBef>
              <a:buFontTx/>
              <a:buNone/>
            </a:pPr>
            <a:r>
              <a:rPr lang="fr-FR" altLang="fr-FR" dirty="0" err="1">
                <a:latin typeface="+mj-lt"/>
              </a:rPr>
              <a:t>wethnfassas</a:t>
            </a:r>
            <a:r>
              <a:rPr lang="fr-FR" altLang="fr-FR" dirty="0">
                <a:latin typeface="+mj-lt"/>
              </a:rPr>
              <a:t> |  -0.0219  </a:t>
            </a:r>
            <a:r>
              <a:rPr lang="fr-FR" altLang="fr-FR" b="1" dirty="0">
                <a:solidFill>
                  <a:srgbClr val="FF0000"/>
                </a:solidFill>
                <a:latin typeface="+mj-lt"/>
              </a:rPr>
              <a:t>-0.0656</a:t>
            </a:r>
            <a:r>
              <a:rPr lang="fr-FR" altLang="fr-FR" dirty="0">
                <a:latin typeface="+mj-lt"/>
              </a:rPr>
              <a:t> 0.8821 </a:t>
            </a:r>
            <a:r>
              <a:rPr lang="fr-FR" altLang="fr-FR" b="1" dirty="0">
                <a:solidFill>
                  <a:srgbClr val="FF0000"/>
                </a:solidFill>
                <a:latin typeface="+mj-lt"/>
              </a:rPr>
              <a:t>0.8315</a:t>
            </a:r>
          </a:p>
          <a:p>
            <a:pPr eaLnBrk="1" hangingPunct="1">
              <a:spcBef>
                <a:spcPct val="0"/>
              </a:spcBef>
              <a:buFontTx/>
              <a:buNone/>
            </a:pPr>
            <a:endParaRPr lang="fr-FR" altLang="fr-FR" b="1" dirty="0">
              <a:solidFill>
                <a:srgbClr val="FF0000"/>
              </a:solidFill>
              <a:latin typeface="+mj-lt"/>
            </a:endParaRPr>
          </a:p>
          <a:p>
            <a:pPr marL="514350" indent="-514350" eaLnBrk="1" hangingPunct="1">
              <a:spcBef>
                <a:spcPct val="0"/>
              </a:spcBef>
              <a:buFont typeface="+mj-lt"/>
              <a:buAutoNum type="arabicPeriod"/>
            </a:pPr>
            <a:r>
              <a:rPr lang="fr-FR" altLang="fr-FR" b="1" dirty="0">
                <a:latin typeface="+mj-lt"/>
              </a:rPr>
              <a:t>WITHIN =</a:t>
            </a:r>
            <a:r>
              <a:rPr lang="fr-FR" altLang="fr-FR" b="1" dirty="0">
                <a:solidFill>
                  <a:srgbClr val="FF0000"/>
                </a:solidFill>
                <a:latin typeface="+mj-lt"/>
              </a:rPr>
              <a:t> BETWEEN </a:t>
            </a:r>
            <a:r>
              <a:rPr lang="fr-FR" altLang="fr-FR" dirty="0">
                <a:latin typeface="+mj-lt"/>
              </a:rPr>
              <a:t>for </a:t>
            </a:r>
            <a:r>
              <a:rPr lang="fr-FR" altLang="fr-FR" dirty="0" err="1">
                <a:latin typeface="+mj-lt"/>
              </a:rPr>
              <a:t>correlations</a:t>
            </a:r>
            <a:r>
              <a:rPr lang="fr-FR" altLang="fr-FR" dirty="0">
                <a:latin typeface="+mj-lt"/>
              </a:rPr>
              <a:t> in </a:t>
            </a:r>
            <a:r>
              <a:rPr lang="fr-FR" altLang="fr-FR" dirty="0" err="1">
                <a:latin typeface="+mj-lt"/>
              </a:rPr>
              <a:t>this</a:t>
            </a:r>
            <a:r>
              <a:rPr lang="fr-FR" altLang="fr-FR" dirty="0">
                <a:latin typeface="+mj-lt"/>
              </a:rPr>
              <a:t> case = IDEAL case</a:t>
            </a:r>
          </a:p>
          <a:p>
            <a:pPr marL="514350" indent="-514350" eaLnBrk="1" hangingPunct="1">
              <a:spcBef>
                <a:spcPct val="0"/>
              </a:spcBef>
              <a:buFont typeface="+mj-lt"/>
              <a:buAutoNum type="arabicPeriod"/>
            </a:pPr>
            <a:r>
              <a:rPr lang="fr-FR" altLang="fr-FR" dirty="0">
                <a:latin typeface="+mj-lt"/>
              </a:rPr>
              <a:t>Interaction </a:t>
            </a:r>
            <a:r>
              <a:rPr lang="fr-FR" altLang="fr-FR" dirty="0" err="1">
                <a:latin typeface="+mj-lt"/>
              </a:rPr>
              <a:t>term</a:t>
            </a:r>
            <a:r>
              <a:rPr lang="fr-FR" altLang="fr-FR" dirty="0">
                <a:latin typeface="+mj-lt"/>
              </a:rPr>
              <a:t> </a:t>
            </a:r>
            <a:r>
              <a:rPr lang="fr-FR" altLang="fr-FR" dirty="0" err="1">
                <a:latin typeface="+mj-lt"/>
              </a:rPr>
              <a:t>highly</a:t>
            </a:r>
            <a:r>
              <a:rPr lang="fr-FR" altLang="fr-FR" dirty="0">
                <a:latin typeface="+mj-lt"/>
              </a:rPr>
              <a:t> </a:t>
            </a:r>
            <a:r>
              <a:rPr lang="fr-FR" altLang="fr-FR" dirty="0" err="1">
                <a:latin typeface="+mj-lt"/>
              </a:rPr>
              <a:t>correlated</a:t>
            </a:r>
            <a:r>
              <a:rPr lang="fr-FR" altLang="fr-FR" dirty="0">
                <a:latin typeface="+mj-lt"/>
              </a:rPr>
              <a:t> </a:t>
            </a:r>
            <a:r>
              <a:rPr lang="fr-FR" altLang="fr-FR" dirty="0" err="1">
                <a:latin typeface="+mj-lt"/>
              </a:rPr>
              <a:t>with</a:t>
            </a:r>
            <a:r>
              <a:rPr lang="fr-FR" altLang="fr-FR" dirty="0">
                <a:latin typeface="+mj-lt"/>
              </a:rPr>
              <a:t> one of </a:t>
            </a:r>
            <a:r>
              <a:rPr lang="fr-FR" altLang="fr-FR" dirty="0" err="1">
                <a:latin typeface="+mj-lt"/>
              </a:rPr>
              <a:t>its</a:t>
            </a:r>
            <a:r>
              <a:rPr lang="fr-FR" altLang="fr-FR" dirty="0">
                <a:latin typeface="+mj-lt"/>
              </a:rPr>
              <a:t> component.  </a:t>
            </a:r>
          </a:p>
        </p:txBody>
      </p:sp>
    </p:spTree>
    <p:extLst>
      <p:ext uri="{BB962C8B-B14F-4D97-AF65-F5344CB8AC3E}">
        <p14:creationId xmlns:p14="http://schemas.microsoft.com/office/powerpoint/2010/main" val="61824958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re 1"/>
          <p:cNvSpPr>
            <a:spLocks noGrp="1"/>
          </p:cNvSpPr>
          <p:nvPr>
            <p:ph type="title"/>
          </p:nvPr>
        </p:nvSpPr>
        <p:spPr>
          <a:xfrm>
            <a:off x="0" y="0"/>
            <a:ext cx="9144000" cy="1417638"/>
          </a:xfrm>
        </p:spPr>
        <p:txBody>
          <a:bodyPr/>
          <a:lstStyle/>
          <a:p>
            <a:r>
              <a:rPr lang="fr-FR" altLang="fr-FR" sz="2800" dirty="0" err="1"/>
              <a:t>Ideally</a:t>
            </a:r>
            <a:r>
              <a:rPr lang="fr-FR" altLang="fr-FR" sz="2800" dirty="0"/>
              <a:t>: </a:t>
            </a:r>
            <a:r>
              <a:rPr lang="fr-FR" altLang="fr-FR" sz="2800" dirty="0" err="1"/>
              <a:t>Specification</a:t>
            </a:r>
            <a:r>
              <a:rPr lang="fr-FR" altLang="fr-FR" sz="2800" dirty="0"/>
              <a:t> </a:t>
            </a:r>
            <a:r>
              <a:rPr lang="fr-FR" altLang="fr-FR" sz="2800" dirty="0" err="1"/>
              <a:t>minimizing</a:t>
            </a:r>
            <a:r>
              <a:rPr lang="fr-FR" altLang="fr-FR" sz="2800" dirty="0"/>
              <a:t> the gap </a:t>
            </a:r>
            <a:r>
              <a:rPr lang="fr-FR" altLang="fr-FR" sz="2800" dirty="0" err="1"/>
              <a:t>Within</a:t>
            </a:r>
            <a:r>
              <a:rPr lang="fr-FR" altLang="fr-FR" sz="2800" dirty="0"/>
              <a:t> versus </a:t>
            </a:r>
            <a:r>
              <a:rPr lang="fr-FR" altLang="fr-FR" sz="2800" dirty="0" err="1"/>
              <a:t>Between</a:t>
            </a:r>
            <a:r>
              <a:rPr lang="fr-FR" altLang="fr-FR" sz="2800" dirty="0"/>
              <a:t> (</a:t>
            </a:r>
            <a:r>
              <a:rPr lang="fr-FR" altLang="fr-FR" sz="2800" dirty="0" err="1"/>
              <a:t>sub-correlation</a:t>
            </a:r>
            <a:r>
              <a:rPr lang="fr-FR" altLang="fr-FR" sz="2800" dirty="0"/>
              <a:t> matrix W = B)</a:t>
            </a:r>
            <a:br>
              <a:rPr lang="fr-FR" altLang="fr-FR" sz="2800" dirty="0"/>
            </a:br>
            <a:r>
              <a:rPr lang="fr-FR" altLang="fr-FR" sz="2800" dirty="0" err="1"/>
              <a:t>Between</a:t>
            </a:r>
            <a:r>
              <a:rPr lang="fr-FR" altLang="fr-FR" sz="2800" dirty="0"/>
              <a:t> </a:t>
            </a:r>
            <a:r>
              <a:rPr lang="fr-FR" altLang="fr-FR" sz="2800" dirty="0" err="1"/>
              <a:t>parameters</a:t>
            </a:r>
            <a:r>
              <a:rPr lang="fr-FR" altLang="fr-FR" sz="2800" dirty="0"/>
              <a:t> face </a:t>
            </a:r>
            <a:r>
              <a:rPr lang="fr-FR" altLang="fr-FR" sz="2800" dirty="0" err="1"/>
              <a:t>endogeneity</a:t>
            </a:r>
            <a:r>
              <a:rPr lang="fr-FR" altLang="fr-FR" sz="2800" dirty="0"/>
              <a:t> </a:t>
            </a:r>
            <a:r>
              <a:rPr lang="fr-FR" altLang="fr-FR" sz="2800" dirty="0" err="1"/>
              <a:t>bias</a:t>
            </a:r>
            <a:r>
              <a:rPr lang="fr-FR" altLang="fr-FR" sz="2800" dirty="0"/>
              <a:t>, not </a:t>
            </a:r>
            <a:r>
              <a:rPr lang="fr-FR" altLang="fr-FR" sz="2800" dirty="0" err="1"/>
              <a:t>within</a:t>
            </a:r>
            <a:r>
              <a:rPr lang="fr-FR" altLang="fr-FR" sz="2800" dirty="0"/>
              <a:t>.</a:t>
            </a:r>
          </a:p>
        </p:txBody>
      </p:sp>
      <mc:AlternateContent xmlns:mc="http://schemas.openxmlformats.org/markup-compatibility/2006" xmlns:a14="http://schemas.microsoft.com/office/drawing/2010/main">
        <mc:Choice Requires="a14">
          <p:sp>
            <p:nvSpPr>
              <p:cNvPr id="58371" name="Espace réservé du contenu 2"/>
              <p:cNvSpPr>
                <a:spLocks noGrp="1"/>
              </p:cNvSpPr>
              <p:nvPr>
                <p:ph idx="1"/>
              </p:nvPr>
            </p:nvSpPr>
            <p:spPr/>
            <p:txBody>
              <a:bodyPr/>
              <a:lstStyle/>
              <a:p>
                <a:pPr marL="0" indent="0">
                  <a:buFontTx/>
                  <a:buNone/>
                </a:pPr>
                <a:r>
                  <a:rPr lang="fr-FR" altLang="fr-FR" dirty="0"/>
                  <a:t>Minimize Panel Hausman Test </a:t>
                </a:r>
                <a:r>
                  <a:rPr lang="fr-FR" altLang="fr-FR" dirty="0" err="1"/>
                  <a:t>statistics</a:t>
                </a:r>
                <a:r>
                  <a:rPr lang="fr-FR" altLang="fr-FR" dirty="0"/>
                  <a:t> </a:t>
                </a:r>
              </a:p>
              <a:p>
                <a:pPr marL="0" indent="0">
                  <a:buFontTx/>
                  <a:buNone/>
                </a:pPr>
                <a:r>
                  <a:rPr lang="fr-FR" altLang="fr-FR" dirty="0" err="1"/>
                  <a:t>while</a:t>
                </a:r>
                <a:r>
                  <a:rPr lang="fr-FR" altLang="fr-FR" dirty="0"/>
                  <a:t> </a:t>
                </a:r>
                <a:r>
                  <a:rPr lang="fr-FR" altLang="fr-FR" dirty="0" err="1"/>
                  <a:t>selecting</a:t>
                </a:r>
                <a:r>
                  <a:rPr lang="fr-FR" altLang="fr-FR" dirty="0"/>
                  <a:t> </a:t>
                </a:r>
                <a:r>
                  <a:rPr lang="fr-FR" altLang="fr-FR" dirty="0" err="1"/>
                  <a:t>regressors</a:t>
                </a:r>
                <a:r>
                  <a:rPr lang="fr-FR" altLang="fr-FR" dirty="0"/>
                  <a:t>.</a:t>
                </a:r>
              </a:p>
              <a:p>
                <a:pPr marL="0" indent="0">
                  <a:buFontTx/>
                  <a:buNone/>
                </a:pPr>
                <a:r>
                  <a:rPr lang="fr-FR" altLang="fr-FR" dirty="0"/>
                  <a:t>H0: </a:t>
                </a:r>
                <a:r>
                  <a:rPr lang="el-GR" altLang="fr-FR" b="1" dirty="0"/>
                  <a:t>β</a:t>
                </a:r>
                <a:r>
                  <a:rPr lang="fr-FR" altLang="fr-FR" b="1" dirty="0"/>
                  <a:t>(</a:t>
                </a:r>
                <a:r>
                  <a:rPr lang="fr-FR" altLang="fr-FR" b="1" dirty="0" err="1"/>
                  <a:t>within</a:t>
                </a:r>
                <a:r>
                  <a:rPr lang="fr-FR" altLang="fr-FR" b="1" dirty="0"/>
                  <a:t>) -</a:t>
                </a:r>
                <a:r>
                  <a:rPr lang="el-GR" altLang="fr-FR" b="1" dirty="0"/>
                  <a:t> β</a:t>
                </a:r>
                <a:r>
                  <a:rPr lang="fr-FR" altLang="fr-FR" b="1" dirty="0"/>
                  <a:t>(</a:t>
                </a:r>
                <a:r>
                  <a:rPr lang="fr-FR" altLang="fr-FR" b="1" dirty="0" err="1"/>
                  <a:t>between</a:t>
                </a:r>
                <a:r>
                  <a:rPr lang="fr-FR" altLang="fr-FR" b="1" dirty="0"/>
                  <a:t>) = 0</a:t>
                </a:r>
              </a:p>
              <a:p>
                <a:pPr marL="0" indent="0">
                  <a:buFontTx/>
                  <a:buNone/>
                </a:pPr>
                <a:r>
                  <a:rPr lang="fr-FR" altLang="fr-FR" dirty="0"/>
                  <a:t>If not </a:t>
                </a:r>
                <a:r>
                  <a:rPr lang="fr-FR" altLang="fr-FR" dirty="0" err="1"/>
                  <a:t>rejected</a:t>
                </a:r>
                <a:r>
                  <a:rPr lang="fr-FR" altLang="fr-FR" dirty="0"/>
                  <a:t>: </a:t>
                </a:r>
                <a:r>
                  <a:rPr lang="fr-FR" altLang="fr-FR" dirty="0" err="1"/>
                  <a:t>Within</a:t>
                </a:r>
                <a:r>
                  <a:rPr lang="fr-FR" altLang="fr-FR" dirty="0"/>
                  <a:t> </a:t>
                </a:r>
                <a:r>
                  <a:rPr lang="fr-FR" altLang="fr-FR" dirty="0" err="1"/>
                  <a:t>regression</a:t>
                </a:r>
                <a:r>
                  <a:rPr lang="fr-FR" altLang="fr-FR" dirty="0"/>
                  <a:t> not </a:t>
                </a:r>
                <a:r>
                  <a:rPr lang="fr-FR" altLang="fr-FR" dirty="0" err="1"/>
                  <a:t>spurious</a:t>
                </a:r>
                <a:r>
                  <a:rPr lang="fr-FR" altLang="fr-FR" dirty="0"/>
                  <a:t> (</a:t>
                </a:r>
                <a:r>
                  <a:rPr lang="fr-FR" altLang="fr-FR" dirty="0" err="1"/>
                  <a:t>also</a:t>
                </a:r>
                <a:r>
                  <a:rPr lang="fr-FR" altLang="fr-FR" dirty="0"/>
                  <a:t> </a:t>
                </a:r>
                <a:r>
                  <a:rPr lang="fr-FR" altLang="fr-FR" dirty="0" err="1"/>
                  <a:t>valid</a:t>
                </a:r>
                <a:r>
                  <a:rPr lang="fr-FR" altLang="fr-FR" dirty="0"/>
                  <a:t> in </a:t>
                </a:r>
                <a:r>
                  <a:rPr lang="fr-FR" altLang="fr-FR" dirty="0" err="1"/>
                  <a:t>between</a:t>
                </a:r>
                <a:r>
                  <a:rPr lang="fr-FR" altLang="fr-FR" dirty="0"/>
                  <a:t>/cross section </a:t>
                </a:r>
                <a:r>
                  <a:rPr lang="fr-FR" altLang="fr-FR" dirty="0" err="1"/>
                  <a:t>space</a:t>
                </a:r>
                <a:r>
                  <a:rPr lang="fr-FR" altLang="fr-FR" dirty="0"/>
                  <a:t>) </a:t>
                </a:r>
                <a:r>
                  <a:rPr lang="fr-FR" altLang="fr-FR" b="1" dirty="0"/>
                  <a:t>and</a:t>
                </a:r>
                <a:r>
                  <a:rPr lang="fr-FR" altLang="fr-FR" dirty="0"/>
                  <a:t> </a:t>
                </a:r>
                <a:r>
                  <a:rPr lang="fr-FR" altLang="fr-FR" dirty="0" err="1"/>
                  <a:t>Between</a:t>
                </a:r>
                <a:r>
                  <a:rPr lang="fr-FR" altLang="fr-FR" dirty="0"/>
                  <a:t> not </a:t>
                </a:r>
                <a:r>
                  <a:rPr lang="fr-FR" altLang="fr-FR" dirty="0" err="1"/>
                  <a:t>facing</a:t>
                </a:r>
                <a:r>
                  <a:rPr lang="fr-FR" altLang="fr-FR" dirty="0"/>
                  <a:t> </a:t>
                </a:r>
                <a:r>
                  <a:rPr lang="fr-FR" altLang="fr-FR" dirty="0" err="1"/>
                  <a:t>endogeneity</a:t>
                </a:r>
                <a:r>
                  <a:rPr lang="fr-FR" altLang="fr-FR" dirty="0"/>
                  <a:t> </a:t>
                </a:r>
              </a:p>
              <a:p>
                <a:pPr marL="0" indent="0">
                  <a:buFontTx/>
                  <a:buNone/>
                </a:pPr>
                <a:r>
                  <a:rPr lang="fr-FR" altLang="fr-FR" dirty="0"/>
                  <a:t>Ex(</a:t>
                </a:r>
                <a:r>
                  <a:rPr lang="fr-FR" altLang="fr-FR" dirty="0" err="1"/>
                  <a:t>it</a:t>
                </a:r>
                <a:r>
                  <a:rPr lang="fr-FR" altLang="fr-FR" dirty="0"/>
                  <a:t>)a(i)=0 </a:t>
                </a:r>
                <a:r>
                  <a:rPr lang="fr-FR" altLang="fr-FR" dirty="0" err="1"/>
                  <a:t>which</a:t>
                </a:r>
                <a:r>
                  <a:rPr lang="fr-FR" altLang="fr-FR" dirty="0"/>
                  <a:t> </a:t>
                </a:r>
                <a:r>
                  <a:rPr lang="fr-FR" altLang="fr-FR" dirty="0" err="1"/>
                  <a:t>imply</a:t>
                </a:r>
                <a:r>
                  <a:rPr lang="fr-FR" altLang="fr-FR" dirty="0"/>
                  <a:t> </a:t>
                </a:r>
                <a14:m>
                  <m:oMath xmlns:m="http://schemas.openxmlformats.org/officeDocument/2006/math">
                    <m:r>
                      <a:rPr lang="fr-FR" i="1">
                        <a:latin typeface="Cambria Math"/>
                      </a:rPr>
                      <m:t>𝑟</m:t>
                    </m:r>
                    <m:r>
                      <a:rPr lang="fr-FR" i="1">
                        <a:latin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b="0" i="1" smtClean="0">
                            <a:latin typeface="Cambria Math"/>
                          </a:rPr>
                          <m:t>𝑡</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r>
                      <a:rPr lang="fr-FR" i="1">
                        <a:latin typeface="Cambria Math"/>
                      </a:rPr>
                      <m:t>)</m:t>
                    </m:r>
                  </m:oMath>
                </a14:m>
                <a:r>
                  <a:rPr lang="fr-FR" altLang="fr-FR" dirty="0"/>
                  <a:t>=0</a:t>
                </a:r>
              </a:p>
              <a:p>
                <a:pPr marL="0" indent="0">
                  <a:buFontTx/>
                  <a:buNone/>
                </a:pPr>
                <a:r>
                  <a:rPr lang="fr-FR" altLang="fr-FR" dirty="0" err="1"/>
                  <a:t>Between</a:t>
                </a:r>
                <a:r>
                  <a:rPr lang="fr-FR" altLang="fr-FR" dirty="0"/>
                  <a:t> variance (</a:t>
                </a:r>
                <a:r>
                  <a:rPr lang="fr-FR" altLang="fr-FR" dirty="0" err="1"/>
                  <a:t>often</a:t>
                </a:r>
                <a:r>
                  <a:rPr lang="fr-FR" altLang="fr-FR" dirty="0"/>
                  <a:t> 70%) </a:t>
                </a:r>
                <a:r>
                  <a:rPr lang="fr-FR" altLang="fr-FR" dirty="0" err="1"/>
                  <a:t>explained</a:t>
                </a:r>
                <a:r>
                  <a:rPr lang="fr-FR" altLang="fr-FR" dirty="0"/>
                  <a:t>.</a:t>
                </a:r>
              </a:p>
            </p:txBody>
          </p:sp>
        </mc:Choice>
        <mc:Fallback xmlns="">
          <p:sp>
            <p:nvSpPr>
              <p:cNvPr id="58371" name="Espace réservé du contenu 2"/>
              <p:cNvSpPr>
                <a:spLocks noGrp="1" noRot="1" noChangeAspect="1" noMove="1" noResize="1" noEditPoints="1" noAdjustHandles="1" noChangeArrowheads="1" noChangeShapeType="1" noTextEdit="1"/>
              </p:cNvSpPr>
              <p:nvPr>
                <p:ph idx="1"/>
              </p:nvPr>
            </p:nvSpPr>
            <p:spPr>
              <a:blipFill rotWithShape="1">
                <a:blip r:embed="rId2"/>
                <a:stretch>
                  <a:fillRect l="-1852" t="-1752" r="-3037" b="-3369"/>
                </a:stretch>
              </a:blipFill>
            </p:spPr>
            <p:txBody>
              <a:bodyPr/>
              <a:lstStyle/>
              <a:p>
                <a:r>
                  <a:rPr lang="fr-FR">
                    <a:noFill/>
                  </a:rPr>
                  <a:t> </a:t>
                </a:r>
              </a:p>
            </p:txBody>
          </p:sp>
        </mc:Fallback>
      </mc:AlternateContent>
    </p:spTree>
    <p:extLst>
      <p:ext uri="{BB962C8B-B14F-4D97-AF65-F5344CB8AC3E}">
        <p14:creationId xmlns:p14="http://schemas.microsoft.com/office/powerpoint/2010/main" val="1196519916"/>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3"/>
          <p:cNvSpPr>
            <a:spLocks noGrp="1"/>
          </p:cNvSpPr>
          <p:nvPr>
            <p:ph type="ctrTitle"/>
          </p:nvPr>
        </p:nvSpPr>
        <p:spPr/>
        <p:txBody>
          <a:bodyPr/>
          <a:lstStyle/>
          <a:p>
            <a:r>
              <a:rPr lang="fr-FR" altLang="fr-FR" dirty="0"/>
              <a:t>8. Group (i) </a:t>
            </a:r>
            <a:r>
              <a:rPr lang="fr-FR" altLang="fr-FR" dirty="0" err="1"/>
              <a:t>heteroscedasticity</a:t>
            </a:r>
            <a:br>
              <a:rPr lang="fr-FR" altLang="fr-FR" dirty="0"/>
            </a:br>
            <a:r>
              <a:rPr lang="fr-FR" altLang="fr-FR" dirty="0"/>
              <a:t>GLS « </a:t>
            </a:r>
            <a:r>
              <a:rPr lang="fr-FR" altLang="fr-FR" dirty="0" err="1"/>
              <a:t>random</a:t>
            </a:r>
            <a:r>
              <a:rPr lang="fr-FR" altLang="fr-FR" dirty="0"/>
              <a:t> </a:t>
            </a:r>
            <a:r>
              <a:rPr lang="fr-FR" altLang="fr-FR" dirty="0" err="1"/>
              <a:t>effects</a:t>
            </a:r>
            <a:r>
              <a:rPr lang="fr-FR" altLang="fr-FR" dirty="0"/>
              <a:t> ».</a:t>
            </a:r>
          </a:p>
        </p:txBody>
      </p:sp>
      <p:sp>
        <p:nvSpPr>
          <p:cNvPr id="6147" name="Sous-titre 4"/>
          <p:cNvSpPr>
            <a:spLocks noGrp="1"/>
          </p:cNvSpPr>
          <p:nvPr>
            <p:ph type="subTitle" idx="1"/>
          </p:nvPr>
        </p:nvSpPr>
        <p:spPr/>
        <p:txBody>
          <a:bodyPr/>
          <a:lstStyle/>
          <a:p>
            <a:r>
              <a:rPr lang="fr-FR" altLang="fr-FR"/>
              <a:t> </a:t>
            </a:r>
          </a:p>
        </p:txBody>
      </p:sp>
    </p:spTree>
    <p:extLst>
      <p:ext uri="{BB962C8B-B14F-4D97-AF65-F5344CB8AC3E}">
        <p14:creationId xmlns:p14="http://schemas.microsoft.com/office/powerpoint/2010/main" val="2134977831"/>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fr-FR" dirty="0"/>
              <a:t>Group (i) </a:t>
            </a:r>
            <a:r>
              <a:rPr lang="fr-FR" altLang="fr-FR" dirty="0" err="1"/>
              <a:t>heteroscedasticity</a:t>
            </a:r>
            <a:endParaRPr lang="fr-FR" dirty="0"/>
          </a:p>
        </p:txBody>
      </p:sp>
      <p:sp>
        <p:nvSpPr>
          <p:cNvPr id="3" name="Espace réservé du contenu 2"/>
          <p:cNvSpPr>
            <a:spLocks noGrp="1"/>
          </p:cNvSpPr>
          <p:nvPr>
            <p:ph idx="1"/>
          </p:nvPr>
        </p:nvSpPr>
        <p:spPr/>
        <p:txBody>
          <a:bodyPr/>
          <a:lstStyle/>
          <a:p>
            <a:pPr marL="0" indent="0">
              <a:buNone/>
            </a:pPr>
            <a:r>
              <a:rPr lang="fr-FR" dirty="0"/>
              <a:t>Check the distribution of the </a:t>
            </a:r>
            <a:r>
              <a:rPr lang="fr-FR" dirty="0" err="1"/>
              <a:t>residuals</a:t>
            </a:r>
            <a:r>
              <a:rPr lang="fr-FR" dirty="0"/>
              <a:t> of a </a:t>
            </a:r>
            <a:r>
              <a:rPr lang="fr-FR" dirty="0" err="1"/>
              <a:t>pooled</a:t>
            </a:r>
            <a:r>
              <a:rPr lang="fr-FR" dirty="0"/>
              <a:t> OLS </a:t>
            </a:r>
            <a:r>
              <a:rPr lang="fr-FR" dirty="0" err="1"/>
              <a:t>regression</a:t>
            </a:r>
            <a:r>
              <a:rPr lang="fr-FR" dirty="0"/>
              <a:t>, for </a:t>
            </a:r>
            <a:r>
              <a:rPr lang="fr-FR" dirty="0" err="1"/>
              <a:t>example</a:t>
            </a:r>
            <a:r>
              <a:rPr lang="fr-FR" dirty="0"/>
              <a:t> </a:t>
            </a:r>
            <a:r>
              <a:rPr lang="fr-FR" dirty="0" err="1"/>
              <a:t>with</a:t>
            </a:r>
            <a:r>
              <a:rPr lang="fr-FR" dirty="0"/>
              <a:t> </a:t>
            </a:r>
            <a:r>
              <a:rPr lang="fr-FR" dirty="0" err="1"/>
              <a:t>boxplots</a:t>
            </a:r>
            <a:r>
              <a:rPr lang="fr-FR" dirty="0"/>
              <a:t>:</a:t>
            </a:r>
          </a:p>
          <a:p>
            <a:pPr marL="0" indent="0">
              <a:buNone/>
            </a:pPr>
            <a:endParaRPr lang="fr-FR" dirty="0"/>
          </a:p>
          <a:p>
            <a:pPr marL="0" indent="0">
              <a:buNone/>
            </a:pPr>
            <a:r>
              <a:rPr lang="fr-FR" dirty="0" err="1"/>
              <a:t>Pooled</a:t>
            </a:r>
            <a:r>
              <a:rPr lang="fr-FR" dirty="0"/>
              <a:t> </a:t>
            </a:r>
            <a:r>
              <a:rPr lang="fr-FR" dirty="0" err="1"/>
              <a:t>residuals</a:t>
            </a:r>
            <a:r>
              <a:rPr lang="fr-FR" dirty="0"/>
              <a:t>.</a:t>
            </a:r>
          </a:p>
          <a:p>
            <a:pPr marL="0" indent="0">
              <a:buNone/>
            </a:pPr>
            <a:r>
              <a:rPr lang="fr-FR" dirty="0" err="1"/>
              <a:t>Pooled</a:t>
            </a:r>
            <a:r>
              <a:rPr lang="fr-FR" dirty="0"/>
              <a:t> </a:t>
            </a:r>
            <a:r>
              <a:rPr lang="fr-FR" dirty="0" err="1"/>
              <a:t>residuals</a:t>
            </a:r>
            <a:r>
              <a:rPr lang="fr-FR" dirty="0"/>
              <a:t> BY </a:t>
            </a:r>
            <a:r>
              <a:rPr lang="fr-FR" dirty="0" err="1"/>
              <a:t>individuals</a:t>
            </a:r>
            <a:endParaRPr lang="fr-FR" dirty="0"/>
          </a:p>
        </p:txBody>
      </p:sp>
    </p:spTree>
    <p:extLst>
      <p:ext uri="{BB962C8B-B14F-4D97-AF65-F5344CB8AC3E}">
        <p14:creationId xmlns:p14="http://schemas.microsoft.com/office/powerpoint/2010/main" val="115233609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8" y="0"/>
            <a:ext cx="9097962"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3256877"/>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628800"/>
            <a:ext cx="9020175" cy="496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re 1"/>
          <p:cNvSpPr>
            <a:spLocks noGrp="1"/>
          </p:cNvSpPr>
          <p:nvPr>
            <p:ph type="title"/>
          </p:nvPr>
        </p:nvSpPr>
        <p:spPr>
          <a:xfrm>
            <a:off x="0" y="0"/>
            <a:ext cx="9144000" cy="1268760"/>
          </a:xfrm>
        </p:spPr>
        <p:txBody>
          <a:bodyPr>
            <a:normAutofit fontScale="90000"/>
          </a:bodyPr>
          <a:lstStyle/>
          <a:p>
            <a:r>
              <a:rPr lang="fr-FR" dirty="0" err="1"/>
              <a:t>Boxplots</a:t>
            </a:r>
            <a:r>
              <a:rPr lang="fr-FR" dirty="0"/>
              <a:t> of </a:t>
            </a:r>
            <a:r>
              <a:rPr lang="fr-FR" dirty="0" err="1"/>
              <a:t>studentized</a:t>
            </a:r>
            <a:r>
              <a:rPr lang="fr-FR" dirty="0"/>
              <a:t> </a:t>
            </a:r>
            <a:r>
              <a:rPr lang="fr-FR" dirty="0" err="1"/>
              <a:t>residuals</a:t>
            </a:r>
            <a:r>
              <a:rPr lang="fr-FR" dirty="0"/>
              <a:t> per country (i): (i)-</a:t>
            </a:r>
            <a:r>
              <a:rPr lang="fr-FR" dirty="0" err="1"/>
              <a:t>heteroskedasticity</a:t>
            </a:r>
            <a:endParaRPr lang="fr-FR" dirty="0"/>
          </a:p>
        </p:txBody>
      </p:sp>
    </p:spTree>
    <p:extLst>
      <p:ext uri="{BB962C8B-B14F-4D97-AF65-F5344CB8AC3E}">
        <p14:creationId xmlns:p14="http://schemas.microsoft.com/office/powerpoint/2010/main" val="1652653806"/>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Visualizing</a:t>
            </a:r>
            <a:r>
              <a:rPr lang="fr-FR" dirty="0"/>
              <a:t> </a:t>
            </a:r>
            <a:r>
              <a:rPr lang="fr-FR" dirty="0" err="1"/>
              <a:t>individual</a:t>
            </a:r>
            <a:r>
              <a:rPr lang="fr-FR" dirty="0"/>
              <a:t> (i) </a:t>
            </a:r>
            <a:r>
              <a:rPr lang="fr-FR" dirty="0" err="1"/>
              <a:t>heteroskedascity</a:t>
            </a:r>
            <a:r>
              <a:rPr lang="fr-FR" dirty="0"/>
              <a:t>?</a:t>
            </a:r>
          </a:p>
        </p:txBody>
      </p:sp>
      <p:sp>
        <p:nvSpPr>
          <p:cNvPr id="3" name="Espace réservé du contenu 2"/>
          <p:cNvSpPr>
            <a:spLocks noGrp="1"/>
          </p:cNvSpPr>
          <p:nvPr>
            <p:ph idx="1"/>
          </p:nvPr>
        </p:nvSpPr>
        <p:spPr/>
        <p:txBody>
          <a:bodyPr/>
          <a:lstStyle/>
          <a:p>
            <a:pPr marL="0" indent="0">
              <a:buNone/>
            </a:pPr>
            <a:r>
              <a:rPr lang="fr-FR" dirty="0"/>
              <a:t>If N&lt;50, </a:t>
            </a:r>
            <a:r>
              <a:rPr lang="fr-FR" dirty="0" err="1"/>
              <a:t>it</a:t>
            </a:r>
            <a:r>
              <a:rPr lang="fr-FR" dirty="0"/>
              <a:t> </a:t>
            </a:r>
            <a:r>
              <a:rPr lang="fr-FR" dirty="0" err="1"/>
              <a:t>is</a:t>
            </a:r>
            <a:r>
              <a:rPr lang="fr-FR" dirty="0"/>
              <a:t> </a:t>
            </a:r>
            <a:r>
              <a:rPr lang="fr-FR" dirty="0" err="1"/>
              <a:t>recommended</a:t>
            </a:r>
            <a:r>
              <a:rPr lang="fr-FR" dirty="0"/>
              <a:t> to plot </a:t>
            </a:r>
            <a:r>
              <a:rPr lang="fr-FR" dirty="0" err="1"/>
              <a:t>boxplots</a:t>
            </a:r>
            <a:r>
              <a:rPr lang="fr-FR" dirty="0"/>
              <a:t> of </a:t>
            </a:r>
            <a:r>
              <a:rPr lang="fr-FR" dirty="0" err="1"/>
              <a:t>residuals</a:t>
            </a:r>
            <a:r>
              <a:rPr lang="fr-FR" dirty="0"/>
              <a:t> per-</a:t>
            </a:r>
            <a:r>
              <a:rPr lang="fr-FR" dirty="0" err="1"/>
              <a:t>individuals</a:t>
            </a:r>
            <a:r>
              <a:rPr lang="fr-FR" dirty="0"/>
              <a:t>, SORTING </a:t>
            </a:r>
            <a:r>
              <a:rPr lang="fr-FR" dirty="0" err="1"/>
              <a:t>them</a:t>
            </a:r>
            <a:r>
              <a:rPr lang="fr-FR" dirty="0"/>
              <a:t> </a:t>
            </a:r>
            <a:r>
              <a:rPr lang="fr-FR" dirty="0" err="1"/>
              <a:t>either</a:t>
            </a:r>
            <a:r>
              <a:rPr lang="fr-FR" dirty="0"/>
              <a:t> </a:t>
            </a:r>
            <a:r>
              <a:rPr lang="fr-FR" b="1" dirty="0"/>
              <a:t>by </a:t>
            </a:r>
            <a:r>
              <a:rPr lang="fr-FR" b="1" dirty="0" err="1"/>
              <a:t>means</a:t>
            </a:r>
            <a:r>
              <a:rPr lang="fr-FR" dirty="0"/>
              <a:t> or </a:t>
            </a:r>
            <a:r>
              <a:rPr lang="fr-FR" b="1" dirty="0"/>
              <a:t>by </a:t>
            </a:r>
            <a:r>
              <a:rPr lang="fr-FR" b="1" dirty="0" err="1"/>
              <a:t>their</a:t>
            </a:r>
            <a:r>
              <a:rPr lang="fr-FR" b="1" dirty="0"/>
              <a:t> standard </a:t>
            </a:r>
            <a:r>
              <a:rPr lang="fr-FR" b="1" dirty="0" err="1"/>
              <a:t>errors</a:t>
            </a:r>
            <a:r>
              <a:rPr lang="fr-FR" dirty="0"/>
              <a:t>.</a:t>
            </a:r>
          </a:p>
          <a:p>
            <a:pPr marL="0" indent="0">
              <a:buNone/>
            </a:pPr>
            <a:r>
              <a:rPr lang="fr-FR" dirty="0" err="1"/>
              <a:t>Although</a:t>
            </a:r>
            <a:r>
              <a:rPr lang="fr-FR" dirty="0"/>
              <a:t> ALL the </a:t>
            </a:r>
            <a:r>
              <a:rPr lang="fr-FR" dirty="0" err="1"/>
              <a:t>residuals</a:t>
            </a:r>
            <a:r>
              <a:rPr lang="fr-FR" dirty="0"/>
              <a:t> have </a:t>
            </a:r>
            <a:r>
              <a:rPr lang="fr-FR" dirty="0" err="1"/>
              <a:t>mean</a:t>
            </a:r>
            <a:r>
              <a:rPr lang="fr-FR" dirty="0"/>
              <a:t> </a:t>
            </a:r>
            <a:r>
              <a:rPr lang="fr-FR" dirty="0" err="1"/>
              <a:t>zero</a:t>
            </a:r>
            <a:r>
              <a:rPr lang="fr-FR" dirty="0"/>
              <a:t>.</a:t>
            </a:r>
          </a:p>
          <a:p>
            <a:pPr marL="0" indent="0">
              <a:buNone/>
            </a:pPr>
            <a:r>
              <a:rPr lang="fr-FR" dirty="0"/>
              <a:t>The </a:t>
            </a:r>
            <a:r>
              <a:rPr lang="fr-FR" b="1" dirty="0" err="1">
                <a:solidFill>
                  <a:srgbClr val="FF0000"/>
                </a:solidFill>
              </a:rPr>
              <a:t>means</a:t>
            </a:r>
            <a:r>
              <a:rPr lang="fr-FR" dirty="0"/>
              <a:t> of </a:t>
            </a:r>
            <a:r>
              <a:rPr lang="fr-FR" dirty="0" err="1"/>
              <a:t>residuals</a:t>
            </a:r>
            <a:r>
              <a:rPr lang="fr-FR" dirty="0"/>
              <a:t> PER </a:t>
            </a:r>
            <a:r>
              <a:rPr lang="fr-FR" dirty="0" err="1"/>
              <a:t>individuals</a:t>
            </a:r>
            <a:r>
              <a:rPr lang="fr-FR" dirty="0"/>
              <a:t> are not ZERO. The </a:t>
            </a:r>
            <a:r>
              <a:rPr lang="fr-FR" b="1" dirty="0">
                <a:solidFill>
                  <a:srgbClr val="FF0000"/>
                </a:solidFill>
              </a:rPr>
              <a:t>standard </a:t>
            </a:r>
            <a:r>
              <a:rPr lang="fr-FR" b="1" dirty="0" err="1">
                <a:solidFill>
                  <a:srgbClr val="FF0000"/>
                </a:solidFill>
              </a:rPr>
              <a:t>errors</a:t>
            </a:r>
            <a:r>
              <a:rPr lang="fr-FR" dirty="0"/>
              <a:t> of </a:t>
            </a:r>
            <a:r>
              <a:rPr lang="fr-FR" dirty="0" err="1"/>
              <a:t>residuals</a:t>
            </a:r>
            <a:r>
              <a:rPr lang="fr-FR" dirty="0"/>
              <a:t> PER </a:t>
            </a:r>
            <a:r>
              <a:rPr lang="fr-FR" dirty="0" err="1"/>
              <a:t>individuals</a:t>
            </a:r>
            <a:r>
              <a:rPr lang="fr-FR" dirty="0"/>
              <a:t> are DIFFERENT.</a:t>
            </a:r>
          </a:p>
        </p:txBody>
      </p:sp>
    </p:spTree>
    <p:extLst>
      <p:ext uri="{BB962C8B-B14F-4D97-AF65-F5344CB8AC3E}">
        <p14:creationId xmlns:p14="http://schemas.microsoft.com/office/powerpoint/2010/main" val="4270067927"/>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Studentized</a:t>
            </a:r>
            <a:r>
              <a:rPr lang="fr-FR" dirty="0"/>
              <a:t> </a:t>
            </a:r>
            <a:r>
              <a:rPr lang="fr-FR" dirty="0" err="1"/>
              <a:t>residuals</a:t>
            </a:r>
            <a:br>
              <a:rPr lang="fr-FR" dirty="0"/>
            </a:br>
            <a:r>
              <a:rPr lang="fr-FR" dirty="0"/>
              <a:t>(OLS influence </a:t>
            </a:r>
            <a:r>
              <a:rPr lang="fr-FR" dirty="0" err="1"/>
              <a:t>statistics</a:t>
            </a:r>
            <a:r>
              <a:rPr lang="fr-FR" dirty="0"/>
              <a:t>)</a:t>
            </a:r>
          </a:p>
        </p:txBody>
      </p:sp>
      <p:sp>
        <p:nvSpPr>
          <p:cNvPr id="3" name="Espace réservé du contenu 2"/>
          <p:cNvSpPr>
            <a:spLocks noGrp="1"/>
          </p:cNvSpPr>
          <p:nvPr>
            <p:ph idx="1"/>
          </p:nvPr>
        </p:nvSpPr>
        <p:spPr/>
        <p:txBody>
          <a:bodyPr/>
          <a:lstStyle/>
          <a:p>
            <a:pPr marL="0" indent="0">
              <a:buNone/>
            </a:pPr>
            <a:r>
              <a:rPr lang="fr-FR" dirty="0" err="1"/>
              <a:t>Their</a:t>
            </a:r>
            <a:r>
              <a:rPr lang="fr-FR" dirty="0"/>
              <a:t> are </a:t>
            </a:r>
            <a:r>
              <a:rPr lang="fr-FR" dirty="0" err="1"/>
              <a:t>divided</a:t>
            </a:r>
            <a:r>
              <a:rPr lang="fr-FR" dirty="0"/>
              <a:t> (</a:t>
            </a:r>
            <a:r>
              <a:rPr lang="fr-FR" dirty="0" err="1"/>
              <a:t>scaled</a:t>
            </a:r>
            <a:r>
              <a:rPr lang="fr-FR" dirty="0"/>
              <a:t>) by a standard </a:t>
            </a:r>
            <a:r>
              <a:rPr lang="fr-FR" dirty="0" err="1"/>
              <a:t>error</a:t>
            </a:r>
            <a:r>
              <a:rPr lang="fr-FR" dirty="0"/>
              <a:t> </a:t>
            </a:r>
            <a:r>
              <a:rPr lang="fr-FR" dirty="0" err="1"/>
              <a:t>measure</a:t>
            </a:r>
            <a:r>
              <a:rPr lang="fr-FR" dirty="0"/>
              <a:t>. </a:t>
            </a:r>
            <a:r>
              <a:rPr lang="fr-FR" dirty="0" err="1"/>
              <a:t>They</a:t>
            </a:r>
            <a:r>
              <a:rPr lang="fr-FR" dirty="0"/>
              <a:t> </a:t>
            </a:r>
            <a:r>
              <a:rPr lang="fr-FR" dirty="0" err="1"/>
              <a:t>may</a:t>
            </a:r>
            <a:r>
              <a:rPr lang="fr-FR" dirty="0"/>
              <a:t> </a:t>
            </a:r>
            <a:r>
              <a:rPr lang="fr-FR" dirty="0" err="1"/>
              <a:t>follow</a:t>
            </a:r>
            <a:r>
              <a:rPr lang="fr-FR" dirty="0"/>
              <a:t> a </a:t>
            </a:r>
            <a:r>
              <a:rPr lang="fr-FR" dirty="0" err="1"/>
              <a:t>Student’s</a:t>
            </a:r>
            <a:r>
              <a:rPr lang="fr-FR" dirty="0"/>
              <a:t> </a:t>
            </a:r>
            <a:r>
              <a:rPr lang="fr-FR" dirty="0" err="1"/>
              <a:t>law</a:t>
            </a:r>
            <a:r>
              <a:rPr lang="fr-FR" dirty="0"/>
              <a:t>.</a:t>
            </a:r>
          </a:p>
          <a:p>
            <a:pPr marL="0" indent="0">
              <a:buNone/>
            </a:pPr>
            <a:endParaRPr lang="fr-FR" dirty="0"/>
          </a:p>
          <a:p>
            <a:pPr marL="0" indent="0">
              <a:buNone/>
            </a:pPr>
            <a:r>
              <a:rPr lang="fr-FR" dirty="0"/>
              <a:t>You </a:t>
            </a:r>
            <a:r>
              <a:rPr lang="fr-FR" dirty="0" err="1"/>
              <a:t>may</a:t>
            </a:r>
            <a:r>
              <a:rPr lang="fr-FR" dirty="0"/>
              <a:t> notice </a:t>
            </a:r>
            <a:r>
              <a:rPr lang="fr-FR" dirty="0" err="1"/>
              <a:t>when</a:t>
            </a:r>
            <a:r>
              <a:rPr lang="fr-FR" dirty="0"/>
              <a:t> the box plot crosses the line -2 and the line +2 as a signal for </a:t>
            </a:r>
            <a:r>
              <a:rPr lang="fr-FR" dirty="0" err="1"/>
              <a:t>outlier</a:t>
            </a:r>
            <a:r>
              <a:rPr lang="fr-FR" dirty="0"/>
              <a:t> (</a:t>
            </a:r>
            <a:r>
              <a:rPr lang="fr-FR" dirty="0" err="1"/>
              <a:t>with</a:t>
            </a:r>
            <a:r>
              <a:rPr lang="fr-FR" dirty="0"/>
              <a:t> excessive </a:t>
            </a:r>
            <a:r>
              <a:rPr lang="fr-FR" dirty="0" err="1"/>
              <a:t>residual</a:t>
            </a:r>
            <a:r>
              <a:rPr lang="fr-FR" dirty="0"/>
              <a:t>). </a:t>
            </a:r>
          </a:p>
        </p:txBody>
      </p:sp>
    </p:spTree>
    <p:extLst>
      <p:ext uri="{BB962C8B-B14F-4D97-AF65-F5344CB8AC3E}">
        <p14:creationId xmlns:p14="http://schemas.microsoft.com/office/powerpoint/2010/main" val="4193100033"/>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Group (i) – </a:t>
            </a:r>
            <a:br>
              <a:rPr lang="fr-FR" dirty="0"/>
            </a:br>
            <a:r>
              <a:rPr lang="fr-FR" dirty="0" err="1"/>
              <a:t>Hetero-skedasticity</a:t>
            </a:r>
            <a:endParaRPr lang="fr-FR" dirty="0"/>
          </a:p>
        </p:txBody>
      </p:sp>
      <p:sp>
        <p:nvSpPr>
          <p:cNvPr id="3" name="Espace réservé du contenu 2"/>
          <p:cNvSpPr>
            <a:spLocks noGrp="1"/>
          </p:cNvSpPr>
          <p:nvPr>
            <p:ph idx="1"/>
          </p:nvPr>
        </p:nvSpPr>
        <p:spPr/>
        <p:txBody>
          <a:bodyPr/>
          <a:lstStyle/>
          <a:p>
            <a:pPr marL="0" indent="0" algn="just">
              <a:buNone/>
            </a:pPr>
            <a:r>
              <a:rPr lang="fr-FR" sz="3600" dirty="0"/>
              <a:t>The variance-covariance matrix of </a:t>
            </a:r>
            <a:r>
              <a:rPr lang="fr-FR" sz="3600" dirty="0" err="1"/>
              <a:t>disturbances</a:t>
            </a:r>
            <a:r>
              <a:rPr lang="fr-FR" sz="3600" dirty="0"/>
              <a:t> </a:t>
            </a:r>
            <a:r>
              <a:rPr lang="fr-FR" sz="3600" dirty="0" err="1"/>
              <a:t>is</a:t>
            </a:r>
            <a:r>
              <a:rPr lang="fr-FR" sz="3600" dirty="0"/>
              <a:t> a </a:t>
            </a:r>
            <a:r>
              <a:rPr lang="fr-FR" sz="3600" dirty="0" err="1"/>
              <a:t>specific</a:t>
            </a:r>
            <a:r>
              <a:rPr lang="fr-FR" sz="3600" dirty="0"/>
              <a:t> block-diagonal matrix, </a:t>
            </a:r>
            <a:r>
              <a:rPr lang="fr-FR" sz="3600" dirty="0" err="1"/>
              <a:t>each</a:t>
            </a:r>
            <a:r>
              <a:rPr lang="fr-FR" sz="3600" dirty="0"/>
              <a:t> block corresponds to an </a:t>
            </a:r>
            <a:r>
              <a:rPr lang="fr-FR" sz="3600" dirty="0" err="1"/>
              <a:t>individual</a:t>
            </a:r>
            <a:r>
              <a:rPr lang="fr-FR" sz="3600" dirty="0"/>
              <a:t> (i).</a:t>
            </a:r>
          </a:p>
          <a:p>
            <a:pPr marL="0" indent="0" algn="just">
              <a:buNone/>
            </a:pPr>
            <a:r>
              <a:rPr lang="fr-FR" sz="3600" dirty="0"/>
              <a:t>This leads </a:t>
            </a:r>
            <a:r>
              <a:rPr lang="fr-FR" sz="3600" dirty="0" err="1"/>
              <a:t>ot</a:t>
            </a:r>
            <a:r>
              <a:rPr lang="fr-FR" sz="3600" dirty="0"/>
              <a:t> a </a:t>
            </a:r>
            <a:r>
              <a:rPr lang="fr-FR" sz="3600" dirty="0" err="1"/>
              <a:t>specific</a:t>
            </a:r>
            <a:r>
              <a:rPr lang="fr-FR" sz="3600" dirty="0"/>
              <a:t> </a:t>
            </a:r>
            <a:r>
              <a:rPr lang="fr-FR" sz="3600" dirty="0" err="1"/>
              <a:t>generalized</a:t>
            </a:r>
            <a:r>
              <a:rPr lang="fr-FR" sz="3600" dirty="0"/>
              <a:t> least square (GLS) </a:t>
            </a:r>
            <a:r>
              <a:rPr lang="fr-FR" sz="3600" dirty="0" err="1"/>
              <a:t>estimator</a:t>
            </a:r>
            <a:r>
              <a:rPr lang="fr-FR" sz="3600" dirty="0"/>
              <a:t>, the </a:t>
            </a:r>
            <a:r>
              <a:rPr lang="fr-FR" sz="3600" dirty="0" err="1"/>
              <a:t>Random</a:t>
            </a:r>
            <a:r>
              <a:rPr lang="fr-FR" sz="3600" dirty="0"/>
              <a:t> </a:t>
            </a:r>
            <a:r>
              <a:rPr lang="fr-FR" sz="3600" dirty="0" err="1"/>
              <a:t>effect</a:t>
            </a:r>
            <a:r>
              <a:rPr lang="fr-FR" sz="3600" dirty="0"/>
              <a:t> model (1966).</a:t>
            </a:r>
          </a:p>
        </p:txBody>
      </p:sp>
    </p:spTree>
    <p:extLst>
      <p:ext uri="{BB962C8B-B14F-4D97-AF65-F5344CB8AC3E}">
        <p14:creationId xmlns:p14="http://schemas.microsoft.com/office/powerpoint/2010/main" val="793712703"/>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69776"/>
            <a:ext cx="8229600" cy="1143000"/>
          </a:xfrm>
        </p:spPr>
        <p:txBody>
          <a:bodyPr/>
          <a:lstStyle/>
          <a:p>
            <a:r>
              <a:rPr lang="fr-FR" sz="3200" dirty="0" err="1"/>
              <a:t>Analysis</a:t>
            </a:r>
            <a:r>
              <a:rPr lang="fr-FR" sz="3200" dirty="0"/>
              <a:t> of variance </a:t>
            </a:r>
            <a:r>
              <a:rPr lang="fr-FR" sz="3200" dirty="0" err="1"/>
              <a:t>operators</a:t>
            </a:r>
            <a:r>
              <a:rPr lang="fr-FR" sz="3200" dirty="0"/>
              <a:t>: </a:t>
            </a:r>
            <a:r>
              <a:rPr lang="fr-FR" sz="3200" dirty="0" err="1"/>
              <a:t>Between</a:t>
            </a:r>
            <a:r>
              <a:rPr lang="fr-FR" sz="3200" dirty="0"/>
              <a:t>(groups) and </a:t>
            </a:r>
            <a:r>
              <a:rPr lang="fr-FR" sz="3200" dirty="0" err="1"/>
              <a:t>Within</a:t>
            </a:r>
            <a:r>
              <a:rPr lang="fr-FR" sz="3200" dirty="0"/>
              <a:t>(group)</a:t>
            </a:r>
          </a:p>
        </p:txBody>
      </p:sp>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395536" y="1600200"/>
                <a:ext cx="8229600" cy="5141168"/>
              </a:xfrm>
            </p:spPr>
            <p:txBody>
              <a:bodyPr/>
              <a:lstStyle/>
              <a:p>
                <a:pPr marL="0" indent="0">
                  <a:buNone/>
                </a:pPr>
                <a:r>
                  <a:rPr lang="fr-FR" b="0" u="sng" dirty="0" err="1"/>
                  <a:t>Between</a:t>
                </a:r>
                <a:r>
                  <a:rPr lang="fr-FR" u="sng" dirty="0"/>
                  <a:t>:</a:t>
                </a:r>
                <a:r>
                  <a:rPr lang="fr-FR" dirty="0"/>
                  <a:t> </a:t>
                </a:r>
                <a14:m>
                  <m:oMath xmlns:m="http://schemas.openxmlformats.org/officeDocument/2006/math">
                    <m:r>
                      <a:rPr lang="fr-FR" b="0" i="1" smtClean="0">
                        <a:latin typeface="Cambria Math"/>
                      </a:rPr>
                      <m:t>𝑥</m:t>
                    </m:r>
                    <m:d>
                      <m:dPr>
                        <m:ctrlPr>
                          <a:rPr lang="fr-FR" b="0" i="1" smtClean="0">
                            <a:latin typeface="Cambria Math" panose="02040503050406030204" pitchFamily="18" charset="0"/>
                          </a:rPr>
                        </m:ctrlPr>
                      </m:dPr>
                      <m:e>
                        <m:r>
                          <a:rPr lang="fr-FR" b="0" i="1" smtClean="0">
                            <a:latin typeface="Cambria Math"/>
                          </a:rPr>
                          <m:t>𝑖</m:t>
                        </m:r>
                        <m:r>
                          <a:rPr lang="fr-FR" b="0" i="1" smtClean="0">
                            <a:latin typeface="Cambria Math"/>
                          </a:rPr>
                          <m:t>.</m:t>
                        </m:r>
                      </m:e>
                    </m:d>
                    <m:r>
                      <a:rPr lang="fr-FR" b="0" i="1" smtClean="0">
                        <a:latin typeface="Cambria Math"/>
                      </a:rPr>
                      <m:t>=</m:t>
                    </m:r>
                    <m:f>
                      <m:fPr>
                        <m:ctrlPr>
                          <a:rPr lang="fr-FR" b="0" i="1" smtClean="0">
                            <a:latin typeface="Cambria Math" panose="02040503050406030204" pitchFamily="18" charset="0"/>
                          </a:rPr>
                        </m:ctrlPr>
                      </m:fPr>
                      <m:num>
                        <m:r>
                          <a:rPr lang="fr-FR" b="0" i="1" smtClean="0">
                            <a:latin typeface="Cambria Math"/>
                          </a:rPr>
                          <m:t>1</m:t>
                        </m:r>
                      </m:num>
                      <m:den>
                        <m:r>
                          <a:rPr lang="fr-FR" b="0" i="1" smtClean="0">
                            <a:latin typeface="Cambria Math"/>
                          </a:rPr>
                          <m:t>𝑇</m:t>
                        </m:r>
                      </m:den>
                    </m:f>
                    <m:nary>
                      <m:naryPr>
                        <m:chr m:val="∑"/>
                        <m:ctrlPr>
                          <a:rPr lang="fr-FR" b="0" i="1" smtClean="0">
                            <a:latin typeface="Cambria Math" panose="02040503050406030204" pitchFamily="18" charset="0"/>
                          </a:rPr>
                        </m:ctrlPr>
                      </m:naryPr>
                      <m:sub>
                        <m:r>
                          <m:rPr>
                            <m:brk m:alnAt="23"/>
                          </m:rPr>
                          <a:rPr lang="fr-FR" b="0" i="1" smtClean="0">
                            <a:latin typeface="Cambria Math"/>
                          </a:rPr>
                          <m:t>𝑡</m:t>
                        </m:r>
                        <m:r>
                          <a:rPr lang="fr-FR" b="0" i="1" smtClean="0">
                            <a:latin typeface="Cambria Math"/>
                          </a:rPr>
                          <m:t>=1</m:t>
                        </m:r>
                      </m:sub>
                      <m:sup>
                        <m:r>
                          <a:rPr lang="fr-FR" b="0" i="1" smtClean="0">
                            <a:latin typeface="Cambria Math"/>
                          </a:rPr>
                          <m:t>𝑡</m:t>
                        </m:r>
                        <m:r>
                          <a:rPr lang="fr-FR" b="0" i="1" smtClean="0">
                            <a:latin typeface="Cambria Math"/>
                          </a:rPr>
                          <m:t>=</m:t>
                        </m:r>
                        <m:r>
                          <a:rPr lang="fr-FR" b="0" i="1" smtClean="0">
                            <a:latin typeface="Cambria Math"/>
                          </a:rPr>
                          <m:t>𝑇</m:t>
                        </m:r>
                      </m:sup>
                      <m:e>
                        <m:r>
                          <a:rPr lang="fr-FR" b="0" i="1" smtClean="0">
                            <a:latin typeface="Cambria Math"/>
                          </a:rPr>
                          <m:t>𝑥</m:t>
                        </m:r>
                        <m:r>
                          <a:rPr lang="fr-FR" b="0" i="1" smtClean="0">
                            <a:latin typeface="Cambria Math"/>
                          </a:rPr>
                          <m:t>(</m:t>
                        </m:r>
                        <m:r>
                          <a:rPr lang="fr-FR" b="0" i="1" smtClean="0">
                            <a:latin typeface="Cambria Math"/>
                          </a:rPr>
                          <m:t>𝑖</m:t>
                        </m:r>
                        <m:r>
                          <a:rPr lang="fr-FR" b="0" i="1" smtClean="0">
                            <a:latin typeface="Cambria Math"/>
                          </a:rPr>
                          <m:t>,</m:t>
                        </m:r>
                        <m:r>
                          <a:rPr lang="fr-FR" b="0" i="1" smtClean="0">
                            <a:latin typeface="Cambria Math"/>
                          </a:rPr>
                          <m:t>𝑡</m:t>
                        </m:r>
                        <m:r>
                          <a:rPr lang="fr-FR" b="0" i="1" smtClean="0">
                            <a:latin typeface="Cambria Math"/>
                          </a:rPr>
                          <m:t>)</m:t>
                        </m:r>
                      </m:e>
                    </m:nary>
                  </m:oMath>
                </a14:m>
                <a:endParaRPr lang="fr-FR" dirty="0"/>
              </a:p>
              <a:p>
                <a:pPr marL="0" indent="0">
                  <a:buNone/>
                </a:pPr>
                <a:r>
                  <a:rPr lang="fr-FR" u="sng" dirty="0" err="1"/>
                  <a:t>Within</a:t>
                </a:r>
                <a:r>
                  <a:rPr lang="fr-FR" u="sng" dirty="0"/>
                  <a:t> (</a:t>
                </a:r>
                <a:r>
                  <a:rPr lang="fr-FR" u="sng" dirty="0" err="1"/>
                  <a:t>fixed</a:t>
                </a:r>
                <a:r>
                  <a:rPr lang="fr-FR" u="sng" dirty="0"/>
                  <a:t> </a:t>
                </a:r>
                <a:r>
                  <a:rPr lang="fr-FR" u="sng" dirty="0" err="1"/>
                  <a:t>effects</a:t>
                </a:r>
                <a:r>
                  <a:rPr lang="fr-FR" u="sng" dirty="0"/>
                  <a:t>):</a:t>
                </a:r>
                <a:r>
                  <a:rPr lang="fr-FR" dirty="0"/>
                  <a:t> </a:t>
                </a:r>
                <a14:m>
                  <m:oMath xmlns:m="http://schemas.openxmlformats.org/officeDocument/2006/math">
                    <m:r>
                      <a:rPr lang="fr-FR" i="1">
                        <a:latin typeface="Cambria Math"/>
                      </a:rPr>
                      <m:t>𝑥</m:t>
                    </m:r>
                    <m:d>
                      <m:dPr>
                        <m:ctrlPr>
                          <a:rPr lang="fr-FR" i="1">
                            <a:latin typeface="Cambria Math" panose="02040503050406030204" pitchFamily="18" charset="0"/>
                          </a:rPr>
                        </m:ctrlPr>
                      </m:dPr>
                      <m:e>
                        <m:r>
                          <a:rPr lang="fr-FR" i="1">
                            <a:latin typeface="Cambria Math"/>
                          </a:rPr>
                          <m:t>𝑖</m:t>
                        </m:r>
                        <m:r>
                          <a:rPr lang="fr-FR" b="0" i="1" smtClean="0">
                            <a:latin typeface="Cambria Math"/>
                          </a:rPr>
                          <m:t>𝑡</m:t>
                        </m:r>
                      </m:e>
                    </m:d>
                    <m:r>
                      <a:rPr lang="fr-FR" b="0" i="1" smtClean="0">
                        <a:latin typeface="Cambria Math"/>
                      </a:rPr>
                      <m:t>−</m:t>
                    </m:r>
                    <m:r>
                      <a:rPr lang="fr-FR" b="0" i="1" smtClean="0">
                        <a:latin typeface="Cambria Math"/>
                      </a:rPr>
                      <m:t>𝑥</m:t>
                    </m:r>
                    <m:d>
                      <m:dPr>
                        <m:ctrlPr>
                          <a:rPr lang="fr-FR" b="0" i="1" smtClean="0">
                            <a:latin typeface="Cambria Math" panose="02040503050406030204" pitchFamily="18" charset="0"/>
                          </a:rPr>
                        </m:ctrlPr>
                      </m:dPr>
                      <m:e>
                        <m:r>
                          <a:rPr lang="fr-FR" b="0" i="1" smtClean="0">
                            <a:latin typeface="Cambria Math"/>
                          </a:rPr>
                          <m:t>𝑖</m:t>
                        </m:r>
                        <m:r>
                          <a:rPr lang="fr-FR" b="0" i="1" smtClean="0">
                            <a:latin typeface="Cambria Math"/>
                          </a:rPr>
                          <m:t>.</m:t>
                        </m:r>
                      </m:e>
                    </m:d>
                  </m:oMath>
                </a14:m>
                <a:endParaRPr lang="fr-FR" b="0" dirty="0"/>
              </a:p>
              <a:p>
                <a:pPr marL="0" indent="0">
                  <a:buNone/>
                </a:pPr>
                <a:r>
                  <a:rPr lang="fr-FR" u="sng" dirty="0"/>
                  <a:t>OLS:</a:t>
                </a:r>
                <a:r>
                  <a:rPr lang="fr-FR" dirty="0"/>
                  <a:t> </a:t>
                </a:r>
                <a:r>
                  <a:rPr lang="fr-FR" dirty="0" err="1"/>
                  <a:t>Within</a:t>
                </a:r>
                <a:r>
                  <a:rPr lang="fr-FR" dirty="0"/>
                  <a:t> + </a:t>
                </a:r>
                <a:r>
                  <a:rPr lang="fr-FR" dirty="0" err="1"/>
                  <a:t>Between</a:t>
                </a:r>
                <a:r>
                  <a:rPr lang="fr-FR" dirty="0"/>
                  <a:t>: </a:t>
                </a:r>
                <a14:m>
                  <m:oMath xmlns:m="http://schemas.openxmlformats.org/officeDocument/2006/math">
                    <m:r>
                      <a:rPr lang="fr-FR" i="1">
                        <a:latin typeface="Cambria Math"/>
                      </a:rPr>
                      <m:t>𝑥</m:t>
                    </m:r>
                    <m:d>
                      <m:dPr>
                        <m:ctrlPr>
                          <a:rPr lang="fr-FR" i="1">
                            <a:latin typeface="Cambria Math" panose="02040503050406030204" pitchFamily="18" charset="0"/>
                          </a:rPr>
                        </m:ctrlPr>
                      </m:dPr>
                      <m:e>
                        <m:r>
                          <a:rPr lang="fr-FR" i="1">
                            <a:latin typeface="Cambria Math"/>
                          </a:rPr>
                          <m:t>𝑖𝑡</m:t>
                        </m:r>
                      </m:e>
                    </m:d>
                  </m:oMath>
                </a14:m>
                <a:endParaRPr lang="fr-FR" b="0" i="1" dirty="0"/>
              </a:p>
              <a:p>
                <a:pPr marL="0" indent="0">
                  <a:buNone/>
                </a:pPr>
                <a:r>
                  <a:rPr lang="fr-FR" u="sng" dirty="0" err="1"/>
                  <a:t>Random</a:t>
                </a:r>
                <a:r>
                  <a:rPr lang="fr-FR" u="sng" dirty="0"/>
                  <a:t> </a:t>
                </a:r>
                <a:r>
                  <a:rPr lang="fr-FR" u="sng" dirty="0" err="1"/>
                  <a:t>effects</a:t>
                </a:r>
                <a:r>
                  <a:rPr lang="fr-FR" u="sng" dirty="0"/>
                  <a:t> « </a:t>
                </a:r>
                <a:r>
                  <a:rPr lang="el-GR" u="sng" dirty="0"/>
                  <a:t> θ</a:t>
                </a:r>
                <a:r>
                  <a:rPr lang="fr-FR" u="sng" dirty="0"/>
                  <a:t>-</a:t>
                </a:r>
                <a:r>
                  <a:rPr lang="fr-FR" u="sng" dirty="0" err="1"/>
                  <a:t>weight</a:t>
                </a:r>
                <a:r>
                  <a:rPr lang="fr-FR" u="sng" dirty="0"/>
                  <a:t> » </a:t>
                </a:r>
                <a:r>
                  <a:rPr lang="fr-FR" u="sng" dirty="0" err="1"/>
                  <a:t>operator</a:t>
                </a:r>
                <a:r>
                  <a:rPr lang="fr-FR" dirty="0"/>
                  <a:t>: </a:t>
                </a:r>
              </a:p>
              <a:p>
                <a:pPr marL="0" indent="0">
                  <a:buNone/>
                </a:pPr>
                <a:r>
                  <a:rPr lang="fr-FR" dirty="0" err="1"/>
                  <a:t>Within</a:t>
                </a:r>
                <a:r>
                  <a:rPr lang="fr-FR" dirty="0"/>
                  <a:t> + </a:t>
                </a:r>
                <a:r>
                  <a:rPr lang="el-GR" dirty="0"/>
                  <a:t>θ</a:t>
                </a:r>
                <a:r>
                  <a:rPr lang="fr-FR" dirty="0"/>
                  <a:t> </a:t>
                </a:r>
                <a:r>
                  <a:rPr lang="fr-FR" dirty="0" err="1"/>
                  <a:t>Between</a:t>
                </a:r>
                <a:r>
                  <a:rPr lang="fr-FR" dirty="0"/>
                  <a:t>= </a:t>
                </a:r>
                <a14:m>
                  <m:oMath xmlns:m="http://schemas.openxmlformats.org/officeDocument/2006/math">
                    <m:r>
                      <a:rPr lang="fr-FR" i="1">
                        <a:latin typeface="Cambria Math"/>
                      </a:rPr>
                      <m:t>𝑥</m:t>
                    </m:r>
                    <m:d>
                      <m:dPr>
                        <m:ctrlPr>
                          <a:rPr lang="fr-FR" i="1">
                            <a:latin typeface="Cambria Math" panose="02040503050406030204" pitchFamily="18" charset="0"/>
                          </a:rPr>
                        </m:ctrlPr>
                      </m:dPr>
                      <m:e>
                        <m:r>
                          <a:rPr lang="fr-FR" i="1">
                            <a:latin typeface="Cambria Math"/>
                          </a:rPr>
                          <m:t>𝑖𝑡</m:t>
                        </m:r>
                      </m:e>
                    </m:d>
                    <m:r>
                      <a:rPr lang="fr-FR" i="1">
                        <a:latin typeface="Cambria Math"/>
                      </a:rPr>
                      <m:t> −</m:t>
                    </m:r>
                    <m:r>
                      <a:rPr lang="fr-FR" i="1">
                        <a:latin typeface="Cambria Math"/>
                      </a:rPr>
                      <m:t>𝑥</m:t>
                    </m:r>
                    <m:d>
                      <m:dPr>
                        <m:ctrlPr>
                          <a:rPr lang="fr-FR" i="1">
                            <a:latin typeface="Cambria Math" panose="02040503050406030204" pitchFamily="18" charset="0"/>
                          </a:rPr>
                        </m:ctrlPr>
                      </m:dPr>
                      <m:e>
                        <m:r>
                          <a:rPr lang="fr-FR" i="1">
                            <a:latin typeface="Cambria Math"/>
                          </a:rPr>
                          <m:t>𝑖</m:t>
                        </m:r>
                        <m:r>
                          <a:rPr lang="fr-FR" i="1">
                            <a:latin typeface="Cambria Math"/>
                          </a:rPr>
                          <m:t>.</m:t>
                        </m:r>
                      </m:e>
                    </m:d>
                    <m:r>
                      <a:rPr lang="fr-FR" i="1">
                        <a:latin typeface="Cambria Math"/>
                      </a:rPr>
                      <m:t> </m:t>
                    </m:r>
                  </m:oMath>
                </a14:m>
                <a:r>
                  <a:rPr lang="fr-FR" i="1" dirty="0"/>
                  <a:t>+</a:t>
                </a:r>
                <a:r>
                  <a:rPr lang="el-GR" i="1" dirty="0"/>
                  <a:t> θ</a:t>
                </a:r>
                <a:r>
                  <a:rPr lang="fr-FR" i="1" dirty="0"/>
                  <a:t>.</a:t>
                </a:r>
                <a14:m>
                  <m:oMath xmlns:m="http://schemas.openxmlformats.org/officeDocument/2006/math">
                    <m:r>
                      <a:rPr lang="fr-FR" i="1">
                        <a:latin typeface="Cambria Math"/>
                      </a:rPr>
                      <m:t>𝑥</m:t>
                    </m:r>
                    <m:d>
                      <m:dPr>
                        <m:ctrlPr>
                          <a:rPr lang="fr-FR" i="1">
                            <a:latin typeface="Cambria Math" panose="02040503050406030204" pitchFamily="18" charset="0"/>
                          </a:rPr>
                        </m:ctrlPr>
                      </m:dPr>
                      <m:e>
                        <m:r>
                          <a:rPr lang="fr-FR" i="1">
                            <a:latin typeface="Cambria Math"/>
                          </a:rPr>
                          <m:t>𝑖</m:t>
                        </m:r>
                        <m:r>
                          <a:rPr lang="fr-FR" i="1">
                            <a:latin typeface="Cambria Math"/>
                          </a:rPr>
                          <m:t>.</m:t>
                        </m:r>
                      </m:e>
                    </m:d>
                    <m:r>
                      <a:rPr lang="fr-FR" i="1">
                        <a:latin typeface="Cambria Math"/>
                      </a:rPr>
                      <m:t> </m:t>
                    </m:r>
                  </m:oMath>
                </a14:m>
                <a:endParaRPr lang="fr-FR" dirty="0"/>
              </a:p>
              <a:p>
                <a:pPr marL="0" indent="0">
                  <a:buNone/>
                </a:pPr>
                <a:r>
                  <a:rPr lang="el-GR" dirty="0"/>
                  <a:t>θ </a:t>
                </a:r>
                <a:r>
                  <a:rPr lang="fr-FR" dirty="0"/>
                  <a:t>=0: </a:t>
                </a:r>
                <a:r>
                  <a:rPr lang="fr-FR" dirty="0" err="1"/>
                  <a:t>Within</a:t>
                </a:r>
                <a:r>
                  <a:rPr lang="fr-FR" dirty="0"/>
                  <a:t>  </a:t>
                </a:r>
              </a:p>
              <a:p>
                <a:pPr marL="0" indent="0">
                  <a:buNone/>
                </a:pPr>
                <a:r>
                  <a:rPr lang="el-GR" dirty="0"/>
                  <a:t>θ </a:t>
                </a:r>
                <a:r>
                  <a:rPr lang="fr-FR" dirty="0"/>
                  <a:t>=1: OLS</a:t>
                </a:r>
              </a:p>
              <a:p>
                <a:pPr marL="0" indent="0">
                  <a:buNone/>
                </a:pPr>
                <a:r>
                  <a:rPr lang="fr-FR" dirty="0"/>
                  <a:t>0&lt;</a:t>
                </a:r>
                <a:r>
                  <a:rPr lang="el-GR" dirty="0"/>
                  <a:t>θ</a:t>
                </a:r>
                <a:r>
                  <a:rPr lang="fr-FR" dirty="0"/>
                  <a:t>&lt;1: GLS </a:t>
                </a:r>
                <a:r>
                  <a:rPr lang="fr-FR" dirty="0" err="1"/>
                  <a:t>random</a:t>
                </a:r>
                <a:r>
                  <a:rPr lang="fr-FR" dirty="0"/>
                  <a:t> </a:t>
                </a:r>
                <a:r>
                  <a:rPr lang="fr-FR" dirty="0" err="1"/>
                  <a:t>effects</a:t>
                </a:r>
                <a:r>
                  <a:rPr lang="fr-FR" dirty="0"/>
                  <a:t>.</a:t>
                </a:r>
              </a:p>
              <a:p>
                <a:pPr marL="0" indent="0">
                  <a:buNone/>
                </a:pPr>
                <a:endParaRPr lang="fr-FR" dirty="0"/>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395536" y="1600200"/>
                <a:ext cx="8229600" cy="5141168"/>
              </a:xfrm>
              <a:blipFill rotWithShape="1">
                <a:blip r:embed="rId2"/>
                <a:stretch>
                  <a:fillRect l="-1926"/>
                </a:stretch>
              </a:blipFill>
            </p:spPr>
            <p:txBody>
              <a:bodyPr/>
              <a:lstStyle/>
              <a:p>
                <a:r>
                  <a:rPr lang="fr-FR">
                    <a:noFill/>
                  </a:rPr>
                  <a:t> </a:t>
                </a:r>
              </a:p>
            </p:txBody>
          </p:sp>
        </mc:Fallback>
      </mc:AlternateContent>
    </p:spTree>
    <p:extLst>
      <p:ext uri="{BB962C8B-B14F-4D97-AF65-F5344CB8AC3E}">
        <p14:creationId xmlns:p14="http://schemas.microsoft.com/office/powerpoint/2010/main" val="381048086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Coded</a:t>
            </a:r>
            <a:r>
              <a:rPr lang="fr-FR" dirty="0"/>
              <a:t> </a:t>
            </a:r>
            <a:r>
              <a:rPr lang="fr-FR" dirty="0" err="1"/>
              <a:t>Random</a:t>
            </a:r>
            <a:r>
              <a:rPr lang="fr-FR" dirty="0"/>
              <a:t> </a:t>
            </a:r>
            <a:r>
              <a:rPr lang="fr-FR" dirty="0" err="1"/>
              <a:t>Effects</a:t>
            </a:r>
            <a:endParaRPr lang="fr-FR" dirty="0"/>
          </a:p>
        </p:txBody>
      </p:sp>
      <p:sp>
        <p:nvSpPr>
          <p:cNvPr id="3" name="Espace réservé du contenu 2"/>
          <p:cNvSpPr>
            <a:spLocks noGrp="1"/>
          </p:cNvSpPr>
          <p:nvPr>
            <p:ph idx="1"/>
          </p:nvPr>
        </p:nvSpPr>
        <p:spPr/>
        <p:txBody>
          <a:bodyPr/>
          <a:lstStyle/>
          <a:p>
            <a:pPr marL="0" indent="0" algn="just">
              <a:buNone/>
            </a:pPr>
            <a:r>
              <a:rPr lang="fr-FR" dirty="0"/>
              <a:t>It </a:t>
            </a:r>
            <a:r>
              <a:rPr lang="fr-FR" dirty="0" err="1"/>
              <a:t>is</a:t>
            </a:r>
            <a:r>
              <a:rPr lang="fr-FR" dirty="0"/>
              <a:t> </a:t>
            </a:r>
            <a:r>
              <a:rPr lang="fr-FR" dirty="0" err="1"/>
              <a:t>coded</a:t>
            </a:r>
            <a:r>
              <a:rPr lang="fr-FR" dirty="0"/>
              <a:t> in softwares (</a:t>
            </a:r>
            <a:r>
              <a:rPr lang="fr-FR" dirty="0" err="1"/>
              <a:t>xtreg</a:t>
            </a:r>
            <a:r>
              <a:rPr lang="fr-FR" dirty="0"/>
              <a:t> </a:t>
            </a:r>
            <a:r>
              <a:rPr lang="fr-FR" dirty="0" err="1"/>
              <a:t>re</a:t>
            </a:r>
            <a:r>
              <a:rPr lang="fr-FR" dirty="0"/>
              <a:t> on STATA, etc.)</a:t>
            </a:r>
          </a:p>
          <a:p>
            <a:pPr marL="0" indent="0" algn="just">
              <a:buNone/>
            </a:pPr>
            <a:endParaRPr lang="fr-FR" dirty="0"/>
          </a:p>
          <a:p>
            <a:pPr marL="0" indent="0" algn="just">
              <a:buNone/>
            </a:pPr>
            <a:r>
              <a:rPr lang="fr-FR" dirty="0"/>
              <a:t>You do not </a:t>
            </a:r>
            <a:r>
              <a:rPr lang="fr-FR" dirty="0" err="1"/>
              <a:t>need</a:t>
            </a:r>
            <a:r>
              <a:rPr lang="fr-FR" dirty="0"/>
              <a:t> to recode </a:t>
            </a:r>
            <a:r>
              <a:rPr lang="fr-FR" dirty="0" err="1"/>
              <a:t>estimates</a:t>
            </a:r>
            <a:r>
              <a:rPr lang="fr-FR" dirty="0"/>
              <a:t> of </a:t>
            </a:r>
            <a:r>
              <a:rPr lang="fr-FR" b="1" dirty="0" err="1"/>
              <a:t>theta</a:t>
            </a:r>
            <a:r>
              <a:rPr lang="fr-FR" dirty="0"/>
              <a:t> (</a:t>
            </a:r>
            <a:r>
              <a:rPr lang="fr-FR" dirty="0" err="1"/>
              <a:t>with</a:t>
            </a:r>
            <a:r>
              <a:rPr lang="fr-FR" dirty="0"/>
              <a:t> one </a:t>
            </a:r>
            <a:r>
              <a:rPr lang="fr-FR" dirty="0" err="1"/>
              <a:t>method</a:t>
            </a:r>
            <a:r>
              <a:rPr lang="fr-FR" dirty="0"/>
              <a:t>: </a:t>
            </a:r>
            <a:r>
              <a:rPr lang="fr-FR" dirty="0" err="1"/>
              <a:t>Swamy</a:t>
            </a:r>
            <a:r>
              <a:rPr lang="fr-FR" dirty="0"/>
              <a:t> </a:t>
            </a:r>
            <a:r>
              <a:rPr lang="fr-FR" dirty="0" err="1"/>
              <a:t>Arora</a:t>
            </a:r>
            <a:r>
              <a:rPr lang="fr-FR" dirty="0"/>
              <a:t> for </a:t>
            </a:r>
            <a:r>
              <a:rPr lang="fr-FR" dirty="0" err="1"/>
              <a:t>example</a:t>
            </a:r>
            <a:r>
              <a:rPr lang="fr-FR" dirty="0"/>
              <a:t>) and </a:t>
            </a:r>
            <a:r>
              <a:rPr lang="fr-FR" dirty="0" err="1"/>
              <a:t>create</a:t>
            </a:r>
            <a:r>
              <a:rPr lang="fr-FR" dirty="0"/>
              <a:t> GLS-</a:t>
            </a:r>
            <a:r>
              <a:rPr lang="fr-FR" dirty="0" err="1"/>
              <a:t>transformed</a:t>
            </a:r>
            <a:r>
              <a:rPr lang="fr-FR" dirty="0"/>
              <a:t> variables.</a:t>
            </a:r>
          </a:p>
        </p:txBody>
      </p:sp>
    </p:spTree>
    <p:extLst>
      <p:ext uri="{BB962C8B-B14F-4D97-AF65-F5344CB8AC3E}">
        <p14:creationId xmlns:p14="http://schemas.microsoft.com/office/powerpoint/2010/main" val="3097697861"/>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Does</a:t>
            </a:r>
            <a:r>
              <a:rPr lang="fr-FR" dirty="0"/>
              <a:t> GLS changes the </a:t>
            </a:r>
            <a:r>
              <a:rPr lang="fr-FR" dirty="0" err="1"/>
              <a:t>shape</a:t>
            </a:r>
            <a:r>
              <a:rPr lang="fr-FR" dirty="0"/>
              <a:t>  of the </a:t>
            </a:r>
            <a:r>
              <a:rPr lang="fr-FR" dirty="0" err="1"/>
              <a:t>residuals</a:t>
            </a:r>
            <a:r>
              <a:rPr lang="fr-FR" dirty="0"/>
              <a:t> distributions?</a:t>
            </a:r>
          </a:p>
        </p:txBody>
      </p:sp>
      <p:sp>
        <p:nvSpPr>
          <p:cNvPr id="3" name="Espace réservé du contenu 2"/>
          <p:cNvSpPr>
            <a:spLocks noGrp="1"/>
          </p:cNvSpPr>
          <p:nvPr>
            <p:ph idx="1"/>
          </p:nvPr>
        </p:nvSpPr>
        <p:spPr/>
        <p:txBody>
          <a:bodyPr/>
          <a:lstStyle/>
          <a:p>
            <a:pPr marL="0" indent="0" algn="just">
              <a:buNone/>
            </a:pPr>
            <a:r>
              <a:rPr lang="fr-FR" dirty="0"/>
              <a:t>The non-</a:t>
            </a:r>
            <a:r>
              <a:rPr lang="fr-FR" dirty="0" err="1"/>
              <a:t>zero</a:t>
            </a:r>
            <a:r>
              <a:rPr lang="fr-FR" dirty="0"/>
              <a:t> </a:t>
            </a:r>
            <a:r>
              <a:rPr lang="fr-FR" dirty="0" err="1"/>
              <a:t>means</a:t>
            </a:r>
            <a:r>
              <a:rPr lang="fr-FR" dirty="0"/>
              <a:t> and the </a:t>
            </a:r>
            <a:r>
              <a:rPr lang="fr-FR" dirty="0" err="1"/>
              <a:t>different</a:t>
            </a:r>
            <a:r>
              <a:rPr lang="fr-FR" dirty="0"/>
              <a:t> standard </a:t>
            </a:r>
            <a:r>
              <a:rPr lang="fr-FR" dirty="0" err="1"/>
              <a:t>errors</a:t>
            </a:r>
            <a:r>
              <a:rPr lang="fr-FR" dirty="0"/>
              <a:t> </a:t>
            </a:r>
            <a:r>
              <a:rPr lang="fr-FR" dirty="0" err="1"/>
              <a:t>remains</a:t>
            </a:r>
            <a:r>
              <a:rPr lang="fr-FR" dirty="0"/>
              <a:t>.</a:t>
            </a:r>
          </a:p>
          <a:p>
            <a:pPr marL="0" indent="0" algn="just">
              <a:buNone/>
            </a:pPr>
            <a:r>
              <a:rPr lang="fr-FR" dirty="0" err="1"/>
              <a:t>These</a:t>
            </a:r>
            <a:r>
              <a:rPr lang="fr-FR" dirty="0"/>
              <a:t> distinct components of </a:t>
            </a:r>
            <a:r>
              <a:rPr lang="fr-FR" dirty="0" err="1"/>
              <a:t>heteroskedasticity</a:t>
            </a:r>
            <a:r>
              <a:rPr lang="fr-FR" dirty="0"/>
              <a:t> are not </a:t>
            </a:r>
            <a:r>
              <a:rPr lang="fr-FR" dirty="0" err="1"/>
              <a:t>corrected</a:t>
            </a:r>
            <a:r>
              <a:rPr lang="fr-FR" dirty="0"/>
              <a:t> for. </a:t>
            </a:r>
            <a:r>
              <a:rPr lang="fr-FR" dirty="0" err="1"/>
              <a:t>Heteroskedasticity</a:t>
            </a:r>
            <a:r>
              <a:rPr lang="fr-FR" dirty="0"/>
              <a:t> has </a:t>
            </a:r>
            <a:r>
              <a:rPr lang="fr-FR" dirty="0" err="1"/>
              <a:t>many</a:t>
            </a:r>
            <a:r>
              <a:rPr lang="fr-FR" dirty="0"/>
              <a:t> </a:t>
            </a:r>
            <a:r>
              <a:rPr lang="fr-FR" dirty="0" err="1"/>
              <a:t>shapes</a:t>
            </a:r>
            <a:r>
              <a:rPr lang="fr-FR" dirty="0"/>
              <a:t> (one </a:t>
            </a:r>
            <a:r>
              <a:rPr lang="fr-FR" dirty="0" err="1"/>
              <a:t>outlier</a:t>
            </a:r>
            <a:r>
              <a:rPr lang="fr-FR" dirty="0"/>
              <a:t> </a:t>
            </a:r>
            <a:r>
              <a:rPr lang="fr-FR" dirty="0" err="1"/>
              <a:t>is</a:t>
            </a:r>
            <a:r>
              <a:rPr lang="fr-FR" dirty="0"/>
              <a:t> </a:t>
            </a:r>
            <a:r>
              <a:rPr lang="fr-FR" dirty="0" err="1"/>
              <a:t>heteroskedasticity</a:t>
            </a:r>
            <a:r>
              <a:rPr lang="fr-FR" dirty="0"/>
              <a:t>).</a:t>
            </a:r>
          </a:p>
          <a:p>
            <a:pPr marL="0" indent="0" algn="just">
              <a:buNone/>
            </a:pPr>
            <a:r>
              <a:rPr lang="fr-FR" dirty="0"/>
              <a:t>But the GLS </a:t>
            </a:r>
            <a:r>
              <a:rPr lang="fr-FR" dirty="0" err="1"/>
              <a:t>estimated</a:t>
            </a:r>
            <a:r>
              <a:rPr lang="fr-FR" dirty="0"/>
              <a:t> </a:t>
            </a:r>
            <a:r>
              <a:rPr lang="fr-FR" dirty="0" err="1"/>
              <a:t>parameters</a:t>
            </a:r>
            <a:r>
              <a:rPr lang="fr-FR" dirty="0"/>
              <a:t> changes </a:t>
            </a:r>
            <a:r>
              <a:rPr lang="fr-FR" dirty="0" err="1"/>
              <a:t>with</a:t>
            </a:r>
            <a:r>
              <a:rPr lang="fr-FR" dirty="0"/>
              <a:t> respect to OLS.</a:t>
            </a:r>
          </a:p>
        </p:txBody>
      </p:sp>
    </p:spTree>
    <p:extLst>
      <p:ext uri="{BB962C8B-B14F-4D97-AF65-F5344CB8AC3E}">
        <p14:creationId xmlns:p14="http://schemas.microsoft.com/office/powerpoint/2010/main" val="3964093010"/>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t>GLS </a:t>
            </a:r>
            <a:r>
              <a:rPr lang="fr-FR" sz="3600" dirty="0" err="1"/>
              <a:t>Random</a:t>
            </a:r>
            <a:r>
              <a:rPr lang="fr-FR" sz="3600" dirty="0"/>
              <a:t> </a:t>
            </a:r>
            <a:r>
              <a:rPr lang="fr-FR" sz="3600" dirty="0" err="1"/>
              <a:t>effects</a:t>
            </a:r>
            <a:r>
              <a:rPr lang="fr-FR" sz="3600" dirty="0"/>
              <a:t> </a:t>
            </a:r>
            <a:r>
              <a:rPr lang="fr-FR" sz="3600" dirty="0" err="1"/>
              <a:t>with</a:t>
            </a:r>
            <a:r>
              <a:rPr lang="fr-FR" sz="3600" dirty="0"/>
              <a:t> distinct standard </a:t>
            </a:r>
            <a:r>
              <a:rPr lang="fr-FR" sz="3600" dirty="0" err="1"/>
              <a:t>error</a:t>
            </a:r>
            <a:r>
              <a:rPr lang="fr-FR" sz="3600" dirty="0"/>
              <a:t> for </a:t>
            </a:r>
            <a:r>
              <a:rPr lang="fr-FR" sz="3600" dirty="0" err="1"/>
              <a:t>each</a:t>
            </a:r>
            <a:r>
              <a:rPr lang="fr-FR" sz="3600" dirty="0"/>
              <a:t> </a:t>
            </a:r>
            <a:r>
              <a:rPr lang="fr-FR" sz="3600" dirty="0" err="1"/>
              <a:t>individuals</a:t>
            </a:r>
            <a:endParaRPr lang="fr-FR" sz="3600" dirty="0"/>
          </a:p>
        </p:txBody>
      </p:sp>
      <p:sp>
        <p:nvSpPr>
          <p:cNvPr id="3" name="Espace réservé du contenu 2"/>
          <p:cNvSpPr>
            <a:spLocks noGrp="1"/>
          </p:cNvSpPr>
          <p:nvPr>
            <p:ph idx="1"/>
          </p:nvPr>
        </p:nvSpPr>
        <p:spPr/>
        <p:txBody>
          <a:bodyPr/>
          <a:lstStyle/>
          <a:p>
            <a:pPr marL="0" indent="0">
              <a:buNone/>
            </a:pPr>
            <a:r>
              <a:rPr lang="fr-FR" dirty="0"/>
              <a:t>To </a:t>
            </a:r>
            <a:r>
              <a:rPr lang="fr-FR" dirty="0" err="1"/>
              <a:t>begin</a:t>
            </a:r>
            <a:r>
              <a:rPr lang="fr-FR" dirty="0"/>
              <a:t> </a:t>
            </a:r>
            <a:r>
              <a:rPr lang="fr-FR" dirty="0" err="1"/>
              <a:t>with</a:t>
            </a:r>
            <a:r>
              <a:rPr lang="fr-FR" dirty="0"/>
              <a:t>, the GLS </a:t>
            </a:r>
            <a:r>
              <a:rPr lang="fr-FR" dirty="0" err="1"/>
              <a:t>random</a:t>
            </a:r>
            <a:r>
              <a:rPr lang="fr-FR" dirty="0"/>
              <a:t> </a:t>
            </a:r>
            <a:r>
              <a:rPr lang="fr-FR" dirty="0" err="1"/>
              <a:t>effects</a:t>
            </a:r>
            <a:r>
              <a:rPr lang="fr-FR" dirty="0"/>
              <a:t> model assumes a time-invariant variance component </a:t>
            </a:r>
            <a:r>
              <a:rPr lang="fr-FR" dirty="0" err="1"/>
              <a:t>with</a:t>
            </a:r>
            <a:r>
              <a:rPr lang="fr-FR" dirty="0"/>
              <a:t> </a:t>
            </a:r>
            <a:r>
              <a:rPr lang="fr-FR" dirty="0" err="1"/>
              <a:t>identical</a:t>
            </a:r>
            <a:r>
              <a:rPr lang="fr-FR" dirty="0"/>
              <a:t> </a:t>
            </a:r>
            <a:r>
              <a:rPr lang="fr-FR" dirty="0" err="1"/>
              <a:t>theoretical</a:t>
            </a:r>
            <a:r>
              <a:rPr lang="fr-FR" dirty="0"/>
              <a:t> variance for all.</a:t>
            </a:r>
          </a:p>
          <a:p>
            <a:pPr marL="0" indent="0">
              <a:buNone/>
            </a:pPr>
            <a:r>
              <a:rPr lang="fr-FR" dirty="0"/>
              <a:t>In addition, </a:t>
            </a:r>
            <a:r>
              <a:rPr lang="fr-FR" dirty="0" err="1"/>
              <a:t>what</a:t>
            </a:r>
            <a:r>
              <a:rPr lang="fr-FR" dirty="0"/>
              <a:t> </a:t>
            </a:r>
            <a:r>
              <a:rPr lang="fr-FR" dirty="0" err="1"/>
              <a:t>we</a:t>
            </a:r>
            <a:r>
              <a:rPr lang="fr-FR" dirty="0"/>
              <a:t> have </a:t>
            </a:r>
            <a:r>
              <a:rPr lang="fr-FR" dirty="0" err="1"/>
              <a:t>seen</a:t>
            </a:r>
            <a:r>
              <a:rPr lang="fr-FR" dirty="0"/>
              <a:t> </a:t>
            </a:r>
            <a:r>
              <a:rPr lang="fr-FR" dirty="0" err="1"/>
              <a:t>is</a:t>
            </a:r>
            <a:r>
              <a:rPr lang="fr-FR" dirty="0"/>
              <a:t> </a:t>
            </a:r>
            <a:r>
              <a:rPr lang="fr-FR" dirty="0" err="1"/>
              <a:t>that</a:t>
            </a:r>
            <a:r>
              <a:rPr lang="fr-FR" dirty="0"/>
              <a:t> </a:t>
            </a:r>
            <a:r>
              <a:rPr lang="fr-FR" dirty="0" err="1"/>
              <a:t>this</a:t>
            </a:r>
            <a:r>
              <a:rPr lang="fr-FR" dirty="0"/>
              <a:t> time-invariant variance </a:t>
            </a:r>
            <a:r>
              <a:rPr lang="fr-FR" dirty="0" err="1"/>
              <a:t>may</a:t>
            </a:r>
            <a:r>
              <a:rPr lang="fr-FR" dirty="0"/>
              <a:t> </a:t>
            </a:r>
            <a:r>
              <a:rPr lang="fr-FR" dirty="0" err="1"/>
              <a:t>differ</a:t>
            </a:r>
            <a:r>
              <a:rPr lang="fr-FR" dirty="0"/>
              <a:t> </a:t>
            </a:r>
            <a:r>
              <a:rPr lang="fr-FR" dirty="0" err="1"/>
              <a:t>from</a:t>
            </a:r>
            <a:r>
              <a:rPr lang="fr-FR" dirty="0"/>
              <a:t> one </a:t>
            </a:r>
            <a:r>
              <a:rPr lang="fr-FR" dirty="0" err="1"/>
              <a:t>individual</a:t>
            </a:r>
            <a:r>
              <a:rPr lang="fr-FR" dirty="0"/>
              <a:t> to </a:t>
            </a:r>
            <a:r>
              <a:rPr lang="fr-FR" dirty="0" err="1"/>
              <a:t>another</a:t>
            </a:r>
            <a:r>
              <a:rPr lang="fr-FR" dirty="0"/>
              <a:t> in </a:t>
            </a:r>
            <a:r>
              <a:rPr lang="fr-FR" dirty="0" err="1"/>
              <a:t>boxplots</a:t>
            </a:r>
            <a:r>
              <a:rPr lang="fr-FR" dirty="0"/>
              <a:t> for the </a:t>
            </a:r>
            <a:r>
              <a:rPr lang="fr-FR" dirty="0" err="1"/>
              <a:t>gasoline</a:t>
            </a:r>
            <a:r>
              <a:rPr lang="fr-FR" dirty="0"/>
              <a:t> </a:t>
            </a:r>
            <a:r>
              <a:rPr lang="fr-FR" dirty="0" err="1"/>
              <a:t>demand</a:t>
            </a:r>
            <a:r>
              <a:rPr lang="fr-FR" dirty="0"/>
              <a:t> model.</a:t>
            </a:r>
          </a:p>
        </p:txBody>
      </p:sp>
    </p:spTree>
    <p:extLst>
      <p:ext uri="{BB962C8B-B14F-4D97-AF65-F5344CB8AC3E}">
        <p14:creationId xmlns:p14="http://schemas.microsoft.com/office/powerpoint/2010/main" val="1353582364"/>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What</a:t>
            </a:r>
            <a:r>
              <a:rPr lang="fr-FR" dirty="0"/>
              <a:t> if distinct time-invariant variance </a:t>
            </a:r>
            <a:r>
              <a:rPr lang="fr-FR" dirty="0" err="1"/>
              <a:t>across</a:t>
            </a:r>
            <a:r>
              <a:rPr lang="fr-FR" dirty="0"/>
              <a:t> </a:t>
            </a:r>
            <a:r>
              <a:rPr lang="fr-FR" dirty="0" err="1"/>
              <a:t>individuals</a:t>
            </a:r>
            <a:r>
              <a:rPr lang="fr-FR" dirty="0"/>
              <a:t>?</a:t>
            </a:r>
          </a:p>
        </p:txBody>
      </p:sp>
      <p:sp>
        <p:nvSpPr>
          <p:cNvPr id="3" name="Espace réservé du contenu 2"/>
          <p:cNvSpPr>
            <a:spLocks noGrp="1"/>
          </p:cNvSpPr>
          <p:nvPr>
            <p:ph idx="1"/>
          </p:nvPr>
        </p:nvSpPr>
        <p:spPr/>
        <p:txBody>
          <a:bodyPr>
            <a:normAutofit lnSpcReduction="10000"/>
          </a:bodyPr>
          <a:lstStyle/>
          <a:p>
            <a:pPr marL="0" indent="0">
              <a:buNone/>
            </a:pPr>
            <a:r>
              <a:rPr lang="fr-FR" dirty="0"/>
              <a:t>The first </a:t>
            </a:r>
            <a:r>
              <a:rPr lang="fr-FR" dirty="0" err="1"/>
              <a:t>way</a:t>
            </a:r>
            <a:r>
              <a:rPr lang="fr-FR" dirty="0"/>
              <a:t> to </a:t>
            </a:r>
            <a:r>
              <a:rPr lang="fr-FR" dirty="0" err="1"/>
              <a:t>handle</a:t>
            </a:r>
            <a:r>
              <a:rPr lang="fr-FR" dirty="0"/>
              <a:t> in addition distinct time-invariant </a:t>
            </a:r>
            <a:r>
              <a:rPr lang="fr-FR" dirty="0" err="1"/>
              <a:t>is</a:t>
            </a:r>
            <a:r>
              <a:rPr lang="fr-FR" dirty="0"/>
              <a:t> to </a:t>
            </a:r>
            <a:r>
              <a:rPr lang="fr-FR" dirty="0" err="1"/>
              <a:t>ask</a:t>
            </a:r>
            <a:r>
              <a:rPr lang="fr-FR" dirty="0"/>
              <a:t> for </a:t>
            </a:r>
            <a:r>
              <a:rPr lang="fr-FR" dirty="0" err="1"/>
              <a:t>clustered</a:t>
            </a:r>
            <a:r>
              <a:rPr lang="fr-FR" dirty="0"/>
              <a:t> standard </a:t>
            </a:r>
            <a:r>
              <a:rPr lang="fr-FR" dirty="0" err="1"/>
              <a:t>errors</a:t>
            </a:r>
            <a:r>
              <a:rPr lang="fr-FR" dirty="0"/>
              <a:t> by </a:t>
            </a:r>
            <a:r>
              <a:rPr lang="fr-FR" dirty="0" err="1"/>
              <a:t>individuals</a:t>
            </a:r>
            <a:r>
              <a:rPr lang="fr-FR" dirty="0"/>
              <a:t>.</a:t>
            </a:r>
          </a:p>
          <a:p>
            <a:pPr marL="0" indent="0">
              <a:buNone/>
            </a:pPr>
            <a:r>
              <a:rPr lang="fr-FR" dirty="0"/>
              <a:t>It </a:t>
            </a:r>
            <a:r>
              <a:rPr lang="fr-FR" dirty="0" err="1"/>
              <a:t>can</a:t>
            </a:r>
            <a:r>
              <a:rPr lang="fr-FR" dirty="0"/>
              <a:t> </a:t>
            </a:r>
            <a:r>
              <a:rPr lang="fr-FR" dirty="0" err="1"/>
              <a:t>be</a:t>
            </a:r>
            <a:r>
              <a:rPr lang="fr-FR" dirty="0"/>
              <a:t> possible to </a:t>
            </a:r>
            <a:r>
              <a:rPr lang="fr-FR" dirty="0" err="1"/>
              <a:t>define</a:t>
            </a:r>
            <a:r>
              <a:rPr lang="fr-FR" dirty="0"/>
              <a:t> a distinct </a:t>
            </a:r>
            <a:r>
              <a:rPr lang="fr-FR" dirty="0" err="1"/>
              <a:t>weight</a:t>
            </a:r>
            <a:r>
              <a:rPr lang="fr-FR" dirty="0"/>
              <a:t> 0&lt;</a:t>
            </a:r>
            <a:r>
              <a:rPr lang="el-GR" dirty="0"/>
              <a:t>θ</a:t>
            </a:r>
            <a:r>
              <a:rPr lang="fr-FR" dirty="0"/>
              <a:t>(i)&lt;1: GLS </a:t>
            </a:r>
            <a:r>
              <a:rPr lang="fr-FR" dirty="0" err="1"/>
              <a:t>random</a:t>
            </a:r>
            <a:r>
              <a:rPr lang="fr-FR" dirty="0"/>
              <a:t> </a:t>
            </a:r>
            <a:r>
              <a:rPr lang="fr-FR" dirty="0" err="1"/>
              <a:t>effects</a:t>
            </a:r>
            <a:r>
              <a:rPr lang="fr-FR" dirty="0"/>
              <a:t>.</a:t>
            </a:r>
          </a:p>
          <a:p>
            <a:pPr marL="0" indent="0">
              <a:buNone/>
            </a:pPr>
            <a:r>
              <a:rPr lang="fr-FR" dirty="0"/>
              <a:t>But </a:t>
            </a:r>
            <a:r>
              <a:rPr lang="fr-FR" dirty="0" err="1"/>
              <a:t>this</a:t>
            </a:r>
            <a:r>
              <a:rPr lang="fr-FR" dirty="0"/>
              <a:t> </a:t>
            </a:r>
            <a:r>
              <a:rPr lang="fr-FR" dirty="0" err="1"/>
              <a:t>refinement</a:t>
            </a:r>
            <a:r>
              <a:rPr lang="fr-FR" dirty="0"/>
              <a:t> </a:t>
            </a:r>
            <a:r>
              <a:rPr lang="fr-FR" dirty="0" err="1"/>
              <a:t>is</a:t>
            </a:r>
            <a:r>
              <a:rPr lang="fr-FR" dirty="0"/>
              <a:t> not </a:t>
            </a:r>
            <a:r>
              <a:rPr lang="fr-FR" dirty="0" err="1"/>
              <a:t>so</a:t>
            </a:r>
            <a:r>
              <a:rPr lang="fr-FR" dirty="0"/>
              <a:t> </a:t>
            </a:r>
            <a:r>
              <a:rPr lang="fr-FR" dirty="0" err="1"/>
              <a:t>useful</a:t>
            </a:r>
            <a:r>
              <a:rPr lang="fr-FR" dirty="0"/>
              <a:t> </a:t>
            </a:r>
            <a:r>
              <a:rPr lang="fr-FR" dirty="0" err="1"/>
              <a:t>because</a:t>
            </a:r>
            <a:r>
              <a:rPr lang="fr-FR" dirty="0"/>
              <a:t> the « </a:t>
            </a:r>
            <a:r>
              <a:rPr lang="fr-FR" dirty="0" err="1"/>
              <a:t>random</a:t>
            </a:r>
            <a:r>
              <a:rPr lang="fr-FR" dirty="0"/>
              <a:t> </a:t>
            </a:r>
            <a:r>
              <a:rPr lang="fr-FR" dirty="0" err="1"/>
              <a:t>effects</a:t>
            </a:r>
            <a:r>
              <a:rPr lang="fr-FR" dirty="0"/>
              <a:t> » model </a:t>
            </a:r>
            <a:r>
              <a:rPr lang="fr-FR" dirty="0" err="1"/>
              <a:t>is</a:t>
            </a:r>
            <a:r>
              <a:rPr lang="fr-FR" dirty="0"/>
              <a:t> </a:t>
            </a:r>
            <a:r>
              <a:rPr lang="fr-FR" b="1" dirty="0" err="1"/>
              <a:t>under-performing</a:t>
            </a:r>
            <a:r>
              <a:rPr lang="fr-FR" dirty="0"/>
              <a:t> </a:t>
            </a:r>
            <a:r>
              <a:rPr lang="fr-FR" dirty="0" err="1"/>
              <a:t>with</a:t>
            </a:r>
            <a:r>
              <a:rPr lang="fr-FR" dirty="0"/>
              <a:t> respect to </a:t>
            </a:r>
            <a:r>
              <a:rPr lang="fr-FR" dirty="0" err="1"/>
              <a:t>fixed</a:t>
            </a:r>
            <a:r>
              <a:rPr lang="fr-FR" dirty="0"/>
              <a:t> </a:t>
            </a:r>
            <a:r>
              <a:rPr lang="fr-FR" dirty="0" err="1"/>
              <a:t>effects</a:t>
            </a:r>
            <a:r>
              <a:rPr lang="fr-FR" dirty="0"/>
              <a:t> or </a:t>
            </a:r>
            <a:r>
              <a:rPr lang="fr-FR" dirty="0" err="1"/>
              <a:t>Mundlak</a:t>
            </a:r>
            <a:r>
              <a:rPr lang="fr-FR" dirty="0"/>
              <a:t> model</a:t>
            </a:r>
          </a:p>
        </p:txBody>
      </p:sp>
    </p:spTree>
    <p:extLst>
      <p:ext uri="{BB962C8B-B14F-4D97-AF65-F5344CB8AC3E}">
        <p14:creationId xmlns:p14="http://schemas.microsoft.com/office/powerpoint/2010/main" val="1956113759"/>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3"/>
          <p:cNvSpPr>
            <a:spLocks noGrp="1"/>
          </p:cNvSpPr>
          <p:nvPr>
            <p:ph type="ctrTitle"/>
          </p:nvPr>
        </p:nvSpPr>
        <p:spPr/>
        <p:txBody>
          <a:bodyPr>
            <a:noAutofit/>
          </a:bodyPr>
          <a:lstStyle/>
          <a:p>
            <a:r>
              <a:rPr lang="fr-FR" altLang="fr-FR" sz="3600" dirty="0"/>
              <a:t>9. Hausman </a:t>
            </a:r>
            <a:r>
              <a:rPr lang="fr-FR" altLang="fr-FR" sz="3600" dirty="0" err="1"/>
              <a:t>Pre-Test</a:t>
            </a:r>
            <a:r>
              <a:rPr lang="fr-FR" altLang="fr-FR" sz="3600" dirty="0"/>
              <a:t> of E(</a:t>
            </a:r>
            <a:r>
              <a:rPr lang="el-GR" altLang="fr-FR" sz="3600" dirty="0"/>
              <a:t>α</a:t>
            </a:r>
            <a:r>
              <a:rPr lang="fr-FR" altLang="fr-FR" sz="3600" dirty="0"/>
              <a:t>(i)|X(</a:t>
            </a:r>
            <a:r>
              <a:rPr lang="fr-FR" altLang="fr-FR" sz="3600" dirty="0" err="1"/>
              <a:t>it</a:t>
            </a:r>
            <a:r>
              <a:rPr lang="fr-FR" altLang="fr-FR" sz="3600" dirty="0"/>
              <a:t>)) for </a:t>
            </a:r>
            <a:r>
              <a:rPr lang="fr-FR" altLang="fr-FR" sz="3600" dirty="0" err="1"/>
              <a:t>then</a:t>
            </a:r>
            <a:r>
              <a:rPr lang="fr-FR" altLang="fr-FR" sz="3600" dirty="0"/>
              <a:t> </a:t>
            </a:r>
            <a:r>
              <a:rPr lang="fr-FR" altLang="fr-FR" sz="3600" dirty="0" err="1"/>
              <a:t>testing</a:t>
            </a:r>
            <a:r>
              <a:rPr lang="fr-FR" altLang="fr-FR" sz="3600" dirty="0"/>
              <a:t> </a:t>
            </a:r>
            <a:r>
              <a:rPr lang="fr-FR" altLang="fr-FR" sz="3600" dirty="0" err="1"/>
              <a:t>either</a:t>
            </a:r>
            <a:r>
              <a:rPr lang="fr-FR" altLang="fr-FR" sz="3600" dirty="0"/>
              <a:t> </a:t>
            </a:r>
            <a:r>
              <a:rPr lang="fr-FR" altLang="fr-FR" sz="3600" dirty="0" err="1"/>
              <a:t>fixed</a:t>
            </a:r>
            <a:r>
              <a:rPr lang="fr-FR" altLang="fr-FR" sz="3600" dirty="0"/>
              <a:t> </a:t>
            </a:r>
            <a:r>
              <a:rPr lang="fr-FR" altLang="fr-FR" sz="3600" dirty="0" err="1"/>
              <a:t>effects</a:t>
            </a:r>
            <a:r>
              <a:rPr lang="fr-FR" altLang="fr-FR" sz="3600" dirty="0"/>
              <a:t> OR </a:t>
            </a:r>
            <a:r>
              <a:rPr lang="fr-FR" altLang="fr-FR" sz="3600" dirty="0" err="1"/>
              <a:t>random</a:t>
            </a:r>
            <a:r>
              <a:rPr lang="fr-FR" altLang="fr-FR" sz="3600" dirty="0"/>
              <a:t> </a:t>
            </a:r>
            <a:r>
              <a:rPr lang="fr-FR" altLang="fr-FR" sz="3600" dirty="0" err="1"/>
              <a:t>effects</a:t>
            </a:r>
            <a:r>
              <a:rPr lang="fr-FR" altLang="fr-FR" sz="3600" dirty="0"/>
              <a:t>.</a:t>
            </a:r>
          </a:p>
        </p:txBody>
      </p:sp>
      <p:sp>
        <p:nvSpPr>
          <p:cNvPr id="6147" name="Sous-titre 4"/>
          <p:cNvSpPr>
            <a:spLocks noGrp="1"/>
          </p:cNvSpPr>
          <p:nvPr>
            <p:ph type="subTitle" idx="1"/>
          </p:nvPr>
        </p:nvSpPr>
        <p:spPr/>
        <p:txBody>
          <a:bodyPr/>
          <a:lstStyle/>
          <a:p>
            <a:r>
              <a:rPr lang="fr-FR" altLang="fr-FR"/>
              <a:t> </a:t>
            </a:r>
          </a:p>
        </p:txBody>
      </p:sp>
    </p:spTree>
    <p:extLst>
      <p:ext uri="{BB962C8B-B14F-4D97-AF65-F5344CB8AC3E}">
        <p14:creationId xmlns:p14="http://schemas.microsoft.com/office/powerpoint/2010/main" val="2221507834"/>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The IV Hausman test </a:t>
            </a:r>
            <a:r>
              <a:rPr lang="fr-FR" dirty="0" err="1"/>
              <a:t>applied</a:t>
            </a:r>
            <a:br>
              <a:rPr lang="fr-FR" dirty="0"/>
            </a:br>
            <a:r>
              <a:rPr lang="fr-FR" dirty="0"/>
              <a:t>on FE (IV) – RE(non-IV)</a:t>
            </a:r>
            <a:endParaRPr lang="en-GB" dirty="0"/>
          </a:p>
        </p:txBody>
      </p:sp>
      <p:sp>
        <p:nvSpPr>
          <p:cNvPr id="3" name="Espace réservé du contenu 2"/>
          <p:cNvSpPr>
            <a:spLocks noGrp="1"/>
          </p:cNvSpPr>
          <p:nvPr>
            <p:ph idx="1"/>
          </p:nvPr>
        </p:nvSpPr>
        <p:spPr/>
        <p:txBody>
          <a:bodyPr/>
          <a:lstStyle/>
          <a:p>
            <a:pPr marL="0" indent="0">
              <a:buNone/>
            </a:pPr>
            <a:r>
              <a:rPr lang="fr-FR" dirty="0" err="1"/>
              <a:t>Null</a:t>
            </a:r>
            <a:r>
              <a:rPr lang="fr-FR" dirty="0"/>
              <a:t> </a:t>
            </a:r>
            <a:r>
              <a:rPr lang="fr-FR" dirty="0" err="1"/>
              <a:t>hypothesis</a:t>
            </a:r>
            <a:r>
              <a:rPr lang="fr-FR" dirty="0"/>
              <a:t>= </a:t>
            </a:r>
            <a:r>
              <a:rPr lang="fr-FR" dirty="0" err="1"/>
              <a:t>zero</a:t>
            </a:r>
            <a:r>
              <a:rPr lang="fr-FR" dirty="0"/>
              <a:t> </a:t>
            </a:r>
            <a:r>
              <a:rPr lang="fr-FR" b="1" dirty="0" err="1"/>
              <a:t>difference</a:t>
            </a:r>
            <a:r>
              <a:rPr lang="fr-FR" dirty="0"/>
              <a:t> of all </a:t>
            </a:r>
            <a:r>
              <a:rPr lang="fr-FR" dirty="0" err="1"/>
              <a:t>parameters</a:t>
            </a:r>
            <a:r>
              <a:rPr lang="fr-FR" dirty="0"/>
              <a:t> of FE (IV </a:t>
            </a:r>
            <a:r>
              <a:rPr lang="fr-FR" dirty="0" err="1"/>
              <a:t>estimator</a:t>
            </a:r>
            <a:r>
              <a:rPr lang="fr-FR" dirty="0"/>
              <a:t> </a:t>
            </a:r>
            <a:r>
              <a:rPr lang="fr-FR" dirty="0" err="1"/>
              <a:t>ruling</a:t>
            </a:r>
            <a:r>
              <a:rPr lang="fr-FR" dirty="0"/>
              <a:t> out </a:t>
            </a:r>
            <a:r>
              <a:rPr lang="el-GR" dirty="0"/>
              <a:t>α</a:t>
            </a:r>
            <a:r>
              <a:rPr lang="fr-FR" dirty="0"/>
              <a:t>(i) </a:t>
            </a:r>
            <a:r>
              <a:rPr lang="fr-FR" dirty="0" err="1"/>
              <a:t>disturbance</a:t>
            </a:r>
            <a:r>
              <a:rPr lang="fr-FR" dirty="0"/>
              <a:t>) </a:t>
            </a:r>
            <a:r>
              <a:rPr lang="fr-FR" b="1" dirty="0"/>
              <a:t>minus</a:t>
            </a:r>
            <a:r>
              <a:rPr lang="fr-FR" dirty="0"/>
              <a:t> RE( non-IV </a:t>
            </a:r>
            <a:r>
              <a:rPr lang="fr-FR" dirty="0" err="1"/>
              <a:t>estimator</a:t>
            </a:r>
            <a:r>
              <a:rPr lang="fr-FR" dirty="0"/>
              <a:t> </a:t>
            </a:r>
            <a:r>
              <a:rPr lang="fr-FR" dirty="0" err="1"/>
              <a:t>with</a:t>
            </a:r>
            <a:r>
              <a:rPr lang="fr-FR" dirty="0"/>
              <a:t> </a:t>
            </a:r>
            <a:r>
              <a:rPr lang="fr-FR" dirty="0" err="1"/>
              <a:t>may</a:t>
            </a:r>
            <a:r>
              <a:rPr lang="fr-FR" dirty="0"/>
              <a:t> </a:t>
            </a:r>
            <a:r>
              <a:rPr lang="fr-FR" dirty="0" err="1"/>
              <a:t>be</a:t>
            </a:r>
            <a:r>
              <a:rPr lang="fr-FR" dirty="0"/>
              <a:t> </a:t>
            </a:r>
            <a:r>
              <a:rPr lang="fr-FR" dirty="0" err="1"/>
              <a:t>biased</a:t>
            </a:r>
            <a:r>
              <a:rPr lang="fr-FR" dirty="0"/>
              <a:t> due to </a:t>
            </a:r>
            <a:r>
              <a:rPr lang="el-GR" dirty="0"/>
              <a:t>α</a:t>
            </a:r>
            <a:r>
              <a:rPr lang="fr-FR" dirty="0"/>
              <a:t>(i) </a:t>
            </a:r>
            <a:r>
              <a:rPr lang="fr-FR" dirty="0" err="1"/>
              <a:t>endogeneity</a:t>
            </a:r>
            <a:r>
              <a:rPr lang="fr-FR" dirty="0"/>
              <a:t>).</a:t>
            </a:r>
          </a:p>
          <a:p>
            <a:pPr marL="0" indent="0" algn="just">
              <a:buNone/>
            </a:pPr>
            <a:r>
              <a:rPr lang="fr-FR" dirty="0"/>
              <a:t>It the </a:t>
            </a:r>
            <a:r>
              <a:rPr lang="fr-FR" dirty="0" err="1"/>
              <a:t>differences</a:t>
            </a:r>
            <a:r>
              <a:rPr lang="fr-FR" dirty="0"/>
              <a:t> are large, </a:t>
            </a:r>
            <a:r>
              <a:rPr lang="fr-FR" dirty="0" err="1"/>
              <a:t>this</a:t>
            </a:r>
            <a:r>
              <a:rPr lang="fr-FR" dirty="0"/>
              <a:t> </a:t>
            </a:r>
            <a:r>
              <a:rPr lang="fr-FR" dirty="0" err="1"/>
              <a:t>suggests</a:t>
            </a:r>
            <a:r>
              <a:rPr lang="fr-FR" dirty="0"/>
              <a:t> </a:t>
            </a:r>
            <a:r>
              <a:rPr lang="fr-FR" dirty="0" err="1"/>
              <a:t>there</a:t>
            </a:r>
            <a:r>
              <a:rPr lang="fr-FR" dirty="0"/>
              <a:t> </a:t>
            </a:r>
            <a:r>
              <a:rPr lang="fr-FR" dirty="0" err="1"/>
              <a:t>is</a:t>
            </a:r>
            <a:r>
              <a:rPr lang="fr-FR" dirty="0"/>
              <a:t> an </a:t>
            </a:r>
            <a:r>
              <a:rPr lang="fr-FR" dirty="0" err="1"/>
              <a:t>endogeneity</a:t>
            </a:r>
            <a:r>
              <a:rPr lang="fr-FR" dirty="0"/>
              <a:t> </a:t>
            </a:r>
            <a:r>
              <a:rPr lang="fr-FR" dirty="0" err="1"/>
              <a:t>bias</a:t>
            </a:r>
            <a:r>
              <a:rPr lang="fr-FR" dirty="0"/>
              <a:t> and the IV </a:t>
            </a:r>
            <a:r>
              <a:rPr lang="fr-FR" dirty="0" err="1"/>
              <a:t>estimator</a:t>
            </a:r>
            <a:r>
              <a:rPr lang="fr-FR" dirty="0"/>
              <a:t> </a:t>
            </a:r>
            <a:r>
              <a:rPr lang="fr-FR" dirty="0" err="1"/>
              <a:t>is</a:t>
            </a:r>
            <a:r>
              <a:rPr lang="fr-FR" dirty="0"/>
              <a:t> to </a:t>
            </a:r>
            <a:r>
              <a:rPr lang="fr-FR" dirty="0" err="1"/>
              <a:t>be</a:t>
            </a:r>
            <a:r>
              <a:rPr lang="fr-FR" dirty="0"/>
              <a:t> </a:t>
            </a:r>
            <a:r>
              <a:rPr lang="fr-FR" dirty="0" err="1"/>
              <a:t>preferred</a:t>
            </a:r>
            <a:r>
              <a:rPr lang="fr-FR" dirty="0"/>
              <a:t>. (</a:t>
            </a:r>
            <a:r>
              <a:rPr lang="fr-FR" dirty="0" err="1"/>
              <a:t>Remark</a:t>
            </a:r>
            <a:r>
              <a:rPr lang="fr-FR" dirty="0"/>
              <a:t>: You </a:t>
            </a:r>
            <a:r>
              <a:rPr lang="fr-FR" dirty="0" err="1"/>
              <a:t>may</a:t>
            </a:r>
            <a:r>
              <a:rPr lang="fr-FR" dirty="0"/>
              <a:t> have </a:t>
            </a:r>
            <a:r>
              <a:rPr lang="fr-FR" dirty="0" err="1"/>
              <a:t>endogeneity</a:t>
            </a:r>
            <a:r>
              <a:rPr lang="fr-FR" dirty="0"/>
              <a:t> </a:t>
            </a:r>
            <a:r>
              <a:rPr lang="fr-FR" dirty="0" err="1"/>
              <a:t>without</a:t>
            </a:r>
            <a:r>
              <a:rPr lang="fr-FR" dirty="0"/>
              <a:t> </a:t>
            </a:r>
            <a:r>
              <a:rPr lang="fr-FR" dirty="0" err="1"/>
              <a:t>endogeneity</a:t>
            </a:r>
            <a:r>
              <a:rPr lang="fr-FR" dirty="0"/>
              <a:t> </a:t>
            </a:r>
            <a:r>
              <a:rPr lang="fr-FR" dirty="0" err="1"/>
              <a:t>bias</a:t>
            </a:r>
            <a:r>
              <a:rPr lang="fr-FR" dirty="0"/>
              <a:t>).</a:t>
            </a:r>
            <a:endParaRPr lang="en-GB" dirty="0"/>
          </a:p>
        </p:txBody>
      </p:sp>
    </p:spTree>
    <p:extLst>
      <p:ext uri="{BB962C8B-B14F-4D97-AF65-F5344CB8AC3E}">
        <p14:creationId xmlns:p14="http://schemas.microsoft.com/office/powerpoint/2010/main" val="1954063926"/>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a:t>Visual Hausman test of </a:t>
            </a:r>
            <a:r>
              <a:rPr lang="fr-FR" sz="3200" dirty="0" err="1"/>
              <a:t>each</a:t>
            </a:r>
            <a:r>
              <a:rPr lang="fr-FR" sz="3200" dirty="0"/>
              <a:t> </a:t>
            </a:r>
            <a:r>
              <a:rPr lang="fr-FR" sz="3200" dirty="0" err="1"/>
              <a:t>difference</a:t>
            </a:r>
            <a:r>
              <a:rPr lang="fr-FR" sz="3200" dirty="0"/>
              <a:t> of </a:t>
            </a:r>
            <a:r>
              <a:rPr lang="fr-FR" sz="3200" dirty="0" err="1"/>
              <a:t>parameters</a:t>
            </a:r>
            <a:r>
              <a:rPr lang="fr-FR" sz="3200" dirty="0"/>
              <a:t> in proportion of </a:t>
            </a:r>
            <a:r>
              <a:rPr lang="fr-FR" sz="3200" dirty="0" err="1"/>
              <a:t>parameters</a:t>
            </a:r>
            <a:endParaRPr lang="en-GB" sz="3200" dirty="0"/>
          </a:p>
        </p:txBody>
      </p:sp>
      <p:sp>
        <p:nvSpPr>
          <p:cNvPr id="3" name="Espace réservé du contenu 2"/>
          <p:cNvSpPr>
            <a:spLocks noGrp="1"/>
          </p:cNvSpPr>
          <p:nvPr>
            <p:ph idx="1"/>
          </p:nvPr>
        </p:nvSpPr>
        <p:spPr/>
        <p:txBody>
          <a:bodyPr>
            <a:normAutofit fontScale="55000" lnSpcReduction="20000"/>
          </a:bodyPr>
          <a:lstStyle/>
          <a:p>
            <a:pPr marL="0" indent="0">
              <a:buNone/>
            </a:pPr>
            <a:r>
              <a:rPr lang="en-GB" dirty="0"/>
              <a:t>. </a:t>
            </a:r>
            <a:r>
              <a:rPr lang="en-GB" dirty="0" err="1"/>
              <a:t>hausman</a:t>
            </a:r>
            <a:r>
              <a:rPr lang="en-GB" dirty="0"/>
              <a:t> fixed ., </a:t>
            </a:r>
            <a:r>
              <a:rPr lang="en-GB" dirty="0" err="1"/>
              <a:t>sigmamore</a:t>
            </a:r>
            <a:endParaRPr lang="en-GB" dirty="0"/>
          </a:p>
          <a:p>
            <a:pPr marL="0" indent="0">
              <a:buNone/>
            </a:pPr>
            <a:r>
              <a:rPr lang="en-GB" dirty="0"/>
              <a:t>Coefficients (b)         (B)                      (b-B)           </a:t>
            </a:r>
            <a:r>
              <a:rPr lang="en-GB" dirty="0" err="1"/>
              <a:t>sqrt</a:t>
            </a:r>
            <a:r>
              <a:rPr lang="en-GB" dirty="0"/>
              <a:t>(</a:t>
            </a:r>
            <a:r>
              <a:rPr lang="en-GB" dirty="0" err="1"/>
              <a:t>diag</a:t>
            </a:r>
            <a:r>
              <a:rPr lang="en-GB" dirty="0"/>
              <a:t>(</a:t>
            </a:r>
            <a:r>
              <a:rPr lang="en-GB" dirty="0" err="1"/>
              <a:t>VarCovar</a:t>
            </a:r>
            <a:r>
              <a:rPr lang="en-GB" dirty="0"/>
              <a:t>(b)-</a:t>
            </a:r>
            <a:r>
              <a:rPr lang="en-GB" dirty="0" err="1"/>
              <a:t>VarCovar</a:t>
            </a:r>
            <a:r>
              <a:rPr lang="en-GB" dirty="0"/>
              <a:t>(B))</a:t>
            </a:r>
          </a:p>
          <a:p>
            <a:pPr marL="0" indent="0">
              <a:buNone/>
            </a:pPr>
            <a:r>
              <a:rPr lang="en-GB" dirty="0"/>
              <a:t>             fixed effects  random effects       Difference     Std. err.</a:t>
            </a:r>
          </a:p>
          <a:p>
            <a:pPr marL="0" indent="0">
              <a:buNone/>
            </a:pPr>
            <a:r>
              <a:rPr lang="en-GB" dirty="0"/>
              <a:t>age       </a:t>
            </a:r>
            <a:r>
              <a:rPr lang="en-GB" b="1" dirty="0"/>
              <a:t>-.005485    -.0069749</a:t>
            </a:r>
            <a:r>
              <a:rPr lang="en-GB" dirty="0"/>
              <a:t>                0.0014899        .0004803</a:t>
            </a:r>
          </a:p>
          <a:p>
            <a:pPr marL="0" indent="0">
              <a:buNone/>
            </a:pPr>
            <a:r>
              <a:rPr lang="en-GB" dirty="0" err="1"/>
              <a:t>msp</a:t>
            </a:r>
            <a:r>
              <a:rPr lang="en-GB" dirty="0"/>
              <a:t>    </a:t>
            </a:r>
            <a:r>
              <a:rPr lang="en-GB" b="1" dirty="0"/>
              <a:t>  .0033427</a:t>
            </a:r>
            <a:r>
              <a:rPr lang="en-GB" dirty="0"/>
              <a:t>  </a:t>
            </a:r>
            <a:r>
              <a:rPr lang="en-GB" b="1" dirty="0"/>
              <a:t> .0046594 </a:t>
            </a:r>
            <a:r>
              <a:rPr lang="en-GB" dirty="0"/>
              <a:t>              -.0013167           .0020596</a:t>
            </a:r>
          </a:p>
          <a:p>
            <a:pPr marL="0" indent="0">
              <a:buNone/>
            </a:pPr>
            <a:r>
              <a:rPr lang="en-GB" dirty="0" err="1"/>
              <a:t>ttl_exp</a:t>
            </a:r>
            <a:r>
              <a:rPr lang="en-GB" dirty="0"/>
              <a:t> </a:t>
            </a:r>
            <a:r>
              <a:rPr lang="en-GB" b="1" dirty="0"/>
              <a:t>.0383604</a:t>
            </a:r>
            <a:r>
              <a:rPr lang="en-GB" dirty="0"/>
              <a:t>    </a:t>
            </a:r>
            <a:r>
              <a:rPr lang="en-GB" b="1" dirty="0"/>
              <a:t>.0429635</a:t>
            </a:r>
            <a:r>
              <a:rPr lang="en-GB" dirty="0"/>
              <a:t>               -0.0046031       .0007181</a:t>
            </a:r>
          </a:p>
          <a:p>
            <a:pPr marL="0" indent="0">
              <a:buNone/>
            </a:pPr>
            <a:r>
              <a:rPr lang="en-GB" dirty="0"/>
              <a:t>b = Consistent under H0 and Ha; obtained from </a:t>
            </a:r>
            <a:r>
              <a:rPr lang="en-GB" dirty="0" err="1"/>
              <a:t>xtreg</a:t>
            </a:r>
            <a:r>
              <a:rPr lang="en-GB" dirty="0"/>
              <a:t>.</a:t>
            </a:r>
          </a:p>
          <a:p>
            <a:pPr marL="0" indent="0">
              <a:buNone/>
            </a:pPr>
            <a:r>
              <a:rPr lang="en-GB" dirty="0"/>
              <a:t>B = Inconsistent under Ha, efficient under H0; obtained from </a:t>
            </a:r>
            <a:r>
              <a:rPr lang="en-GB" dirty="0" err="1"/>
              <a:t>xtreg</a:t>
            </a:r>
            <a:r>
              <a:rPr lang="en-GB" dirty="0"/>
              <a:t>.</a:t>
            </a:r>
          </a:p>
          <a:p>
            <a:pPr marL="0" indent="0">
              <a:buNone/>
            </a:pPr>
            <a:r>
              <a:rPr lang="en-GB" dirty="0"/>
              <a:t>Test of H0: Difference in coefficients not systematic (</a:t>
            </a:r>
            <a:r>
              <a:rPr lang="en-GB" b="1" dirty="0"/>
              <a:t>RE=FE</a:t>
            </a:r>
            <a:r>
              <a:rPr lang="en-GB" dirty="0"/>
              <a:t>)</a:t>
            </a:r>
          </a:p>
          <a:p>
            <a:pPr marL="0" indent="0">
              <a:buNone/>
            </a:pPr>
            <a:r>
              <a:rPr lang="fr-FR" b="1" dirty="0" err="1"/>
              <a:t>Weighted</a:t>
            </a:r>
            <a:r>
              <a:rPr lang="fr-FR" b="1" dirty="0"/>
              <a:t> by covariance </a:t>
            </a:r>
            <a:r>
              <a:rPr lang="fr-FR" b="1" dirty="0" err="1"/>
              <a:t>sum</a:t>
            </a:r>
            <a:r>
              <a:rPr lang="fr-FR" b="1" dirty="0"/>
              <a:t> of squares of the </a:t>
            </a:r>
            <a:r>
              <a:rPr lang="fr-FR" b="1" dirty="0" err="1"/>
              <a:t>differences</a:t>
            </a:r>
            <a:r>
              <a:rPr lang="fr-FR" b="1" dirty="0"/>
              <a:t> of 3 </a:t>
            </a:r>
            <a:r>
              <a:rPr lang="fr-FR" b="1" dirty="0" err="1"/>
              <a:t>parameters</a:t>
            </a:r>
            <a:r>
              <a:rPr lang="fr-FR" b="1" dirty="0"/>
              <a:t> </a:t>
            </a:r>
            <a:endParaRPr lang="en-GB" b="1" dirty="0"/>
          </a:p>
          <a:p>
            <a:pPr marL="0" indent="0">
              <a:buNone/>
            </a:pPr>
            <a:r>
              <a:rPr lang="en-GB" dirty="0"/>
              <a:t>chi2(</a:t>
            </a:r>
            <a:r>
              <a:rPr lang="en-GB" b="1" dirty="0"/>
              <a:t>3</a:t>
            </a:r>
            <a:r>
              <a:rPr lang="en-GB" dirty="0"/>
              <a:t>) = (b-B)'[(</a:t>
            </a:r>
            <a:r>
              <a:rPr lang="en-GB" dirty="0" err="1"/>
              <a:t>VarCovar</a:t>
            </a:r>
            <a:r>
              <a:rPr lang="en-GB" dirty="0"/>
              <a:t>(b)-</a:t>
            </a:r>
            <a:r>
              <a:rPr lang="en-GB" dirty="0" err="1"/>
              <a:t>VarCovar</a:t>
            </a:r>
            <a:r>
              <a:rPr lang="en-GB" dirty="0"/>
              <a:t>(B))</a:t>
            </a:r>
            <a:r>
              <a:rPr lang="en-GB" baseline="30000" dirty="0"/>
              <a:t>-1</a:t>
            </a:r>
            <a:r>
              <a:rPr lang="en-GB" dirty="0"/>
              <a:t>](b-B)</a:t>
            </a:r>
          </a:p>
          <a:p>
            <a:pPr marL="0" indent="0">
              <a:buNone/>
            </a:pPr>
            <a:r>
              <a:rPr lang="en-GB" dirty="0"/>
              <a:t>= </a:t>
            </a:r>
            <a:r>
              <a:rPr lang="en-GB" b="1" dirty="0"/>
              <a:t>260.40 &gt;&gt;0</a:t>
            </a:r>
          </a:p>
          <a:p>
            <a:pPr marL="0" indent="0">
              <a:buNone/>
            </a:pPr>
            <a:r>
              <a:rPr lang="en-GB" b="1" dirty="0" err="1"/>
              <a:t>Prob</a:t>
            </a:r>
            <a:r>
              <a:rPr lang="en-GB" b="1" dirty="0"/>
              <a:t> &gt; chi2 = 0.0000 &lt; 5%, reject the null hypothesis which favour the random effects (RE=FE) = </a:t>
            </a:r>
            <a:r>
              <a:rPr lang="en-GB" b="1" dirty="0" err="1"/>
              <a:t>Hausman</a:t>
            </a:r>
            <a:r>
              <a:rPr lang="en-GB" b="1" dirty="0"/>
              <a:t> pre-test suggests using FIXED EFFECTS.</a:t>
            </a:r>
          </a:p>
        </p:txBody>
      </p:sp>
    </p:spTree>
    <p:extLst>
      <p:ext uri="{BB962C8B-B14F-4D97-AF65-F5344CB8AC3E}">
        <p14:creationId xmlns:p14="http://schemas.microsoft.com/office/powerpoint/2010/main" val="4285906655"/>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800" dirty="0"/>
              <a:t>Hausman </a:t>
            </a:r>
            <a:r>
              <a:rPr lang="fr-FR" sz="2800" dirty="0" err="1"/>
              <a:t>pre-tests</a:t>
            </a:r>
            <a:r>
              <a:rPr lang="fr-FR" sz="2800" dirty="0"/>
              <a:t> an </a:t>
            </a:r>
            <a:r>
              <a:rPr lang="fr-FR" sz="2800" dirty="0" err="1"/>
              <a:t>observed</a:t>
            </a:r>
            <a:r>
              <a:rPr lang="fr-FR" sz="2800" dirty="0"/>
              <a:t> </a:t>
            </a:r>
            <a:r>
              <a:rPr lang="fr-FR" sz="2800" dirty="0" err="1"/>
              <a:t>endogeneity</a:t>
            </a:r>
            <a:r>
              <a:rPr lang="fr-FR" sz="2800" dirty="0"/>
              <a:t> BIAS of </a:t>
            </a:r>
            <a:r>
              <a:rPr lang="fr-FR" sz="2800" dirty="0" err="1"/>
              <a:t>estimated</a:t>
            </a:r>
            <a:r>
              <a:rPr lang="fr-FR" sz="2800" dirty="0"/>
              <a:t> </a:t>
            </a:r>
            <a:r>
              <a:rPr lang="fr-FR" sz="2800" dirty="0" err="1"/>
              <a:t>parameters</a:t>
            </a:r>
            <a:r>
              <a:rPr lang="fr-FR" sz="2800" dirty="0"/>
              <a:t>.</a:t>
            </a:r>
            <a:endParaRPr lang="en-GB" sz="2800" dirty="0"/>
          </a:p>
        </p:txBody>
      </p:sp>
      <p:sp>
        <p:nvSpPr>
          <p:cNvPr id="3" name="Espace réservé du contenu 2"/>
          <p:cNvSpPr>
            <a:spLocks noGrp="1"/>
          </p:cNvSpPr>
          <p:nvPr>
            <p:ph idx="1"/>
          </p:nvPr>
        </p:nvSpPr>
        <p:spPr/>
        <p:txBody>
          <a:bodyPr/>
          <a:lstStyle/>
          <a:p>
            <a:pPr marL="0" indent="0" algn="just">
              <a:buNone/>
            </a:pPr>
            <a:r>
              <a:rPr lang="fr-FR" dirty="0"/>
              <a:t>NOTE: a variable </a:t>
            </a:r>
            <a:r>
              <a:rPr lang="fr-FR" dirty="0" err="1"/>
              <a:t>may</a:t>
            </a:r>
            <a:r>
              <a:rPr lang="fr-FR" dirty="0"/>
              <a:t> </a:t>
            </a:r>
            <a:r>
              <a:rPr lang="fr-FR" dirty="0" err="1"/>
              <a:t>be</a:t>
            </a:r>
            <a:r>
              <a:rPr lang="fr-FR" dirty="0"/>
              <a:t> </a:t>
            </a:r>
            <a:r>
              <a:rPr lang="fr-FR" dirty="0" err="1"/>
              <a:t>endogenous</a:t>
            </a:r>
            <a:r>
              <a:rPr lang="fr-FR" dirty="0"/>
              <a:t> and </a:t>
            </a:r>
            <a:r>
              <a:rPr lang="fr-FR" dirty="0" err="1"/>
              <a:t>parameters</a:t>
            </a:r>
            <a:r>
              <a:rPr lang="fr-FR" dirty="0"/>
              <a:t> </a:t>
            </a:r>
            <a:r>
              <a:rPr lang="fr-FR" dirty="0" err="1"/>
              <a:t>without</a:t>
            </a:r>
            <a:r>
              <a:rPr lang="fr-FR" dirty="0"/>
              <a:t> </a:t>
            </a:r>
            <a:r>
              <a:rPr lang="fr-FR" dirty="0" err="1"/>
              <a:t>endogeneity</a:t>
            </a:r>
            <a:r>
              <a:rPr lang="fr-FR" dirty="0"/>
              <a:t> </a:t>
            </a:r>
            <a:r>
              <a:rPr lang="fr-FR" dirty="0" err="1"/>
              <a:t>bias</a:t>
            </a:r>
            <a:r>
              <a:rPr lang="fr-FR" dirty="0"/>
              <a:t>: </a:t>
            </a:r>
            <a:r>
              <a:rPr lang="fr-FR" dirty="0" err="1"/>
              <a:t>endogeneity</a:t>
            </a:r>
            <a:r>
              <a:rPr lang="fr-FR" dirty="0"/>
              <a:t> MAY </a:t>
            </a:r>
            <a:r>
              <a:rPr lang="fr-FR" dirty="0" err="1"/>
              <a:t>create</a:t>
            </a:r>
            <a:r>
              <a:rPr lang="fr-FR" dirty="0"/>
              <a:t> a </a:t>
            </a:r>
            <a:r>
              <a:rPr lang="fr-FR" dirty="0" err="1"/>
              <a:t>bias</a:t>
            </a:r>
            <a:r>
              <a:rPr lang="fr-FR" dirty="0"/>
              <a:t>.</a:t>
            </a:r>
          </a:p>
          <a:p>
            <a:pPr marL="0" indent="0" algn="just">
              <a:buNone/>
            </a:pPr>
            <a:r>
              <a:rPr lang="fr-FR" dirty="0" err="1"/>
              <a:t>Foreign</a:t>
            </a:r>
            <a:r>
              <a:rPr lang="fr-FR" dirty="0"/>
              <a:t> </a:t>
            </a:r>
            <a:r>
              <a:rPr lang="fr-FR" dirty="0" err="1"/>
              <a:t>aid</a:t>
            </a:r>
            <a:r>
              <a:rPr lang="fr-FR" dirty="0"/>
              <a:t>/ GDP  and </a:t>
            </a:r>
            <a:r>
              <a:rPr lang="fr-FR" dirty="0" err="1"/>
              <a:t>growth</a:t>
            </a:r>
            <a:r>
              <a:rPr lang="fr-FR" dirty="0"/>
              <a:t> (</a:t>
            </a:r>
            <a:r>
              <a:rPr lang="fr-FR" dirty="0" err="1"/>
              <a:t>Burnside</a:t>
            </a:r>
            <a:r>
              <a:rPr lang="fr-FR" dirty="0"/>
              <a:t> and Dollar </a:t>
            </a:r>
            <a:r>
              <a:rPr lang="fr-FR" dirty="0" err="1"/>
              <a:t>pooled</a:t>
            </a:r>
            <a:r>
              <a:rPr lang="fr-FR" dirty="0"/>
              <a:t> OLS </a:t>
            </a:r>
            <a:r>
              <a:rPr lang="fr-FR" dirty="0" err="1"/>
              <a:t>regression</a:t>
            </a:r>
            <a:r>
              <a:rPr lang="fr-FR" dirty="0"/>
              <a:t>):</a:t>
            </a:r>
          </a:p>
          <a:p>
            <a:pPr marL="0" indent="0" algn="just">
              <a:buNone/>
            </a:pPr>
            <a:r>
              <a:rPr lang="fr-FR" dirty="0" err="1"/>
              <a:t>Zero</a:t>
            </a:r>
            <a:r>
              <a:rPr lang="fr-FR" dirty="0"/>
              <a:t> </a:t>
            </a:r>
            <a:r>
              <a:rPr lang="fr-FR" dirty="0" err="1"/>
              <a:t>correlation</a:t>
            </a:r>
            <a:r>
              <a:rPr lang="fr-FR" dirty="0"/>
              <a:t> </a:t>
            </a:r>
            <a:r>
              <a:rPr lang="fr-FR" dirty="0" err="1"/>
              <a:t>before</a:t>
            </a:r>
            <a:r>
              <a:rPr lang="fr-FR" dirty="0"/>
              <a:t> and </a:t>
            </a:r>
            <a:r>
              <a:rPr lang="fr-FR" dirty="0" err="1"/>
              <a:t>after</a:t>
            </a:r>
            <a:r>
              <a:rPr lang="fr-FR" dirty="0"/>
              <a:t> IV.</a:t>
            </a:r>
          </a:p>
          <a:p>
            <a:pPr marL="0" indent="0" algn="just">
              <a:buNone/>
            </a:pPr>
            <a:r>
              <a:rPr lang="fr-FR" dirty="0" err="1"/>
              <a:t>Foreign</a:t>
            </a:r>
            <a:r>
              <a:rPr lang="fr-FR" dirty="0"/>
              <a:t> </a:t>
            </a:r>
            <a:r>
              <a:rPr lang="fr-FR" dirty="0" err="1"/>
              <a:t>aid</a:t>
            </a:r>
            <a:r>
              <a:rPr lang="fr-FR" dirty="0"/>
              <a:t>/GDP </a:t>
            </a:r>
            <a:r>
              <a:rPr lang="fr-FR" dirty="0" err="1"/>
              <a:t>is</a:t>
            </a:r>
            <a:r>
              <a:rPr lang="fr-FR" dirty="0"/>
              <a:t> </a:t>
            </a:r>
            <a:r>
              <a:rPr lang="fr-FR" dirty="0" err="1"/>
              <a:t>endogenous</a:t>
            </a:r>
            <a:r>
              <a:rPr lang="fr-FR" dirty="0"/>
              <a:t> </a:t>
            </a:r>
            <a:r>
              <a:rPr lang="fr-FR" dirty="0" err="1"/>
              <a:t>with</a:t>
            </a:r>
            <a:r>
              <a:rPr lang="fr-FR" dirty="0"/>
              <a:t> </a:t>
            </a:r>
            <a:r>
              <a:rPr lang="fr-FR" dirty="0" err="1"/>
              <a:t>re</a:t>
            </a:r>
            <a:r>
              <a:rPr lang="fr-FR" dirty="0"/>
              <a:t>.</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2398722224"/>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Outcome</a:t>
            </a:r>
            <a:r>
              <a:rPr lang="fr-FR" dirty="0"/>
              <a:t> of Hausman </a:t>
            </a:r>
            <a:r>
              <a:rPr lang="fr-FR" dirty="0" err="1"/>
              <a:t>pre-test</a:t>
            </a:r>
            <a:r>
              <a:rPr lang="fr-FR" dirty="0"/>
              <a:t> RE versus FE</a:t>
            </a:r>
            <a:endParaRPr lang="en-GB" dirty="0"/>
          </a:p>
        </p:txBody>
      </p:sp>
      <p:sp>
        <p:nvSpPr>
          <p:cNvPr id="3" name="Espace réservé du contenu 2"/>
          <p:cNvSpPr>
            <a:spLocks noGrp="1"/>
          </p:cNvSpPr>
          <p:nvPr>
            <p:ph idx="1"/>
          </p:nvPr>
        </p:nvSpPr>
        <p:spPr/>
        <p:txBody>
          <a:bodyPr/>
          <a:lstStyle/>
          <a:p>
            <a:pPr marL="0" indent="0">
              <a:buNone/>
            </a:pPr>
            <a:r>
              <a:rPr lang="fr-FR" dirty="0" err="1"/>
              <a:t>Usually</a:t>
            </a:r>
            <a:r>
              <a:rPr lang="fr-FR" dirty="0"/>
              <a:t>, </a:t>
            </a:r>
            <a:r>
              <a:rPr lang="fr-FR" dirty="0" err="1"/>
              <a:t>there</a:t>
            </a:r>
            <a:r>
              <a:rPr lang="fr-FR" dirty="0"/>
              <a:t> </a:t>
            </a:r>
            <a:r>
              <a:rPr lang="fr-FR" dirty="0" err="1"/>
              <a:t>is</a:t>
            </a:r>
            <a:r>
              <a:rPr lang="fr-FR" dirty="0"/>
              <a:t> a </a:t>
            </a:r>
            <a:r>
              <a:rPr lang="fr-FR" dirty="0" err="1"/>
              <a:t>difference</a:t>
            </a:r>
            <a:r>
              <a:rPr lang="fr-FR" dirty="0"/>
              <a:t> of the </a:t>
            </a:r>
            <a:r>
              <a:rPr lang="fr-FR" dirty="0" err="1"/>
              <a:t>parameters</a:t>
            </a:r>
            <a:r>
              <a:rPr lang="fr-FR" dirty="0"/>
              <a:t> RE versus FE, </a:t>
            </a:r>
            <a:r>
              <a:rPr lang="fr-FR" dirty="0" err="1"/>
              <a:t>which</a:t>
            </a:r>
            <a:r>
              <a:rPr lang="fr-FR" dirty="0"/>
              <a:t> </a:t>
            </a:r>
            <a:r>
              <a:rPr lang="fr-FR" dirty="0" err="1"/>
              <a:t>rejects</a:t>
            </a:r>
            <a:r>
              <a:rPr lang="fr-FR" dirty="0"/>
              <a:t> the </a:t>
            </a:r>
            <a:r>
              <a:rPr lang="fr-FR" dirty="0" err="1"/>
              <a:t>null</a:t>
            </a:r>
            <a:r>
              <a:rPr lang="fr-FR" dirty="0"/>
              <a:t> </a:t>
            </a:r>
            <a:r>
              <a:rPr lang="fr-FR" dirty="0" err="1"/>
              <a:t>hypothesiss</a:t>
            </a:r>
            <a:r>
              <a:rPr lang="fr-FR" dirty="0"/>
              <a:t> of RE=FE.</a:t>
            </a:r>
          </a:p>
          <a:p>
            <a:pPr marL="0" indent="0">
              <a:buNone/>
            </a:pPr>
            <a:r>
              <a:rPr lang="pt-BR" dirty="0">
                <a:latin typeface="Cambria Math" panose="02040503050406030204" pitchFamily="18" charset="0"/>
                <a:ea typeface="Cambria Math" panose="02040503050406030204" pitchFamily="18" charset="0"/>
              </a:rPr>
              <a:t>⇒ </a:t>
            </a:r>
            <a:r>
              <a:rPr lang="fr-FR" dirty="0"/>
              <a:t>The Hausman test </a:t>
            </a:r>
            <a:r>
              <a:rPr lang="fr-FR" dirty="0" err="1"/>
              <a:t>statistics</a:t>
            </a:r>
            <a:r>
              <a:rPr lang="fr-FR" dirty="0"/>
              <a:t> (</a:t>
            </a:r>
            <a:r>
              <a:rPr lang="fr-FR" dirty="0" err="1"/>
              <a:t>sum</a:t>
            </a:r>
            <a:r>
              <a:rPr lang="fr-FR" dirty="0"/>
              <a:t> of squares of </a:t>
            </a:r>
            <a:r>
              <a:rPr lang="fr-FR" dirty="0" err="1"/>
              <a:t>differences</a:t>
            </a:r>
            <a:r>
              <a:rPr lang="fr-FR" dirty="0"/>
              <a:t> of </a:t>
            </a:r>
            <a:r>
              <a:rPr lang="fr-FR" dirty="0" err="1"/>
              <a:t>parameters</a:t>
            </a:r>
            <a:r>
              <a:rPr lang="fr-FR" dirty="0"/>
              <a:t> </a:t>
            </a:r>
            <a:r>
              <a:rPr lang="fr-FR" dirty="0" err="1"/>
              <a:t>weighted</a:t>
            </a:r>
            <a:r>
              <a:rPr lang="fr-FR" dirty="0"/>
              <a:t> by the inverse of </a:t>
            </a:r>
            <a:r>
              <a:rPr lang="fr-FR" dirty="0" err="1"/>
              <a:t>their</a:t>
            </a:r>
            <a:r>
              <a:rPr lang="fr-FR" dirty="0"/>
              <a:t> variance covariance matrix) </a:t>
            </a:r>
            <a:r>
              <a:rPr lang="fr-FR" dirty="0" err="1"/>
              <a:t>is</a:t>
            </a:r>
            <a:r>
              <a:rPr lang="fr-FR" dirty="0"/>
              <a:t> far </a:t>
            </a:r>
            <a:r>
              <a:rPr lang="fr-FR" dirty="0" err="1"/>
              <a:t>from</a:t>
            </a:r>
            <a:r>
              <a:rPr lang="fr-FR" dirty="0"/>
              <a:t> </a:t>
            </a:r>
            <a:r>
              <a:rPr lang="fr-FR" dirty="0" err="1"/>
              <a:t>zero</a:t>
            </a:r>
            <a:r>
              <a:rPr lang="fr-FR" dirty="0"/>
              <a:t>, </a:t>
            </a:r>
            <a:r>
              <a:rPr lang="fr-FR" dirty="0" err="1"/>
              <a:t>which</a:t>
            </a:r>
            <a:r>
              <a:rPr lang="fr-FR" dirty="0"/>
              <a:t> </a:t>
            </a:r>
            <a:r>
              <a:rPr lang="fr-FR" dirty="0" err="1"/>
              <a:t>rejects</a:t>
            </a:r>
            <a:r>
              <a:rPr lang="fr-FR" dirty="0"/>
              <a:t> the </a:t>
            </a:r>
            <a:r>
              <a:rPr lang="fr-FR" dirty="0" err="1"/>
              <a:t>null</a:t>
            </a:r>
            <a:r>
              <a:rPr lang="fr-FR" dirty="0"/>
              <a:t>.</a:t>
            </a:r>
          </a:p>
          <a:p>
            <a:pPr marL="0" indent="0">
              <a:buNone/>
            </a:pPr>
            <a:r>
              <a:rPr lang="pt-BR" dirty="0">
                <a:latin typeface="Cambria Math" panose="02040503050406030204" pitchFamily="18" charset="0"/>
                <a:ea typeface="Cambria Math" panose="02040503050406030204" pitchFamily="18" charset="0"/>
              </a:rPr>
              <a:t>⇒ </a:t>
            </a:r>
            <a:r>
              <a:rPr lang="fr-FR" dirty="0"/>
              <a:t>RE </a:t>
            </a:r>
            <a:r>
              <a:rPr lang="fr-FR" dirty="0" err="1"/>
              <a:t>is</a:t>
            </a:r>
            <a:r>
              <a:rPr lang="fr-FR" dirty="0"/>
              <a:t> </a:t>
            </a:r>
            <a:r>
              <a:rPr lang="fr-FR" dirty="0" err="1"/>
              <a:t>rejected</a:t>
            </a:r>
            <a:r>
              <a:rPr lang="fr-FR" dirty="0"/>
              <a:t> and FE </a:t>
            </a:r>
            <a:r>
              <a:rPr lang="fr-FR" dirty="0" err="1"/>
              <a:t>chosen</a:t>
            </a:r>
            <a:r>
              <a:rPr lang="fr-FR" dirty="0"/>
              <a:t>.</a:t>
            </a:r>
          </a:p>
          <a:p>
            <a:pPr marL="0" indent="0">
              <a:buNone/>
            </a:pPr>
            <a:endParaRPr lang="fr-FR" dirty="0"/>
          </a:p>
          <a:p>
            <a:pPr marL="0" indent="0">
              <a:buNone/>
            </a:pPr>
            <a:endParaRPr lang="en-GB" dirty="0"/>
          </a:p>
        </p:txBody>
      </p:sp>
    </p:spTree>
    <p:extLst>
      <p:ext uri="{BB962C8B-B14F-4D97-AF65-F5344CB8AC3E}">
        <p14:creationId xmlns:p14="http://schemas.microsoft.com/office/powerpoint/2010/main" val="1890338194"/>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re 1"/>
          <p:cNvSpPr>
            <a:spLocks noGrp="1"/>
          </p:cNvSpPr>
          <p:nvPr>
            <p:ph type="title"/>
          </p:nvPr>
        </p:nvSpPr>
        <p:spPr/>
        <p:txBody>
          <a:bodyPr>
            <a:normAutofit fontScale="90000"/>
          </a:bodyPr>
          <a:lstStyle/>
          <a:p>
            <a:r>
              <a:rPr lang="fr-FR" altLang="fr-FR" dirty="0"/>
              <a:t>Hausman (1978) test: </a:t>
            </a:r>
            <a:br>
              <a:rPr lang="fr-FR" altLang="fr-FR" dirty="0"/>
            </a:br>
            <a:r>
              <a:rPr lang="fr-FR" altLang="fr-FR" dirty="0"/>
              <a:t>OLS vs IV, RE vs FE.</a:t>
            </a:r>
          </a:p>
        </p:txBody>
      </p:sp>
      <p:sp>
        <p:nvSpPr>
          <p:cNvPr id="66563" name="Espace réservé du contenu 2"/>
          <p:cNvSpPr>
            <a:spLocks noGrp="1"/>
          </p:cNvSpPr>
          <p:nvPr>
            <p:ph idx="1"/>
          </p:nvPr>
        </p:nvSpPr>
        <p:spPr/>
        <p:txBody>
          <a:bodyPr/>
          <a:lstStyle/>
          <a:p>
            <a:pPr marL="0" indent="0" algn="just">
              <a:buFontTx/>
              <a:buNone/>
            </a:pPr>
            <a:r>
              <a:rPr lang="fr-FR" altLang="fr-FR" dirty="0"/>
              <a:t>It </a:t>
            </a:r>
            <a:r>
              <a:rPr lang="fr-FR" altLang="fr-FR" dirty="0" err="1"/>
              <a:t>is</a:t>
            </a:r>
            <a:r>
              <a:rPr lang="fr-FR" altLang="fr-FR" dirty="0"/>
              <a:t> </a:t>
            </a:r>
            <a:r>
              <a:rPr lang="fr-FR" altLang="fr-FR" dirty="0" err="1"/>
              <a:t>proposed</a:t>
            </a:r>
            <a:r>
              <a:rPr lang="fr-FR" altLang="fr-FR" dirty="0"/>
              <a:t> to do a Hausman </a:t>
            </a:r>
            <a:r>
              <a:rPr lang="fr-FR" altLang="fr-FR" dirty="0" err="1"/>
              <a:t>pre-test</a:t>
            </a:r>
            <a:r>
              <a:rPr lang="fr-FR" altLang="fr-FR" dirty="0"/>
              <a:t> (in practice a </a:t>
            </a:r>
            <a:r>
              <a:rPr lang="fr-FR" altLang="fr-FR" dirty="0" err="1"/>
              <a:t>post-test</a:t>
            </a:r>
            <a:r>
              <a:rPr lang="fr-FR" altLang="fr-FR" dirty="0"/>
              <a:t>) for </a:t>
            </a:r>
            <a:r>
              <a:rPr lang="fr-FR" altLang="fr-FR" dirty="0" err="1"/>
              <a:t>Random</a:t>
            </a:r>
            <a:r>
              <a:rPr lang="fr-FR" altLang="fr-FR" dirty="0"/>
              <a:t> </a:t>
            </a:r>
            <a:r>
              <a:rPr lang="fr-FR" altLang="fr-FR" dirty="0" err="1"/>
              <a:t>effects</a:t>
            </a:r>
            <a:r>
              <a:rPr lang="fr-FR" altLang="fr-FR" dirty="0"/>
              <a:t> (</a:t>
            </a:r>
            <a:r>
              <a:rPr lang="fr-FR" altLang="fr-FR" dirty="0" err="1"/>
              <a:t>without</a:t>
            </a:r>
            <a:r>
              <a:rPr lang="fr-FR" altLang="fr-FR" dirty="0"/>
              <a:t> all </a:t>
            </a:r>
            <a:r>
              <a:rPr lang="fr-FR" altLang="fr-FR" b="1" dirty="0"/>
              <a:t>x(i.)</a:t>
            </a:r>
            <a:r>
              <a:rPr lang="fr-FR" altLang="fr-FR" dirty="0"/>
              <a:t>) versus </a:t>
            </a:r>
            <a:r>
              <a:rPr lang="fr-FR" altLang="fr-FR" dirty="0" err="1"/>
              <a:t>Fixed</a:t>
            </a:r>
            <a:r>
              <a:rPr lang="fr-FR" altLang="fr-FR" dirty="0"/>
              <a:t> </a:t>
            </a:r>
            <a:r>
              <a:rPr lang="fr-FR" altLang="fr-FR" dirty="0" err="1"/>
              <a:t>effects</a:t>
            </a:r>
            <a:r>
              <a:rPr lang="fr-FR" altLang="fr-FR" dirty="0"/>
              <a:t>.</a:t>
            </a:r>
          </a:p>
          <a:p>
            <a:pPr marL="0" indent="0" algn="just">
              <a:buFontTx/>
              <a:buNone/>
            </a:pPr>
            <a:r>
              <a:rPr lang="fr-FR" altLang="fr-FR" dirty="0" err="1"/>
              <a:t>Guggenberger</a:t>
            </a:r>
            <a:r>
              <a:rPr lang="fr-FR" altLang="fr-FR" dirty="0"/>
              <a:t> (Journal of </a:t>
            </a:r>
            <a:r>
              <a:rPr lang="fr-FR" altLang="fr-FR" dirty="0" err="1"/>
              <a:t>econometrics</a:t>
            </a:r>
            <a:r>
              <a:rPr lang="fr-FR" altLang="fr-FR" dirty="0"/>
              <a:t>): Hausman </a:t>
            </a:r>
            <a:r>
              <a:rPr lang="fr-FR" altLang="fr-FR" dirty="0" err="1"/>
              <a:t>pre-test</a:t>
            </a:r>
            <a:r>
              <a:rPr lang="fr-FR" altLang="fr-FR" dirty="0"/>
              <a:t> </a:t>
            </a:r>
            <a:r>
              <a:rPr lang="fr-FR" altLang="fr-FR" dirty="0" err="1"/>
              <a:t>is</a:t>
            </a:r>
            <a:r>
              <a:rPr lang="fr-FR" altLang="fr-FR" dirty="0"/>
              <a:t> </a:t>
            </a:r>
            <a:r>
              <a:rPr lang="fr-FR" altLang="fr-FR" dirty="0" err="1"/>
              <a:t>misleading</a:t>
            </a:r>
            <a:r>
              <a:rPr lang="fr-FR" altLang="fr-FR" dirty="0"/>
              <a:t>. For « SMALL » </a:t>
            </a:r>
            <a:r>
              <a:rPr lang="fr-FR" altLang="fr-FR" dirty="0" err="1"/>
              <a:t>endogeneity</a:t>
            </a:r>
            <a:r>
              <a:rPr lang="fr-FR" altLang="fr-FR" dirty="0"/>
              <a:t> (</a:t>
            </a:r>
            <a:r>
              <a:rPr lang="fr-FR" altLang="fr-FR" dirty="0" err="1"/>
              <a:t>corr</a:t>
            </a:r>
            <a:r>
              <a:rPr lang="fr-FR" altLang="fr-FR" dirty="0"/>
              <a:t>(x(</a:t>
            </a:r>
            <a:r>
              <a:rPr lang="fr-FR" altLang="fr-FR" dirty="0" err="1"/>
              <a:t>it</a:t>
            </a:r>
            <a:r>
              <a:rPr lang="fr-FR" altLang="fr-FR" dirty="0"/>
              <a:t>),alpha(i) &lt;0.25), </a:t>
            </a:r>
            <a:r>
              <a:rPr lang="fr-FR" altLang="fr-FR" dirty="0" err="1"/>
              <a:t>it</a:t>
            </a:r>
            <a:r>
              <a:rPr lang="fr-FR" altLang="fr-FR" dirty="0"/>
              <a:t> over </a:t>
            </a:r>
            <a:r>
              <a:rPr lang="fr-FR" altLang="fr-FR" dirty="0" err="1"/>
              <a:t>accepts</a:t>
            </a:r>
            <a:r>
              <a:rPr lang="fr-FR" altLang="fr-FR" dirty="0"/>
              <a:t> « </a:t>
            </a:r>
            <a:r>
              <a:rPr lang="fr-FR" altLang="fr-FR" dirty="0" err="1"/>
              <a:t>random</a:t>
            </a:r>
            <a:r>
              <a:rPr lang="fr-FR" altLang="fr-FR" dirty="0"/>
              <a:t> </a:t>
            </a:r>
            <a:r>
              <a:rPr lang="fr-FR" altLang="fr-FR" dirty="0" err="1"/>
              <a:t>effects</a:t>
            </a:r>
            <a:r>
              <a:rPr lang="fr-FR" altLang="fr-FR" dirty="0"/>
              <a:t> », but the </a:t>
            </a:r>
            <a:r>
              <a:rPr lang="fr-FR" altLang="fr-FR" dirty="0" err="1"/>
              <a:t>endogeneity</a:t>
            </a:r>
            <a:r>
              <a:rPr lang="fr-FR" altLang="fr-FR" dirty="0"/>
              <a:t> </a:t>
            </a:r>
            <a:r>
              <a:rPr lang="fr-FR" altLang="fr-FR" dirty="0" err="1"/>
              <a:t>bias</a:t>
            </a:r>
            <a:r>
              <a:rPr lang="fr-FR" altLang="fr-FR" dirty="0"/>
              <a:t> </a:t>
            </a:r>
            <a:r>
              <a:rPr lang="fr-FR" altLang="fr-FR" dirty="0" err="1"/>
              <a:t>is</a:t>
            </a:r>
            <a:r>
              <a:rPr lang="fr-FR" altLang="fr-FR" dirty="0"/>
              <a:t> LARGE.</a:t>
            </a:r>
          </a:p>
        </p:txBody>
      </p:sp>
    </p:spTree>
    <p:extLst>
      <p:ext uri="{BB962C8B-B14F-4D97-AF65-F5344CB8AC3E}">
        <p14:creationId xmlns:p14="http://schemas.microsoft.com/office/powerpoint/2010/main" val="1174567616"/>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Time-Invariant </a:t>
            </a:r>
            <a:r>
              <a:rPr lang="fr-FR" dirty="0" err="1"/>
              <a:t>regressors</a:t>
            </a:r>
            <a:endParaRPr lang="en-GB" dirty="0"/>
          </a:p>
        </p:txBody>
      </p:sp>
      <p:sp>
        <p:nvSpPr>
          <p:cNvPr id="3" name="Espace réservé du contenu 2"/>
          <p:cNvSpPr>
            <a:spLocks noGrp="1"/>
          </p:cNvSpPr>
          <p:nvPr>
            <p:ph idx="1"/>
          </p:nvPr>
        </p:nvSpPr>
        <p:spPr/>
        <p:txBody>
          <a:bodyPr/>
          <a:lstStyle/>
          <a:p>
            <a:pPr marL="0" indent="0">
              <a:buNone/>
            </a:pPr>
            <a:r>
              <a:rPr lang="fr-FR" dirty="0"/>
              <a:t>In </a:t>
            </a:r>
            <a:r>
              <a:rPr lang="fr-FR" dirty="0" err="1"/>
              <a:t>fact</a:t>
            </a:r>
            <a:r>
              <a:rPr lang="fr-FR" dirty="0"/>
              <a:t>, RE </a:t>
            </a:r>
            <a:r>
              <a:rPr lang="fr-FR" dirty="0" err="1"/>
              <a:t>only</a:t>
            </a:r>
            <a:r>
              <a:rPr lang="fr-FR" dirty="0"/>
              <a:t> survives </a:t>
            </a:r>
            <a:r>
              <a:rPr lang="fr-FR" dirty="0" err="1"/>
              <a:t>because</a:t>
            </a:r>
            <a:r>
              <a:rPr lang="fr-FR" dirty="0"/>
              <a:t> </a:t>
            </a:r>
            <a:r>
              <a:rPr lang="fr-FR" dirty="0" err="1"/>
              <a:t>it</a:t>
            </a:r>
            <a:r>
              <a:rPr lang="fr-FR" dirty="0"/>
              <a:t> </a:t>
            </a:r>
            <a:r>
              <a:rPr lang="fr-FR" dirty="0" err="1"/>
              <a:t>allows</a:t>
            </a:r>
            <a:r>
              <a:rPr lang="fr-FR" dirty="0"/>
              <a:t> time-invariant </a:t>
            </a:r>
            <a:r>
              <a:rPr lang="fr-FR" dirty="0" err="1"/>
              <a:t>regressors</a:t>
            </a:r>
            <a:r>
              <a:rPr lang="fr-FR" dirty="0"/>
              <a:t> to </a:t>
            </a:r>
            <a:r>
              <a:rPr lang="fr-FR" dirty="0" err="1"/>
              <a:t>remain</a:t>
            </a:r>
            <a:r>
              <a:rPr lang="fr-FR" dirty="0"/>
              <a:t> in the </a:t>
            </a:r>
            <a:r>
              <a:rPr lang="fr-FR" dirty="0" err="1"/>
              <a:t>regression</a:t>
            </a:r>
            <a:endParaRPr lang="fr-FR" dirty="0"/>
          </a:p>
          <a:p>
            <a:pPr marL="0" indent="0">
              <a:buNone/>
            </a:pPr>
            <a:r>
              <a:rPr lang="fr-FR" dirty="0"/>
              <a:t>But </a:t>
            </a:r>
            <a:r>
              <a:rPr lang="fr-FR" dirty="0" err="1"/>
              <a:t>there</a:t>
            </a:r>
            <a:r>
              <a:rPr lang="fr-FR" dirty="0"/>
              <a:t> </a:t>
            </a:r>
            <a:r>
              <a:rPr lang="fr-FR" dirty="0" err="1"/>
              <a:t>is</a:t>
            </a:r>
            <a:r>
              <a:rPr lang="fr-FR" dirty="0"/>
              <a:t> Mundlak </a:t>
            </a:r>
            <a:r>
              <a:rPr lang="fr-FR" dirty="0" err="1"/>
              <a:t>specification</a:t>
            </a:r>
            <a:r>
              <a:rPr lang="fr-FR" dirty="0"/>
              <a:t>: RE </a:t>
            </a:r>
            <a:r>
              <a:rPr lang="fr-FR" dirty="0" err="1"/>
              <a:t>provides</a:t>
            </a:r>
            <a:r>
              <a:rPr lang="fr-FR" dirty="0"/>
              <a:t> FE </a:t>
            </a:r>
            <a:r>
              <a:rPr lang="fr-FR" dirty="0" err="1"/>
              <a:t>estimates</a:t>
            </a:r>
            <a:r>
              <a:rPr lang="fr-FR" dirty="0"/>
              <a:t> and </a:t>
            </a:r>
            <a:r>
              <a:rPr lang="fr-FR" dirty="0" err="1"/>
              <a:t>keeps</a:t>
            </a:r>
            <a:r>
              <a:rPr lang="fr-FR" dirty="0"/>
              <a:t> time-invariant </a:t>
            </a:r>
            <a:r>
              <a:rPr lang="fr-FR" dirty="0" err="1"/>
              <a:t>regressors</a:t>
            </a:r>
            <a:r>
              <a:rPr lang="fr-FR" dirty="0"/>
              <a:t> </a:t>
            </a:r>
            <a:r>
              <a:rPr lang="fr-FR" dirty="0" err="1"/>
              <a:t>with</a:t>
            </a:r>
            <a:r>
              <a:rPr lang="fr-FR" dirty="0"/>
              <a:t> </a:t>
            </a:r>
            <a:r>
              <a:rPr lang="fr-FR" dirty="0" err="1"/>
              <a:t>very</a:t>
            </a:r>
            <a:r>
              <a:rPr lang="fr-FR" dirty="0"/>
              <a:t> </a:t>
            </a:r>
            <a:r>
              <a:rPr lang="fr-FR" dirty="0" err="1"/>
              <a:t>different</a:t>
            </a:r>
            <a:r>
              <a:rPr lang="fr-FR" dirty="0"/>
              <a:t> </a:t>
            </a:r>
            <a:r>
              <a:rPr lang="fr-FR" dirty="0" err="1"/>
              <a:t>parameter</a:t>
            </a:r>
            <a:r>
              <a:rPr lang="fr-FR" dirty="0"/>
              <a:t> </a:t>
            </a:r>
            <a:r>
              <a:rPr lang="fr-FR" dirty="0" err="1"/>
              <a:t>estimates</a:t>
            </a:r>
            <a:r>
              <a:rPr lang="fr-FR" dirty="0"/>
              <a:t>.</a:t>
            </a:r>
          </a:p>
          <a:p>
            <a:pPr marL="0" indent="0">
              <a:buNone/>
            </a:pPr>
            <a:r>
              <a:rPr lang="fr-FR" dirty="0"/>
              <a:t>And Hausman Taylor </a:t>
            </a:r>
            <a:r>
              <a:rPr lang="fr-FR" dirty="0" err="1"/>
              <a:t>regression</a:t>
            </a:r>
            <a:r>
              <a:rPr lang="fr-FR" dirty="0"/>
              <a:t>.</a:t>
            </a:r>
            <a:endParaRPr lang="en-GB" dirty="0"/>
          </a:p>
        </p:txBody>
      </p:sp>
    </p:spTree>
    <p:extLst>
      <p:ext uri="{BB962C8B-B14F-4D97-AF65-F5344CB8AC3E}">
        <p14:creationId xmlns:p14="http://schemas.microsoft.com/office/powerpoint/2010/main" val="1377196316"/>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3"/>
          <p:cNvSpPr>
            <a:spLocks noGrp="1"/>
          </p:cNvSpPr>
          <p:nvPr>
            <p:ph type="ctrTitle"/>
          </p:nvPr>
        </p:nvSpPr>
        <p:spPr/>
        <p:txBody>
          <a:bodyPr/>
          <a:lstStyle/>
          <a:p>
            <a:r>
              <a:rPr lang="fr-FR" altLang="fr-FR" dirty="0"/>
              <a:t>9. Group (i) </a:t>
            </a:r>
            <a:r>
              <a:rPr lang="fr-FR" altLang="fr-FR" dirty="0" err="1"/>
              <a:t>endogeneity</a:t>
            </a:r>
            <a:br>
              <a:rPr lang="fr-FR" altLang="fr-FR" dirty="0"/>
            </a:br>
            <a:r>
              <a:rPr lang="fr-FR" altLang="fr-FR" dirty="0" err="1"/>
              <a:t>Mundlak</a:t>
            </a:r>
            <a:r>
              <a:rPr lang="fr-FR" altLang="fr-FR" dirty="0"/>
              <a:t> and </a:t>
            </a:r>
            <a:r>
              <a:rPr lang="fr-FR" altLang="fr-FR" dirty="0" err="1"/>
              <a:t>fixed</a:t>
            </a:r>
            <a:r>
              <a:rPr lang="fr-FR" altLang="fr-FR" dirty="0"/>
              <a:t> </a:t>
            </a:r>
            <a:r>
              <a:rPr lang="fr-FR" altLang="fr-FR" dirty="0" err="1"/>
              <a:t>effects</a:t>
            </a:r>
            <a:endParaRPr lang="fr-FR" altLang="fr-FR" dirty="0"/>
          </a:p>
        </p:txBody>
      </p:sp>
      <p:sp>
        <p:nvSpPr>
          <p:cNvPr id="6147" name="Sous-titre 4"/>
          <p:cNvSpPr>
            <a:spLocks noGrp="1"/>
          </p:cNvSpPr>
          <p:nvPr>
            <p:ph type="subTitle" idx="1"/>
          </p:nvPr>
        </p:nvSpPr>
        <p:spPr/>
        <p:txBody>
          <a:bodyPr/>
          <a:lstStyle/>
          <a:p>
            <a:r>
              <a:rPr lang="fr-FR" altLang="fr-FR"/>
              <a:t> </a:t>
            </a:r>
          </a:p>
        </p:txBody>
      </p:sp>
    </p:spTree>
    <p:extLst>
      <p:ext uri="{BB962C8B-B14F-4D97-AF65-F5344CB8AC3E}">
        <p14:creationId xmlns:p14="http://schemas.microsoft.com/office/powerpoint/2010/main" val="2918225799"/>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 </a:t>
            </a:r>
            <a:r>
              <a:rPr lang="fr-FR" dirty="0" err="1"/>
              <a:t>Fixed</a:t>
            </a:r>
            <a:r>
              <a:rPr lang="fr-FR" dirty="0"/>
              <a:t> </a:t>
            </a:r>
            <a:r>
              <a:rPr lang="fr-FR" dirty="0" err="1"/>
              <a:t>effects</a:t>
            </a:r>
            <a:r>
              <a:rPr lang="fr-FR" dirty="0"/>
              <a:t> » Model</a:t>
            </a:r>
            <a:br>
              <a:rPr lang="fr-FR" dirty="0"/>
            </a:br>
            <a:r>
              <a:rPr lang="fr-FR" dirty="0" err="1"/>
              <a:t>Three</a:t>
            </a:r>
            <a:r>
              <a:rPr lang="fr-FR" dirty="0"/>
              <a:t> </a:t>
            </a:r>
            <a:r>
              <a:rPr lang="fr-FR" dirty="0" err="1"/>
              <a:t>equivalent</a:t>
            </a:r>
            <a:r>
              <a:rPr lang="fr-FR" dirty="0"/>
              <a:t> </a:t>
            </a:r>
            <a:r>
              <a:rPr lang="fr-FR" dirty="0" err="1"/>
              <a:t>estimators</a:t>
            </a:r>
            <a:endParaRPr lang="fr-FR" dirty="0"/>
          </a:p>
        </p:txBody>
      </p:sp>
      <p:sp>
        <p:nvSpPr>
          <p:cNvPr id="3" name="Espace réservé du contenu 2"/>
          <p:cNvSpPr>
            <a:spLocks noGrp="1"/>
          </p:cNvSpPr>
          <p:nvPr>
            <p:ph idx="1"/>
          </p:nvPr>
        </p:nvSpPr>
        <p:spPr/>
        <p:txBody>
          <a:bodyPr>
            <a:normAutofit lnSpcReduction="10000"/>
          </a:bodyPr>
          <a:lstStyle/>
          <a:p>
            <a:pPr marL="514350" indent="-514350" algn="just">
              <a:buFont typeface="+mj-lt"/>
              <a:buAutoNum type="arabicPeriod"/>
            </a:pPr>
            <a:r>
              <a:rPr lang="fr-FR" dirty="0" err="1"/>
              <a:t>Random</a:t>
            </a:r>
            <a:r>
              <a:rPr lang="fr-FR" dirty="0"/>
              <a:t> </a:t>
            </a:r>
            <a:r>
              <a:rPr lang="fr-FR" dirty="0" err="1"/>
              <a:t>effect</a:t>
            </a:r>
            <a:r>
              <a:rPr lang="fr-FR" dirty="0"/>
              <a:t> (RE) GLS </a:t>
            </a:r>
            <a:r>
              <a:rPr lang="fr-FR" dirty="0" err="1"/>
              <a:t>adding</a:t>
            </a:r>
            <a:r>
              <a:rPr lang="fr-FR" dirty="0"/>
              <a:t> </a:t>
            </a:r>
            <a:r>
              <a:rPr lang="fr-FR" dirty="0">
                <a:solidFill>
                  <a:srgbClr val="FF0000"/>
                </a:solidFill>
              </a:rPr>
              <a:t>N</a:t>
            </a:r>
            <a:r>
              <a:rPr lang="fr-FR" dirty="0"/>
              <a:t> X(i.) variables: </a:t>
            </a:r>
            <a:r>
              <a:rPr lang="fr-FR" dirty="0" err="1"/>
              <a:t>Mundlak</a:t>
            </a:r>
            <a:r>
              <a:rPr lang="fr-FR" dirty="0"/>
              <a:t> (1978) </a:t>
            </a:r>
            <a:r>
              <a:rPr lang="fr-FR" dirty="0" err="1"/>
              <a:t>specification</a:t>
            </a:r>
            <a:r>
              <a:rPr lang="fr-FR" dirty="0"/>
              <a:t>.</a:t>
            </a:r>
          </a:p>
          <a:p>
            <a:pPr marL="514350" indent="-514350" algn="just">
              <a:buFont typeface="+mj-lt"/>
              <a:buAutoNum type="arabicPeriod"/>
            </a:pPr>
            <a:r>
              <a:rPr lang="fr-FR" dirty="0" err="1"/>
              <a:t>Within</a:t>
            </a:r>
            <a:r>
              <a:rPr lang="fr-FR" dirty="0"/>
              <a:t> (</a:t>
            </a:r>
            <a:r>
              <a:rPr lang="fr-FR" dirty="0" err="1"/>
              <a:t>Fixed</a:t>
            </a:r>
            <a:r>
              <a:rPr lang="fr-FR" dirty="0"/>
              <a:t> </a:t>
            </a:r>
            <a:r>
              <a:rPr lang="fr-FR" dirty="0" err="1"/>
              <a:t>effects</a:t>
            </a:r>
            <a:r>
              <a:rPr lang="fr-FR" dirty="0"/>
              <a:t> GE): OLS estimation on </a:t>
            </a:r>
            <a:r>
              <a:rPr lang="fr-FR" dirty="0" err="1"/>
              <a:t>within</a:t>
            </a:r>
            <a:r>
              <a:rPr lang="fr-FR" dirty="0"/>
              <a:t> </a:t>
            </a:r>
            <a:r>
              <a:rPr lang="fr-FR" dirty="0" err="1"/>
              <a:t>transformed</a:t>
            </a:r>
            <a:r>
              <a:rPr lang="fr-FR" dirty="0"/>
              <a:t> variables, </a:t>
            </a:r>
            <a:r>
              <a:rPr lang="fr-FR" dirty="0" err="1"/>
              <a:t>with</a:t>
            </a:r>
            <a:r>
              <a:rPr lang="fr-FR" dirty="0"/>
              <a:t>        NT</a:t>
            </a:r>
            <a:r>
              <a:rPr lang="fr-FR" dirty="0">
                <a:solidFill>
                  <a:srgbClr val="FF0000"/>
                </a:solidFill>
              </a:rPr>
              <a:t>–N</a:t>
            </a:r>
            <a:r>
              <a:rPr lang="fr-FR" dirty="0"/>
              <a:t>-k </a:t>
            </a:r>
            <a:r>
              <a:rPr lang="fr-FR" dirty="0" err="1"/>
              <a:t>degrees</a:t>
            </a:r>
            <a:r>
              <a:rPr lang="fr-FR" dirty="0"/>
              <a:t> of </a:t>
            </a:r>
            <a:r>
              <a:rPr lang="fr-FR" dirty="0" err="1"/>
              <a:t>freedom</a:t>
            </a:r>
            <a:r>
              <a:rPr lang="fr-FR" dirty="0"/>
              <a:t>. </a:t>
            </a:r>
          </a:p>
          <a:p>
            <a:pPr marL="514350" indent="-514350" algn="just">
              <a:buFont typeface="+mj-lt"/>
              <a:buAutoNum type="arabicPeriod"/>
            </a:pPr>
            <a:r>
              <a:rPr lang="fr-FR" dirty="0"/>
              <a:t>OLS estimation </a:t>
            </a:r>
            <a:r>
              <a:rPr lang="fr-FR" dirty="0" err="1"/>
              <a:t>with</a:t>
            </a:r>
            <a:r>
              <a:rPr lang="fr-FR" dirty="0"/>
              <a:t> N </a:t>
            </a:r>
            <a:r>
              <a:rPr lang="fr-FR" dirty="0" err="1"/>
              <a:t>dummies</a:t>
            </a:r>
            <a:r>
              <a:rPr lang="fr-FR" dirty="0"/>
              <a:t> for </a:t>
            </a:r>
            <a:r>
              <a:rPr lang="fr-FR" dirty="0" err="1"/>
              <a:t>each</a:t>
            </a:r>
            <a:r>
              <a:rPr lang="fr-FR" dirty="0"/>
              <a:t> </a:t>
            </a:r>
            <a:r>
              <a:rPr lang="fr-FR" dirty="0" err="1"/>
              <a:t>individual</a:t>
            </a:r>
            <a:r>
              <a:rPr lang="fr-FR" dirty="0"/>
              <a:t> </a:t>
            </a:r>
            <a:r>
              <a:rPr lang="fr-FR" dirty="0" err="1"/>
              <a:t>with</a:t>
            </a:r>
            <a:r>
              <a:rPr lang="fr-FR" dirty="0"/>
              <a:t> </a:t>
            </a:r>
            <a:r>
              <a:rPr lang="fr-FR" dirty="0" err="1"/>
              <a:t>specific</a:t>
            </a:r>
            <a:r>
              <a:rPr lang="fr-FR" dirty="0"/>
              <a:t> </a:t>
            </a:r>
            <a:r>
              <a:rPr lang="fr-FR" dirty="0" err="1"/>
              <a:t>intercept</a:t>
            </a:r>
            <a:r>
              <a:rPr lang="fr-FR" dirty="0"/>
              <a:t>: Least Square </a:t>
            </a:r>
            <a:r>
              <a:rPr lang="fr-FR" dirty="0" err="1"/>
              <a:t>Dummy</a:t>
            </a:r>
            <a:r>
              <a:rPr lang="fr-FR" dirty="0"/>
              <a:t> Variables (LSDV), </a:t>
            </a:r>
            <a:r>
              <a:rPr lang="fr-FR" dirty="0" err="1"/>
              <a:t>with</a:t>
            </a:r>
            <a:r>
              <a:rPr lang="fr-FR" dirty="0"/>
              <a:t> NT</a:t>
            </a:r>
            <a:r>
              <a:rPr lang="fr-FR" dirty="0">
                <a:solidFill>
                  <a:srgbClr val="FF0000"/>
                </a:solidFill>
              </a:rPr>
              <a:t>–N-</a:t>
            </a:r>
            <a:r>
              <a:rPr lang="fr-FR" dirty="0"/>
              <a:t>k </a:t>
            </a:r>
            <a:r>
              <a:rPr lang="fr-FR" dirty="0" err="1"/>
              <a:t>degrees</a:t>
            </a:r>
            <a:r>
              <a:rPr lang="fr-FR" dirty="0"/>
              <a:t> of </a:t>
            </a:r>
            <a:r>
              <a:rPr lang="fr-FR" dirty="0" err="1"/>
              <a:t>freedom</a:t>
            </a:r>
            <a:r>
              <a:rPr lang="fr-FR" dirty="0"/>
              <a:t>.</a:t>
            </a:r>
          </a:p>
        </p:txBody>
      </p:sp>
    </p:spTree>
    <p:extLst>
      <p:ext uri="{BB962C8B-B14F-4D97-AF65-F5344CB8AC3E}">
        <p14:creationId xmlns:p14="http://schemas.microsoft.com/office/powerpoint/2010/main" val="1091838869"/>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9.1. Mundlak</a:t>
            </a:r>
            <a:endParaRPr lang="en-GB" dirty="0"/>
          </a:p>
        </p:txBody>
      </p:sp>
    </p:spTree>
    <p:extLst>
      <p:ext uri="{BB962C8B-B14F-4D97-AF65-F5344CB8AC3E}">
        <p14:creationId xmlns:p14="http://schemas.microsoft.com/office/powerpoint/2010/main" val="3334939185"/>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ChangeArrowheads="1"/>
          </p:cNvSpPr>
          <p:nvPr/>
        </p:nvSpPr>
        <p:spPr bwMode="auto">
          <a:xfrm>
            <a:off x="0" y="0"/>
            <a:ext cx="9144000" cy="59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fr-FR" altLang="fr-FR" sz="1800">
              <a:latin typeface="Times New Roman" pitchFamily="18" charset="0"/>
            </a:endParaRPr>
          </a:p>
          <a:p>
            <a:pPr eaLnBrk="1" hangingPunct="1">
              <a:spcBef>
                <a:spcPct val="0"/>
              </a:spcBef>
              <a:buFontTx/>
              <a:buNone/>
            </a:pPr>
            <a:r>
              <a:rPr lang="fr-FR" altLang="fr-FR" sz="2400" b="1">
                <a:latin typeface="Times New Roman" pitchFamily="18" charset="0"/>
              </a:rPr>
              <a:t>WITHIN (FIXED EFFECTS) ESTIMATION (default std err.)</a:t>
            </a:r>
          </a:p>
          <a:p>
            <a:pPr eaLnBrk="1" hangingPunct="1">
              <a:spcBef>
                <a:spcPct val="0"/>
              </a:spcBef>
              <a:buFontTx/>
              <a:buNone/>
            </a:pPr>
            <a:r>
              <a:rPr lang="fr-FR" altLang="fr-FR" sz="2400" b="1">
                <a:latin typeface="Times New Roman" pitchFamily="18" charset="0"/>
              </a:rPr>
              <a:t>R-squared     =  </a:t>
            </a:r>
            <a:r>
              <a:rPr lang="fr-FR" altLang="fr-FR" sz="2400" b="1">
                <a:solidFill>
                  <a:srgbClr val="FF0000"/>
                </a:solidFill>
                <a:latin typeface="Times New Roman" pitchFamily="18" charset="0"/>
              </a:rPr>
              <a:t>15.09%</a:t>
            </a:r>
            <a:r>
              <a:rPr lang="fr-FR" altLang="fr-FR" sz="2400">
                <a:solidFill>
                  <a:srgbClr val="FF0000"/>
                </a:solidFill>
                <a:latin typeface="Times New Roman" pitchFamily="18" charset="0"/>
              </a:rPr>
              <a:t> </a:t>
            </a:r>
            <a:r>
              <a:rPr lang="fr-FR" altLang="fr-FR" sz="2400" b="1">
                <a:solidFill>
                  <a:srgbClr val="FF0000"/>
                </a:solidFill>
                <a:latin typeface="Times New Roman" pitchFamily="18" charset="0"/>
              </a:rPr>
              <a:t>OF 63%</a:t>
            </a:r>
            <a:r>
              <a:rPr lang="fr-FR" altLang="fr-FR" sz="2400" b="1">
                <a:latin typeface="Times New Roman" pitchFamily="18" charset="0"/>
              </a:rPr>
              <a:t> (share of within variance of gdpg)</a:t>
            </a:r>
            <a:r>
              <a:rPr lang="fr-FR" altLang="fr-FR" sz="2400">
                <a:latin typeface="Times New Roman" pitchFamily="18" charset="0"/>
              </a:rPr>
              <a:t> </a:t>
            </a:r>
          </a:p>
          <a:p>
            <a:pPr eaLnBrk="1" hangingPunct="1">
              <a:spcBef>
                <a:spcPct val="0"/>
              </a:spcBef>
              <a:buFontTx/>
              <a:buNone/>
            </a:pPr>
            <a:r>
              <a:rPr lang="fr-FR" altLang="fr-FR" sz="2400">
                <a:latin typeface="Times New Roman" pitchFamily="18" charset="0"/>
              </a:rPr>
              <a:t>= </a:t>
            </a:r>
            <a:r>
              <a:rPr lang="fr-FR" altLang="fr-FR" sz="2400" b="1">
                <a:latin typeface="Times New Roman" pitchFamily="18" charset="0"/>
              </a:rPr>
              <a:t>9.45%</a:t>
            </a:r>
            <a:r>
              <a:rPr lang="fr-FR" altLang="fr-FR" sz="2400">
                <a:latin typeface="Times New Roman" pitchFamily="18" charset="0"/>
              </a:rPr>
              <a:t> </a:t>
            </a:r>
            <a:r>
              <a:rPr lang="fr-FR" altLang="fr-FR" sz="2400" b="1">
                <a:latin typeface="Times New Roman" pitchFamily="18" charset="0"/>
              </a:rPr>
              <a:t>of overall total variance of gdpg  (not overwhelming)</a:t>
            </a:r>
            <a:endParaRPr lang="fr-FR" altLang="fr-FR" sz="2400">
              <a:latin typeface="Times New Roman" pitchFamily="18" charset="0"/>
            </a:endParaRPr>
          </a:p>
          <a:p>
            <a:pPr eaLnBrk="1" hangingPunct="1">
              <a:spcBef>
                <a:spcPct val="0"/>
              </a:spcBef>
              <a:buFontTx/>
              <a:buNone/>
            </a:pPr>
            <a:r>
              <a:rPr lang="fr-FR" altLang="fr-FR" sz="2400" b="1">
                <a:latin typeface="Times New Roman" pitchFamily="18" charset="0"/>
              </a:rPr>
              <a:t>BUT estimated parameters without alpha(i) endogeneity bias.</a:t>
            </a:r>
          </a:p>
          <a:p>
            <a:pPr eaLnBrk="1" hangingPunct="1">
              <a:spcBef>
                <a:spcPct val="0"/>
              </a:spcBef>
              <a:buFontTx/>
              <a:buNone/>
            </a:pPr>
            <a:r>
              <a:rPr lang="fr-FR" altLang="fr-FR" sz="2400">
                <a:latin typeface="Times New Roman" pitchFamily="18" charset="0"/>
              </a:rPr>
              <a:t>Root MSE      =  2.6423</a:t>
            </a:r>
          </a:p>
          <a:p>
            <a:pPr eaLnBrk="1" hangingPunct="1">
              <a:spcBef>
                <a:spcPct val="0"/>
              </a:spcBef>
              <a:buFontTx/>
              <a:buNone/>
            </a:pPr>
            <a:r>
              <a:rPr lang="fr-FR" altLang="fr-FR" sz="2400">
                <a:latin typeface="Times New Roman" pitchFamily="18" charset="0"/>
              </a:rPr>
              <a:t>Estimated with « reg »: incorrect degrees of freedom for standard errors:</a:t>
            </a:r>
          </a:p>
          <a:p>
            <a:pPr eaLnBrk="1" hangingPunct="1">
              <a:spcBef>
                <a:spcPct val="0"/>
              </a:spcBef>
              <a:buFontTx/>
              <a:buNone/>
            </a:pPr>
            <a:r>
              <a:rPr lang="fr-FR" altLang="fr-FR" sz="2400" i="1">
                <a:latin typeface="Times New Roman" pitchFamily="18" charset="0"/>
              </a:rPr>
              <a:t>N.Tbar-k-1</a:t>
            </a:r>
            <a:r>
              <a:rPr lang="fr-FR" altLang="fr-FR" sz="2400">
                <a:latin typeface="Times New Roman" pitchFamily="18" charset="0"/>
              </a:rPr>
              <a:t> instead of </a:t>
            </a:r>
            <a:r>
              <a:rPr lang="fr-FR" altLang="fr-FR" sz="2400" i="1">
                <a:latin typeface="Times New Roman" pitchFamily="18" charset="0"/>
              </a:rPr>
              <a:t>N.Tbar-N-k</a:t>
            </a:r>
          </a:p>
          <a:p>
            <a:pPr eaLnBrk="1" hangingPunct="1">
              <a:spcBef>
                <a:spcPct val="0"/>
              </a:spcBef>
              <a:buFontTx/>
              <a:buNone/>
            </a:pPr>
            <a:r>
              <a:rPr lang="fr-FR" altLang="fr-FR" sz="2400">
                <a:latin typeface="Times New Roman" pitchFamily="18" charset="0"/>
              </a:rPr>
              <a:t>----------------------------------------------------------------------------</a:t>
            </a:r>
          </a:p>
          <a:p>
            <a:pPr eaLnBrk="1" hangingPunct="1">
              <a:spcBef>
                <a:spcPct val="0"/>
              </a:spcBef>
              <a:buFontTx/>
              <a:buNone/>
            </a:pPr>
            <a:r>
              <a:rPr lang="fr-FR" altLang="fr-FR" sz="2400">
                <a:latin typeface="Times New Roman" pitchFamily="18" charset="0"/>
              </a:rPr>
              <a:t>        gdpg |      Coef.   Std. Err.      t    P&gt;|t|     [95% Conf. Interval]</a:t>
            </a:r>
          </a:p>
          <a:p>
            <a:pPr eaLnBrk="1" hangingPunct="1">
              <a:spcBef>
                <a:spcPct val="0"/>
              </a:spcBef>
              <a:buFontTx/>
              <a:buNone/>
            </a:pPr>
            <a:r>
              <a:rPr lang="fr-FR" altLang="fr-FR" sz="2400">
                <a:latin typeface="Times New Roman" pitchFamily="18" charset="0"/>
              </a:rPr>
              <a:t>      policy |    .878318   .2087423     4.21   0.000     .4668853    1.289751</a:t>
            </a:r>
          </a:p>
          <a:p>
            <a:pPr eaLnBrk="1" hangingPunct="1">
              <a:spcBef>
                <a:spcPct val="0"/>
              </a:spcBef>
              <a:buFontTx/>
              <a:buNone/>
            </a:pPr>
            <a:r>
              <a:rPr lang="fr-FR" altLang="fr-FR" sz="2400">
                <a:latin typeface="Times New Roman" pitchFamily="18" charset="0"/>
              </a:rPr>
              <a:t>        lgdp |  -3.882033   1.043291    -3.72   0.000    -5.938368   -1.825698</a:t>
            </a:r>
          </a:p>
          <a:p>
            <a:pPr eaLnBrk="1" hangingPunct="1">
              <a:spcBef>
                <a:spcPct val="0"/>
              </a:spcBef>
              <a:buFontTx/>
              <a:buNone/>
            </a:pPr>
            <a:r>
              <a:rPr lang="fr-FR" altLang="fr-FR" sz="2400">
                <a:latin typeface="Times New Roman" pitchFamily="18" charset="0"/>
              </a:rPr>
              <a:t>        m2_1 |   -.049506   .0228887    -2.16   0.032    -.0946198   -.00439       </a:t>
            </a:r>
          </a:p>
          <a:p>
            <a:pPr eaLnBrk="1" hangingPunct="1">
              <a:spcBef>
                <a:spcPct val="0"/>
              </a:spcBef>
              <a:buFontTx/>
              <a:buNone/>
            </a:pPr>
            <a:r>
              <a:rPr lang="fr-FR" altLang="fr-FR" sz="2400" i="1">
                <a:latin typeface="Times New Roman" pitchFamily="18" charset="0"/>
              </a:rPr>
              <a:t>-</a:t>
            </a:r>
          </a:p>
          <a:p>
            <a:pPr eaLnBrk="1" hangingPunct="1">
              <a:spcBef>
                <a:spcPct val="0"/>
              </a:spcBef>
              <a:buFontTx/>
              <a:buNone/>
            </a:pPr>
            <a:endParaRPr lang="fr-FR" altLang="fr-FR" sz="2400" i="1">
              <a:latin typeface="Times New Roman" pitchFamily="18" charset="0"/>
            </a:endParaRPr>
          </a:p>
          <a:p>
            <a:pPr eaLnBrk="1" hangingPunct="1">
              <a:spcBef>
                <a:spcPct val="0"/>
              </a:spcBef>
              <a:buFontTx/>
              <a:buNone/>
            </a:pPr>
            <a:endParaRPr lang="fr-FR" altLang="fr-FR" sz="2400">
              <a:latin typeface="Times New Roman" pitchFamily="18" charset="0"/>
            </a:endParaRPr>
          </a:p>
        </p:txBody>
      </p:sp>
    </p:spTree>
    <p:extLst>
      <p:ext uri="{BB962C8B-B14F-4D97-AF65-F5344CB8AC3E}">
        <p14:creationId xmlns:p14="http://schemas.microsoft.com/office/powerpoint/2010/main" val="1511952813"/>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Minimal panel data set </a:t>
            </a:r>
            <a:br>
              <a:rPr lang="fr-FR" dirty="0"/>
            </a:br>
            <a:r>
              <a:rPr lang="fr-FR" dirty="0"/>
              <a:t>N=2 (</a:t>
            </a:r>
            <a:r>
              <a:rPr lang="fr-FR" dirty="0" err="1"/>
              <a:t>ident</a:t>
            </a:r>
            <a:r>
              <a:rPr lang="fr-FR" dirty="0"/>
              <a:t>), T=2 (</a:t>
            </a:r>
            <a:r>
              <a:rPr lang="fr-FR" dirty="0" err="1"/>
              <a:t>year</a:t>
            </a:r>
            <a:r>
              <a:rPr lang="fr-FR" dirty="0"/>
              <a:t>)</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680278170"/>
              </p:ext>
            </p:extLst>
          </p:nvPr>
        </p:nvGraphicFramePr>
        <p:xfrm>
          <a:off x="457200" y="1600200"/>
          <a:ext cx="8229600" cy="463296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193264">
                  <a:extLst>
                    <a:ext uri="{9D8B030D-6E8A-4147-A177-3AD203B41FA5}">
                      <a16:colId xmlns:a16="http://schemas.microsoft.com/office/drawing/2014/main" val="20003"/>
                    </a:ext>
                  </a:extLst>
                </a:gridCol>
                <a:gridCol w="2098576">
                  <a:extLst>
                    <a:ext uri="{9D8B030D-6E8A-4147-A177-3AD203B41FA5}">
                      <a16:colId xmlns:a16="http://schemas.microsoft.com/office/drawing/2014/main" val="2000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3200" b="1" dirty="0"/>
                        <a:t>IDENT</a:t>
                      </a:r>
                    </a:p>
                  </a:txBody>
                  <a:tcPr/>
                </a:tc>
                <a:tc>
                  <a:txBody>
                    <a:bodyPr/>
                    <a:lstStyle/>
                    <a:p>
                      <a:r>
                        <a:rPr lang="fr-FR" sz="3200" b="1" dirty="0"/>
                        <a:t>YEAR</a:t>
                      </a:r>
                    </a:p>
                  </a:txBody>
                  <a:tcPr/>
                </a:tc>
                <a:tc>
                  <a:txBody>
                    <a:bodyPr/>
                    <a:lstStyle/>
                    <a:p>
                      <a:r>
                        <a:rPr lang="fr-FR" sz="3200" b="1" baseline="0" dirty="0"/>
                        <a:t>X(</a:t>
                      </a:r>
                      <a:r>
                        <a:rPr lang="fr-FR" sz="3200" b="1" baseline="0" dirty="0" err="1"/>
                        <a:t>it</a:t>
                      </a:r>
                      <a:r>
                        <a:rPr lang="fr-FR" sz="3200" b="1" baseline="0" dirty="0"/>
                        <a:t>)</a:t>
                      </a:r>
                      <a:endParaRPr lang="fr-FR" sz="3200" b="1" dirty="0"/>
                    </a:p>
                  </a:txBody>
                  <a:tcPr/>
                </a:tc>
                <a:tc>
                  <a:txBody>
                    <a:bodyPr/>
                    <a:lstStyle/>
                    <a:p>
                      <a:r>
                        <a:rPr lang="fr-FR" sz="3200" b="1" baseline="0" dirty="0"/>
                        <a:t>X(i.)</a:t>
                      </a:r>
                      <a:endParaRPr lang="fr-FR" sz="3200" b="1" dirty="0"/>
                    </a:p>
                  </a:txBody>
                  <a:tcPr/>
                </a:tc>
                <a:tc>
                  <a:txBody>
                    <a:bodyPr/>
                    <a:lstStyle/>
                    <a:p>
                      <a:r>
                        <a:rPr lang="fr-FR" sz="3200" b="1" baseline="0" dirty="0"/>
                        <a:t>X(</a:t>
                      </a:r>
                      <a:r>
                        <a:rPr lang="fr-FR" sz="3200" b="1" baseline="0" dirty="0" err="1"/>
                        <a:t>it</a:t>
                      </a:r>
                      <a:r>
                        <a:rPr lang="fr-FR" sz="3200" b="1" baseline="0" dirty="0"/>
                        <a:t>)-X(i.)</a:t>
                      </a:r>
                      <a:endParaRPr lang="fr-FR" sz="3200" b="1" dirty="0"/>
                    </a:p>
                  </a:txBody>
                  <a:tcPr/>
                </a:tc>
                <a:extLst>
                  <a:ext uri="{0D108BD9-81ED-4DB2-BD59-A6C34878D82A}">
                    <a16:rowId xmlns:a16="http://schemas.microsoft.com/office/drawing/2014/main" val="10000"/>
                  </a:ext>
                </a:extLst>
              </a:tr>
              <a:tr h="370840">
                <a:tc>
                  <a:txBody>
                    <a:bodyPr/>
                    <a:lstStyle/>
                    <a:p>
                      <a:pPr algn="ctr"/>
                      <a:r>
                        <a:rPr lang="fr-FR" sz="3200" b="1" dirty="0"/>
                        <a:t>1</a:t>
                      </a:r>
                    </a:p>
                  </a:txBody>
                  <a:tcPr/>
                </a:tc>
                <a:tc>
                  <a:txBody>
                    <a:bodyPr/>
                    <a:lstStyle/>
                    <a:p>
                      <a:pPr algn="ctr"/>
                      <a:r>
                        <a:rPr lang="fr-FR" sz="3200" b="1" dirty="0"/>
                        <a:t>1</a:t>
                      </a:r>
                    </a:p>
                  </a:txBody>
                  <a:tcPr/>
                </a:tc>
                <a:tc>
                  <a:txBody>
                    <a:bodyPr/>
                    <a:lstStyle/>
                    <a:p>
                      <a:pPr algn="ctr"/>
                      <a:r>
                        <a:rPr lang="fr-FR" sz="3200" b="1" dirty="0"/>
                        <a:t>8</a:t>
                      </a:r>
                    </a:p>
                  </a:txBody>
                  <a:tcPr/>
                </a:tc>
                <a:tc>
                  <a:txBody>
                    <a:bodyPr/>
                    <a:lstStyle/>
                    <a:p>
                      <a:pPr algn="ctr"/>
                      <a:r>
                        <a:rPr lang="fr-FR" sz="3200" b="1" dirty="0">
                          <a:solidFill>
                            <a:schemeClr val="tx1"/>
                          </a:solidFill>
                        </a:rPr>
                        <a:t>10</a:t>
                      </a:r>
                    </a:p>
                  </a:txBody>
                  <a:tcPr/>
                </a:tc>
                <a:tc>
                  <a:txBody>
                    <a:bodyPr/>
                    <a:lstStyle/>
                    <a:p>
                      <a:pPr algn="ctr"/>
                      <a:r>
                        <a:rPr lang="fr-FR" sz="3200" b="1" dirty="0"/>
                        <a:t>-2</a:t>
                      </a:r>
                    </a:p>
                  </a:txBody>
                  <a:tcPr/>
                </a:tc>
                <a:extLst>
                  <a:ext uri="{0D108BD9-81ED-4DB2-BD59-A6C34878D82A}">
                    <a16:rowId xmlns:a16="http://schemas.microsoft.com/office/drawing/2014/main" val="10001"/>
                  </a:ext>
                </a:extLst>
              </a:tr>
              <a:tr h="370840">
                <a:tc>
                  <a:txBody>
                    <a:bodyPr/>
                    <a:lstStyle/>
                    <a:p>
                      <a:pPr algn="ctr"/>
                      <a:r>
                        <a:rPr lang="fr-FR" sz="3200" b="1" dirty="0"/>
                        <a:t>1</a:t>
                      </a:r>
                    </a:p>
                  </a:txBody>
                  <a:tcPr/>
                </a:tc>
                <a:tc>
                  <a:txBody>
                    <a:bodyPr/>
                    <a:lstStyle/>
                    <a:p>
                      <a:pPr algn="ctr"/>
                      <a:r>
                        <a:rPr lang="fr-FR" sz="3200" b="1" dirty="0"/>
                        <a:t>2</a:t>
                      </a:r>
                    </a:p>
                  </a:txBody>
                  <a:tcPr/>
                </a:tc>
                <a:tc>
                  <a:txBody>
                    <a:bodyPr/>
                    <a:lstStyle/>
                    <a:p>
                      <a:pPr algn="ctr"/>
                      <a:r>
                        <a:rPr lang="fr-FR" sz="3200" b="1" dirty="0"/>
                        <a:t>12</a:t>
                      </a:r>
                    </a:p>
                  </a:txBody>
                  <a:tcPr/>
                </a:tc>
                <a:tc>
                  <a:txBody>
                    <a:bodyPr/>
                    <a:lstStyle/>
                    <a:p>
                      <a:pPr algn="ctr"/>
                      <a:r>
                        <a:rPr lang="fr-FR" sz="3200" b="1" dirty="0">
                          <a:solidFill>
                            <a:schemeClr val="tx1"/>
                          </a:solidFill>
                        </a:rPr>
                        <a:t>10</a:t>
                      </a:r>
                    </a:p>
                  </a:txBody>
                  <a:tcPr/>
                </a:tc>
                <a:tc>
                  <a:txBody>
                    <a:bodyPr/>
                    <a:lstStyle/>
                    <a:p>
                      <a:pPr algn="ctr"/>
                      <a:r>
                        <a:rPr lang="fr-FR" sz="3200" b="1" dirty="0"/>
                        <a:t>+2</a:t>
                      </a:r>
                    </a:p>
                  </a:txBody>
                  <a:tcPr/>
                </a:tc>
                <a:extLst>
                  <a:ext uri="{0D108BD9-81ED-4DB2-BD59-A6C34878D82A}">
                    <a16:rowId xmlns:a16="http://schemas.microsoft.com/office/drawing/2014/main" val="10002"/>
                  </a:ext>
                </a:extLst>
              </a:tr>
              <a:tr h="370840">
                <a:tc>
                  <a:txBody>
                    <a:bodyPr/>
                    <a:lstStyle/>
                    <a:p>
                      <a:pPr algn="ctr"/>
                      <a:r>
                        <a:rPr lang="fr-FR" sz="3200" b="1" dirty="0"/>
                        <a:t>2</a:t>
                      </a:r>
                    </a:p>
                  </a:txBody>
                  <a:tcPr/>
                </a:tc>
                <a:tc>
                  <a:txBody>
                    <a:bodyPr/>
                    <a:lstStyle/>
                    <a:p>
                      <a:pPr algn="ctr"/>
                      <a:r>
                        <a:rPr lang="fr-FR" sz="3200" b="1" dirty="0"/>
                        <a:t>1</a:t>
                      </a:r>
                    </a:p>
                  </a:txBody>
                  <a:tcPr/>
                </a:tc>
                <a:tc>
                  <a:txBody>
                    <a:bodyPr/>
                    <a:lstStyle/>
                    <a:p>
                      <a:pPr algn="ctr"/>
                      <a:r>
                        <a:rPr lang="fr-FR" sz="3200" b="1" dirty="0"/>
                        <a:t>5</a:t>
                      </a:r>
                    </a:p>
                  </a:txBody>
                  <a:tcPr/>
                </a:tc>
                <a:tc>
                  <a:txBody>
                    <a:bodyPr/>
                    <a:lstStyle/>
                    <a:p>
                      <a:pPr algn="ctr"/>
                      <a:r>
                        <a:rPr lang="fr-FR" sz="3200" b="1" dirty="0"/>
                        <a:t>4</a:t>
                      </a:r>
                    </a:p>
                  </a:txBody>
                  <a:tcPr/>
                </a:tc>
                <a:tc>
                  <a:txBody>
                    <a:bodyPr/>
                    <a:lstStyle/>
                    <a:p>
                      <a:pPr algn="ctr"/>
                      <a:r>
                        <a:rPr lang="fr-FR" sz="3200" b="1" dirty="0"/>
                        <a:t>+1</a:t>
                      </a:r>
                    </a:p>
                  </a:txBody>
                  <a:tcPr/>
                </a:tc>
                <a:extLst>
                  <a:ext uri="{0D108BD9-81ED-4DB2-BD59-A6C34878D82A}">
                    <a16:rowId xmlns:a16="http://schemas.microsoft.com/office/drawing/2014/main" val="10003"/>
                  </a:ext>
                </a:extLst>
              </a:tr>
              <a:tr h="370840">
                <a:tc>
                  <a:txBody>
                    <a:bodyPr/>
                    <a:lstStyle/>
                    <a:p>
                      <a:pPr algn="ctr"/>
                      <a:r>
                        <a:rPr lang="fr-FR" sz="3200" b="1" dirty="0"/>
                        <a:t>2</a:t>
                      </a:r>
                    </a:p>
                  </a:txBody>
                  <a:tcPr/>
                </a:tc>
                <a:tc>
                  <a:txBody>
                    <a:bodyPr/>
                    <a:lstStyle/>
                    <a:p>
                      <a:pPr algn="ctr"/>
                      <a:r>
                        <a:rPr lang="fr-FR" sz="3200" b="1" dirty="0"/>
                        <a:t>2</a:t>
                      </a:r>
                    </a:p>
                  </a:txBody>
                  <a:tcPr/>
                </a:tc>
                <a:tc>
                  <a:txBody>
                    <a:bodyPr/>
                    <a:lstStyle/>
                    <a:p>
                      <a:pPr algn="ctr"/>
                      <a:r>
                        <a:rPr lang="fr-FR" sz="3200" b="1" dirty="0"/>
                        <a:t>3</a:t>
                      </a:r>
                    </a:p>
                  </a:txBody>
                  <a:tcPr/>
                </a:tc>
                <a:tc>
                  <a:txBody>
                    <a:bodyPr/>
                    <a:lstStyle/>
                    <a:p>
                      <a:pPr algn="ctr"/>
                      <a:r>
                        <a:rPr lang="fr-FR" sz="3200" b="1" dirty="0"/>
                        <a:t>4</a:t>
                      </a:r>
                    </a:p>
                  </a:txBody>
                  <a:tcPr/>
                </a:tc>
                <a:tc>
                  <a:txBody>
                    <a:bodyPr/>
                    <a:lstStyle/>
                    <a:p>
                      <a:pPr algn="ctr"/>
                      <a:r>
                        <a:rPr lang="fr-FR" sz="3200" b="1" dirty="0"/>
                        <a:t>-1</a:t>
                      </a:r>
                    </a:p>
                  </a:txBody>
                  <a:tcPr/>
                </a:tc>
                <a:extLst>
                  <a:ext uri="{0D108BD9-81ED-4DB2-BD59-A6C34878D82A}">
                    <a16:rowId xmlns:a16="http://schemas.microsoft.com/office/drawing/2014/main" val="10004"/>
                  </a:ext>
                </a:extLst>
              </a:tr>
              <a:tr h="370840">
                <a:tc>
                  <a:txBody>
                    <a:bodyPr/>
                    <a:lstStyle/>
                    <a:p>
                      <a:pPr algn="ctr"/>
                      <a:r>
                        <a:rPr lang="fr-FR" sz="3200" b="1" dirty="0"/>
                        <a:t>ID=1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3200" b="1" dirty="0" err="1"/>
                        <a:t>Mean</a:t>
                      </a:r>
                      <a:endParaRPr lang="fr-FR" sz="3200" b="1" dirty="0"/>
                    </a:p>
                  </a:txBody>
                  <a:tcPr/>
                </a:tc>
                <a:tc>
                  <a:txBody>
                    <a:bodyPr/>
                    <a:lstStyle/>
                    <a:p>
                      <a:pPr algn="ctr"/>
                      <a:r>
                        <a:rPr lang="fr-FR" sz="3200" b="1" dirty="0">
                          <a:solidFill>
                            <a:srgbClr val="FF0000"/>
                          </a:solidFill>
                        </a:rPr>
                        <a:t>10</a:t>
                      </a:r>
                    </a:p>
                  </a:txBody>
                  <a:tcPr/>
                </a:tc>
                <a:tc>
                  <a:txBody>
                    <a:bodyPr/>
                    <a:lstStyle/>
                    <a:p>
                      <a:pPr algn="ctr"/>
                      <a:r>
                        <a:rPr lang="fr-FR" sz="3200" b="1" dirty="0">
                          <a:solidFill>
                            <a:srgbClr val="FF0000"/>
                          </a:solidFill>
                        </a:rPr>
                        <a:t>10</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5"/>
                  </a:ext>
                </a:extLst>
              </a:tr>
              <a:tr h="370840">
                <a:tc>
                  <a:txBody>
                    <a:bodyPr/>
                    <a:lstStyle/>
                    <a:p>
                      <a:pPr algn="ctr"/>
                      <a:r>
                        <a:rPr lang="fr-FR" sz="3200" b="1" dirty="0"/>
                        <a:t>ID=2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3200" b="1" dirty="0" err="1"/>
                        <a:t>Mean</a:t>
                      </a:r>
                      <a:endParaRPr lang="fr-FR" sz="3200" b="1" dirty="0"/>
                    </a:p>
                  </a:txBody>
                  <a:tcPr/>
                </a:tc>
                <a:tc>
                  <a:txBody>
                    <a:bodyPr/>
                    <a:lstStyle/>
                    <a:p>
                      <a:pPr algn="ctr"/>
                      <a:r>
                        <a:rPr lang="fr-FR" sz="3200" b="1" dirty="0">
                          <a:solidFill>
                            <a:srgbClr val="FF0000"/>
                          </a:solidFill>
                        </a:rPr>
                        <a:t>4</a:t>
                      </a:r>
                    </a:p>
                  </a:txBody>
                  <a:tcPr/>
                </a:tc>
                <a:tc>
                  <a:txBody>
                    <a:bodyPr/>
                    <a:lstStyle/>
                    <a:p>
                      <a:pPr algn="ctr"/>
                      <a:r>
                        <a:rPr lang="fr-FR" sz="3200" b="1" dirty="0">
                          <a:solidFill>
                            <a:srgbClr val="FF0000"/>
                          </a:solidFill>
                        </a:rPr>
                        <a:t>4</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6"/>
                  </a:ext>
                </a:extLst>
              </a:tr>
              <a:tr h="370840">
                <a:tc>
                  <a:txBody>
                    <a:bodyPr/>
                    <a:lstStyle/>
                    <a:p>
                      <a:pPr algn="ctr"/>
                      <a:r>
                        <a:rPr lang="fr-FR" sz="3200" b="1" dirty="0"/>
                        <a:t>All</a:t>
                      </a:r>
                    </a:p>
                  </a:txBody>
                  <a:tcPr/>
                </a:tc>
                <a:tc>
                  <a:txBody>
                    <a:bodyPr/>
                    <a:lstStyle/>
                    <a:p>
                      <a:pPr algn="ctr"/>
                      <a:r>
                        <a:rPr lang="fr-FR" sz="3200" b="1" dirty="0" err="1"/>
                        <a:t>Mean</a:t>
                      </a:r>
                      <a:endParaRPr lang="fr-FR" sz="3200" b="1" dirty="0"/>
                    </a:p>
                  </a:txBody>
                  <a:tcPr/>
                </a:tc>
                <a:tc>
                  <a:txBody>
                    <a:bodyPr/>
                    <a:lstStyle/>
                    <a:p>
                      <a:pPr algn="ctr"/>
                      <a:r>
                        <a:rPr lang="fr-FR" sz="3200" b="1" dirty="0"/>
                        <a:t>7</a:t>
                      </a:r>
                    </a:p>
                  </a:txBody>
                  <a:tcPr/>
                </a:tc>
                <a:tc>
                  <a:txBody>
                    <a:bodyPr/>
                    <a:lstStyle/>
                    <a:p>
                      <a:pPr algn="ctr"/>
                      <a:r>
                        <a:rPr lang="fr-FR" sz="3200" b="1" dirty="0"/>
                        <a:t>7</a:t>
                      </a:r>
                    </a:p>
                  </a:txBody>
                  <a:tcPr/>
                </a:tc>
                <a:tc>
                  <a:txBody>
                    <a:bodyPr/>
                    <a:lstStyle/>
                    <a:p>
                      <a:pPr algn="ctr"/>
                      <a:r>
                        <a:rPr lang="fr-FR" sz="3200" b="1" dirty="0">
                          <a:solidFill>
                            <a:srgbClr val="FF0000"/>
                          </a:solidFill>
                        </a:rPr>
                        <a:t>0</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87881601"/>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Individual</a:t>
            </a:r>
            <a:r>
              <a:rPr lang="fr-FR" dirty="0"/>
              <a:t> – </a:t>
            </a:r>
            <a:r>
              <a:rPr lang="fr-FR" dirty="0" err="1"/>
              <a:t>Endogeneity</a:t>
            </a:r>
            <a:r>
              <a:rPr lang="fr-FR" dirty="0"/>
              <a:t>:</a:t>
            </a:r>
            <a:br>
              <a:rPr lang="fr-FR" dirty="0"/>
            </a:br>
            <a:r>
              <a:rPr lang="fr-FR" dirty="0" err="1"/>
              <a:t>Fixed</a:t>
            </a:r>
            <a:r>
              <a:rPr lang="fr-FR" dirty="0"/>
              <a:t> </a:t>
            </a:r>
            <a:r>
              <a:rPr lang="fr-FR" dirty="0" err="1"/>
              <a:t>effect</a:t>
            </a:r>
            <a:r>
              <a:rPr lang="fr-FR" dirty="0"/>
              <a:t> IV </a:t>
            </a:r>
            <a:r>
              <a:rPr lang="fr-FR" dirty="0" err="1"/>
              <a:t>estimator</a:t>
            </a:r>
            <a:endParaRPr lang="fr-FR" dirty="0"/>
          </a:p>
        </p:txBody>
      </p:sp>
      <p:sp>
        <p:nvSpPr>
          <p:cNvPr id="3" name="Espace réservé du contenu 2"/>
          <p:cNvSpPr>
            <a:spLocks noGrp="1"/>
          </p:cNvSpPr>
          <p:nvPr>
            <p:ph idx="1"/>
          </p:nvPr>
        </p:nvSpPr>
        <p:spPr/>
        <p:txBody>
          <a:bodyPr>
            <a:normAutofit lnSpcReduction="10000"/>
          </a:bodyPr>
          <a:lstStyle/>
          <a:p>
            <a:pPr marL="0" indent="0" algn="just">
              <a:buNone/>
            </a:pPr>
            <a:r>
              <a:rPr lang="fr-FR" sz="2800" dirty="0" err="1"/>
              <a:t>With</a:t>
            </a:r>
            <a:r>
              <a:rPr lang="fr-FR" sz="2800" dirty="0"/>
              <a:t> panel data </a:t>
            </a:r>
            <a:r>
              <a:rPr lang="fr-FR" sz="2800" dirty="0" err="1"/>
              <a:t>regressions</a:t>
            </a:r>
            <a:r>
              <a:rPr lang="fr-FR" sz="2800" dirty="0"/>
              <a:t>, </a:t>
            </a:r>
            <a:r>
              <a:rPr lang="fr-FR" sz="2800" dirty="0" err="1"/>
              <a:t>there</a:t>
            </a:r>
            <a:r>
              <a:rPr lang="fr-FR" sz="2800" dirty="0"/>
              <a:t> </a:t>
            </a:r>
            <a:r>
              <a:rPr lang="fr-FR" sz="2800" dirty="0" err="1"/>
              <a:t>is</a:t>
            </a:r>
            <a:r>
              <a:rPr lang="fr-FR" sz="2800" dirty="0"/>
              <a:t> a </a:t>
            </a:r>
            <a:r>
              <a:rPr lang="fr-FR" sz="2800" dirty="0" err="1"/>
              <a:t>potential</a:t>
            </a:r>
            <a:r>
              <a:rPr lang="fr-FR" sz="2800" dirty="0"/>
              <a:t> </a:t>
            </a:r>
            <a:r>
              <a:rPr lang="fr-FR" sz="2800" b="1" dirty="0">
                <a:solidFill>
                  <a:srgbClr val="FF0000"/>
                </a:solidFill>
              </a:rPr>
              <a:t>PARTICULAR</a:t>
            </a:r>
            <a:r>
              <a:rPr lang="fr-FR" sz="2800" dirty="0"/>
              <a:t> type of « </a:t>
            </a:r>
            <a:r>
              <a:rPr lang="fr-FR" sz="2800" dirty="0" err="1"/>
              <a:t>individual</a:t>
            </a:r>
            <a:r>
              <a:rPr lang="fr-FR" sz="2800" dirty="0"/>
              <a:t>(i) time-invariant  » </a:t>
            </a:r>
            <a:r>
              <a:rPr lang="fr-FR" sz="2800" dirty="0" err="1"/>
              <a:t>endogeneity</a:t>
            </a:r>
            <a:endParaRPr lang="fr-FR" sz="2800" dirty="0"/>
          </a:p>
          <a:p>
            <a:pPr marL="0" indent="0" algn="just">
              <a:buNone/>
            </a:pPr>
            <a:r>
              <a:rPr lang="fr-FR" sz="2800" dirty="0"/>
              <a:t>= NON ZERO covariance of </a:t>
            </a:r>
            <a:r>
              <a:rPr lang="fr-FR" sz="2800" dirty="0" err="1"/>
              <a:t>explanatory</a:t>
            </a:r>
            <a:r>
              <a:rPr lang="fr-FR" sz="2800" dirty="0"/>
              <a:t> variables </a:t>
            </a:r>
            <a:r>
              <a:rPr lang="fr-FR" sz="2800" dirty="0" err="1"/>
              <a:t>with</a:t>
            </a:r>
            <a:r>
              <a:rPr lang="fr-FR" sz="2800" dirty="0"/>
              <a:t> </a:t>
            </a:r>
            <a:r>
              <a:rPr lang="fr-FR" sz="2800" b="1" dirty="0">
                <a:solidFill>
                  <a:srgbClr val="FF0000"/>
                </a:solidFill>
              </a:rPr>
              <a:t>ALL</a:t>
            </a:r>
            <a:r>
              <a:rPr lang="fr-FR" sz="2800" dirty="0"/>
              <a:t> </a:t>
            </a:r>
            <a:r>
              <a:rPr lang="fr-FR" sz="2800" dirty="0" err="1"/>
              <a:t>individual</a:t>
            </a:r>
            <a:r>
              <a:rPr lang="fr-FR" sz="2800" dirty="0"/>
              <a:t>-(i) time-invariant </a:t>
            </a:r>
            <a:r>
              <a:rPr lang="fr-FR" sz="2800" b="1" dirty="0" err="1">
                <a:solidFill>
                  <a:srgbClr val="FF0000"/>
                </a:solidFill>
              </a:rPr>
              <a:t>omitted</a:t>
            </a:r>
            <a:r>
              <a:rPr lang="fr-FR" sz="2800" dirty="0"/>
              <a:t> variables </a:t>
            </a:r>
            <a:r>
              <a:rPr lang="fr-FR" sz="2800" dirty="0" err="1"/>
              <a:t>characteristics</a:t>
            </a:r>
            <a:r>
              <a:rPr lang="fr-FR" sz="2800" dirty="0"/>
              <a:t> </a:t>
            </a:r>
            <a:r>
              <a:rPr lang="fr-FR" sz="2800" b="1" dirty="0" err="1"/>
              <a:t>included</a:t>
            </a:r>
            <a:r>
              <a:rPr lang="fr-FR" sz="2800" b="1" dirty="0"/>
              <a:t> in the </a:t>
            </a:r>
            <a:r>
              <a:rPr lang="fr-FR" sz="2800" b="1" dirty="0" err="1"/>
              <a:t>disturbances</a:t>
            </a:r>
            <a:r>
              <a:rPr lang="fr-FR" sz="2800" dirty="0"/>
              <a:t>.</a:t>
            </a:r>
          </a:p>
          <a:p>
            <a:pPr marL="0" indent="0" algn="just">
              <a:buNone/>
            </a:pPr>
            <a:r>
              <a:rPr lang="fr-FR" sz="2800" dirty="0" err="1"/>
              <a:t>With</a:t>
            </a:r>
            <a:r>
              <a:rPr lang="fr-FR" sz="2800" dirty="0"/>
              <a:t> leads </a:t>
            </a:r>
            <a:r>
              <a:rPr lang="fr-FR" sz="2800" dirty="0" err="1"/>
              <a:t>ot</a:t>
            </a:r>
            <a:r>
              <a:rPr lang="fr-FR" sz="2800" dirty="0"/>
              <a:t> a </a:t>
            </a:r>
            <a:r>
              <a:rPr lang="fr-FR" sz="2800" b="1" dirty="0">
                <a:solidFill>
                  <a:srgbClr val="FF0000"/>
                </a:solidFill>
              </a:rPr>
              <a:t>PARTICULAR</a:t>
            </a:r>
            <a:r>
              <a:rPr lang="fr-FR" sz="2800" dirty="0"/>
              <a:t> type of INSTRUMENT VARIABLES </a:t>
            </a:r>
            <a:r>
              <a:rPr lang="fr-FR" sz="2800" dirty="0" err="1"/>
              <a:t>estimator</a:t>
            </a:r>
            <a:r>
              <a:rPr lang="fr-FR" sz="2800" dirty="0"/>
              <a:t> </a:t>
            </a:r>
            <a:r>
              <a:rPr lang="fr-FR" sz="2800" dirty="0" err="1"/>
              <a:t>called</a:t>
            </a:r>
            <a:r>
              <a:rPr lang="fr-FR" sz="2800" dirty="0"/>
              <a:t> « IV </a:t>
            </a:r>
            <a:r>
              <a:rPr lang="fr-FR" sz="2800" dirty="0" err="1"/>
              <a:t>fixed</a:t>
            </a:r>
            <a:r>
              <a:rPr lang="fr-FR" sz="2800" dirty="0"/>
              <a:t> </a:t>
            </a:r>
            <a:r>
              <a:rPr lang="fr-FR" sz="2800" dirty="0" err="1"/>
              <a:t>effect</a:t>
            </a:r>
            <a:r>
              <a:rPr lang="fr-FR" sz="2800" dirty="0"/>
              <a:t> or </a:t>
            </a:r>
            <a:r>
              <a:rPr lang="fr-FR" sz="2800" dirty="0" err="1"/>
              <a:t>Within</a:t>
            </a:r>
            <a:r>
              <a:rPr lang="fr-FR" sz="2800" dirty="0"/>
              <a:t> model ».</a:t>
            </a:r>
          </a:p>
        </p:txBody>
      </p:sp>
    </p:spTree>
    <p:extLst>
      <p:ext uri="{BB962C8B-B14F-4D97-AF65-F5344CB8AC3E}">
        <p14:creationId xmlns:p14="http://schemas.microsoft.com/office/powerpoint/2010/main" val="227344531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p:cNvSpPr>
            <a:spLocks noGrp="1"/>
          </p:cNvSpPr>
          <p:nvPr>
            <p:ph type="title"/>
          </p:nvPr>
        </p:nvSpPr>
        <p:spPr/>
        <p:txBody>
          <a:bodyPr/>
          <a:lstStyle/>
          <a:p>
            <a:r>
              <a:rPr lang="el-GR" altLang="fr-FR" sz="3600" b="1" dirty="0">
                <a:solidFill>
                  <a:srgbClr val="00B050"/>
                </a:solidFill>
              </a:rPr>
              <a:t>α</a:t>
            </a:r>
            <a:r>
              <a:rPr lang="fr-FR" altLang="fr-FR" sz="3600" b="1" dirty="0">
                <a:solidFill>
                  <a:srgbClr val="00B050"/>
                </a:solidFill>
              </a:rPr>
              <a:t>(i)</a:t>
            </a:r>
            <a:r>
              <a:rPr lang="fr-FR" altLang="fr-FR" sz="3600" dirty="0">
                <a:solidFill>
                  <a:schemeClr val="tx1"/>
                </a:solidFill>
              </a:rPr>
              <a:t>-</a:t>
            </a:r>
            <a:r>
              <a:rPr lang="fr-FR" altLang="fr-FR" sz="3600" dirty="0" err="1">
                <a:solidFill>
                  <a:schemeClr val="tx1"/>
                </a:solidFill>
              </a:rPr>
              <a:t>endogeneity</a:t>
            </a:r>
            <a:r>
              <a:rPr lang="fr-FR" altLang="fr-FR" sz="3600" dirty="0">
                <a:solidFill>
                  <a:schemeClr val="tx1"/>
                </a:solidFill>
              </a:rPr>
              <a:t> BIAS for </a:t>
            </a:r>
            <a:r>
              <a:rPr lang="el-GR" altLang="fr-FR" sz="3600" dirty="0">
                <a:solidFill>
                  <a:srgbClr val="FF0000"/>
                </a:solidFill>
              </a:rPr>
              <a:t>β</a:t>
            </a:r>
            <a:r>
              <a:rPr lang="fr-FR" altLang="fr-FR" sz="3600" dirty="0">
                <a:solidFill>
                  <a:srgbClr val="FF0000"/>
                </a:solidFill>
              </a:rPr>
              <a:t>1 </a:t>
            </a:r>
            <a:r>
              <a:rPr lang="fr-FR" altLang="fr-FR" sz="3600" dirty="0">
                <a:solidFill>
                  <a:schemeClr val="tx1"/>
                </a:solidFill>
              </a:rPr>
              <a:t>and</a:t>
            </a:r>
            <a:r>
              <a:rPr lang="fr-FR" altLang="fr-FR" sz="3600" dirty="0">
                <a:solidFill>
                  <a:srgbClr val="FF0000"/>
                </a:solidFill>
              </a:rPr>
              <a:t> </a:t>
            </a:r>
            <a:r>
              <a:rPr lang="el-GR" altLang="fr-FR" sz="3600" dirty="0">
                <a:solidFill>
                  <a:srgbClr val="FF0000"/>
                </a:solidFill>
              </a:rPr>
              <a:t>β</a:t>
            </a:r>
            <a:r>
              <a:rPr lang="fr-FR" altLang="fr-FR" sz="3600" dirty="0">
                <a:solidFill>
                  <a:srgbClr val="FF0000"/>
                </a:solidFill>
              </a:rPr>
              <a:t>0</a:t>
            </a:r>
            <a:endParaRPr lang="fr-FR" altLang="fr-FR" sz="3600" dirty="0">
              <a:solidFill>
                <a:schemeClr val="tx1"/>
              </a:solidFill>
            </a:endParaRPr>
          </a:p>
        </p:txBody>
      </p:sp>
      <p:sp>
        <p:nvSpPr>
          <p:cNvPr id="7171" name="Espace réservé du contenu 2"/>
          <p:cNvSpPr>
            <a:spLocks noGrp="1"/>
          </p:cNvSpPr>
          <p:nvPr>
            <p:ph idx="1"/>
          </p:nvPr>
        </p:nvSpPr>
        <p:spPr/>
        <p:txBody>
          <a:bodyPr/>
          <a:lstStyle/>
          <a:p>
            <a:pPr marL="0" indent="0">
              <a:buFontTx/>
              <a:buNone/>
            </a:pPr>
            <a:r>
              <a:rPr lang="fr-FR" altLang="fr-FR" dirty="0"/>
              <a:t> y(</a:t>
            </a:r>
            <a:r>
              <a:rPr lang="fr-FR" altLang="fr-FR" dirty="0" err="1"/>
              <a:t>it</a:t>
            </a:r>
            <a:r>
              <a:rPr lang="fr-FR" altLang="fr-FR" dirty="0"/>
              <a:t>)=</a:t>
            </a:r>
            <a:r>
              <a:rPr lang="el-GR" altLang="fr-FR" dirty="0">
                <a:solidFill>
                  <a:srgbClr val="FF0000"/>
                </a:solidFill>
              </a:rPr>
              <a:t>β</a:t>
            </a:r>
            <a:r>
              <a:rPr lang="fr-FR" altLang="fr-FR" dirty="0">
                <a:solidFill>
                  <a:srgbClr val="FF0000"/>
                </a:solidFill>
              </a:rPr>
              <a:t>0</a:t>
            </a:r>
            <a:r>
              <a:rPr lang="fr-FR" altLang="fr-FR" dirty="0"/>
              <a:t>+</a:t>
            </a:r>
            <a:r>
              <a:rPr lang="el-GR" altLang="fr-FR" dirty="0">
                <a:solidFill>
                  <a:srgbClr val="FF0000"/>
                </a:solidFill>
              </a:rPr>
              <a:t>β</a:t>
            </a:r>
            <a:r>
              <a:rPr lang="fr-FR" altLang="fr-FR" dirty="0">
                <a:solidFill>
                  <a:srgbClr val="FF0000"/>
                </a:solidFill>
              </a:rPr>
              <a:t>1</a:t>
            </a:r>
            <a:r>
              <a:rPr lang="fr-FR" altLang="fr-FR" dirty="0"/>
              <a:t>.x(</a:t>
            </a:r>
            <a:r>
              <a:rPr lang="fr-FR" altLang="fr-FR" dirty="0" err="1"/>
              <a:t>it</a:t>
            </a:r>
            <a:r>
              <a:rPr lang="fr-FR" altLang="fr-FR" dirty="0"/>
              <a:t>)+</a:t>
            </a:r>
            <a:r>
              <a:rPr lang="el-GR" altLang="fr-FR" b="1" dirty="0">
                <a:solidFill>
                  <a:srgbClr val="00B050"/>
                </a:solidFill>
              </a:rPr>
              <a:t>α</a:t>
            </a:r>
            <a:r>
              <a:rPr lang="fr-FR" altLang="fr-FR" b="1" dirty="0">
                <a:solidFill>
                  <a:srgbClr val="00B050"/>
                </a:solidFill>
              </a:rPr>
              <a:t>(i)+</a:t>
            </a:r>
            <a:r>
              <a:rPr lang="el-GR" altLang="fr-FR" b="1" dirty="0">
                <a:solidFill>
                  <a:srgbClr val="00B050"/>
                </a:solidFill>
              </a:rPr>
              <a:t>α</a:t>
            </a:r>
            <a:r>
              <a:rPr lang="fr-FR" altLang="fr-FR" b="1" dirty="0">
                <a:solidFill>
                  <a:srgbClr val="00B050"/>
                </a:solidFill>
              </a:rPr>
              <a:t>(t)+</a:t>
            </a:r>
            <a:r>
              <a:rPr lang="el-GR" altLang="fr-FR" b="1" dirty="0">
                <a:solidFill>
                  <a:srgbClr val="00B050"/>
                </a:solidFill>
              </a:rPr>
              <a:t>ε</a:t>
            </a:r>
            <a:r>
              <a:rPr lang="fr-FR" altLang="fr-FR" b="1" dirty="0">
                <a:solidFill>
                  <a:srgbClr val="00B050"/>
                </a:solidFill>
              </a:rPr>
              <a:t>(</a:t>
            </a:r>
            <a:r>
              <a:rPr lang="fr-FR" altLang="fr-FR" b="1" dirty="0" err="1">
                <a:solidFill>
                  <a:srgbClr val="00B050"/>
                </a:solidFill>
              </a:rPr>
              <a:t>it</a:t>
            </a:r>
            <a:r>
              <a:rPr lang="fr-FR" altLang="fr-FR" b="1" dirty="0">
                <a:solidFill>
                  <a:srgbClr val="00B050"/>
                </a:solidFill>
              </a:rPr>
              <a:t>)</a:t>
            </a:r>
          </a:p>
          <a:p>
            <a:pPr marL="0" indent="0">
              <a:buFontTx/>
              <a:buNone/>
            </a:pPr>
            <a:r>
              <a:rPr lang="fr-FR" altLang="fr-FR" b="1" dirty="0" err="1"/>
              <a:t>Cov</a:t>
            </a:r>
            <a:r>
              <a:rPr lang="fr-FR" altLang="fr-FR" b="1" dirty="0"/>
              <a:t>(x(</a:t>
            </a:r>
            <a:r>
              <a:rPr lang="fr-FR" altLang="fr-FR" b="1" dirty="0" err="1"/>
              <a:t>it</a:t>
            </a:r>
            <a:r>
              <a:rPr lang="fr-FR" altLang="fr-FR" b="1" dirty="0"/>
              <a:t>),</a:t>
            </a:r>
            <a:r>
              <a:rPr lang="el-GR" altLang="fr-FR" dirty="0"/>
              <a:t> </a:t>
            </a:r>
            <a:r>
              <a:rPr lang="el-GR" altLang="fr-FR" b="1" dirty="0">
                <a:solidFill>
                  <a:srgbClr val="00B050"/>
                </a:solidFill>
              </a:rPr>
              <a:t>α</a:t>
            </a:r>
            <a:r>
              <a:rPr lang="fr-FR" altLang="fr-FR" b="1" dirty="0">
                <a:solidFill>
                  <a:srgbClr val="00B050"/>
                </a:solidFill>
              </a:rPr>
              <a:t>(i)</a:t>
            </a:r>
            <a:r>
              <a:rPr lang="fr-FR" altLang="fr-FR" b="1" dirty="0"/>
              <a:t>) = 0</a:t>
            </a:r>
            <a:r>
              <a:rPr lang="fr-FR" altLang="fr-FR" dirty="0"/>
              <a:t> or not.</a:t>
            </a:r>
          </a:p>
          <a:p>
            <a:pPr marL="0" indent="0">
              <a:buFontTx/>
              <a:buNone/>
            </a:pPr>
            <a:r>
              <a:rPr lang="el-GR" altLang="fr-FR" b="1" dirty="0">
                <a:solidFill>
                  <a:srgbClr val="00B050"/>
                </a:solidFill>
              </a:rPr>
              <a:t>α</a:t>
            </a:r>
            <a:r>
              <a:rPr lang="fr-FR" altLang="fr-FR" b="1" dirty="0">
                <a:solidFill>
                  <a:srgbClr val="00B050"/>
                </a:solidFill>
              </a:rPr>
              <a:t>(i)</a:t>
            </a:r>
            <a:r>
              <a:rPr lang="fr-FR" altLang="fr-FR" dirty="0"/>
              <a:t>: </a:t>
            </a:r>
            <a:r>
              <a:rPr lang="fr-FR" altLang="fr-FR" dirty="0" err="1"/>
              <a:t>individual</a:t>
            </a:r>
            <a:r>
              <a:rPr lang="fr-FR" altLang="fr-FR" dirty="0"/>
              <a:t> (time invariant) </a:t>
            </a:r>
            <a:r>
              <a:rPr lang="fr-FR" altLang="fr-FR" dirty="0" err="1"/>
              <a:t>unobserved</a:t>
            </a:r>
            <a:r>
              <a:rPr lang="fr-FR" altLang="fr-FR" dirty="0"/>
              <a:t> </a:t>
            </a:r>
            <a:r>
              <a:rPr lang="fr-FR" altLang="fr-FR" dirty="0" err="1"/>
              <a:t>random</a:t>
            </a:r>
            <a:r>
              <a:rPr lang="fr-FR" altLang="fr-FR" dirty="0"/>
              <a:t> </a:t>
            </a:r>
            <a:r>
              <a:rPr lang="fr-FR" altLang="fr-FR" dirty="0" err="1"/>
              <a:t>effects</a:t>
            </a:r>
            <a:r>
              <a:rPr lang="fr-FR" altLang="fr-FR" dirty="0"/>
              <a:t> (</a:t>
            </a:r>
            <a:r>
              <a:rPr lang="fr-FR" altLang="fr-FR" dirty="0" err="1"/>
              <a:t>characteristics</a:t>
            </a:r>
            <a:r>
              <a:rPr lang="fr-FR" altLang="fr-FR" dirty="0"/>
              <a:t>).</a:t>
            </a:r>
          </a:p>
          <a:p>
            <a:pPr marL="0" indent="0">
              <a:buFontTx/>
              <a:buNone/>
            </a:pPr>
            <a:r>
              <a:rPr lang="fr-FR" altLang="fr-FR" dirty="0"/>
              <a:t>Country: </a:t>
            </a:r>
            <a:r>
              <a:rPr lang="fr-FR" altLang="fr-FR" dirty="0" err="1"/>
              <a:t>geography</a:t>
            </a:r>
            <a:r>
              <a:rPr lang="fr-FR" altLang="fr-FR" dirty="0"/>
              <a:t>, </a:t>
            </a:r>
            <a:r>
              <a:rPr lang="fr-FR" altLang="fr-FR" dirty="0" err="1"/>
              <a:t>history</a:t>
            </a:r>
            <a:r>
              <a:rPr lang="fr-FR" altLang="fr-FR" dirty="0"/>
              <a:t> </a:t>
            </a:r>
            <a:r>
              <a:rPr lang="fr-FR" altLang="fr-FR" dirty="0" err="1"/>
              <a:t>before</a:t>
            </a:r>
            <a:r>
              <a:rPr lang="fr-FR" altLang="fr-FR" dirty="0"/>
              <a:t> the </a:t>
            </a:r>
            <a:r>
              <a:rPr lang="fr-FR" altLang="fr-FR" dirty="0" err="1"/>
              <a:t>beginning</a:t>
            </a:r>
            <a:r>
              <a:rPr lang="fr-FR" altLang="fr-FR" dirty="0"/>
              <a:t> of the </a:t>
            </a:r>
            <a:r>
              <a:rPr lang="fr-FR" altLang="fr-FR" dirty="0" err="1"/>
              <a:t>sample</a:t>
            </a:r>
            <a:r>
              <a:rPr lang="fr-FR" altLang="fr-FR" dirty="0"/>
              <a:t>, and </a:t>
            </a:r>
            <a:r>
              <a:rPr lang="fr-FR" altLang="fr-FR" dirty="0" err="1"/>
              <a:t>so</a:t>
            </a:r>
            <a:r>
              <a:rPr lang="fr-FR" altLang="fr-FR" dirty="0"/>
              <a:t> on.</a:t>
            </a:r>
          </a:p>
          <a:p>
            <a:pPr marL="0" indent="0">
              <a:buFontTx/>
              <a:buNone/>
            </a:pPr>
            <a:r>
              <a:rPr lang="fr-FR" altLang="fr-FR" b="1" dirty="0" err="1"/>
              <a:t>Cov</a:t>
            </a:r>
            <a:r>
              <a:rPr lang="fr-FR" altLang="fr-FR" b="1" dirty="0"/>
              <a:t>(x(</a:t>
            </a:r>
            <a:r>
              <a:rPr lang="fr-FR" altLang="fr-FR" b="1" dirty="0" err="1"/>
              <a:t>it</a:t>
            </a:r>
            <a:r>
              <a:rPr lang="fr-FR" altLang="fr-FR" b="1" dirty="0"/>
              <a:t>),</a:t>
            </a:r>
            <a:r>
              <a:rPr lang="el-GR" altLang="fr-FR" dirty="0"/>
              <a:t> </a:t>
            </a:r>
            <a:r>
              <a:rPr lang="el-GR" altLang="fr-FR" b="1" dirty="0">
                <a:solidFill>
                  <a:srgbClr val="00B050"/>
                </a:solidFill>
              </a:rPr>
              <a:t>ε</a:t>
            </a:r>
            <a:r>
              <a:rPr lang="fr-FR" altLang="fr-FR" b="1" dirty="0">
                <a:solidFill>
                  <a:srgbClr val="00B050"/>
                </a:solidFill>
              </a:rPr>
              <a:t>(</a:t>
            </a:r>
            <a:r>
              <a:rPr lang="fr-FR" altLang="fr-FR" b="1" dirty="0" err="1">
                <a:solidFill>
                  <a:srgbClr val="00B050"/>
                </a:solidFill>
              </a:rPr>
              <a:t>it</a:t>
            </a:r>
            <a:r>
              <a:rPr lang="fr-FR" altLang="fr-FR" b="1" dirty="0">
                <a:solidFill>
                  <a:srgbClr val="00B050"/>
                </a:solidFill>
              </a:rPr>
              <a:t>)</a:t>
            </a:r>
            <a:r>
              <a:rPr lang="fr-FR" altLang="fr-FR" b="1" dirty="0"/>
              <a:t>) = 0 or not: </a:t>
            </a:r>
            <a:r>
              <a:rPr lang="fr-FR" altLang="fr-FR" b="1" dirty="0" err="1"/>
              <a:t>may</a:t>
            </a:r>
            <a:r>
              <a:rPr lang="fr-FR" altLang="fr-FR" b="1" dirty="0"/>
              <a:t> </a:t>
            </a:r>
            <a:r>
              <a:rPr lang="fr-FR" altLang="fr-FR" b="1" dirty="0" err="1"/>
              <a:t>also</a:t>
            </a:r>
            <a:r>
              <a:rPr lang="fr-FR" altLang="fr-FR" b="1" dirty="0"/>
              <a:t> </a:t>
            </a:r>
            <a:r>
              <a:rPr lang="fr-FR" altLang="fr-FR" b="1" dirty="0" err="1"/>
              <a:t>exist</a:t>
            </a:r>
            <a:r>
              <a:rPr lang="fr-FR" altLang="fr-FR" b="1" dirty="0"/>
              <a:t>, but </a:t>
            </a:r>
            <a:r>
              <a:rPr lang="fr-FR" altLang="fr-FR" b="1" dirty="0" err="1"/>
              <a:t>it</a:t>
            </a:r>
            <a:r>
              <a:rPr lang="fr-FR" altLang="fr-FR" b="1" dirty="0"/>
              <a:t> </a:t>
            </a:r>
            <a:r>
              <a:rPr lang="fr-FR" altLang="fr-FR" b="1" dirty="0" err="1"/>
              <a:t>is</a:t>
            </a:r>
            <a:r>
              <a:rPr lang="fr-FR" altLang="fr-FR" b="1" dirty="0"/>
              <a:t> set </a:t>
            </a:r>
            <a:r>
              <a:rPr lang="fr-FR" altLang="fr-FR" b="1" dirty="0" err="1"/>
              <a:t>aside</a:t>
            </a:r>
            <a:r>
              <a:rPr lang="fr-FR" altLang="fr-FR" b="1" dirty="0"/>
              <a:t> as </a:t>
            </a:r>
            <a:r>
              <a:rPr lang="fr-FR" altLang="fr-FR" b="1" dirty="0" err="1"/>
              <a:t>being</a:t>
            </a:r>
            <a:r>
              <a:rPr lang="fr-FR" altLang="fr-FR" b="1" dirty="0"/>
              <a:t> </a:t>
            </a:r>
            <a:r>
              <a:rPr lang="fr-FR" altLang="fr-FR" b="1" dirty="0" err="1"/>
              <a:t>less</a:t>
            </a:r>
            <a:r>
              <a:rPr lang="fr-FR" altLang="fr-FR" b="1" dirty="0"/>
              <a:t> important.</a:t>
            </a:r>
            <a:endParaRPr lang="fr-FR" altLang="fr-FR" dirty="0"/>
          </a:p>
        </p:txBody>
      </p:sp>
    </p:spTree>
    <p:extLst>
      <p:ext uri="{BB962C8B-B14F-4D97-AF65-F5344CB8AC3E}">
        <p14:creationId xmlns:p14="http://schemas.microsoft.com/office/powerpoint/2010/main" val="1083430237"/>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74638"/>
            <a:ext cx="9144000" cy="1143000"/>
          </a:xfrm>
        </p:spPr>
        <p:txBody>
          <a:bodyPr>
            <a:normAutofit fontScale="90000"/>
          </a:bodyPr>
          <a:lstStyle/>
          <a:p>
            <a:r>
              <a:rPr lang="fr-FR" dirty="0" err="1"/>
              <a:t>Mundlak</a:t>
            </a:r>
            <a:r>
              <a:rPr lang="fr-FR" dirty="0"/>
              <a:t>: GLS </a:t>
            </a:r>
            <a:r>
              <a:rPr lang="fr-FR" dirty="0">
                <a:solidFill>
                  <a:srgbClr val="0070C0"/>
                </a:solidFill>
              </a:rPr>
              <a:t>and</a:t>
            </a:r>
            <a:r>
              <a:rPr lang="fr-FR" dirty="0"/>
              <a:t> IV </a:t>
            </a:r>
            <a:r>
              <a:rPr lang="fr-FR" dirty="0" err="1"/>
              <a:t>Heteroskedasticity</a:t>
            </a:r>
            <a:r>
              <a:rPr lang="fr-FR" dirty="0"/>
              <a:t> </a:t>
            </a:r>
            <a:r>
              <a:rPr lang="fr-FR" dirty="0">
                <a:solidFill>
                  <a:srgbClr val="0070C0"/>
                </a:solidFill>
              </a:rPr>
              <a:t>and</a:t>
            </a:r>
            <a:r>
              <a:rPr lang="fr-FR" dirty="0"/>
              <a:t> </a:t>
            </a:r>
            <a:r>
              <a:rPr lang="fr-FR" dirty="0" err="1"/>
              <a:t>endogeneity</a:t>
            </a:r>
            <a:endParaRPr lang="fr-FR" dirty="0"/>
          </a:p>
        </p:txBody>
      </p:sp>
      <p:sp>
        <p:nvSpPr>
          <p:cNvPr id="3" name="Espace réservé du contenu 2"/>
          <p:cNvSpPr>
            <a:spLocks noGrp="1"/>
          </p:cNvSpPr>
          <p:nvPr>
            <p:ph idx="1"/>
          </p:nvPr>
        </p:nvSpPr>
        <p:spPr/>
        <p:txBody>
          <a:bodyPr/>
          <a:lstStyle/>
          <a:p>
            <a:pPr marL="0" indent="0">
              <a:buNone/>
            </a:pPr>
            <a:r>
              <a:rPr lang="fr-FR" dirty="0" err="1"/>
              <a:t>Mundlak</a:t>
            </a:r>
            <a:r>
              <a:rPr lang="fr-FR" dirty="0"/>
              <a:t> assumes a </a:t>
            </a:r>
            <a:r>
              <a:rPr lang="fr-FR" b="1" dirty="0">
                <a:solidFill>
                  <a:srgbClr val="00B050"/>
                </a:solidFill>
              </a:rPr>
              <a:t>PARTICULAR</a:t>
            </a:r>
            <a:r>
              <a:rPr lang="fr-FR" dirty="0"/>
              <a:t> </a:t>
            </a:r>
            <a:r>
              <a:rPr lang="fr-FR" dirty="0" err="1"/>
              <a:t>linear</a:t>
            </a:r>
            <a:r>
              <a:rPr lang="fr-FR" dirty="0"/>
              <a:t> </a:t>
            </a:r>
            <a:r>
              <a:rPr lang="el-GR" altLang="fr-FR" b="1" dirty="0">
                <a:solidFill>
                  <a:srgbClr val="00B050"/>
                </a:solidFill>
              </a:rPr>
              <a:t>α</a:t>
            </a:r>
            <a:r>
              <a:rPr lang="fr-FR" altLang="fr-FR" b="1" dirty="0">
                <a:solidFill>
                  <a:srgbClr val="00B050"/>
                </a:solidFill>
              </a:rPr>
              <a:t>(i)</a:t>
            </a:r>
            <a:r>
              <a:rPr lang="fr-FR" altLang="fr-FR" dirty="0"/>
              <a:t>-</a:t>
            </a:r>
            <a:r>
              <a:rPr lang="fr-FR" dirty="0" err="1"/>
              <a:t>endogeneity</a:t>
            </a:r>
            <a:r>
              <a:rPr lang="fr-FR" dirty="0"/>
              <a:t> model:</a:t>
            </a:r>
          </a:p>
          <a:p>
            <a:pPr marL="0" indent="0">
              <a:buNone/>
            </a:pPr>
            <a:r>
              <a:rPr lang="el-GR" altLang="fr-FR" b="1" dirty="0">
                <a:solidFill>
                  <a:srgbClr val="00B050"/>
                </a:solidFill>
              </a:rPr>
              <a:t>α</a:t>
            </a:r>
            <a:r>
              <a:rPr lang="fr-FR" altLang="fr-FR" b="1" dirty="0">
                <a:solidFill>
                  <a:srgbClr val="00B050"/>
                </a:solidFill>
              </a:rPr>
              <a:t>(i)=</a:t>
            </a:r>
            <a:r>
              <a:rPr lang="el-GR" altLang="fr-FR" dirty="0">
                <a:solidFill>
                  <a:srgbClr val="FF0000"/>
                </a:solidFill>
              </a:rPr>
              <a:t>β</a:t>
            </a:r>
            <a:r>
              <a:rPr lang="fr-FR" altLang="fr-FR" dirty="0">
                <a:solidFill>
                  <a:srgbClr val="FF0000"/>
                </a:solidFill>
              </a:rPr>
              <a:t>2</a:t>
            </a:r>
            <a:r>
              <a:rPr lang="fr-FR" altLang="fr-FR" dirty="0"/>
              <a:t>.x(i.) +</a:t>
            </a:r>
            <a:r>
              <a:rPr lang="el-GR" altLang="fr-FR" dirty="0">
                <a:solidFill>
                  <a:srgbClr val="FF0000"/>
                </a:solidFill>
              </a:rPr>
              <a:t>β</a:t>
            </a:r>
            <a:r>
              <a:rPr lang="fr-FR" altLang="fr-FR" dirty="0">
                <a:solidFill>
                  <a:srgbClr val="FF0000"/>
                </a:solidFill>
              </a:rPr>
              <a:t>3</a:t>
            </a:r>
            <a:r>
              <a:rPr lang="fr-FR" altLang="fr-FR" dirty="0"/>
              <a:t>.</a:t>
            </a:r>
            <a:r>
              <a:rPr lang="fr-FR" altLang="fr-FR" b="1" dirty="0">
                <a:solidFill>
                  <a:srgbClr val="0070C0"/>
                </a:solidFill>
              </a:rPr>
              <a:t>z(i)</a:t>
            </a:r>
            <a:r>
              <a:rPr lang="fr-FR" altLang="fr-FR" dirty="0"/>
              <a:t> +</a:t>
            </a:r>
            <a:r>
              <a:rPr lang="el-GR" altLang="fr-FR" dirty="0">
                <a:solidFill>
                  <a:srgbClr val="FF0000"/>
                </a:solidFill>
              </a:rPr>
              <a:t>β</a:t>
            </a:r>
            <a:r>
              <a:rPr lang="fr-FR" altLang="fr-FR" dirty="0">
                <a:solidFill>
                  <a:srgbClr val="FF0000"/>
                </a:solidFill>
              </a:rPr>
              <a:t>’0</a:t>
            </a:r>
            <a:r>
              <a:rPr lang="fr-FR" altLang="fr-FR" dirty="0"/>
              <a:t>+</a:t>
            </a:r>
            <a:r>
              <a:rPr lang="el-GR" altLang="fr-FR" b="1" dirty="0">
                <a:solidFill>
                  <a:srgbClr val="00B050"/>
                </a:solidFill>
              </a:rPr>
              <a:t>α</a:t>
            </a:r>
            <a:r>
              <a:rPr lang="fr-FR" altLang="fr-FR" b="1" dirty="0">
                <a:solidFill>
                  <a:srgbClr val="00B050"/>
                </a:solidFill>
              </a:rPr>
              <a:t>’(i)</a:t>
            </a:r>
            <a:endParaRPr lang="fr-FR" altLang="fr-FR" dirty="0"/>
          </a:p>
          <a:p>
            <a:pPr marL="0" indent="0">
              <a:buNone/>
            </a:pPr>
            <a:r>
              <a:rPr lang="fr-FR" b="1" dirty="0" err="1"/>
              <a:t>Random</a:t>
            </a:r>
            <a:r>
              <a:rPr lang="fr-FR" b="1" dirty="0"/>
              <a:t> </a:t>
            </a:r>
            <a:r>
              <a:rPr lang="fr-FR" b="1" dirty="0" err="1"/>
              <a:t>effects</a:t>
            </a:r>
            <a:r>
              <a:rPr lang="fr-FR" dirty="0"/>
              <a:t> </a:t>
            </a:r>
            <a:r>
              <a:rPr lang="fr-FR" dirty="0" err="1"/>
              <a:t>including</a:t>
            </a:r>
            <a:r>
              <a:rPr lang="fr-FR" dirty="0"/>
              <a:t> all </a:t>
            </a:r>
            <a:r>
              <a:rPr lang="fr-FR" dirty="0" err="1"/>
              <a:t>averages</a:t>
            </a:r>
            <a:r>
              <a:rPr lang="fr-FR" dirty="0"/>
              <a:t> over time of time </a:t>
            </a:r>
            <a:r>
              <a:rPr lang="fr-FR" dirty="0" err="1"/>
              <a:t>varying</a:t>
            </a:r>
            <a:r>
              <a:rPr lang="fr-FR" dirty="0"/>
              <a:t> variables </a:t>
            </a:r>
            <a:r>
              <a:rPr lang="fr-FR" altLang="fr-FR" b="1" dirty="0">
                <a:solidFill>
                  <a:srgbClr val="0070C0"/>
                </a:solidFill>
              </a:rPr>
              <a:t>x(i.)</a:t>
            </a:r>
            <a:r>
              <a:rPr lang="fr-FR" dirty="0"/>
              <a:t> in the set of </a:t>
            </a:r>
            <a:r>
              <a:rPr lang="fr-FR" dirty="0" err="1"/>
              <a:t>regressors</a:t>
            </a:r>
            <a:r>
              <a:rPr lang="fr-FR" dirty="0"/>
              <a:t> (</a:t>
            </a:r>
            <a:r>
              <a:rPr lang="fr-FR" dirty="0" err="1"/>
              <a:t>Mundlak</a:t>
            </a:r>
            <a:r>
              <a:rPr lang="fr-FR" dirty="0"/>
              <a:t> </a:t>
            </a:r>
            <a:r>
              <a:rPr lang="fr-FR" dirty="0" err="1"/>
              <a:t>estimator</a:t>
            </a:r>
            <a:r>
              <a:rPr lang="fr-FR" dirty="0"/>
              <a:t>). </a:t>
            </a:r>
          </a:p>
          <a:p>
            <a:pPr marL="0" indent="0">
              <a:buNone/>
            </a:pPr>
            <a:r>
              <a:rPr lang="fr-FR" altLang="fr-FR" dirty="0"/>
              <a:t>y(</a:t>
            </a:r>
            <a:r>
              <a:rPr lang="fr-FR" altLang="fr-FR" dirty="0" err="1"/>
              <a:t>it</a:t>
            </a:r>
            <a:r>
              <a:rPr lang="fr-FR" altLang="fr-FR" dirty="0"/>
              <a:t>)=</a:t>
            </a:r>
            <a:r>
              <a:rPr lang="el-GR" altLang="fr-FR" dirty="0">
                <a:solidFill>
                  <a:srgbClr val="FF0000"/>
                </a:solidFill>
              </a:rPr>
              <a:t>β</a:t>
            </a:r>
            <a:r>
              <a:rPr lang="fr-FR" altLang="fr-FR" dirty="0">
                <a:solidFill>
                  <a:srgbClr val="FF0000"/>
                </a:solidFill>
              </a:rPr>
              <a:t>1</a:t>
            </a:r>
            <a:r>
              <a:rPr lang="fr-FR" altLang="fr-FR" dirty="0"/>
              <a:t>.x(</a:t>
            </a:r>
            <a:r>
              <a:rPr lang="fr-FR" altLang="fr-FR" dirty="0" err="1"/>
              <a:t>it</a:t>
            </a:r>
            <a:r>
              <a:rPr lang="fr-FR" altLang="fr-FR" dirty="0"/>
              <a:t>)+</a:t>
            </a:r>
            <a:r>
              <a:rPr lang="el-GR" altLang="fr-FR" dirty="0">
                <a:solidFill>
                  <a:srgbClr val="FF0000"/>
                </a:solidFill>
              </a:rPr>
              <a:t>β</a:t>
            </a:r>
            <a:r>
              <a:rPr lang="fr-FR" altLang="fr-FR" dirty="0">
                <a:solidFill>
                  <a:srgbClr val="FF0000"/>
                </a:solidFill>
              </a:rPr>
              <a:t>2</a:t>
            </a:r>
            <a:r>
              <a:rPr lang="fr-FR" altLang="fr-FR" dirty="0"/>
              <a:t>.</a:t>
            </a:r>
            <a:r>
              <a:rPr lang="fr-FR" altLang="fr-FR" b="1" dirty="0">
                <a:solidFill>
                  <a:srgbClr val="0070C0"/>
                </a:solidFill>
              </a:rPr>
              <a:t>x(i.)</a:t>
            </a:r>
            <a:r>
              <a:rPr lang="fr-FR" altLang="fr-FR" dirty="0"/>
              <a:t>+</a:t>
            </a:r>
            <a:r>
              <a:rPr lang="el-GR" altLang="fr-FR" dirty="0">
                <a:solidFill>
                  <a:srgbClr val="FF0000"/>
                </a:solidFill>
              </a:rPr>
              <a:t>β</a:t>
            </a:r>
            <a:r>
              <a:rPr lang="fr-FR" altLang="fr-FR" dirty="0">
                <a:solidFill>
                  <a:srgbClr val="FF0000"/>
                </a:solidFill>
              </a:rPr>
              <a:t>3</a:t>
            </a:r>
            <a:r>
              <a:rPr lang="fr-FR" altLang="fr-FR" dirty="0"/>
              <a:t>.</a:t>
            </a:r>
            <a:r>
              <a:rPr lang="fr-FR" altLang="fr-FR" b="1" dirty="0">
                <a:solidFill>
                  <a:srgbClr val="0070C0"/>
                </a:solidFill>
              </a:rPr>
              <a:t>z(i)</a:t>
            </a:r>
            <a:r>
              <a:rPr lang="fr-FR" altLang="fr-FR" dirty="0"/>
              <a:t> +</a:t>
            </a:r>
            <a:r>
              <a:rPr lang="el-GR" altLang="fr-FR" dirty="0">
                <a:solidFill>
                  <a:srgbClr val="FF0000"/>
                </a:solidFill>
              </a:rPr>
              <a:t>β</a:t>
            </a:r>
            <a:r>
              <a:rPr lang="fr-FR" altLang="fr-FR" dirty="0">
                <a:solidFill>
                  <a:srgbClr val="FF0000"/>
                </a:solidFill>
              </a:rPr>
              <a:t>’0</a:t>
            </a:r>
            <a:r>
              <a:rPr lang="fr-FR" altLang="fr-FR" dirty="0"/>
              <a:t>+</a:t>
            </a:r>
            <a:r>
              <a:rPr lang="el-GR" altLang="fr-FR" dirty="0">
                <a:solidFill>
                  <a:srgbClr val="FF0000"/>
                </a:solidFill>
              </a:rPr>
              <a:t> β</a:t>
            </a:r>
            <a:r>
              <a:rPr lang="fr-FR" altLang="fr-FR" dirty="0">
                <a:solidFill>
                  <a:srgbClr val="FF0000"/>
                </a:solidFill>
              </a:rPr>
              <a:t>0</a:t>
            </a:r>
            <a:endParaRPr lang="fr-FR" altLang="fr-FR" b="1" dirty="0">
              <a:solidFill>
                <a:srgbClr val="0070C0"/>
              </a:solidFill>
            </a:endParaRPr>
          </a:p>
          <a:p>
            <a:pPr marL="0" indent="0">
              <a:buNone/>
            </a:pPr>
            <a:r>
              <a:rPr lang="fr-FR" altLang="fr-FR" dirty="0"/>
              <a:t>	+</a:t>
            </a:r>
            <a:r>
              <a:rPr lang="el-GR" altLang="fr-FR" b="1" dirty="0">
                <a:solidFill>
                  <a:srgbClr val="00B050"/>
                </a:solidFill>
              </a:rPr>
              <a:t>α</a:t>
            </a:r>
            <a:r>
              <a:rPr lang="fr-FR" altLang="fr-FR" b="1" dirty="0">
                <a:solidFill>
                  <a:srgbClr val="00B050"/>
                </a:solidFill>
              </a:rPr>
              <a:t>’(i)+</a:t>
            </a:r>
            <a:r>
              <a:rPr lang="el-GR" altLang="fr-FR" b="1" dirty="0">
                <a:solidFill>
                  <a:srgbClr val="00B050"/>
                </a:solidFill>
              </a:rPr>
              <a:t>α</a:t>
            </a:r>
            <a:r>
              <a:rPr lang="fr-FR" altLang="fr-FR" b="1" dirty="0">
                <a:solidFill>
                  <a:srgbClr val="00B050"/>
                </a:solidFill>
              </a:rPr>
              <a:t>(t)+</a:t>
            </a:r>
            <a:r>
              <a:rPr lang="el-GR" altLang="fr-FR" b="1" dirty="0">
                <a:solidFill>
                  <a:srgbClr val="00B050"/>
                </a:solidFill>
              </a:rPr>
              <a:t>ε</a:t>
            </a:r>
            <a:r>
              <a:rPr lang="fr-FR" altLang="fr-FR" b="1" dirty="0">
                <a:solidFill>
                  <a:srgbClr val="00B050"/>
                </a:solidFill>
              </a:rPr>
              <a:t>(</a:t>
            </a:r>
            <a:r>
              <a:rPr lang="fr-FR" altLang="fr-FR" b="1" dirty="0" err="1">
                <a:solidFill>
                  <a:srgbClr val="00B050"/>
                </a:solidFill>
              </a:rPr>
              <a:t>it</a:t>
            </a:r>
            <a:r>
              <a:rPr lang="fr-FR" altLang="fr-FR" b="1" dirty="0">
                <a:solidFill>
                  <a:srgbClr val="00B050"/>
                </a:solidFill>
              </a:rPr>
              <a:t>)</a:t>
            </a: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279566260"/>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Mundlak</a:t>
            </a:r>
            <a:r>
              <a:rPr lang="fr-FR" dirty="0"/>
              <a:t> </a:t>
            </a:r>
            <a:r>
              <a:rPr lang="fr-FR" dirty="0" err="1"/>
              <a:t>is</a:t>
            </a:r>
            <a:r>
              <a:rPr lang="fr-FR" dirty="0"/>
              <a:t> not </a:t>
            </a:r>
            <a:r>
              <a:rPr lang="fr-FR" dirty="0" err="1"/>
              <a:t>coded</a:t>
            </a:r>
            <a:r>
              <a:rPr lang="fr-FR" dirty="0"/>
              <a:t> in R, stata and </a:t>
            </a:r>
            <a:r>
              <a:rPr lang="fr-FR" dirty="0" err="1"/>
              <a:t>others</a:t>
            </a:r>
            <a:endParaRPr lang="fr-FR" dirty="0"/>
          </a:p>
        </p:txBody>
      </p:sp>
      <p:sp>
        <p:nvSpPr>
          <p:cNvPr id="3" name="Espace réservé du contenu 2"/>
          <p:cNvSpPr>
            <a:spLocks noGrp="1"/>
          </p:cNvSpPr>
          <p:nvPr>
            <p:ph idx="1"/>
          </p:nvPr>
        </p:nvSpPr>
        <p:spPr/>
        <p:txBody>
          <a:bodyPr/>
          <a:lstStyle/>
          <a:p>
            <a:pPr marL="0" indent="0">
              <a:buNone/>
            </a:pPr>
            <a:r>
              <a:rPr lang="fr-FR" dirty="0"/>
              <a:t>How do I </a:t>
            </a:r>
            <a:r>
              <a:rPr lang="fr-FR" dirty="0" err="1"/>
              <a:t>run</a:t>
            </a:r>
            <a:r>
              <a:rPr lang="fr-FR" dirty="0"/>
              <a:t> </a:t>
            </a:r>
            <a:r>
              <a:rPr lang="fr-FR" dirty="0" err="1"/>
              <a:t>it</a:t>
            </a:r>
            <a:r>
              <a:rPr lang="fr-FR" dirty="0"/>
              <a:t>? </a:t>
            </a:r>
            <a:r>
              <a:rPr lang="fr-FR" dirty="0" err="1"/>
              <a:t>Two</a:t>
            </a:r>
            <a:r>
              <a:rPr lang="fr-FR" dirty="0"/>
              <a:t> </a:t>
            </a:r>
            <a:r>
              <a:rPr lang="fr-FR" dirty="0" err="1"/>
              <a:t>steps</a:t>
            </a:r>
            <a:r>
              <a:rPr lang="fr-FR" dirty="0"/>
              <a:t>:</a:t>
            </a:r>
          </a:p>
          <a:p>
            <a:pPr marL="0" indent="0">
              <a:buNone/>
            </a:pPr>
            <a:r>
              <a:rPr lang="fr-FR" dirty="0"/>
              <a:t>1) I </a:t>
            </a:r>
            <a:r>
              <a:rPr lang="fr-FR" dirty="0" err="1"/>
              <a:t>compute</a:t>
            </a:r>
            <a:r>
              <a:rPr lang="fr-FR" dirty="0"/>
              <a:t> the </a:t>
            </a:r>
            <a:r>
              <a:rPr lang="fr-FR" dirty="0" err="1"/>
              <a:t>average</a:t>
            </a:r>
            <a:r>
              <a:rPr lang="fr-FR" dirty="0"/>
              <a:t> over time for </a:t>
            </a:r>
            <a:r>
              <a:rPr lang="fr-FR" dirty="0" err="1"/>
              <a:t>each</a:t>
            </a:r>
            <a:r>
              <a:rPr lang="fr-FR" dirty="0"/>
              <a:t> </a:t>
            </a:r>
            <a:r>
              <a:rPr lang="fr-FR" dirty="0" err="1"/>
              <a:t>individual</a:t>
            </a:r>
            <a:r>
              <a:rPr lang="fr-FR" dirty="0"/>
              <a:t> of all time-</a:t>
            </a:r>
            <a:r>
              <a:rPr lang="fr-FR" dirty="0" err="1"/>
              <a:t>varying</a:t>
            </a:r>
            <a:r>
              <a:rPr lang="fr-FR" dirty="0"/>
              <a:t> </a:t>
            </a:r>
            <a:r>
              <a:rPr lang="fr-FR" dirty="0" err="1"/>
              <a:t>regressors</a:t>
            </a:r>
            <a:r>
              <a:rPr lang="fr-FR" dirty="0"/>
              <a:t> (PROC MEANS x(</a:t>
            </a:r>
            <a:r>
              <a:rPr lang="fr-FR" dirty="0" err="1"/>
              <a:t>it</a:t>
            </a:r>
            <a:r>
              <a:rPr lang="fr-FR" dirty="0"/>
              <a:t>) BY </a:t>
            </a:r>
            <a:r>
              <a:rPr lang="fr-FR" dirty="0" err="1"/>
              <a:t>individuals</a:t>
            </a:r>
            <a:r>
              <a:rPr lang="fr-FR" dirty="0"/>
              <a:t>, in SAS)</a:t>
            </a:r>
          </a:p>
          <a:p>
            <a:pPr marL="0" indent="0">
              <a:buNone/>
            </a:pPr>
            <a:r>
              <a:rPr lang="fr-FR" altLang="fr-FR" b="1" dirty="0">
                <a:solidFill>
                  <a:srgbClr val="0070C0"/>
                </a:solidFill>
              </a:rPr>
              <a:t>x(i.)</a:t>
            </a:r>
            <a:r>
              <a:rPr lang="fr-FR" dirty="0"/>
              <a:t> </a:t>
            </a:r>
          </a:p>
          <a:p>
            <a:pPr marL="0" indent="0">
              <a:buNone/>
            </a:pPr>
            <a:r>
              <a:rPr lang="fr-FR" dirty="0"/>
              <a:t>2) I </a:t>
            </a:r>
            <a:r>
              <a:rPr lang="fr-FR" dirty="0" err="1"/>
              <a:t>run</a:t>
            </a:r>
            <a:r>
              <a:rPr lang="fr-FR" dirty="0"/>
              <a:t> the RANDOM EFFECT model listing </a:t>
            </a:r>
            <a:r>
              <a:rPr lang="fr-FR" dirty="0" err="1"/>
              <a:t>explanatory</a:t>
            </a:r>
            <a:r>
              <a:rPr lang="fr-FR" dirty="0"/>
              <a:t> variables: x(</a:t>
            </a:r>
            <a:r>
              <a:rPr lang="fr-FR" dirty="0" err="1"/>
              <a:t>it</a:t>
            </a:r>
            <a:r>
              <a:rPr lang="fr-FR" dirty="0"/>
              <a:t>), </a:t>
            </a:r>
            <a:r>
              <a:rPr lang="fr-FR" altLang="fr-FR" b="1" dirty="0">
                <a:solidFill>
                  <a:srgbClr val="0070C0"/>
                </a:solidFill>
              </a:rPr>
              <a:t>x(i.)</a:t>
            </a:r>
            <a:r>
              <a:rPr lang="fr-FR" b="1" dirty="0">
                <a:solidFill>
                  <a:srgbClr val="0070C0"/>
                </a:solidFill>
              </a:rPr>
              <a:t>, z</a:t>
            </a:r>
            <a:r>
              <a:rPr lang="fr-FR" altLang="fr-FR" b="1" dirty="0">
                <a:solidFill>
                  <a:srgbClr val="0070C0"/>
                </a:solidFill>
              </a:rPr>
              <a:t>(i)</a:t>
            </a:r>
            <a:endParaRPr lang="fr-FR" dirty="0"/>
          </a:p>
          <a:p>
            <a:pPr marL="0" indent="0">
              <a:buNone/>
            </a:pPr>
            <a:endParaRPr lang="fr-FR" dirty="0"/>
          </a:p>
        </p:txBody>
      </p:sp>
    </p:spTree>
    <p:extLst>
      <p:ext uri="{BB962C8B-B14F-4D97-AF65-F5344CB8AC3E}">
        <p14:creationId xmlns:p14="http://schemas.microsoft.com/office/powerpoint/2010/main" val="984934075"/>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GLS versus IV</a:t>
            </a:r>
            <a:br>
              <a:rPr lang="fr-FR" dirty="0"/>
            </a:br>
            <a:r>
              <a:rPr lang="fr-FR" dirty="0" err="1"/>
              <a:t>Random</a:t>
            </a:r>
            <a:r>
              <a:rPr lang="fr-FR" dirty="0"/>
              <a:t> versus </a:t>
            </a:r>
            <a:r>
              <a:rPr lang="fr-FR" dirty="0" err="1"/>
              <a:t>Fixed</a:t>
            </a:r>
            <a:r>
              <a:rPr lang="fr-FR" dirty="0"/>
              <a:t> </a:t>
            </a:r>
            <a:r>
              <a:rPr lang="fr-FR" dirty="0" err="1"/>
              <a:t>effects</a:t>
            </a:r>
            <a:endParaRPr lang="fr-FR" dirty="0"/>
          </a:p>
        </p:txBody>
      </p:sp>
      <p:sp>
        <p:nvSpPr>
          <p:cNvPr id="3" name="Espace réservé du contenu 2"/>
          <p:cNvSpPr>
            <a:spLocks noGrp="1"/>
          </p:cNvSpPr>
          <p:nvPr>
            <p:ph idx="1"/>
          </p:nvPr>
        </p:nvSpPr>
        <p:spPr/>
        <p:txBody>
          <a:bodyPr/>
          <a:lstStyle/>
          <a:p>
            <a:pPr marL="0" indent="0" algn="just">
              <a:buNone/>
            </a:pPr>
            <a:r>
              <a:rPr lang="fr-FR" dirty="0"/>
              <a:t>A long standing </a:t>
            </a:r>
            <a:r>
              <a:rPr lang="fr-FR" dirty="0" err="1"/>
              <a:t>debate</a:t>
            </a:r>
            <a:r>
              <a:rPr lang="fr-FR" dirty="0"/>
              <a:t> </a:t>
            </a:r>
            <a:r>
              <a:rPr lang="fr-FR" dirty="0" err="1"/>
              <a:t>since</a:t>
            </a:r>
            <a:r>
              <a:rPr lang="fr-FR" dirty="0"/>
              <a:t> 1966 has been how to </a:t>
            </a:r>
            <a:r>
              <a:rPr lang="fr-FR" dirty="0" err="1"/>
              <a:t>choose</a:t>
            </a:r>
            <a:r>
              <a:rPr lang="fr-FR" dirty="0"/>
              <a:t> </a:t>
            </a:r>
            <a:r>
              <a:rPr lang="fr-FR" dirty="0" err="1"/>
              <a:t>between</a:t>
            </a:r>
            <a:r>
              <a:rPr lang="fr-FR" dirty="0"/>
              <a:t> the GLS (</a:t>
            </a:r>
            <a:r>
              <a:rPr lang="fr-FR" dirty="0" err="1"/>
              <a:t>Random</a:t>
            </a:r>
            <a:r>
              <a:rPr lang="fr-FR" dirty="0"/>
              <a:t> </a:t>
            </a:r>
            <a:r>
              <a:rPr lang="fr-FR" dirty="0" err="1"/>
              <a:t>effects</a:t>
            </a:r>
            <a:r>
              <a:rPr lang="fr-FR" dirty="0"/>
              <a:t>) VERSUS the IV (</a:t>
            </a:r>
            <a:r>
              <a:rPr lang="fr-FR" dirty="0" err="1"/>
              <a:t>fixed</a:t>
            </a:r>
            <a:r>
              <a:rPr lang="fr-FR" dirty="0"/>
              <a:t> </a:t>
            </a:r>
            <a:r>
              <a:rPr lang="fr-FR" dirty="0" err="1"/>
              <a:t>effects</a:t>
            </a:r>
            <a:r>
              <a:rPr lang="fr-FR" dirty="0"/>
              <a:t>) model, or the </a:t>
            </a:r>
            <a:r>
              <a:rPr lang="fr-FR" dirty="0" err="1"/>
              <a:t>random</a:t>
            </a:r>
            <a:r>
              <a:rPr lang="fr-FR" dirty="0"/>
              <a:t> </a:t>
            </a:r>
            <a:r>
              <a:rPr lang="fr-FR" dirty="0" err="1"/>
              <a:t>effect</a:t>
            </a:r>
            <a:r>
              <a:rPr lang="fr-FR" dirty="0"/>
              <a:t> versus the </a:t>
            </a:r>
            <a:r>
              <a:rPr lang="fr-FR" dirty="0" err="1"/>
              <a:t>fixed</a:t>
            </a:r>
            <a:r>
              <a:rPr lang="fr-FR" dirty="0"/>
              <a:t> </a:t>
            </a:r>
            <a:r>
              <a:rPr lang="fr-FR" dirty="0" err="1"/>
              <a:t>effect</a:t>
            </a:r>
            <a:r>
              <a:rPr lang="fr-FR" dirty="0"/>
              <a:t> model. </a:t>
            </a:r>
            <a:r>
              <a:rPr lang="fr-FR" dirty="0" err="1"/>
              <a:t>However</a:t>
            </a:r>
            <a:r>
              <a:rPr lang="fr-FR" dirty="0"/>
              <a:t> the </a:t>
            </a:r>
            <a:r>
              <a:rPr lang="fr-FR" dirty="0" err="1"/>
              <a:t>debate</a:t>
            </a:r>
            <a:r>
              <a:rPr lang="fr-FR" dirty="0"/>
              <a:t> has been </a:t>
            </a:r>
            <a:r>
              <a:rPr lang="fr-FR" dirty="0" err="1"/>
              <a:t>settled</a:t>
            </a:r>
            <a:r>
              <a:rPr lang="fr-FR" dirty="0"/>
              <a:t> by </a:t>
            </a:r>
            <a:r>
              <a:rPr lang="fr-FR" dirty="0" err="1"/>
              <a:t>Mundlak</a:t>
            </a:r>
            <a:r>
              <a:rPr lang="fr-FR" dirty="0"/>
              <a:t> (1978) and </a:t>
            </a:r>
            <a:r>
              <a:rPr lang="fr-FR" dirty="0" err="1"/>
              <a:t>Hausman’s</a:t>
            </a:r>
            <a:r>
              <a:rPr lang="fr-FR" dirty="0"/>
              <a:t> test (1978). </a:t>
            </a:r>
            <a:r>
              <a:rPr lang="fr-FR" b="1" dirty="0"/>
              <a:t>In practice, </a:t>
            </a:r>
            <a:r>
              <a:rPr lang="fr-FR" b="1" dirty="0" err="1"/>
              <a:t>Fixed</a:t>
            </a:r>
            <a:r>
              <a:rPr lang="fr-FR" b="1" dirty="0"/>
              <a:t> </a:t>
            </a:r>
            <a:r>
              <a:rPr lang="fr-FR" b="1" dirty="0" err="1"/>
              <a:t>effects</a:t>
            </a:r>
            <a:r>
              <a:rPr lang="fr-FR" b="1" dirty="0"/>
              <a:t> = </a:t>
            </a:r>
            <a:r>
              <a:rPr lang="fr-FR" b="1" dirty="0" err="1"/>
              <a:t>Random</a:t>
            </a:r>
            <a:r>
              <a:rPr lang="fr-FR" b="1" dirty="0"/>
              <a:t> </a:t>
            </a:r>
            <a:r>
              <a:rPr lang="fr-FR" b="1" dirty="0" err="1"/>
              <a:t>effects</a:t>
            </a:r>
            <a:r>
              <a:rPr lang="fr-FR" b="1" dirty="0"/>
              <a:t> à la </a:t>
            </a:r>
            <a:r>
              <a:rPr lang="fr-FR" b="1" dirty="0" err="1"/>
              <a:t>Mundlak</a:t>
            </a:r>
            <a:r>
              <a:rPr lang="fr-FR" b="1" dirty="0"/>
              <a:t> (1978) &gt; </a:t>
            </a:r>
            <a:r>
              <a:rPr lang="fr-FR" b="1" dirty="0" err="1"/>
              <a:t>Random</a:t>
            </a:r>
            <a:r>
              <a:rPr lang="fr-FR" b="1" dirty="0"/>
              <a:t> </a:t>
            </a:r>
            <a:r>
              <a:rPr lang="fr-FR" b="1" dirty="0" err="1"/>
              <a:t>effects</a:t>
            </a:r>
            <a:r>
              <a:rPr lang="fr-FR" b="1" dirty="0"/>
              <a:t> </a:t>
            </a:r>
            <a:r>
              <a:rPr lang="fr-FR" b="1" dirty="0" err="1"/>
              <a:t>without</a:t>
            </a:r>
            <a:r>
              <a:rPr lang="fr-FR" b="1" dirty="0"/>
              <a:t> X(i.)</a:t>
            </a:r>
          </a:p>
        </p:txBody>
      </p:sp>
    </p:spTree>
    <p:extLst>
      <p:ext uri="{BB962C8B-B14F-4D97-AF65-F5344CB8AC3E}">
        <p14:creationId xmlns:p14="http://schemas.microsoft.com/office/powerpoint/2010/main" val="659745706"/>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Properties</a:t>
            </a:r>
            <a:r>
              <a:rPr lang="fr-FR" dirty="0"/>
              <a:t> of </a:t>
            </a:r>
            <a:r>
              <a:rPr lang="fr-FR" dirty="0" err="1"/>
              <a:t>Mundlak</a:t>
            </a:r>
            <a:r>
              <a:rPr lang="fr-FR" dirty="0"/>
              <a:t> </a:t>
            </a:r>
            <a:r>
              <a:rPr lang="fr-FR" dirty="0" err="1"/>
              <a:t>estimator</a:t>
            </a:r>
            <a:endParaRPr lang="fr-FR" dirty="0"/>
          </a:p>
        </p:txBody>
      </p:sp>
      <p:sp>
        <p:nvSpPr>
          <p:cNvPr id="3" name="Espace réservé du contenu 2"/>
          <p:cNvSpPr>
            <a:spLocks noGrp="1"/>
          </p:cNvSpPr>
          <p:nvPr>
            <p:ph idx="1"/>
          </p:nvPr>
        </p:nvSpPr>
        <p:spPr/>
        <p:txBody>
          <a:bodyPr/>
          <a:lstStyle/>
          <a:p>
            <a:pPr marL="0" indent="0">
              <a:buNone/>
            </a:pPr>
            <a:r>
              <a:rPr lang="fr-FR" sz="2800" dirty="0"/>
              <a:t>(1) It </a:t>
            </a:r>
            <a:r>
              <a:rPr lang="fr-FR" sz="2800" dirty="0" err="1"/>
              <a:t>is</a:t>
            </a:r>
            <a:r>
              <a:rPr lang="fr-FR" sz="2800" dirty="0"/>
              <a:t> a </a:t>
            </a:r>
            <a:r>
              <a:rPr lang="fr-FR" sz="2800" dirty="0" err="1"/>
              <a:t>random</a:t>
            </a:r>
            <a:r>
              <a:rPr lang="fr-FR" sz="2800" dirty="0"/>
              <a:t> </a:t>
            </a:r>
            <a:r>
              <a:rPr lang="fr-FR" sz="2800" dirty="0" err="1"/>
              <a:t>effect</a:t>
            </a:r>
            <a:r>
              <a:rPr lang="fr-FR" sz="2800" dirty="0"/>
              <a:t> </a:t>
            </a:r>
            <a:r>
              <a:rPr lang="fr-FR" sz="2800" dirty="0" err="1"/>
              <a:t>estimator</a:t>
            </a:r>
            <a:r>
              <a:rPr lang="fr-FR" sz="2800" dirty="0"/>
              <a:t> </a:t>
            </a:r>
            <a:r>
              <a:rPr lang="fr-FR" sz="2800" dirty="0" err="1"/>
              <a:t>which</a:t>
            </a:r>
            <a:r>
              <a:rPr lang="fr-FR" sz="2800" dirty="0"/>
              <a:t> </a:t>
            </a:r>
            <a:r>
              <a:rPr lang="fr-FR" sz="2800" dirty="0" err="1"/>
              <a:t>provides</a:t>
            </a:r>
            <a:r>
              <a:rPr lang="fr-FR" sz="2800" dirty="0"/>
              <a:t> the SAME </a:t>
            </a:r>
            <a:r>
              <a:rPr lang="fr-FR" sz="2800" dirty="0" err="1"/>
              <a:t>estimates</a:t>
            </a:r>
            <a:r>
              <a:rPr lang="fr-FR" sz="2800" dirty="0"/>
              <a:t> for the </a:t>
            </a:r>
            <a:r>
              <a:rPr lang="fr-FR" sz="2800" dirty="0" err="1"/>
              <a:t>parameters</a:t>
            </a:r>
            <a:r>
              <a:rPr lang="fr-FR" sz="2800" dirty="0"/>
              <a:t> of x(</a:t>
            </a:r>
            <a:r>
              <a:rPr lang="fr-FR" sz="2800" dirty="0" err="1"/>
              <a:t>it</a:t>
            </a:r>
            <a:r>
              <a:rPr lang="fr-FR" sz="2800" dirty="0"/>
              <a:t>)</a:t>
            </a:r>
          </a:p>
          <a:p>
            <a:pPr marL="0" indent="0">
              <a:buNone/>
            </a:pPr>
            <a:r>
              <a:rPr lang="fr-FR" sz="2800" dirty="0" err="1"/>
              <a:t>than</a:t>
            </a:r>
            <a:r>
              <a:rPr lang="fr-FR" sz="2800" dirty="0"/>
              <a:t> the </a:t>
            </a:r>
            <a:r>
              <a:rPr lang="fr-FR" sz="2800" dirty="0" err="1"/>
              <a:t>fixed</a:t>
            </a:r>
            <a:r>
              <a:rPr lang="fr-FR" sz="2800" dirty="0"/>
              <a:t> </a:t>
            </a:r>
            <a:r>
              <a:rPr lang="fr-FR" sz="2800" dirty="0" err="1"/>
              <a:t>effect</a:t>
            </a:r>
            <a:r>
              <a:rPr lang="fr-FR" sz="2800" dirty="0"/>
              <a:t> (or </a:t>
            </a:r>
            <a:r>
              <a:rPr lang="fr-FR" sz="2800" dirty="0" err="1"/>
              <a:t>within</a:t>
            </a:r>
            <a:r>
              <a:rPr lang="fr-FR" sz="2800" dirty="0"/>
              <a:t>) </a:t>
            </a:r>
            <a:r>
              <a:rPr lang="fr-FR" sz="2800" dirty="0" err="1"/>
              <a:t>estimator</a:t>
            </a:r>
            <a:r>
              <a:rPr lang="fr-FR" sz="2800" dirty="0"/>
              <a:t>!</a:t>
            </a:r>
          </a:p>
          <a:p>
            <a:pPr marL="0" indent="0">
              <a:buNone/>
            </a:pPr>
            <a:r>
              <a:rPr lang="fr-FR" sz="2800" dirty="0"/>
              <a:t>(2) It </a:t>
            </a:r>
            <a:r>
              <a:rPr lang="fr-FR" sz="2800" dirty="0" err="1"/>
              <a:t>is</a:t>
            </a:r>
            <a:r>
              <a:rPr lang="fr-FR" sz="2800" dirty="0"/>
              <a:t> </a:t>
            </a:r>
            <a:r>
              <a:rPr lang="fr-FR" sz="2800" dirty="0" err="1"/>
              <a:t>marginally</a:t>
            </a:r>
            <a:r>
              <a:rPr lang="fr-FR" sz="2800" dirty="0"/>
              <a:t> </a:t>
            </a:r>
            <a:r>
              <a:rPr lang="fr-FR" sz="2800" dirty="0" err="1"/>
              <a:t>interesting</a:t>
            </a:r>
            <a:r>
              <a:rPr lang="fr-FR" sz="2800" dirty="0"/>
              <a:t> if one </a:t>
            </a:r>
            <a:r>
              <a:rPr lang="fr-FR" sz="2800" dirty="0" err="1"/>
              <a:t>intends</a:t>
            </a:r>
            <a:r>
              <a:rPr lang="fr-FR" sz="2800" dirty="0"/>
              <a:t> to have an « index of </a:t>
            </a:r>
            <a:r>
              <a:rPr lang="fr-FR" sz="2800" dirty="0" err="1"/>
              <a:t>endogeneity</a:t>
            </a:r>
            <a:r>
              <a:rPr lang="fr-FR" sz="2800" dirty="0"/>
              <a:t> of variables x(</a:t>
            </a:r>
            <a:r>
              <a:rPr lang="fr-FR" sz="2800" dirty="0" err="1"/>
              <a:t>it</a:t>
            </a:r>
            <a:r>
              <a:rPr lang="fr-FR" sz="2800" dirty="0"/>
              <a:t>) » </a:t>
            </a:r>
            <a:r>
              <a:rPr lang="fr-FR" sz="2800" dirty="0" err="1"/>
              <a:t>which</a:t>
            </a:r>
            <a:r>
              <a:rPr lang="fr-FR" sz="2800" dirty="0"/>
              <a:t> corresponds to the </a:t>
            </a:r>
            <a:r>
              <a:rPr lang="fr-FR" sz="2800" dirty="0" err="1"/>
              <a:t>parameter</a:t>
            </a:r>
            <a:r>
              <a:rPr lang="fr-FR" sz="2800" dirty="0"/>
              <a:t> of x(i.), </a:t>
            </a:r>
            <a:r>
              <a:rPr lang="fr-FR" sz="2800" dirty="0" err="1"/>
              <a:t>which</a:t>
            </a:r>
            <a:r>
              <a:rPr lang="fr-FR" sz="2800" dirty="0"/>
              <a:t> </a:t>
            </a:r>
            <a:r>
              <a:rPr lang="fr-FR" sz="2800" dirty="0" err="1"/>
              <a:t>is</a:t>
            </a:r>
            <a:r>
              <a:rPr lang="fr-FR" sz="2800" dirty="0"/>
              <a:t> a </a:t>
            </a:r>
            <a:r>
              <a:rPr lang="fr-FR" sz="2800" dirty="0" err="1"/>
              <a:t>difference</a:t>
            </a:r>
            <a:r>
              <a:rPr lang="fr-FR" sz="2800" dirty="0"/>
              <a:t> of </a:t>
            </a:r>
            <a:r>
              <a:rPr lang="fr-FR" sz="2800" dirty="0" err="1"/>
              <a:t>between</a:t>
            </a:r>
            <a:r>
              <a:rPr lang="fr-FR" sz="2800" dirty="0"/>
              <a:t> versus </a:t>
            </a:r>
            <a:r>
              <a:rPr lang="fr-FR" sz="2800" dirty="0" err="1"/>
              <a:t>within</a:t>
            </a:r>
            <a:r>
              <a:rPr lang="fr-FR" sz="2800" dirty="0"/>
              <a:t> </a:t>
            </a:r>
            <a:r>
              <a:rPr lang="fr-FR" sz="2800" dirty="0" err="1"/>
              <a:t>estimates</a:t>
            </a:r>
            <a:r>
              <a:rPr lang="fr-FR" sz="2800" dirty="0"/>
              <a:t>.</a:t>
            </a:r>
          </a:p>
          <a:p>
            <a:pPr marL="0" indent="0">
              <a:buNone/>
            </a:pPr>
            <a:r>
              <a:rPr lang="fr-FR" sz="2800" dirty="0"/>
              <a:t>(3) And </a:t>
            </a:r>
            <a:r>
              <a:rPr lang="fr-FR" sz="2800" dirty="0" err="1"/>
              <a:t>it</a:t>
            </a:r>
            <a:r>
              <a:rPr lang="fr-FR" sz="2800" dirty="0"/>
              <a:t> </a:t>
            </a:r>
            <a:r>
              <a:rPr lang="fr-FR" sz="2800" dirty="0" err="1"/>
              <a:t>is</a:t>
            </a:r>
            <a:r>
              <a:rPr lang="fr-FR" sz="2800" dirty="0"/>
              <a:t> </a:t>
            </a:r>
            <a:r>
              <a:rPr lang="fr-FR" sz="2800" b="1" dirty="0">
                <a:solidFill>
                  <a:srgbClr val="0070C0"/>
                </a:solidFill>
              </a:rPr>
              <a:t>VERY USEFUL</a:t>
            </a:r>
            <a:r>
              <a:rPr lang="fr-FR" sz="2800" dirty="0"/>
              <a:t> for the </a:t>
            </a:r>
            <a:r>
              <a:rPr lang="fr-FR" sz="2800" dirty="0" err="1"/>
              <a:t>estimated</a:t>
            </a:r>
            <a:r>
              <a:rPr lang="fr-FR" sz="2800" dirty="0"/>
              <a:t> </a:t>
            </a:r>
            <a:r>
              <a:rPr lang="fr-FR" sz="2800" dirty="0" err="1"/>
              <a:t>parameters</a:t>
            </a:r>
            <a:r>
              <a:rPr lang="fr-FR" sz="2800" dirty="0"/>
              <a:t> of time-invariant </a:t>
            </a:r>
            <a:r>
              <a:rPr lang="fr-FR" sz="2800" dirty="0" err="1"/>
              <a:t>regressors</a:t>
            </a:r>
            <a:r>
              <a:rPr lang="fr-FR" sz="2800" dirty="0"/>
              <a:t> </a:t>
            </a:r>
            <a:r>
              <a:rPr lang="fr-FR" sz="2800" b="1" dirty="0">
                <a:solidFill>
                  <a:srgbClr val="0070C0"/>
                </a:solidFill>
              </a:rPr>
              <a:t>z(i)</a:t>
            </a:r>
          </a:p>
        </p:txBody>
      </p:sp>
    </p:spTree>
    <p:extLst>
      <p:ext uri="{BB962C8B-B14F-4D97-AF65-F5344CB8AC3E}">
        <p14:creationId xmlns:p14="http://schemas.microsoft.com/office/powerpoint/2010/main" val="2864767411"/>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69776"/>
            <a:ext cx="8229600" cy="1143000"/>
          </a:xfrm>
        </p:spPr>
        <p:txBody>
          <a:bodyPr/>
          <a:lstStyle/>
          <a:p>
            <a:r>
              <a:rPr lang="fr-FR" sz="3200" dirty="0" err="1"/>
              <a:t>Analysis</a:t>
            </a:r>
            <a:r>
              <a:rPr lang="fr-FR" sz="3200" dirty="0"/>
              <a:t> of variance </a:t>
            </a:r>
            <a:r>
              <a:rPr lang="fr-FR" sz="3200" dirty="0" err="1"/>
              <a:t>operators</a:t>
            </a:r>
            <a:r>
              <a:rPr lang="fr-FR" sz="3200" dirty="0"/>
              <a:t>: </a:t>
            </a:r>
            <a:r>
              <a:rPr lang="fr-FR" sz="3200" dirty="0" err="1"/>
              <a:t>Between</a:t>
            </a:r>
            <a:r>
              <a:rPr lang="fr-FR" sz="3200" dirty="0"/>
              <a:t>(groups) and </a:t>
            </a:r>
            <a:r>
              <a:rPr lang="fr-FR" sz="3200" dirty="0" err="1"/>
              <a:t>Within</a:t>
            </a:r>
            <a:r>
              <a:rPr lang="fr-FR" sz="3200" dirty="0"/>
              <a:t>(group)</a:t>
            </a:r>
          </a:p>
        </p:txBody>
      </p:sp>
      <mc:AlternateContent xmlns:mc="http://schemas.openxmlformats.org/markup-compatibility/2006" xmlns:a14="http://schemas.microsoft.com/office/drawing/2010/main">
        <mc:Choice Requires="a14">
          <p:sp>
            <p:nvSpPr>
              <p:cNvPr id="3" name="Espace réservé du contenu 2"/>
              <p:cNvSpPr>
                <a:spLocks noGrp="1"/>
              </p:cNvSpPr>
              <p:nvPr>
                <p:ph idx="1"/>
              </p:nvPr>
            </p:nvSpPr>
            <p:spPr>
              <a:xfrm>
                <a:off x="395536" y="1600200"/>
                <a:ext cx="8229600" cy="5141168"/>
              </a:xfrm>
            </p:spPr>
            <p:txBody>
              <a:bodyPr/>
              <a:lstStyle/>
              <a:p>
                <a:pPr marL="0" indent="0">
                  <a:buNone/>
                </a:pPr>
                <a:r>
                  <a:rPr lang="fr-FR" b="0" u="sng" dirty="0" err="1"/>
                  <a:t>Between</a:t>
                </a:r>
                <a:r>
                  <a:rPr lang="fr-FR" u="sng" dirty="0"/>
                  <a:t>:</a:t>
                </a:r>
                <a:r>
                  <a:rPr lang="fr-FR" dirty="0"/>
                  <a:t> </a:t>
                </a:r>
                <a14:m>
                  <m:oMath xmlns:m="http://schemas.openxmlformats.org/officeDocument/2006/math">
                    <m:r>
                      <a:rPr lang="fr-FR" b="0" i="1" smtClean="0">
                        <a:latin typeface="Cambria Math"/>
                      </a:rPr>
                      <m:t>𝑥</m:t>
                    </m:r>
                    <m:d>
                      <m:dPr>
                        <m:ctrlPr>
                          <a:rPr lang="fr-FR" b="0" i="1" smtClean="0">
                            <a:latin typeface="Cambria Math" panose="02040503050406030204" pitchFamily="18" charset="0"/>
                          </a:rPr>
                        </m:ctrlPr>
                      </m:dPr>
                      <m:e>
                        <m:r>
                          <a:rPr lang="fr-FR" b="0" i="1" smtClean="0">
                            <a:latin typeface="Cambria Math"/>
                          </a:rPr>
                          <m:t>𝑖</m:t>
                        </m:r>
                        <m:r>
                          <a:rPr lang="fr-FR" b="0" i="1" smtClean="0">
                            <a:latin typeface="Cambria Math"/>
                          </a:rPr>
                          <m:t>.</m:t>
                        </m:r>
                      </m:e>
                    </m:d>
                    <m:r>
                      <a:rPr lang="fr-FR" b="0" i="1" smtClean="0">
                        <a:latin typeface="Cambria Math"/>
                      </a:rPr>
                      <m:t>=</m:t>
                    </m:r>
                    <m:f>
                      <m:fPr>
                        <m:ctrlPr>
                          <a:rPr lang="fr-FR" b="0" i="1" smtClean="0">
                            <a:latin typeface="Cambria Math" panose="02040503050406030204" pitchFamily="18" charset="0"/>
                          </a:rPr>
                        </m:ctrlPr>
                      </m:fPr>
                      <m:num>
                        <m:r>
                          <a:rPr lang="fr-FR" b="0" i="1" smtClean="0">
                            <a:latin typeface="Cambria Math"/>
                          </a:rPr>
                          <m:t>1</m:t>
                        </m:r>
                      </m:num>
                      <m:den>
                        <m:r>
                          <a:rPr lang="fr-FR" b="0" i="1" smtClean="0">
                            <a:latin typeface="Cambria Math"/>
                          </a:rPr>
                          <m:t>𝑇</m:t>
                        </m:r>
                      </m:den>
                    </m:f>
                    <m:nary>
                      <m:naryPr>
                        <m:chr m:val="∑"/>
                        <m:ctrlPr>
                          <a:rPr lang="fr-FR" b="0" i="1" smtClean="0">
                            <a:latin typeface="Cambria Math" panose="02040503050406030204" pitchFamily="18" charset="0"/>
                          </a:rPr>
                        </m:ctrlPr>
                      </m:naryPr>
                      <m:sub>
                        <m:r>
                          <m:rPr>
                            <m:brk m:alnAt="23"/>
                          </m:rPr>
                          <a:rPr lang="fr-FR" b="0" i="1" smtClean="0">
                            <a:latin typeface="Cambria Math"/>
                          </a:rPr>
                          <m:t>𝑡</m:t>
                        </m:r>
                        <m:r>
                          <a:rPr lang="fr-FR" b="0" i="1" smtClean="0">
                            <a:latin typeface="Cambria Math"/>
                          </a:rPr>
                          <m:t>=1</m:t>
                        </m:r>
                      </m:sub>
                      <m:sup>
                        <m:r>
                          <a:rPr lang="fr-FR" b="0" i="1" smtClean="0">
                            <a:latin typeface="Cambria Math"/>
                          </a:rPr>
                          <m:t>𝑡</m:t>
                        </m:r>
                        <m:r>
                          <a:rPr lang="fr-FR" b="0" i="1" smtClean="0">
                            <a:latin typeface="Cambria Math"/>
                          </a:rPr>
                          <m:t>=</m:t>
                        </m:r>
                        <m:r>
                          <a:rPr lang="fr-FR" b="0" i="1" smtClean="0">
                            <a:latin typeface="Cambria Math"/>
                          </a:rPr>
                          <m:t>𝑇</m:t>
                        </m:r>
                      </m:sup>
                      <m:e>
                        <m:r>
                          <a:rPr lang="fr-FR" b="0" i="1" smtClean="0">
                            <a:latin typeface="Cambria Math"/>
                          </a:rPr>
                          <m:t>𝑥</m:t>
                        </m:r>
                        <m:r>
                          <a:rPr lang="fr-FR" b="0" i="1" smtClean="0">
                            <a:latin typeface="Cambria Math"/>
                          </a:rPr>
                          <m:t>(</m:t>
                        </m:r>
                        <m:r>
                          <a:rPr lang="fr-FR" b="0" i="1" smtClean="0">
                            <a:latin typeface="Cambria Math"/>
                          </a:rPr>
                          <m:t>𝑖</m:t>
                        </m:r>
                        <m:r>
                          <a:rPr lang="fr-FR" b="0" i="1" smtClean="0">
                            <a:latin typeface="Cambria Math"/>
                          </a:rPr>
                          <m:t>,</m:t>
                        </m:r>
                        <m:r>
                          <a:rPr lang="fr-FR" b="0" i="1" smtClean="0">
                            <a:latin typeface="Cambria Math"/>
                          </a:rPr>
                          <m:t>𝑡</m:t>
                        </m:r>
                        <m:r>
                          <a:rPr lang="fr-FR" b="0" i="1" smtClean="0">
                            <a:latin typeface="Cambria Math"/>
                          </a:rPr>
                          <m:t>)</m:t>
                        </m:r>
                      </m:e>
                    </m:nary>
                  </m:oMath>
                </a14:m>
                <a:endParaRPr lang="fr-FR" dirty="0"/>
              </a:p>
              <a:p>
                <a:pPr marL="0" indent="0">
                  <a:buNone/>
                </a:pPr>
                <a:r>
                  <a:rPr lang="fr-FR" u="sng" dirty="0" err="1"/>
                  <a:t>Within</a:t>
                </a:r>
                <a:r>
                  <a:rPr lang="fr-FR" u="sng" dirty="0"/>
                  <a:t> (</a:t>
                </a:r>
                <a:r>
                  <a:rPr lang="fr-FR" u="sng" dirty="0" err="1"/>
                  <a:t>fixed</a:t>
                </a:r>
                <a:r>
                  <a:rPr lang="fr-FR" u="sng" dirty="0"/>
                  <a:t> </a:t>
                </a:r>
                <a:r>
                  <a:rPr lang="fr-FR" u="sng" dirty="0" err="1"/>
                  <a:t>effects</a:t>
                </a:r>
                <a:r>
                  <a:rPr lang="fr-FR" u="sng" dirty="0"/>
                  <a:t>):</a:t>
                </a:r>
                <a:r>
                  <a:rPr lang="fr-FR" dirty="0"/>
                  <a:t> </a:t>
                </a:r>
                <a14:m>
                  <m:oMath xmlns:m="http://schemas.openxmlformats.org/officeDocument/2006/math">
                    <m:r>
                      <a:rPr lang="fr-FR" i="1">
                        <a:latin typeface="Cambria Math"/>
                      </a:rPr>
                      <m:t>𝑥</m:t>
                    </m:r>
                    <m:d>
                      <m:dPr>
                        <m:ctrlPr>
                          <a:rPr lang="fr-FR" i="1">
                            <a:latin typeface="Cambria Math" panose="02040503050406030204" pitchFamily="18" charset="0"/>
                          </a:rPr>
                        </m:ctrlPr>
                      </m:dPr>
                      <m:e>
                        <m:r>
                          <a:rPr lang="fr-FR" i="1">
                            <a:latin typeface="Cambria Math"/>
                          </a:rPr>
                          <m:t>𝑖</m:t>
                        </m:r>
                        <m:r>
                          <a:rPr lang="fr-FR" b="0" i="1" smtClean="0">
                            <a:latin typeface="Cambria Math"/>
                          </a:rPr>
                          <m:t>𝑡</m:t>
                        </m:r>
                      </m:e>
                    </m:d>
                    <m:r>
                      <a:rPr lang="fr-FR" b="0" i="1" smtClean="0">
                        <a:latin typeface="Cambria Math"/>
                      </a:rPr>
                      <m:t>−</m:t>
                    </m:r>
                    <m:r>
                      <a:rPr lang="fr-FR" b="0" i="1" smtClean="0">
                        <a:latin typeface="Cambria Math"/>
                      </a:rPr>
                      <m:t>𝑥</m:t>
                    </m:r>
                    <m:d>
                      <m:dPr>
                        <m:ctrlPr>
                          <a:rPr lang="fr-FR" b="0" i="1" smtClean="0">
                            <a:latin typeface="Cambria Math" panose="02040503050406030204" pitchFamily="18" charset="0"/>
                          </a:rPr>
                        </m:ctrlPr>
                      </m:dPr>
                      <m:e>
                        <m:r>
                          <a:rPr lang="fr-FR" b="0" i="1" smtClean="0">
                            <a:latin typeface="Cambria Math"/>
                          </a:rPr>
                          <m:t>𝑖</m:t>
                        </m:r>
                        <m:r>
                          <a:rPr lang="fr-FR" b="0" i="1" smtClean="0">
                            <a:latin typeface="Cambria Math"/>
                          </a:rPr>
                          <m:t>.</m:t>
                        </m:r>
                      </m:e>
                    </m:d>
                  </m:oMath>
                </a14:m>
                <a:endParaRPr lang="fr-FR" b="0" dirty="0"/>
              </a:p>
              <a:p>
                <a:pPr marL="0" indent="0">
                  <a:buNone/>
                </a:pPr>
                <a:r>
                  <a:rPr lang="fr-FR" u="sng" dirty="0"/>
                  <a:t>OLS:</a:t>
                </a:r>
                <a:r>
                  <a:rPr lang="fr-FR" dirty="0"/>
                  <a:t> </a:t>
                </a:r>
                <a:r>
                  <a:rPr lang="fr-FR" dirty="0" err="1"/>
                  <a:t>Within</a:t>
                </a:r>
                <a:r>
                  <a:rPr lang="fr-FR" dirty="0"/>
                  <a:t> + </a:t>
                </a:r>
                <a:r>
                  <a:rPr lang="fr-FR" dirty="0" err="1"/>
                  <a:t>Between</a:t>
                </a:r>
                <a:r>
                  <a:rPr lang="fr-FR" dirty="0"/>
                  <a:t>: </a:t>
                </a:r>
                <a14:m>
                  <m:oMath xmlns:m="http://schemas.openxmlformats.org/officeDocument/2006/math">
                    <m:r>
                      <a:rPr lang="fr-FR" i="1">
                        <a:latin typeface="Cambria Math"/>
                      </a:rPr>
                      <m:t>𝑥</m:t>
                    </m:r>
                    <m:d>
                      <m:dPr>
                        <m:ctrlPr>
                          <a:rPr lang="fr-FR" i="1">
                            <a:latin typeface="Cambria Math" panose="02040503050406030204" pitchFamily="18" charset="0"/>
                          </a:rPr>
                        </m:ctrlPr>
                      </m:dPr>
                      <m:e>
                        <m:r>
                          <a:rPr lang="fr-FR" i="1">
                            <a:latin typeface="Cambria Math"/>
                          </a:rPr>
                          <m:t>𝑖𝑡</m:t>
                        </m:r>
                      </m:e>
                    </m:d>
                  </m:oMath>
                </a14:m>
                <a:endParaRPr lang="fr-FR" b="0" i="1" dirty="0"/>
              </a:p>
              <a:p>
                <a:pPr marL="0" indent="0">
                  <a:buNone/>
                </a:pPr>
                <a:r>
                  <a:rPr lang="fr-FR" u="sng" dirty="0" err="1"/>
                  <a:t>Random</a:t>
                </a:r>
                <a:r>
                  <a:rPr lang="fr-FR" u="sng" dirty="0"/>
                  <a:t> </a:t>
                </a:r>
                <a:r>
                  <a:rPr lang="fr-FR" u="sng" dirty="0" err="1"/>
                  <a:t>effects</a:t>
                </a:r>
                <a:r>
                  <a:rPr lang="fr-FR" u="sng" dirty="0"/>
                  <a:t> « </a:t>
                </a:r>
                <a:r>
                  <a:rPr lang="el-GR" u="sng" dirty="0"/>
                  <a:t> θ</a:t>
                </a:r>
                <a:r>
                  <a:rPr lang="fr-FR" u="sng" dirty="0"/>
                  <a:t>-</a:t>
                </a:r>
                <a:r>
                  <a:rPr lang="fr-FR" u="sng" dirty="0" err="1"/>
                  <a:t>weight</a:t>
                </a:r>
                <a:r>
                  <a:rPr lang="fr-FR" u="sng" dirty="0"/>
                  <a:t> » </a:t>
                </a:r>
                <a:r>
                  <a:rPr lang="fr-FR" u="sng" dirty="0" err="1"/>
                  <a:t>operator</a:t>
                </a:r>
                <a:r>
                  <a:rPr lang="fr-FR" dirty="0"/>
                  <a:t>: </a:t>
                </a:r>
              </a:p>
              <a:p>
                <a:pPr marL="0" indent="0">
                  <a:buNone/>
                </a:pPr>
                <a:r>
                  <a:rPr lang="fr-FR" dirty="0" err="1"/>
                  <a:t>Within</a:t>
                </a:r>
                <a:r>
                  <a:rPr lang="fr-FR" dirty="0"/>
                  <a:t> + </a:t>
                </a:r>
                <a:r>
                  <a:rPr lang="el-GR" dirty="0"/>
                  <a:t>θ</a:t>
                </a:r>
                <a:r>
                  <a:rPr lang="fr-FR" dirty="0"/>
                  <a:t> </a:t>
                </a:r>
                <a:r>
                  <a:rPr lang="fr-FR" dirty="0" err="1"/>
                  <a:t>Between</a:t>
                </a:r>
                <a:r>
                  <a:rPr lang="fr-FR" dirty="0"/>
                  <a:t>= </a:t>
                </a:r>
                <a14:m>
                  <m:oMath xmlns:m="http://schemas.openxmlformats.org/officeDocument/2006/math">
                    <m:r>
                      <a:rPr lang="fr-FR" i="1">
                        <a:latin typeface="Cambria Math"/>
                      </a:rPr>
                      <m:t>𝑥</m:t>
                    </m:r>
                    <m:d>
                      <m:dPr>
                        <m:ctrlPr>
                          <a:rPr lang="fr-FR" i="1">
                            <a:latin typeface="Cambria Math" panose="02040503050406030204" pitchFamily="18" charset="0"/>
                          </a:rPr>
                        </m:ctrlPr>
                      </m:dPr>
                      <m:e>
                        <m:r>
                          <a:rPr lang="fr-FR" i="1">
                            <a:latin typeface="Cambria Math"/>
                          </a:rPr>
                          <m:t>𝑖𝑡</m:t>
                        </m:r>
                      </m:e>
                    </m:d>
                    <m:r>
                      <a:rPr lang="fr-FR" i="1">
                        <a:latin typeface="Cambria Math"/>
                      </a:rPr>
                      <m:t> −</m:t>
                    </m:r>
                    <m:r>
                      <a:rPr lang="fr-FR" i="1">
                        <a:latin typeface="Cambria Math"/>
                      </a:rPr>
                      <m:t>𝑥</m:t>
                    </m:r>
                    <m:d>
                      <m:dPr>
                        <m:ctrlPr>
                          <a:rPr lang="fr-FR" i="1">
                            <a:latin typeface="Cambria Math" panose="02040503050406030204" pitchFamily="18" charset="0"/>
                          </a:rPr>
                        </m:ctrlPr>
                      </m:dPr>
                      <m:e>
                        <m:r>
                          <a:rPr lang="fr-FR" i="1">
                            <a:latin typeface="Cambria Math"/>
                          </a:rPr>
                          <m:t>𝑖</m:t>
                        </m:r>
                        <m:r>
                          <a:rPr lang="fr-FR" i="1">
                            <a:latin typeface="Cambria Math"/>
                          </a:rPr>
                          <m:t>.</m:t>
                        </m:r>
                      </m:e>
                    </m:d>
                    <m:r>
                      <a:rPr lang="fr-FR" i="1">
                        <a:latin typeface="Cambria Math"/>
                      </a:rPr>
                      <m:t> </m:t>
                    </m:r>
                  </m:oMath>
                </a14:m>
                <a:r>
                  <a:rPr lang="fr-FR" i="1" dirty="0"/>
                  <a:t>+</a:t>
                </a:r>
                <a:r>
                  <a:rPr lang="el-GR" i="1" dirty="0"/>
                  <a:t> θ</a:t>
                </a:r>
                <a:r>
                  <a:rPr lang="fr-FR" i="1" dirty="0"/>
                  <a:t>.</a:t>
                </a:r>
                <a14:m>
                  <m:oMath xmlns:m="http://schemas.openxmlformats.org/officeDocument/2006/math">
                    <m:r>
                      <a:rPr lang="fr-FR" i="1">
                        <a:latin typeface="Cambria Math"/>
                      </a:rPr>
                      <m:t>𝑥</m:t>
                    </m:r>
                    <m:d>
                      <m:dPr>
                        <m:ctrlPr>
                          <a:rPr lang="fr-FR" i="1">
                            <a:latin typeface="Cambria Math" panose="02040503050406030204" pitchFamily="18" charset="0"/>
                          </a:rPr>
                        </m:ctrlPr>
                      </m:dPr>
                      <m:e>
                        <m:r>
                          <a:rPr lang="fr-FR" i="1">
                            <a:latin typeface="Cambria Math"/>
                          </a:rPr>
                          <m:t>𝑖</m:t>
                        </m:r>
                        <m:r>
                          <a:rPr lang="fr-FR" i="1">
                            <a:latin typeface="Cambria Math"/>
                          </a:rPr>
                          <m:t>.</m:t>
                        </m:r>
                      </m:e>
                    </m:d>
                    <m:r>
                      <a:rPr lang="fr-FR" i="1">
                        <a:latin typeface="Cambria Math"/>
                      </a:rPr>
                      <m:t> </m:t>
                    </m:r>
                  </m:oMath>
                </a14:m>
                <a:endParaRPr lang="fr-FR" dirty="0"/>
              </a:p>
              <a:p>
                <a:pPr marL="0" indent="0">
                  <a:buNone/>
                </a:pPr>
                <a:r>
                  <a:rPr lang="el-GR" dirty="0"/>
                  <a:t>θ </a:t>
                </a:r>
                <a:r>
                  <a:rPr lang="fr-FR" dirty="0"/>
                  <a:t>=0: </a:t>
                </a:r>
                <a:r>
                  <a:rPr lang="fr-FR" dirty="0" err="1"/>
                  <a:t>Within</a:t>
                </a:r>
                <a:r>
                  <a:rPr lang="fr-FR" dirty="0"/>
                  <a:t>  </a:t>
                </a:r>
              </a:p>
              <a:p>
                <a:pPr marL="0" indent="0">
                  <a:buNone/>
                </a:pPr>
                <a:r>
                  <a:rPr lang="el-GR" dirty="0"/>
                  <a:t>θ </a:t>
                </a:r>
                <a:r>
                  <a:rPr lang="fr-FR" dirty="0"/>
                  <a:t>=1: OLS</a:t>
                </a:r>
              </a:p>
              <a:p>
                <a:pPr marL="0" indent="0">
                  <a:buNone/>
                </a:pPr>
                <a:endParaRPr lang="fr-FR" dirty="0"/>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395536" y="1600200"/>
                <a:ext cx="8229600" cy="5141168"/>
              </a:xfrm>
              <a:blipFill rotWithShape="1">
                <a:blip r:embed="rId2"/>
                <a:stretch>
                  <a:fillRect l="-1926"/>
                </a:stretch>
              </a:blipFill>
            </p:spPr>
            <p:txBody>
              <a:bodyPr/>
              <a:lstStyle/>
              <a:p>
                <a:r>
                  <a:rPr lang="fr-FR">
                    <a:noFill/>
                  </a:rPr>
                  <a:t> </a:t>
                </a:r>
              </a:p>
            </p:txBody>
          </p:sp>
        </mc:Fallback>
      </mc:AlternateContent>
    </p:spTree>
    <p:extLst>
      <p:ext uri="{BB962C8B-B14F-4D97-AF65-F5344CB8AC3E}">
        <p14:creationId xmlns:p14="http://schemas.microsoft.com/office/powerpoint/2010/main" val="2691406597"/>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9.2. LSDV, </a:t>
            </a:r>
            <a:r>
              <a:rPr lang="fr-FR" dirty="0" err="1"/>
              <a:t>small</a:t>
            </a:r>
            <a:r>
              <a:rPr lang="fr-FR" dirty="0"/>
              <a:t> N</a:t>
            </a:r>
            <a:br>
              <a:rPr lang="fr-FR" dirty="0"/>
            </a:br>
            <a:r>
              <a:rPr lang="fr-FR" dirty="0"/>
              <a:t>= 9.3 due to Frisch Waugh</a:t>
            </a:r>
            <a:endParaRPr lang="en-GB" dirty="0"/>
          </a:p>
        </p:txBody>
      </p:sp>
    </p:spTree>
    <p:extLst>
      <p:ext uri="{BB962C8B-B14F-4D97-AF65-F5344CB8AC3E}">
        <p14:creationId xmlns:p14="http://schemas.microsoft.com/office/powerpoint/2010/main" val="2922194051"/>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Least square </a:t>
            </a:r>
            <a:r>
              <a:rPr lang="fr-FR" dirty="0" err="1"/>
              <a:t>dummy</a:t>
            </a:r>
            <a:r>
              <a:rPr lang="fr-FR" dirty="0"/>
              <a:t> variables LSDV</a:t>
            </a:r>
          </a:p>
        </p:txBody>
      </p:sp>
      <p:sp>
        <p:nvSpPr>
          <p:cNvPr id="3" name="Espace réservé du contenu 2"/>
          <p:cNvSpPr>
            <a:spLocks noGrp="1"/>
          </p:cNvSpPr>
          <p:nvPr>
            <p:ph idx="1"/>
          </p:nvPr>
        </p:nvSpPr>
        <p:spPr/>
        <p:txBody>
          <a:bodyPr/>
          <a:lstStyle/>
          <a:p>
            <a:pPr marL="0" indent="0">
              <a:buNone/>
            </a:pPr>
            <a:r>
              <a:rPr lang="fr-FR" dirty="0"/>
              <a:t>OLS </a:t>
            </a:r>
            <a:r>
              <a:rPr lang="fr-FR" dirty="0" err="1"/>
              <a:t>estimates</a:t>
            </a:r>
            <a:r>
              <a:rPr lang="fr-FR" dirty="0"/>
              <a:t> on </a:t>
            </a:r>
            <a:r>
              <a:rPr lang="fr-FR" dirty="0" err="1"/>
              <a:t>slopes</a:t>
            </a:r>
            <a:r>
              <a:rPr lang="fr-FR" dirty="0"/>
              <a:t> on non-</a:t>
            </a:r>
            <a:r>
              <a:rPr lang="fr-FR" dirty="0" err="1"/>
              <a:t>within</a:t>
            </a:r>
            <a:r>
              <a:rPr lang="fr-FR" dirty="0"/>
              <a:t> </a:t>
            </a:r>
            <a:r>
              <a:rPr lang="fr-FR" dirty="0" err="1"/>
              <a:t>transformed</a:t>
            </a:r>
            <a:r>
              <a:rPr lang="fr-FR" dirty="0"/>
              <a:t> </a:t>
            </a:r>
            <a:r>
              <a:rPr lang="fr-FR" dirty="0" err="1"/>
              <a:t>regressors</a:t>
            </a:r>
            <a:r>
              <a:rPr lang="fr-FR" dirty="0"/>
              <a:t> but </a:t>
            </a:r>
            <a:r>
              <a:rPr lang="fr-FR" dirty="0" err="1"/>
              <a:t>including</a:t>
            </a:r>
            <a:r>
              <a:rPr lang="fr-FR" dirty="0"/>
              <a:t> </a:t>
            </a:r>
            <a:r>
              <a:rPr lang="fr-FR" dirty="0" err="1"/>
              <a:t>dummies</a:t>
            </a:r>
            <a:r>
              <a:rPr lang="fr-FR" dirty="0"/>
              <a:t> for all </a:t>
            </a:r>
            <a:r>
              <a:rPr lang="fr-FR" dirty="0" err="1"/>
              <a:t>individuals</a:t>
            </a:r>
            <a:r>
              <a:rPr lang="fr-FR" dirty="0"/>
              <a:t> (</a:t>
            </a:r>
            <a:r>
              <a:rPr lang="fr-FR" dirty="0" err="1"/>
              <a:t>estimates</a:t>
            </a:r>
            <a:r>
              <a:rPr lang="fr-FR" dirty="0"/>
              <a:t> N constants for N </a:t>
            </a:r>
            <a:r>
              <a:rPr lang="fr-FR" dirty="0" err="1"/>
              <a:t>individuals</a:t>
            </a:r>
            <a:r>
              <a:rPr lang="fr-FR" dirty="0"/>
              <a:t>)</a:t>
            </a:r>
          </a:p>
          <a:p>
            <a:pPr marL="0" indent="0">
              <a:buNone/>
            </a:pPr>
            <a:r>
              <a:rPr lang="fr-FR" dirty="0"/>
              <a:t>= OLS on </a:t>
            </a:r>
            <a:r>
              <a:rPr lang="fr-FR" dirty="0" err="1"/>
              <a:t>within</a:t>
            </a:r>
            <a:r>
              <a:rPr lang="fr-FR" dirty="0"/>
              <a:t> </a:t>
            </a:r>
            <a:r>
              <a:rPr lang="fr-FR" dirty="0" err="1"/>
              <a:t>transformed</a:t>
            </a:r>
            <a:r>
              <a:rPr lang="fr-FR" dirty="0"/>
              <a:t> (2</a:t>
            </a:r>
            <a:r>
              <a:rPr lang="fr-FR" baseline="30000" dirty="0"/>
              <a:t>nd</a:t>
            </a:r>
            <a:r>
              <a:rPr lang="fr-FR" dirty="0"/>
              <a:t> </a:t>
            </a:r>
            <a:r>
              <a:rPr lang="fr-FR" dirty="0" err="1"/>
              <a:t>method</a:t>
            </a:r>
            <a:r>
              <a:rPr lang="fr-FR" dirty="0"/>
              <a:t>). </a:t>
            </a:r>
          </a:p>
          <a:p>
            <a:pPr marL="0" indent="0">
              <a:buNone/>
            </a:pPr>
            <a:r>
              <a:rPr lang="fr-FR" b="1" dirty="0" err="1"/>
              <a:t>Demonstration</a:t>
            </a:r>
            <a:r>
              <a:rPr lang="fr-FR" dirty="0"/>
              <a:t>: a </a:t>
            </a:r>
            <a:r>
              <a:rPr lang="fr-FR" dirty="0" err="1"/>
              <a:t>property</a:t>
            </a:r>
            <a:r>
              <a:rPr lang="fr-FR" dirty="0"/>
              <a:t> of </a:t>
            </a:r>
            <a:r>
              <a:rPr lang="fr-FR" dirty="0" err="1"/>
              <a:t>Frish</a:t>
            </a:r>
            <a:r>
              <a:rPr lang="fr-FR" dirty="0"/>
              <a:t> Waugh </a:t>
            </a:r>
            <a:r>
              <a:rPr lang="fr-FR" dirty="0" err="1"/>
              <a:t>theorem</a:t>
            </a:r>
            <a:r>
              <a:rPr lang="fr-FR" dirty="0"/>
              <a:t>, </a:t>
            </a:r>
            <a:r>
              <a:rPr lang="fr-FR" dirty="0" err="1"/>
              <a:t>also</a:t>
            </a:r>
            <a:r>
              <a:rPr lang="fr-FR" dirty="0"/>
              <a:t> </a:t>
            </a:r>
            <a:r>
              <a:rPr lang="fr-FR" dirty="0" err="1"/>
              <a:t>used</a:t>
            </a:r>
            <a:r>
              <a:rPr lang="fr-FR" dirty="0"/>
              <a:t> for </a:t>
            </a:r>
            <a:r>
              <a:rPr lang="fr-FR" dirty="0" err="1"/>
              <a:t>seasonal</a:t>
            </a:r>
            <a:r>
              <a:rPr lang="fr-FR" dirty="0"/>
              <a:t> </a:t>
            </a:r>
            <a:r>
              <a:rPr lang="fr-FR" dirty="0" err="1"/>
              <a:t>dummies</a:t>
            </a:r>
            <a:r>
              <a:rPr lang="fr-FR" dirty="0"/>
              <a:t>.</a:t>
            </a:r>
          </a:p>
        </p:txBody>
      </p:sp>
    </p:spTree>
    <p:extLst>
      <p:ext uri="{BB962C8B-B14F-4D97-AF65-F5344CB8AC3E}">
        <p14:creationId xmlns:p14="http://schemas.microsoft.com/office/powerpoint/2010/main" val="466204854"/>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re 1"/>
          <p:cNvSpPr>
            <a:spLocks noGrp="1"/>
          </p:cNvSpPr>
          <p:nvPr>
            <p:ph type="title"/>
          </p:nvPr>
        </p:nvSpPr>
        <p:spPr/>
        <p:txBody>
          <a:bodyPr/>
          <a:lstStyle/>
          <a:p>
            <a:r>
              <a:rPr lang="fr-FR" altLang="fr-FR" dirty="0" err="1"/>
              <a:t>Multivariate</a:t>
            </a:r>
            <a:r>
              <a:rPr lang="fr-FR" altLang="fr-FR" dirty="0"/>
              <a:t> panel </a:t>
            </a:r>
            <a:r>
              <a:rPr lang="fr-FR" altLang="fr-FR" dirty="0" err="1"/>
              <a:t>estimators</a:t>
            </a:r>
            <a:endParaRPr lang="fr-FR" altLang="fr-FR" dirty="0"/>
          </a:p>
        </p:txBody>
      </p:sp>
      <p:sp>
        <p:nvSpPr>
          <p:cNvPr id="65539" name="Espace réservé du contenu 2"/>
          <p:cNvSpPr>
            <a:spLocks noGrp="1"/>
          </p:cNvSpPr>
          <p:nvPr>
            <p:ph idx="1"/>
          </p:nvPr>
        </p:nvSpPr>
        <p:spPr/>
        <p:txBody>
          <a:bodyPr/>
          <a:lstStyle/>
          <a:p>
            <a:pPr marL="0" indent="0">
              <a:buFontTx/>
              <a:buNone/>
            </a:pPr>
            <a:r>
              <a:rPr lang="fr-FR" altLang="fr-FR" sz="2800" u="sng" dirty="0" err="1"/>
              <a:t>Fixed</a:t>
            </a:r>
            <a:r>
              <a:rPr lang="fr-FR" altLang="fr-FR" sz="2800" u="sng" dirty="0"/>
              <a:t> </a:t>
            </a:r>
            <a:r>
              <a:rPr lang="fr-FR" altLang="fr-FR" sz="2800" u="sng" dirty="0" err="1"/>
              <a:t>effects</a:t>
            </a:r>
            <a:r>
              <a:rPr lang="fr-FR" altLang="fr-FR" sz="2800" u="sng" dirty="0"/>
              <a:t>:</a:t>
            </a:r>
            <a:r>
              <a:rPr lang="fr-FR" altLang="fr-FR" sz="2800" dirty="0"/>
              <a:t> OLS on </a:t>
            </a:r>
            <a:r>
              <a:rPr lang="fr-FR" altLang="fr-FR" sz="2800" dirty="0" err="1"/>
              <a:t>within</a:t>
            </a:r>
            <a:r>
              <a:rPr lang="fr-FR" altLang="fr-FR" sz="2800" dirty="0"/>
              <a:t> </a:t>
            </a:r>
            <a:r>
              <a:rPr lang="fr-FR" altLang="fr-FR" sz="2800" dirty="0" err="1"/>
              <a:t>transformed</a:t>
            </a:r>
            <a:endParaRPr lang="fr-FR" altLang="fr-FR" sz="2800" dirty="0"/>
          </a:p>
          <a:p>
            <a:pPr marL="0" indent="0">
              <a:buFontTx/>
              <a:buNone/>
            </a:pPr>
            <a:r>
              <a:rPr lang="fr-FR" altLang="fr-FR" sz="2800" u="sng" dirty="0" err="1"/>
              <a:t>Two</a:t>
            </a:r>
            <a:r>
              <a:rPr lang="fr-FR" altLang="fr-FR" sz="2800" u="sng" dirty="0"/>
              <a:t> </a:t>
            </a:r>
            <a:r>
              <a:rPr lang="fr-FR" altLang="fr-FR" sz="2800" u="sng" dirty="0" err="1"/>
              <a:t>way</a:t>
            </a:r>
            <a:r>
              <a:rPr lang="fr-FR" altLang="fr-FR" sz="2800" u="sng" dirty="0"/>
              <a:t> </a:t>
            </a:r>
            <a:r>
              <a:rPr lang="fr-FR" altLang="fr-FR" sz="2800" u="sng" dirty="0" err="1"/>
              <a:t>fixed</a:t>
            </a:r>
            <a:r>
              <a:rPr lang="fr-FR" altLang="fr-FR" sz="2800" u="sng" dirty="0"/>
              <a:t> </a:t>
            </a:r>
            <a:r>
              <a:rPr lang="fr-FR" altLang="fr-FR" sz="2800" u="sng" dirty="0" err="1"/>
              <a:t>effects</a:t>
            </a:r>
            <a:r>
              <a:rPr lang="fr-FR" altLang="fr-FR" sz="2800" dirty="0"/>
              <a:t>: </a:t>
            </a:r>
            <a:r>
              <a:rPr lang="fr-FR" altLang="fr-FR" sz="2800" dirty="0" err="1"/>
              <a:t>add</a:t>
            </a:r>
            <a:r>
              <a:rPr lang="fr-FR" altLang="fr-FR" sz="2800" dirty="0"/>
              <a:t> time </a:t>
            </a:r>
            <a:r>
              <a:rPr lang="fr-FR" altLang="fr-FR" sz="2800" dirty="0" err="1"/>
              <a:t>dummies</a:t>
            </a:r>
            <a:r>
              <a:rPr lang="fr-FR" altLang="fr-FR" sz="2800" dirty="0"/>
              <a:t>;</a:t>
            </a:r>
          </a:p>
          <a:p>
            <a:pPr marL="0" indent="0">
              <a:buFontTx/>
              <a:buNone/>
            </a:pPr>
            <a:r>
              <a:rPr lang="fr-FR" altLang="fr-FR" sz="2800" u="sng" dirty="0" err="1"/>
              <a:t>Between</a:t>
            </a:r>
            <a:r>
              <a:rPr lang="fr-FR" altLang="fr-FR" sz="2800" u="sng" dirty="0"/>
              <a:t>:</a:t>
            </a:r>
            <a:r>
              <a:rPr lang="fr-FR" altLang="fr-FR" sz="2800" dirty="0"/>
              <a:t> OLS on </a:t>
            </a:r>
            <a:r>
              <a:rPr lang="fr-FR" altLang="fr-FR" sz="2800" dirty="0" err="1"/>
              <a:t>between</a:t>
            </a:r>
            <a:r>
              <a:rPr lang="fr-FR" altLang="fr-FR" sz="2800" dirty="0"/>
              <a:t> </a:t>
            </a:r>
            <a:r>
              <a:rPr lang="fr-FR" altLang="fr-FR" sz="2800" dirty="0" err="1"/>
              <a:t>transformed</a:t>
            </a:r>
            <a:r>
              <a:rPr lang="fr-FR" altLang="fr-FR" sz="2800" dirty="0"/>
              <a:t>.</a:t>
            </a:r>
          </a:p>
          <a:p>
            <a:pPr marL="0" indent="0">
              <a:buFontTx/>
              <a:buNone/>
            </a:pPr>
            <a:r>
              <a:rPr lang="fr-FR" altLang="fr-FR" sz="2800" u="sng" dirty="0" err="1"/>
              <a:t>Random</a:t>
            </a:r>
            <a:r>
              <a:rPr lang="fr-FR" altLang="fr-FR" sz="2800" u="sng" dirty="0"/>
              <a:t> </a:t>
            </a:r>
            <a:r>
              <a:rPr lang="fr-FR" altLang="fr-FR" sz="2800" u="sng" dirty="0" err="1"/>
              <a:t>effects</a:t>
            </a:r>
            <a:r>
              <a:rPr lang="fr-FR" altLang="fr-FR" sz="2800" u="sng" dirty="0"/>
              <a:t>:</a:t>
            </a:r>
            <a:r>
              <a:rPr lang="fr-FR" altLang="fr-FR" sz="2800" dirty="0"/>
              <a:t> OLS on </a:t>
            </a:r>
          </a:p>
          <a:p>
            <a:pPr marL="0" indent="0">
              <a:buFontTx/>
              <a:buNone/>
            </a:pPr>
            <a:r>
              <a:rPr lang="fr-FR" altLang="fr-FR" sz="2800" dirty="0" err="1"/>
              <a:t>Within</a:t>
            </a:r>
            <a:r>
              <a:rPr lang="fr-FR" altLang="fr-FR" sz="2800" dirty="0"/>
              <a:t> </a:t>
            </a:r>
            <a:r>
              <a:rPr lang="fr-FR" altLang="fr-FR" sz="2800" dirty="0" err="1"/>
              <a:t>transformed</a:t>
            </a:r>
            <a:r>
              <a:rPr lang="fr-FR" altLang="fr-FR" sz="2800" dirty="0"/>
              <a:t> + </a:t>
            </a:r>
            <a:r>
              <a:rPr lang="fr-FR" altLang="fr-FR" sz="2800" dirty="0" err="1"/>
              <a:t>theta</a:t>
            </a:r>
            <a:r>
              <a:rPr lang="fr-FR" altLang="fr-FR" sz="2800" dirty="0"/>
              <a:t> * </a:t>
            </a:r>
            <a:r>
              <a:rPr lang="fr-FR" altLang="fr-FR" sz="2800" dirty="0" err="1"/>
              <a:t>between</a:t>
            </a:r>
            <a:r>
              <a:rPr lang="fr-FR" altLang="fr-FR" sz="2800" dirty="0"/>
              <a:t>.</a:t>
            </a:r>
          </a:p>
          <a:p>
            <a:pPr marL="0" indent="0">
              <a:buFontTx/>
              <a:buNone/>
            </a:pPr>
            <a:r>
              <a:rPr lang="fr-FR" altLang="fr-FR" sz="2800" u="sng" dirty="0"/>
              <a:t>Mundlak</a:t>
            </a:r>
            <a:r>
              <a:rPr lang="fr-FR" altLang="fr-FR" sz="2800" dirty="0"/>
              <a:t>: </a:t>
            </a:r>
            <a:r>
              <a:rPr lang="fr-FR" altLang="fr-FR" sz="2800" dirty="0" err="1"/>
              <a:t>Random</a:t>
            </a:r>
            <a:r>
              <a:rPr lang="fr-FR" altLang="fr-FR" sz="2800" dirty="0"/>
              <a:t> </a:t>
            </a:r>
            <a:r>
              <a:rPr lang="fr-FR" altLang="fr-FR" sz="2800" dirty="0" err="1"/>
              <a:t>effects</a:t>
            </a:r>
            <a:r>
              <a:rPr lang="fr-FR" altLang="fr-FR" sz="2800" dirty="0"/>
              <a:t> </a:t>
            </a:r>
            <a:r>
              <a:rPr lang="fr-FR" altLang="fr-FR" sz="2800" dirty="0" err="1"/>
              <a:t>including</a:t>
            </a:r>
            <a:r>
              <a:rPr lang="fr-FR" altLang="fr-FR" sz="2800" dirty="0"/>
              <a:t> all x(i.) and z(i)</a:t>
            </a:r>
          </a:p>
          <a:p>
            <a:pPr marL="0" indent="0">
              <a:buFontTx/>
              <a:buNone/>
            </a:pPr>
            <a:r>
              <a:rPr lang="fr-FR" altLang="fr-FR" sz="2800" u="sng" dirty="0"/>
              <a:t>OLS on First </a:t>
            </a:r>
            <a:r>
              <a:rPr lang="fr-FR" altLang="fr-FR" sz="2800" u="sng" dirty="0" err="1"/>
              <a:t>differences</a:t>
            </a:r>
            <a:r>
              <a:rPr lang="fr-FR" altLang="fr-FR" sz="2800" dirty="0"/>
              <a:t> (</a:t>
            </a:r>
            <a:r>
              <a:rPr lang="fr-FR" altLang="fr-FR" sz="2800" dirty="0" err="1"/>
              <a:t>with</a:t>
            </a:r>
            <a:r>
              <a:rPr lang="fr-FR" altLang="fr-FR" sz="2800" dirty="0"/>
              <a:t> T=2: </a:t>
            </a:r>
            <a:r>
              <a:rPr lang="fr-FR" altLang="fr-FR" sz="2800" dirty="0" err="1"/>
              <a:t>identical</a:t>
            </a:r>
            <a:r>
              <a:rPr lang="fr-FR" altLang="fr-FR" sz="2800" dirty="0"/>
              <a:t> to </a:t>
            </a:r>
            <a:r>
              <a:rPr lang="fr-FR" altLang="fr-FR" sz="2800" dirty="0" err="1"/>
              <a:t>fixed</a:t>
            </a:r>
            <a:r>
              <a:rPr lang="fr-FR" altLang="fr-FR" sz="2800" dirty="0"/>
              <a:t> </a:t>
            </a:r>
            <a:r>
              <a:rPr lang="fr-FR" altLang="fr-FR" sz="2800" dirty="0" err="1"/>
              <a:t>effects</a:t>
            </a:r>
            <a:r>
              <a:rPr lang="fr-FR" altLang="fr-FR" sz="2800" dirty="0"/>
              <a:t>, </a:t>
            </a:r>
            <a:r>
              <a:rPr lang="fr-FR" altLang="fr-FR" sz="2800" dirty="0" err="1"/>
              <a:t>different</a:t>
            </a:r>
            <a:r>
              <a:rPr lang="fr-FR" altLang="fr-FR" sz="2800" dirty="0"/>
              <a:t> </a:t>
            </a:r>
            <a:r>
              <a:rPr lang="fr-FR" altLang="fr-FR" sz="2800" dirty="0" err="1"/>
              <a:t>when</a:t>
            </a:r>
            <a:r>
              <a:rPr lang="fr-FR" altLang="fr-FR" sz="2800" dirty="0"/>
              <a:t> T&gt;2).</a:t>
            </a:r>
          </a:p>
          <a:p>
            <a:pPr marL="0" indent="0">
              <a:buFontTx/>
              <a:buNone/>
            </a:pPr>
            <a:endParaRPr lang="fr-FR" altLang="fr-FR" dirty="0"/>
          </a:p>
        </p:txBody>
      </p:sp>
    </p:spTree>
    <p:extLst>
      <p:ext uri="{BB962C8B-B14F-4D97-AF65-F5344CB8AC3E}">
        <p14:creationId xmlns:p14="http://schemas.microsoft.com/office/powerpoint/2010/main" val="171351351"/>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re 1"/>
          <p:cNvSpPr>
            <a:spLocks noGrp="1"/>
          </p:cNvSpPr>
          <p:nvPr>
            <p:ph type="title"/>
          </p:nvPr>
        </p:nvSpPr>
        <p:spPr>
          <a:xfrm>
            <a:off x="395288" y="274638"/>
            <a:ext cx="8229600" cy="1143000"/>
          </a:xfrm>
        </p:spPr>
        <p:txBody>
          <a:bodyPr/>
          <a:lstStyle/>
          <a:p>
            <a:r>
              <a:rPr lang="fr-FR" altLang="fr-FR" dirty="0" err="1"/>
              <a:t>Advice</a:t>
            </a:r>
            <a:endParaRPr lang="fr-FR" altLang="fr-FR" dirty="0"/>
          </a:p>
        </p:txBody>
      </p:sp>
      <p:sp>
        <p:nvSpPr>
          <p:cNvPr id="67587" name="Espace réservé du contenu 2"/>
          <p:cNvSpPr>
            <a:spLocks noGrp="1"/>
          </p:cNvSpPr>
          <p:nvPr>
            <p:ph idx="1"/>
          </p:nvPr>
        </p:nvSpPr>
        <p:spPr/>
        <p:txBody>
          <a:bodyPr/>
          <a:lstStyle/>
          <a:p>
            <a:pPr marL="0" indent="0">
              <a:buFontTx/>
              <a:buNone/>
            </a:pPr>
            <a:r>
              <a:rPr lang="fr-FR" altLang="fr-FR" b="1" dirty="0"/>
              <a:t>If no time invariant </a:t>
            </a:r>
            <a:r>
              <a:rPr lang="fr-FR" altLang="fr-FR" b="1" dirty="0" err="1"/>
              <a:t>regressor</a:t>
            </a:r>
            <a:r>
              <a:rPr lang="fr-FR" altLang="fr-FR" b="1" dirty="0"/>
              <a:t>: use </a:t>
            </a:r>
            <a:r>
              <a:rPr lang="fr-FR" altLang="fr-FR" b="1" dirty="0" err="1"/>
              <a:t>fixed</a:t>
            </a:r>
            <a:r>
              <a:rPr lang="fr-FR" altLang="fr-FR" b="1" dirty="0"/>
              <a:t> </a:t>
            </a:r>
            <a:r>
              <a:rPr lang="fr-FR" altLang="fr-FR" b="1" dirty="0" err="1"/>
              <a:t>effects</a:t>
            </a:r>
            <a:r>
              <a:rPr lang="fr-FR" altLang="fr-FR" b="1" dirty="0"/>
              <a:t>: </a:t>
            </a:r>
            <a:r>
              <a:rPr lang="fr-FR" altLang="fr-FR" dirty="0" err="1"/>
              <a:t>random</a:t>
            </a:r>
            <a:r>
              <a:rPr lang="fr-FR" altLang="fr-FR" dirty="0"/>
              <a:t> </a:t>
            </a:r>
            <a:r>
              <a:rPr lang="fr-FR" altLang="fr-FR" dirty="0" err="1"/>
              <a:t>effects</a:t>
            </a:r>
            <a:r>
              <a:rPr lang="fr-FR" altLang="fr-FR" dirty="0"/>
              <a:t> </a:t>
            </a:r>
            <a:r>
              <a:rPr lang="fr-FR" altLang="fr-FR" dirty="0" err="1"/>
              <a:t>with</a:t>
            </a:r>
            <a:r>
              <a:rPr lang="fr-FR" altLang="fr-FR" dirty="0"/>
              <a:t> X(i.)  &gt; </a:t>
            </a:r>
            <a:r>
              <a:rPr lang="fr-FR" altLang="fr-FR" dirty="0" err="1"/>
              <a:t>random</a:t>
            </a:r>
            <a:r>
              <a:rPr lang="fr-FR" altLang="fr-FR" dirty="0"/>
              <a:t> </a:t>
            </a:r>
            <a:r>
              <a:rPr lang="fr-FR" altLang="fr-FR" dirty="0" err="1"/>
              <a:t>effects</a:t>
            </a:r>
            <a:r>
              <a:rPr lang="fr-FR" altLang="fr-FR" dirty="0"/>
              <a:t> </a:t>
            </a:r>
            <a:r>
              <a:rPr lang="fr-FR" altLang="fr-FR" dirty="0" err="1"/>
              <a:t>without</a:t>
            </a:r>
            <a:r>
              <a:rPr lang="fr-FR" altLang="fr-FR" dirty="0"/>
              <a:t> X(i.).</a:t>
            </a:r>
          </a:p>
          <a:p>
            <a:pPr marL="0" indent="0">
              <a:buNone/>
            </a:pPr>
            <a:r>
              <a:rPr lang="fr-FR" altLang="fr-FR" b="1" dirty="0"/>
              <a:t>If time invariant </a:t>
            </a:r>
            <a:r>
              <a:rPr lang="fr-FR" altLang="fr-FR" b="1" dirty="0" err="1"/>
              <a:t>regressor</a:t>
            </a:r>
            <a:r>
              <a:rPr lang="fr-FR" altLang="fr-FR" b="1" dirty="0"/>
              <a:t>, use </a:t>
            </a:r>
            <a:r>
              <a:rPr lang="fr-FR" altLang="fr-FR" b="1" dirty="0" err="1"/>
              <a:t>Mundlak</a:t>
            </a:r>
            <a:r>
              <a:rPr lang="fr-FR" altLang="fr-FR" b="1" dirty="0"/>
              <a:t> </a:t>
            </a:r>
            <a:r>
              <a:rPr lang="fr-FR" altLang="fr-FR" b="1" dirty="0" err="1"/>
              <a:t>specification</a:t>
            </a:r>
            <a:r>
              <a:rPr lang="fr-FR" altLang="fr-FR" b="1" dirty="0"/>
              <a:t> </a:t>
            </a:r>
            <a:r>
              <a:rPr lang="fr-FR" altLang="fr-FR" dirty="0"/>
              <a:t>(</a:t>
            </a:r>
            <a:r>
              <a:rPr lang="fr-FR" altLang="fr-FR" dirty="0" err="1"/>
              <a:t>random</a:t>
            </a:r>
            <a:r>
              <a:rPr lang="fr-FR" altLang="fr-FR" dirty="0"/>
              <a:t> </a:t>
            </a:r>
            <a:r>
              <a:rPr lang="fr-FR" altLang="fr-FR" dirty="0" err="1"/>
              <a:t>effects</a:t>
            </a:r>
            <a:r>
              <a:rPr lang="fr-FR" altLang="fr-FR" dirty="0"/>
              <a:t> </a:t>
            </a:r>
            <a:r>
              <a:rPr lang="fr-FR" altLang="fr-FR" dirty="0" err="1"/>
              <a:t>with</a:t>
            </a:r>
            <a:r>
              <a:rPr lang="fr-FR" altLang="fr-FR" dirty="0"/>
              <a:t> X(i.) ) &gt; </a:t>
            </a:r>
            <a:r>
              <a:rPr lang="fr-FR" altLang="fr-FR" dirty="0" err="1"/>
              <a:t>random</a:t>
            </a:r>
            <a:r>
              <a:rPr lang="fr-FR" altLang="fr-FR" dirty="0"/>
              <a:t> </a:t>
            </a:r>
            <a:r>
              <a:rPr lang="fr-FR" altLang="fr-FR" dirty="0" err="1"/>
              <a:t>effects</a:t>
            </a:r>
            <a:r>
              <a:rPr lang="fr-FR" altLang="fr-FR" dirty="0"/>
              <a:t> </a:t>
            </a:r>
            <a:r>
              <a:rPr lang="fr-FR" altLang="fr-FR" dirty="0" err="1"/>
              <a:t>without</a:t>
            </a:r>
            <a:r>
              <a:rPr lang="fr-FR" altLang="fr-FR" dirty="0"/>
              <a:t> X(i.).</a:t>
            </a:r>
          </a:p>
          <a:p>
            <a:pPr marL="0" indent="0">
              <a:buFontTx/>
              <a:buNone/>
            </a:pPr>
            <a:r>
              <a:rPr lang="fr-FR" altLang="fr-FR" b="1" dirty="0" err="1"/>
              <a:t>Then</a:t>
            </a:r>
            <a:r>
              <a:rPr lang="fr-FR" altLang="fr-FR" dirty="0"/>
              <a:t> use </a:t>
            </a:r>
            <a:r>
              <a:rPr lang="fr-FR" altLang="fr-FR" dirty="0" err="1"/>
              <a:t>other</a:t>
            </a:r>
            <a:r>
              <a:rPr lang="fr-FR" altLang="fr-FR" dirty="0"/>
              <a:t> IV and GMM </a:t>
            </a:r>
            <a:r>
              <a:rPr lang="fr-FR" altLang="fr-FR" dirty="0" err="1"/>
              <a:t>estimators</a:t>
            </a:r>
            <a:r>
              <a:rPr lang="fr-FR" altLang="fr-FR" dirty="0"/>
              <a:t>. </a:t>
            </a:r>
            <a:r>
              <a:rPr lang="fr-FR" altLang="fr-FR" dirty="0" err="1"/>
              <a:t>Xtivreg</a:t>
            </a:r>
            <a:r>
              <a:rPr lang="fr-FR" altLang="fr-FR" dirty="0"/>
              <a:t>, Xtabond2 (GMM ONLY IF T&lt;10!!) </a:t>
            </a:r>
          </a:p>
        </p:txBody>
      </p:sp>
    </p:spTree>
    <p:extLst>
      <p:ext uri="{BB962C8B-B14F-4D97-AF65-F5344CB8AC3E}">
        <p14:creationId xmlns:p14="http://schemas.microsoft.com/office/powerpoint/2010/main" val="479271574"/>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re 1"/>
          <p:cNvSpPr>
            <a:spLocks noGrp="1"/>
          </p:cNvSpPr>
          <p:nvPr>
            <p:ph type="title"/>
          </p:nvPr>
        </p:nvSpPr>
        <p:spPr/>
        <p:txBody>
          <a:bodyPr>
            <a:normAutofit fontScale="90000"/>
          </a:bodyPr>
          <a:lstStyle/>
          <a:p>
            <a:r>
              <a:rPr lang="fr-FR" altLang="fr-FR" dirty="0"/>
              <a:t>If </a:t>
            </a:r>
            <a:r>
              <a:rPr lang="fr-FR" altLang="fr-FR" dirty="0" err="1"/>
              <a:t>common</a:t>
            </a:r>
            <a:r>
              <a:rPr lang="fr-FR" altLang="fr-FR" dirty="0"/>
              <a:t> trends for </a:t>
            </a:r>
            <a:r>
              <a:rPr lang="fr-FR" altLang="fr-FR" dirty="0" err="1"/>
              <a:t>dependent</a:t>
            </a:r>
            <a:r>
              <a:rPr lang="fr-FR" altLang="fr-FR" dirty="0"/>
              <a:t> and </a:t>
            </a:r>
            <a:r>
              <a:rPr lang="fr-FR" altLang="fr-FR" dirty="0" err="1"/>
              <a:t>regressors</a:t>
            </a:r>
            <a:endParaRPr lang="fr-FR" altLang="fr-FR" dirty="0"/>
          </a:p>
        </p:txBody>
      </p:sp>
      <p:sp>
        <p:nvSpPr>
          <p:cNvPr id="68611" name="Espace réservé du contenu 2"/>
          <p:cNvSpPr>
            <a:spLocks noGrp="1"/>
          </p:cNvSpPr>
          <p:nvPr>
            <p:ph idx="1"/>
          </p:nvPr>
        </p:nvSpPr>
        <p:spPr/>
        <p:txBody>
          <a:bodyPr/>
          <a:lstStyle/>
          <a:p>
            <a:pPr marL="0" indent="0">
              <a:buFontTx/>
              <a:buNone/>
            </a:pPr>
            <a:r>
              <a:rPr lang="fr-FR" altLang="fr-FR" dirty="0"/>
              <a:t>Insight </a:t>
            </a:r>
            <a:r>
              <a:rPr lang="fr-FR" altLang="fr-FR" dirty="0" err="1"/>
              <a:t>from</a:t>
            </a:r>
            <a:r>
              <a:rPr lang="fr-FR" altLang="fr-FR" dirty="0"/>
              <a:t> simple </a:t>
            </a:r>
            <a:r>
              <a:rPr lang="fr-FR" altLang="fr-FR" dirty="0" err="1"/>
              <a:t>correlation</a:t>
            </a:r>
            <a:r>
              <a:rPr lang="fr-FR" altLang="fr-FR" dirty="0"/>
              <a:t> </a:t>
            </a:r>
            <a:r>
              <a:rPr lang="fr-FR" altLang="fr-FR" dirty="0" err="1"/>
              <a:t>with</a:t>
            </a:r>
            <a:r>
              <a:rPr lang="fr-FR" altLang="fr-FR" dirty="0"/>
              <a:t> trend</a:t>
            </a:r>
          </a:p>
          <a:p>
            <a:pPr marL="0" indent="0">
              <a:buFontTx/>
              <a:buNone/>
            </a:pPr>
            <a:r>
              <a:rPr lang="fr-FR" altLang="fr-FR" dirty="0"/>
              <a:t>and </a:t>
            </a:r>
            <a:r>
              <a:rPr lang="fr-FR" altLang="fr-FR" dirty="0" err="1"/>
              <a:t>auto-correlation</a:t>
            </a:r>
            <a:r>
              <a:rPr lang="fr-FR" altLang="fr-FR" dirty="0"/>
              <a:t>.</a:t>
            </a:r>
          </a:p>
          <a:p>
            <a:pPr marL="0" indent="0">
              <a:buFontTx/>
              <a:buNone/>
            </a:pPr>
            <a:r>
              <a:rPr lang="fr-FR" altLang="fr-FR" dirty="0" err="1"/>
              <a:t>Then</a:t>
            </a:r>
            <a:r>
              <a:rPr lang="fr-FR" altLang="fr-FR" dirty="0"/>
              <a:t>, </a:t>
            </a:r>
            <a:r>
              <a:rPr lang="fr-FR" altLang="fr-FR" dirty="0" err="1"/>
              <a:t>also</a:t>
            </a:r>
            <a:r>
              <a:rPr lang="fr-FR" altLang="fr-FR" dirty="0"/>
              <a:t> </a:t>
            </a:r>
            <a:r>
              <a:rPr lang="fr-FR" altLang="fr-FR" dirty="0" err="1"/>
              <a:t>add</a:t>
            </a:r>
            <a:r>
              <a:rPr lang="fr-FR" altLang="fr-FR" dirty="0"/>
              <a:t> in </a:t>
            </a:r>
            <a:r>
              <a:rPr lang="fr-FR" altLang="fr-FR" dirty="0" err="1"/>
              <a:t>your</a:t>
            </a:r>
            <a:r>
              <a:rPr lang="fr-FR" altLang="fr-FR" dirty="0"/>
              <a:t> tables: </a:t>
            </a:r>
          </a:p>
          <a:p>
            <a:pPr marL="514350" indent="-514350">
              <a:buFont typeface="+mj-lt"/>
              <a:buAutoNum type="arabicPeriod"/>
            </a:pPr>
            <a:r>
              <a:rPr lang="fr-FR" altLang="fr-FR" dirty="0" err="1"/>
              <a:t>Between</a:t>
            </a:r>
            <a:r>
              <a:rPr lang="fr-FR" altLang="fr-FR" dirty="0"/>
              <a:t> estimation.</a:t>
            </a:r>
          </a:p>
          <a:p>
            <a:pPr marL="514350" indent="-514350">
              <a:buFont typeface="+mj-lt"/>
              <a:buAutoNum type="arabicPeriod"/>
            </a:pPr>
            <a:r>
              <a:rPr lang="fr-FR" altLang="fr-FR" dirty="0"/>
              <a:t>First </a:t>
            </a:r>
            <a:r>
              <a:rPr lang="fr-FR" altLang="fr-FR" dirty="0" err="1"/>
              <a:t>differences</a:t>
            </a:r>
            <a:r>
              <a:rPr lang="fr-FR" altLang="fr-FR" dirty="0"/>
              <a:t> estimation (</a:t>
            </a:r>
            <a:r>
              <a:rPr lang="fr-FR" altLang="fr-FR" dirty="0" err="1"/>
              <a:t>prefered</a:t>
            </a:r>
            <a:r>
              <a:rPr lang="fr-FR" altLang="fr-FR" dirty="0"/>
              <a:t> one </a:t>
            </a:r>
            <a:r>
              <a:rPr lang="fr-FR" altLang="fr-FR" dirty="0" err="1"/>
              <a:t>before</a:t>
            </a:r>
            <a:r>
              <a:rPr lang="fr-FR" altLang="fr-FR" dirty="0"/>
              <a:t> IV estimation): </a:t>
            </a:r>
            <a:r>
              <a:rPr lang="fr-FR" altLang="fr-FR" dirty="0" err="1"/>
              <a:t>degrees</a:t>
            </a:r>
            <a:r>
              <a:rPr lang="fr-FR" altLang="fr-FR" dirty="0"/>
              <a:t> of </a:t>
            </a:r>
            <a:r>
              <a:rPr lang="fr-FR" altLang="fr-FR" dirty="0" err="1"/>
              <a:t>freedom</a:t>
            </a:r>
            <a:r>
              <a:rPr lang="fr-FR" altLang="fr-FR" dirty="0"/>
              <a:t> = 1st </a:t>
            </a:r>
            <a:r>
              <a:rPr lang="fr-FR" altLang="fr-FR" dirty="0" err="1"/>
              <a:t>period</a:t>
            </a:r>
            <a:r>
              <a:rPr lang="fr-FR" altLang="fr-FR" dirty="0"/>
              <a:t> </a:t>
            </a:r>
            <a:r>
              <a:rPr lang="fr-FR" altLang="fr-FR" dirty="0" err="1"/>
              <a:t>disappears</a:t>
            </a:r>
            <a:r>
              <a:rPr lang="fr-FR" altLang="fr-FR" dirty="0"/>
              <a:t>: (T-1)N observations</a:t>
            </a:r>
          </a:p>
        </p:txBody>
      </p:sp>
    </p:spTree>
    <p:extLst>
      <p:ext uri="{BB962C8B-B14F-4D97-AF65-F5344CB8AC3E}">
        <p14:creationId xmlns:p14="http://schemas.microsoft.com/office/powerpoint/2010/main" val="418117308"/>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9.3. FE (</a:t>
            </a:r>
            <a:r>
              <a:rPr lang="fr-FR" dirty="0" err="1"/>
              <a:t>Within</a:t>
            </a:r>
            <a:r>
              <a:rPr lang="fr-FR" dirty="0"/>
              <a:t>)</a:t>
            </a:r>
            <a:endParaRPr lang="en-GB" dirty="0"/>
          </a:p>
        </p:txBody>
      </p:sp>
    </p:spTree>
    <p:extLst>
      <p:ext uri="{BB962C8B-B14F-4D97-AF65-F5344CB8AC3E}">
        <p14:creationId xmlns:p14="http://schemas.microsoft.com/office/powerpoint/2010/main" val="3068999630"/>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C6ECD-3103-0290-CDBE-8BCF2BCAC0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E71379-D1A8-C147-4E67-5778E95006C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28116295"/>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Xtreg</a:t>
            </a:r>
            <a:r>
              <a:rPr lang="fr-FR" dirty="0"/>
              <a:t> </a:t>
            </a:r>
            <a:r>
              <a:rPr lang="fr-FR" dirty="0" err="1"/>
              <a:t>fe</a:t>
            </a:r>
            <a:r>
              <a:rPr lang="fr-FR" dirty="0"/>
              <a:t>: a 2nd </a:t>
            </a:r>
            <a:r>
              <a:rPr lang="fr-FR" dirty="0" err="1"/>
              <a:t>way</a:t>
            </a:r>
            <a:r>
              <a:rPr lang="fr-FR" dirty="0"/>
              <a:t> to </a:t>
            </a:r>
            <a:r>
              <a:rPr lang="fr-FR" dirty="0" err="1"/>
              <a:t>compute</a:t>
            </a:r>
            <a:r>
              <a:rPr lang="fr-FR" dirty="0"/>
              <a:t> </a:t>
            </a:r>
            <a:r>
              <a:rPr lang="fr-FR" dirty="0" err="1"/>
              <a:t>fixed</a:t>
            </a:r>
            <a:r>
              <a:rPr lang="fr-FR" dirty="0"/>
              <a:t> </a:t>
            </a:r>
            <a:r>
              <a:rPr lang="fr-FR" dirty="0" err="1"/>
              <a:t>effects</a:t>
            </a:r>
            <a:endParaRPr lang="fr-FR" dirty="0"/>
          </a:p>
        </p:txBody>
      </p:sp>
      <p:sp>
        <p:nvSpPr>
          <p:cNvPr id="3" name="Espace réservé du contenu 2"/>
          <p:cNvSpPr>
            <a:spLocks noGrp="1"/>
          </p:cNvSpPr>
          <p:nvPr>
            <p:ph idx="1"/>
          </p:nvPr>
        </p:nvSpPr>
        <p:spPr/>
        <p:txBody>
          <a:bodyPr/>
          <a:lstStyle/>
          <a:p>
            <a:pPr marL="0" indent="0">
              <a:buNone/>
            </a:pPr>
            <a:endParaRPr lang="fr-FR" dirty="0"/>
          </a:p>
          <a:p>
            <a:pPr marL="0" indent="0">
              <a:buNone/>
            </a:pPr>
            <a:r>
              <a:rPr lang="fr-FR" dirty="0"/>
              <a:t>The software code programs: </a:t>
            </a:r>
          </a:p>
          <a:p>
            <a:pPr marL="514350" indent="-514350">
              <a:buFont typeface="+mj-lt"/>
              <a:buAutoNum type="arabicPeriod"/>
            </a:pPr>
            <a:r>
              <a:rPr lang="fr-FR" dirty="0"/>
              <a:t>OLS on </a:t>
            </a:r>
            <a:r>
              <a:rPr lang="fr-FR" dirty="0" err="1"/>
              <a:t>within</a:t>
            </a:r>
            <a:r>
              <a:rPr lang="fr-FR" dirty="0"/>
              <a:t> </a:t>
            </a:r>
            <a:r>
              <a:rPr lang="fr-FR" dirty="0" err="1"/>
              <a:t>transformed</a:t>
            </a:r>
            <a:r>
              <a:rPr lang="fr-FR" dirty="0"/>
              <a:t> variables (</a:t>
            </a:r>
            <a:r>
              <a:rPr lang="fr-FR" dirty="0" err="1"/>
              <a:t>theta</a:t>
            </a:r>
            <a:r>
              <a:rPr lang="fr-FR" dirty="0"/>
              <a:t>=0 </a:t>
            </a:r>
            <a:r>
              <a:rPr lang="fr-FR" dirty="0" err="1"/>
              <a:t>with</a:t>
            </a:r>
            <a:r>
              <a:rPr lang="fr-FR" dirty="0"/>
              <a:t> respect to GLS </a:t>
            </a:r>
            <a:r>
              <a:rPr lang="fr-FR" dirty="0" err="1"/>
              <a:t>without</a:t>
            </a:r>
            <a:r>
              <a:rPr lang="fr-FR" dirty="0"/>
              <a:t> x(i.)). </a:t>
            </a:r>
          </a:p>
          <a:p>
            <a:pPr marL="514350" indent="-514350">
              <a:buFont typeface="+mj-lt"/>
              <a:buAutoNum type="arabicPeriod"/>
            </a:pPr>
            <a:r>
              <a:rPr lang="fr-FR" dirty="0"/>
              <a:t>It corrects </a:t>
            </a:r>
            <a:r>
              <a:rPr lang="fr-FR" dirty="0" err="1"/>
              <a:t>degrees</a:t>
            </a:r>
            <a:r>
              <a:rPr lang="fr-FR" dirty="0"/>
              <a:t> of </a:t>
            </a:r>
            <a:r>
              <a:rPr lang="fr-FR" dirty="0" err="1"/>
              <a:t>freedom</a:t>
            </a:r>
            <a:r>
              <a:rPr lang="fr-FR" dirty="0"/>
              <a:t>: NT – N – k </a:t>
            </a:r>
            <a:r>
              <a:rPr lang="fr-FR" dirty="0" err="1"/>
              <a:t>instead</a:t>
            </a:r>
            <a:r>
              <a:rPr lang="fr-FR" dirty="0"/>
              <a:t> of NT – k – 1.</a:t>
            </a:r>
          </a:p>
        </p:txBody>
      </p:sp>
    </p:spTree>
    <p:extLst>
      <p:ext uri="{BB962C8B-B14F-4D97-AF65-F5344CB8AC3E}">
        <p14:creationId xmlns:p14="http://schemas.microsoft.com/office/powerpoint/2010/main" val="915416208"/>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D12F-1D09-D52A-3F33-6BAB10E836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99C339-BC28-73BB-5E5C-CD4A5AC6CC4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82275155"/>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8AF54-6960-ABE5-3718-4AB40CE131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37F217-9080-E869-5155-83C872EF78C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61994428"/>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1F3A3-F811-84BF-6B41-8320933A78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018372-5C72-8DD4-3623-9FF74EB50C1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87322802"/>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re 1"/>
          <p:cNvSpPr>
            <a:spLocks noGrp="1"/>
          </p:cNvSpPr>
          <p:nvPr>
            <p:ph type="title"/>
          </p:nvPr>
        </p:nvSpPr>
        <p:spPr/>
        <p:txBody>
          <a:bodyPr>
            <a:normAutofit fontScale="90000"/>
          </a:bodyPr>
          <a:lstStyle/>
          <a:p>
            <a:r>
              <a:rPr lang="fr-FR" altLang="fr-FR" dirty="0" err="1"/>
              <a:t>Within</a:t>
            </a:r>
            <a:r>
              <a:rPr lang="fr-FR" altLang="fr-FR" dirty="0"/>
              <a:t> </a:t>
            </a:r>
            <a:r>
              <a:rPr lang="fr-FR" altLang="fr-FR" dirty="0" err="1"/>
              <a:t>estimator</a:t>
            </a:r>
            <a:r>
              <a:rPr lang="fr-FR" altLang="fr-FR" dirty="0"/>
              <a:t>: </a:t>
            </a:r>
            <a:br>
              <a:rPr lang="fr-FR" altLang="fr-FR" dirty="0"/>
            </a:br>
            <a:r>
              <a:rPr lang="fr-FR" altLang="fr-FR" dirty="0"/>
              <a:t>NT-N-k=N(T-1)-k</a:t>
            </a:r>
          </a:p>
        </p:txBody>
      </p:sp>
      <p:sp>
        <p:nvSpPr>
          <p:cNvPr id="51203" name="Espace réservé du contenu 2"/>
          <p:cNvSpPr>
            <a:spLocks noGrp="1"/>
          </p:cNvSpPr>
          <p:nvPr>
            <p:ph idx="1"/>
          </p:nvPr>
        </p:nvSpPr>
        <p:spPr/>
        <p:txBody>
          <a:bodyPr/>
          <a:lstStyle/>
          <a:p>
            <a:pPr marL="0" indent="0">
              <a:buNone/>
            </a:pPr>
            <a:r>
              <a:rPr lang="fr-FR" altLang="fr-FR" dirty="0"/>
              <a:t>OLS on </a:t>
            </a:r>
            <a:r>
              <a:rPr lang="fr-FR" altLang="fr-FR" dirty="0" err="1"/>
              <a:t>within</a:t>
            </a:r>
            <a:r>
              <a:rPr lang="fr-FR" altLang="fr-FR" dirty="0"/>
              <a:t> </a:t>
            </a:r>
            <a:r>
              <a:rPr lang="fr-FR" altLang="fr-FR" dirty="0" err="1"/>
              <a:t>transformed</a:t>
            </a:r>
            <a:r>
              <a:rPr lang="fr-FR" altLang="fr-FR" dirty="0"/>
              <a:t> variables:</a:t>
            </a:r>
          </a:p>
          <a:p>
            <a:pPr marL="0" indent="0">
              <a:buFontTx/>
              <a:buNone/>
            </a:pPr>
            <a:r>
              <a:rPr lang="fr-FR" altLang="fr-FR" b="1" dirty="0"/>
              <a:t>NT-N-k</a:t>
            </a:r>
            <a:r>
              <a:rPr lang="fr-FR" altLang="fr-FR" dirty="0"/>
              <a:t> </a:t>
            </a:r>
            <a:r>
              <a:rPr lang="fr-FR" altLang="fr-FR" dirty="0" err="1"/>
              <a:t>degrees</a:t>
            </a:r>
            <a:r>
              <a:rPr lang="fr-FR" altLang="fr-FR" dirty="0"/>
              <a:t> of </a:t>
            </a:r>
            <a:r>
              <a:rPr lang="fr-FR" altLang="fr-FR" dirty="0" err="1"/>
              <a:t>freedom</a:t>
            </a:r>
            <a:r>
              <a:rPr lang="fr-FR" altLang="fr-FR" dirty="0"/>
              <a:t> (</a:t>
            </a:r>
            <a:r>
              <a:rPr lang="fr-FR" altLang="fr-FR" dirty="0" err="1"/>
              <a:t>dof</a:t>
            </a:r>
            <a:r>
              <a:rPr lang="fr-FR" altLang="fr-FR" dirty="0"/>
              <a:t>)</a:t>
            </a:r>
          </a:p>
          <a:p>
            <a:pPr marL="0" indent="0">
              <a:buFontTx/>
              <a:buNone/>
            </a:pPr>
            <a:r>
              <a:rPr lang="fr-FR" altLang="fr-FR" b="1" dirty="0"/>
              <a:t>&gt;&gt;</a:t>
            </a:r>
            <a:r>
              <a:rPr lang="fr-FR" altLang="fr-FR" dirty="0"/>
              <a:t> cross section and </a:t>
            </a:r>
            <a:r>
              <a:rPr lang="fr-FR" altLang="fr-FR" dirty="0" err="1"/>
              <a:t>between</a:t>
            </a:r>
            <a:r>
              <a:rPr lang="fr-FR" altLang="fr-FR" dirty="0"/>
              <a:t> </a:t>
            </a:r>
            <a:r>
              <a:rPr lang="fr-FR" altLang="fr-FR" dirty="0" err="1"/>
              <a:t>dof</a:t>
            </a:r>
            <a:r>
              <a:rPr lang="fr-FR" altLang="fr-FR" dirty="0"/>
              <a:t> </a:t>
            </a:r>
            <a:r>
              <a:rPr lang="fr-FR" altLang="fr-FR" b="1" dirty="0"/>
              <a:t>N-k-1</a:t>
            </a:r>
            <a:r>
              <a:rPr lang="fr-FR" altLang="fr-FR" dirty="0"/>
              <a:t>,   time </a:t>
            </a:r>
            <a:r>
              <a:rPr lang="fr-FR" altLang="fr-FR" dirty="0" err="1"/>
              <a:t>series</a:t>
            </a:r>
            <a:r>
              <a:rPr lang="fr-FR" altLang="fr-FR" dirty="0"/>
              <a:t> </a:t>
            </a:r>
            <a:r>
              <a:rPr lang="fr-FR" altLang="fr-FR" dirty="0" err="1"/>
              <a:t>dof</a:t>
            </a:r>
            <a:r>
              <a:rPr lang="fr-FR" altLang="fr-FR" dirty="0"/>
              <a:t> </a:t>
            </a:r>
            <a:r>
              <a:rPr lang="fr-FR" altLang="fr-FR" b="1" dirty="0"/>
              <a:t>T-k-1</a:t>
            </a:r>
          </a:p>
          <a:p>
            <a:pPr marL="0" indent="0">
              <a:buFontTx/>
              <a:buNone/>
            </a:pPr>
            <a:r>
              <a:rPr lang="fr-FR" altLang="fr-FR" dirty="0" err="1"/>
              <a:t>Number</a:t>
            </a:r>
            <a:r>
              <a:rPr lang="fr-FR" altLang="fr-FR" dirty="0"/>
              <a:t> of </a:t>
            </a:r>
            <a:r>
              <a:rPr lang="fr-FR" altLang="fr-FR" dirty="0" err="1"/>
              <a:t>regressors</a:t>
            </a:r>
            <a:r>
              <a:rPr lang="fr-FR" altLang="fr-FR" dirty="0"/>
              <a:t> </a:t>
            </a:r>
            <a:r>
              <a:rPr lang="fr-FR" altLang="fr-FR" dirty="0" err="1"/>
              <a:t>excluding</a:t>
            </a:r>
            <a:r>
              <a:rPr lang="fr-FR" altLang="fr-FR" dirty="0"/>
              <a:t> </a:t>
            </a:r>
            <a:r>
              <a:rPr lang="fr-FR" altLang="fr-FR" dirty="0" err="1"/>
              <a:t>intercept</a:t>
            </a:r>
            <a:r>
              <a:rPr lang="fr-FR" altLang="fr-FR" dirty="0"/>
              <a:t> : k</a:t>
            </a:r>
          </a:p>
          <a:p>
            <a:pPr marL="0" indent="0" algn="just">
              <a:buFontTx/>
              <a:buNone/>
            </a:pPr>
            <a:r>
              <a:rPr lang="fr-FR" altLang="fr-FR" dirty="0"/>
              <a:t>The </a:t>
            </a:r>
            <a:r>
              <a:rPr lang="fr-FR" altLang="fr-FR" dirty="0" err="1"/>
              <a:t>intercept</a:t>
            </a:r>
            <a:r>
              <a:rPr lang="fr-FR" altLang="fr-FR" dirty="0"/>
              <a:t> </a:t>
            </a:r>
            <a:r>
              <a:rPr lang="fr-FR" altLang="fr-FR" dirty="0" err="1"/>
              <a:t>is</a:t>
            </a:r>
            <a:r>
              <a:rPr lang="fr-FR" altLang="fr-FR" dirty="0"/>
              <a:t> </a:t>
            </a:r>
            <a:r>
              <a:rPr lang="fr-FR" altLang="fr-FR" dirty="0" err="1"/>
              <a:t>always</a:t>
            </a:r>
            <a:r>
              <a:rPr lang="fr-FR" altLang="fr-FR" dirty="0"/>
              <a:t> </a:t>
            </a:r>
            <a:r>
              <a:rPr lang="fr-FR" altLang="fr-FR" dirty="0" err="1"/>
              <a:t>zero</a:t>
            </a:r>
            <a:r>
              <a:rPr lang="fr-FR" altLang="fr-FR" dirty="0"/>
              <a:t>, </a:t>
            </a:r>
            <a:r>
              <a:rPr lang="fr-FR" altLang="fr-FR" dirty="0" err="1"/>
              <a:t>because</a:t>
            </a:r>
            <a:r>
              <a:rPr lang="fr-FR" altLang="fr-FR" dirty="0"/>
              <a:t> </a:t>
            </a:r>
            <a:r>
              <a:rPr lang="fr-FR" altLang="fr-FR" dirty="0" err="1"/>
              <a:t>within</a:t>
            </a:r>
            <a:r>
              <a:rPr lang="fr-FR" altLang="fr-FR" dirty="0"/>
              <a:t> </a:t>
            </a:r>
            <a:r>
              <a:rPr lang="fr-FR" altLang="fr-FR" dirty="0" err="1"/>
              <a:t>transformed</a:t>
            </a:r>
            <a:r>
              <a:rPr lang="fr-FR" altLang="fr-FR" dirty="0"/>
              <a:t> </a:t>
            </a:r>
            <a:r>
              <a:rPr lang="fr-FR" altLang="fr-FR" dirty="0" err="1"/>
              <a:t>dependent</a:t>
            </a:r>
            <a:r>
              <a:rPr lang="fr-FR" altLang="fr-FR" dirty="0"/>
              <a:t> variable and </a:t>
            </a:r>
            <a:r>
              <a:rPr lang="fr-FR" altLang="fr-FR" dirty="0" err="1"/>
              <a:t>regressors</a:t>
            </a:r>
            <a:r>
              <a:rPr lang="fr-FR" altLang="fr-FR" dirty="0"/>
              <a:t> have all </a:t>
            </a:r>
            <a:r>
              <a:rPr lang="fr-FR" altLang="fr-FR" dirty="0" err="1"/>
              <a:t>zero</a:t>
            </a:r>
            <a:r>
              <a:rPr lang="fr-FR" altLang="fr-FR" dirty="0"/>
              <a:t> </a:t>
            </a:r>
            <a:r>
              <a:rPr lang="fr-FR" altLang="fr-FR" dirty="0" err="1"/>
              <a:t>mean</a:t>
            </a:r>
            <a:r>
              <a:rPr lang="fr-FR" altLang="fr-FR" dirty="0"/>
              <a:t>.</a:t>
            </a:r>
          </a:p>
        </p:txBody>
      </p:sp>
    </p:spTree>
    <p:extLst>
      <p:ext uri="{BB962C8B-B14F-4D97-AF65-F5344CB8AC3E}">
        <p14:creationId xmlns:p14="http://schemas.microsoft.com/office/powerpoint/2010/main" val="1567977546"/>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Within</a:t>
            </a:r>
            <a:r>
              <a:rPr lang="fr-FR" dirty="0"/>
              <a:t> as an IV </a:t>
            </a:r>
            <a:r>
              <a:rPr lang="fr-FR" dirty="0" err="1"/>
              <a:t>estimator</a:t>
            </a:r>
            <a:r>
              <a:rPr lang="fr-FR" dirty="0"/>
              <a:t>: </a:t>
            </a:r>
            <a:br>
              <a:rPr lang="fr-FR" dirty="0"/>
            </a:br>
            <a:r>
              <a:rPr lang="fr-FR" dirty="0" err="1"/>
              <a:t>Eliminates</a:t>
            </a:r>
            <a:r>
              <a:rPr lang="fr-FR" dirty="0"/>
              <a:t> </a:t>
            </a:r>
            <a:r>
              <a:rPr lang="el-GR" altLang="fr-FR" b="1" dirty="0">
                <a:solidFill>
                  <a:srgbClr val="00B050"/>
                </a:solidFill>
              </a:rPr>
              <a:t>α</a:t>
            </a:r>
            <a:r>
              <a:rPr lang="fr-FR" altLang="fr-FR" b="1" dirty="0">
                <a:solidFill>
                  <a:srgbClr val="00B050"/>
                </a:solidFill>
              </a:rPr>
              <a:t>(i)</a:t>
            </a:r>
            <a:r>
              <a:rPr lang="fr-FR" altLang="fr-FR" dirty="0"/>
              <a:t> </a:t>
            </a:r>
            <a:r>
              <a:rPr lang="fr-FR" altLang="fr-FR" dirty="0" err="1"/>
              <a:t>endogeneity</a:t>
            </a:r>
            <a:endParaRPr lang="fr-FR" dirty="0"/>
          </a:p>
        </p:txBody>
      </p:sp>
      <p:sp>
        <p:nvSpPr>
          <p:cNvPr id="3" name="Espace réservé du contenu 2"/>
          <p:cNvSpPr>
            <a:spLocks noGrp="1"/>
          </p:cNvSpPr>
          <p:nvPr>
            <p:ph idx="1"/>
          </p:nvPr>
        </p:nvSpPr>
        <p:spPr/>
        <p:txBody>
          <a:bodyPr/>
          <a:lstStyle/>
          <a:p>
            <a:pPr marL="0" indent="0">
              <a:buNone/>
            </a:pPr>
            <a:r>
              <a:rPr lang="fr-FR" altLang="fr-FR" dirty="0"/>
              <a:t>y(</a:t>
            </a:r>
            <a:r>
              <a:rPr lang="fr-FR" altLang="fr-FR" dirty="0" err="1"/>
              <a:t>i,t</a:t>
            </a:r>
            <a:r>
              <a:rPr lang="fr-FR" altLang="fr-FR" dirty="0"/>
              <a:t>)=</a:t>
            </a:r>
            <a:r>
              <a:rPr lang="el-GR" altLang="fr-FR" dirty="0">
                <a:solidFill>
                  <a:srgbClr val="FF0000"/>
                </a:solidFill>
              </a:rPr>
              <a:t>β</a:t>
            </a:r>
            <a:r>
              <a:rPr lang="fr-FR" altLang="fr-FR" dirty="0">
                <a:solidFill>
                  <a:srgbClr val="FF0000"/>
                </a:solidFill>
              </a:rPr>
              <a:t>(</a:t>
            </a:r>
            <a:r>
              <a:rPr lang="fr-FR" altLang="fr-FR" dirty="0" err="1">
                <a:solidFill>
                  <a:srgbClr val="FF0000"/>
                </a:solidFill>
              </a:rPr>
              <a:t>cst</a:t>
            </a:r>
            <a:r>
              <a:rPr lang="fr-FR" altLang="fr-FR" dirty="0">
                <a:solidFill>
                  <a:srgbClr val="FF0000"/>
                </a:solidFill>
              </a:rPr>
              <a:t>)</a:t>
            </a:r>
            <a:r>
              <a:rPr lang="fr-FR" altLang="fr-FR" dirty="0"/>
              <a:t>+</a:t>
            </a:r>
            <a:r>
              <a:rPr lang="el-GR" altLang="fr-FR" dirty="0">
                <a:solidFill>
                  <a:srgbClr val="FF0000"/>
                </a:solidFill>
              </a:rPr>
              <a:t>β</a:t>
            </a:r>
            <a:r>
              <a:rPr lang="fr-FR" altLang="fr-FR" dirty="0">
                <a:solidFill>
                  <a:srgbClr val="FF0000"/>
                </a:solidFill>
              </a:rPr>
              <a:t>(x)</a:t>
            </a:r>
            <a:r>
              <a:rPr lang="fr-FR" altLang="fr-FR" dirty="0"/>
              <a:t>.x(</a:t>
            </a:r>
            <a:r>
              <a:rPr lang="fr-FR" altLang="fr-FR" dirty="0" err="1"/>
              <a:t>i,t</a:t>
            </a:r>
            <a:r>
              <a:rPr lang="fr-FR" altLang="fr-FR" dirty="0"/>
              <a:t>)+</a:t>
            </a:r>
            <a:r>
              <a:rPr lang="el-GR" altLang="fr-FR" b="1" dirty="0">
                <a:solidFill>
                  <a:srgbClr val="00B050"/>
                </a:solidFill>
              </a:rPr>
              <a:t>α</a:t>
            </a:r>
            <a:r>
              <a:rPr lang="fr-FR" altLang="fr-FR" b="1" dirty="0">
                <a:solidFill>
                  <a:srgbClr val="00B050"/>
                </a:solidFill>
              </a:rPr>
              <a:t>(i)+</a:t>
            </a:r>
            <a:r>
              <a:rPr lang="el-GR" altLang="fr-FR" b="1" dirty="0">
                <a:solidFill>
                  <a:srgbClr val="00B050"/>
                </a:solidFill>
              </a:rPr>
              <a:t>α</a:t>
            </a:r>
            <a:r>
              <a:rPr lang="fr-FR" altLang="fr-FR" b="1" dirty="0">
                <a:solidFill>
                  <a:srgbClr val="00B050"/>
                </a:solidFill>
              </a:rPr>
              <a:t>(t)+</a:t>
            </a:r>
            <a:r>
              <a:rPr lang="el-GR" altLang="fr-FR" b="1" dirty="0">
                <a:solidFill>
                  <a:srgbClr val="00B050"/>
                </a:solidFill>
              </a:rPr>
              <a:t>ε</a:t>
            </a:r>
            <a:r>
              <a:rPr lang="fr-FR" altLang="fr-FR" b="1" dirty="0">
                <a:solidFill>
                  <a:srgbClr val="00B050"/>
                </a:solidFill>
              </a:rPr>
              <a:t>(</a:t>
            </a:r>
            <a:r>
              <a:rPr lang="fr-FR" altLang="fr-FR" b="1" dirty="0" err="1">
                <a:solidFill>
                  <a:srgbClr val="00B050"/>
                </a:solidFill>
              </a:rPr>
              <a:t>i,t</a:t>
            </a:r>
            <a:r>
              <a:rPr lang="fr-FR" altLang="fr-FR" b="1" dirty="0">
                <a:solidFill>
                  <a:srgbClr val="00B050"/>
                </a:solidFill>
              </a:rPr>
              <a:t>)</a:t>
            </a:r>
          </a:p>
          <a:p>
            <a:pPr marL="0" indent="0">
              <a:buNone/>
            </a:pPr>
            <a:r>
              <a:rPr lang="fr-FR" altLang="fr-FR" dirty="0"/>
              <a:t>The </a:t>
            </a:r>
            <a:r>
              <a:rPr lang="fr-FR" altLang="fr-FR" dirty="0" err="1"/>
              <a:t>operator</a:t>
            </a:r>
            <a:r>
              <a:rPr lang="fr-FR" altLang="fr-FR" dirty="0"/>
              <a:t> </a:t>
            </a:r>
            <a:r>
              <a:rPr lang="fr-FR" altLang="fr-FR" dirty="0" err="1"/>
              <a:t>between</a:t>
            </a:r>
            <a:r>
              <a:rPr lang="fr-FR" altLang="fr-FR" dirty="0"/>
              <a:t> leads to:</a:t>
            </a:r>
          </a:p>
          <a:p>
            <a:pPr marL="0" indent="0">
              <a:buNone/>
            </a:pPr>
            <a:r>
              <a:rPr lang="fr-FR" altLang="fr-FR" dirty="0"/>
              <a:t>y(i,.)=</a:t>
            </a:r>
            <a:r>
              <a:rPr lang="el-GR" altLang="fr-FR" dirty="0">
                <a:solidFill>
                  <a:srgbClr val="FF0000"/>
                </a:solidFill>
              </a:rPr>
              <a:t>β</a:t>
            </a:r>
            <a:r>
              <a:rPr lang="fr-FR" altLang="fr-FR" dirty="0">
                <a:solidFill>
                  <a:srgbClr val="FF0000"/>
                </a:solidFill>
              </a:rPr>
              <a:t>(</a:t>
            </a:r>
            <a:r>
              <a:rPr lang="fr-FR" altLang="fr-FR" dirty="0" err="1">
                <a:solidFill>
                  <a:srgbClr val="FF0000"/>
                </a:solidFill>
              </a:rPr>
              <a:t>cst</a:t>
            </a:r>
            <a:r>
              <a:rPr lang="fr-FR" altLang="fr-FR" dirty="0">
                <a:solidFill>
                  <a:srgbClr val="FF0000"/>
                </a:solidFill>
              </a:rPr>
              <a:t>)</a:t>
            </a:r>
            <a:r>
              <a:rPr lang="fr-FR" altLang="fr-FR" dirty="0"/>
              <a:t>+</a:t>
            </a:r>
            <a:r>
              <a:rPr lang="el-GR" altLang="fr-FR" dirty="0">
                <a:solidFill>
                  <a:srgbClr val="FF0000"/>
                </a:solidFill>
              </a:rPr>
              <a:t>β</a:t>
            </a:r>
            <a:r>
              <a:rPr lang="fr-FR" altLang="fr-FR" dirty="0">
                <a:solidFill>
                  <a:srgbClr val="FF0000"/>
                </a:solidFill>
              </a:rPr>
              <a:t>(x)</a:t>
            </a:r>
            <a:r>
              <a:rPr lang="fr-FR" altLang="fr-FR" dirty="0"/>
              <a:t>.x(i,.)+</a:t>
            </a:r>
            <a:r>
              <a:rPr lang="el-GR" altLang="fr-FR" b="1" dirty="0">
                <a:solidFill>
                  <a:srgbClr val="00B050"/>
                </a:solidFill>
              </a:rPr>
              <a:t>α</a:t>
            </a:r>
            <a:r>
              <a:rPr lang="fr-FR" altLang="fr-FR" b="1" dirty="0">
                <a:solidFill>
                  <a:srgbClr val="00B050"/>
                </a:solidFill>
              </a:rPr>
              <a:t>(i)+</a:t>
            </a:r>
            <a:r>
              <a:rPr lang="el-GR" altLang="fr-FR" b="1" dirty="0">
                <a:solidFill>
                  <a:srgbClr val="00B050"/>
                </a:solidFill>
              </a:rPr>
              <a:t>ε</a:t>
            </a:r>
            <a:r>
              <a:rPr lang="fr-FR" altLang="fr-FR" b="1" dirty="0">
                <a:solidFill>
                  <a:srgbClr val="00B050"/>
                </a:solidFill>
              </a:rPr>
              <a:t>(i,.)</a:t>
            </a:r>
          </a:p>
          <a:p>
            <a:pPr marL="0" indent="0">
              <a:buNone/>
            </a:pPr>
            <a:r>
              <a:rPr lang="fr-FR" altLang="fr-FR" dirty="0"/>
              <a:t>The </a:t>
            </a:r>
            <a:r>
              <a:rPr lang="fr-FR" altLang="fr-FR" dirty="0" err="1"/>
              <a:t>difference</a:t>
            </a:r>
            <a:r>
              <a:rPr lang="fr-FR" altLang="fr-FR" dirty="0"/>
              <a:t> </a:t>
            </a:r>
            <a:r>
              <a:rPr lang="fr-FR" altLang="fr-FR" dirty="0" err="1"/>
              <a:t>eliminates</a:t>
            </a:r>
            <a:r>
              <a:rPr lang="fr-FR" altLang="fr-FR" dirty="0"/>
              <a:t> </a:t>
            </a:r>
            <a:r>
              <a:rPr lang="el-GR" altLang="fr-FR" b="1" dirty="0">
                <a:solidFill>
                  <a:srgbClr val="00B050"/>
                </a:solidFill>
              </a:rPr>
              <a:t>α</a:t>
            </a:r>
            <a:r>
              <a:rPr lang="fr-FR" altLang="fr-FR" b="1" dirty="0">
                <a:solidFill>
                  <a:srgbClr val="00B050"/>
                </a:solidFill>
              </a:rPr>
              <a:t>(i)</a:t>
            </a:r>
            <a:r>
              <a:rPr lang="fr-FR" altLang="fr-FR" dirty="0"/>
              <a:t>, the </a:t>
            </a:r>
            <a:r>
              <a:rPr lang="el-GR" altLang="fr-FR" dirty="0">
                <a:solidFill>
                  <a:srgbClr val="FF0000"/>
                </a:solidFill>
              </a:rPr>
              <a:t>β</a:t>
            </a:r>
            <a:r>
              <a:rPr lang="fr-FR" altLang="fr-FR" dirty="0">
                <a:solidFill>
                  <a:srgbClr val="FF0000"/>
                </a:solidFill>
              </a:rPr>
              <a:t>(</a:t>
            </a:r>
            <a:r>
              <a:rPr lang="fr-FR" altLang="fr-FR" dirty="0" err="1">
                <a:solidFill>
                  <a:srgbClr val="FF0000"/>
                </a:solidFill>
              </a:rPr>
              <a:t>cst</a:t>
            </a:r>
            <a:r>
              <a:rPr lang="fr-FR" altLang="fr-FR" dirty="0">
                <a:solidFill>
                  <a:srgbClr val="FF0000"/>
                </a:solidFill>
              </a:rPr>
              <a:t>)</a:t>
            </a:r>
            <a:r>
              <a:rPr lang="fr-FR" altLang="fr-FR" dirty="0"/>
              <a:t> constant and all time invariant </a:t>
            </a:r>
            <a:r>
              <a:rPr lang="fr-FR" altLang="fr-FR" dirty="0" err="1"/>
              <a:t>regressors</a:t>
            </a:r>
            <a:r>
              <a:rPr lang="fr-FR" altLang="fr-FR" dirty="0"/>
              <a:t> z(i) in the </a:t>
            </a:r>
            <a:r>
              <a:rPr lang="fr-FR" altLang="fr-FR" dirty="0" err="1"/>
              <a:t>sample</a:t>
            </a:r>
            <a:r>
              <a:rPr lang="fr-FR" altLang="fr-FR" dirty="0"/>
              <a:t> </a:t>
            </a:r>
            <a:r>
              <a:rPr lang="fr-FR" altLang="fr-FR" dirty="0" err="1"/>
              <a:t>period</a:t>
            </a:r>
            <a:r>
              <a:rPr lang="fr-FR" altLang="fr-FR" dirty="0"/>
              <a:t>, the </a:t>
            </a:r>
            <a:r>
              <a:rPr lang="fr-FR" altLang="fr-FR" dirty="0" err="1"/>
              <a:t>average</a:t>
            </a:r>
            <a:r>
              <a:rPr lang="fr-FR" altLang="fr-FR" dirty="0"/>
              <a:t> over time of </a:t>
            </a:r>
            <a:r>
              <a:rPr lang="el-GR" altLang="fr-FR" b="1" dirty="0">
                <a:solidFill>
                  <a:srgbClr val="00B050"/>
                </a:solidFill>
              </a:rPr>
              <a:t>α</a:t>
            </a:r>
            <a:r>
              <a:rPr lang="fr-FR" altLang="fr-FR" b="1" dirty="0">
                <a:solidFill>
                  <a:srgbClr val="00B050"/>
                </a:solidFill>
              </a:rPr>
              <a:t>(t) </a:t>
            </a:r>
            <a:r>
              <a:rPr lang="fr-FR" altLang="fr-FR" dirty="0" err="1"/>
              <a:t>may</a:t>
            </a:r>
            <a:r>
              <a:rPr lang="fr-FR" altLang="fr-FR" dirty="0"/>
              <a:t> </a:t>
            </a:r>
            <a:r>
              <a:rPr lang="fr-FR" altLang="fr-FR" dirty="0" err="1"/>
              <a:t>be</a:t>
            </a:r>
            <a:r>
              <a:rPr lang="fr-FR" altLang="fr-FR" dirty="0"/>
              <a:t> </a:t>
            </a:r>
            <a:r>
              <a:rPr lang="fr-FR" altLang="fr-FR" dirty="0" err="1"/>
              <a:t>chosen</a:t>
            </a:r>
            <a:r>
              <a:rPr lang="fr-FR" altLang="fr-FR" dirty="0"/>
              <a:t> as </a:t>
            </a:r>
            <a:r>
              <a:rPr lang="fr-FR" altLang="fr-FR" dirty="0" err="1"/>
              <a:t>zero</a:t>
            </a:r>
            <a:r>
              <a:rPr lang="fr-FR" altLang="fr-FR" dirty="0"/>
              <a:t>:</a:t>
            </a:r>
          </a:p>
          <a:p>
            <a:pPr marL="0" indent="0">
              <a:buNone/>
            </a:pPr>
            <a:r>
              <a:rPr lang="fr-FR" altLang="fr-FR" dirty="0"/>
              <a:t>y(</a:t>
            </a:r>
            <a:r>
              <a:rPr lang="fr-FR" altLang="fr-FR" dirty="0" err="1"/>
              <a:t>it</a:t>
            </a:r>
            <a:r>
              <a:rPr lang="fr-FR" altLang="fr-FR" dirty="0"/>
              <a:t>)-y(i,.)=</a:t>
            </a:r>
            <a:r>
              <a:rPr lang="el-GR" altLang="fr-FR" dirty="0">
                <a:solidFill>
                  <a:srgbClr val="FF0000"/>
                </a:solidFill>
              </a:rPr>
              <a:t>β</a:t>
            </a:r>
            <a:r>
              <a:rPr lang="fr-FR" altLang="fr-FR" dirty="0">
                <a:solidFill>
                  <a:srgbClr val="FF0000"/>
                </a:solidFill>
              </a:rPr>
              <a:t>(x)</a:t>
            </a:r>
            <a:r>
              <a:rPr lang="fr-FR" altLang="fr-FR" dirty="0"/>
              <a:t>.(x(</a:t>
            </a:r>
            <a:r>
              <a:rPr lang="fr-FR" altLang="fr-FR" dirty="0" err="1"/>
              <a:t>it</a:t>
            </a:r>
            <a:r>
              <a:rPr lang="fr-FR" altLang="fr-FR" dirty="0"/>
              <a:t>)-x(i,.))+</a:t>
            </a:r>
            <a:r>
              <a:rPr lang="el-GR" altLang="fr-FR" b="1" dirty="0">
                <a:solidFill>
                  <a:srgbClr val="00B050"/>
                </a:solidFill>
              </a:rPr>
              <a:t>α</a:t>
            </a:r>
            <a:r>
              <a:rPr lang="fr-FR" altLang="fr-FR" b="1" dirty="0">
                <a:solidFill>
                  <a:srgbClr val="00B050"/>
                </a:solidFill>
              </a:rPr>
              <a:t>(t)+</a:t>
            </a:r>
            <a:r>
              <a:rPr lang="el-GR" altLang="fr-FR" b="1" dirty="0">
                <a:solidFill>
                  <a:srgbClr val="00B050"/>
                </a:solidFill>
              </a:rPr>
              <a:t>ε</a:t>
            </a:r>
            <a:r>
              <a:rPr lang="fr-FR" altLang="fr-FR" b="1" dirty="0">
                <a:solidFill>
                  <a:srgbClr val="00B050"/>
                </a:solidFill>
              </a:rPr>
              <a:t>(</a:t>
            </a:r>
            <a:r>
              <a:rPr lang="fr-FR" altLang="fr-FR" b="1" dirty="0" err="1">
                <a:solidFill>
                  <a:srgbClr val="00B050"/>
                </a:solidFill>
              </a:rPr>
              <a:t>it</a:t>
            </a:r>
            <a:r>
              <a:rPr lang="fr-FR" altLang="fr-FR" b="1" dirty="0">
                <a:solidFill>
                  <a:srgbClr val="00B050"/>
                </a:solidFill>
              </a:rPr>
              <a:t>)-</a:t>
            </a:r>
            <a:r>
              <a:rPr lang="el-GR" altLang="fr-FR" b="1" dirty="0">
                <a:solidFill>
                  <a:srgbClr val="00B050"/>
                </a:solidFill>
              </a:rPr>
              <a:t>ε</a:t>
            </a:r>
            <a:r>
              <a:rPr lang="fr-FR" altLang="fr-FR" b="1" dirty="0">
                <a:solidFill>
                  <a:srgbClr val="00B050"/>
                </a:solidFill>
              </a:rPr>
              <a:t>(i,.)</a:t>
            </a:r>
          </a:p>
          <a:p>
            <a:pPr marL="0" indent="0">
              <a:buNone/>
            </a:pPr>
            <a:endParaRPr lang="fr-FR" altLang="fr-FR" b="1" dirty="0">
              <a:solidFill>
                <a:srgbClr val="00B050"/>
              </a:solidFill>
            </a:endParaRPr>
          </a:p>
          <a:p>
            <a:pPr marL="0" indent="0">
              <a:buNone/>
            </a:pPr>
            <a:endParaRPr lang="fr-FR" altLang="fr-FR" b="1" dirty="0">
              <a:solidFill>
                <a:srgbClr val="00B050"/>
              </a:solidFill>
            </a:endParaRPr>
          </a:p>
          <a:p>
            <a:pPr marL="0" indent="0">
              <a:buNone/>
            </a:pPr>
            <a:endParaRPr lang="fr-FR" altLang="fr-FR" b="1" dirty="0"/>
          </a:p>
        </p:txBody>
      </p:sp>
    </p:spTree>
    <p:extLst>
      <p:ext uri="{BB962C8B-B14F-4D97-AF65-F5344CB8AC3E}">
        <p14:creationId xmlns:p14="http://schemas.microsoft.com/office/powerpoint/2010/main" val="2293789677"/>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Trend </a:t>
            </a:r>
            <a:r>
              <a:rPr lang="fr-FR" dirty="0" err="1"/>
              <a:t>hence</a:t>
            </a:r>
            <a:r>
              <a:rPr lang="fr-FR" dirty="0"/>
              <a:t> unit </a:t>
            </a:r>
            <a:r>
              <a:rPr lang="fr-FR" dirty="0" err="1"/>
              <a:t>root</a:t>
            </a:r>
            <a:r>
              <a:rPr lang="fr-FR" dirty="0"/>
              <a:t> </a:t>
            </a:r>
            <a:r>
              <a:rPr lang="fr-FR" dirty="0" err="1"/>
              <a:t>with</a:t>
            </a:r>
            <a:r>
              <a:rPr lang="fr-FR" dirty="0"/>
              <a:t> </a:t>
            </a:r>
            <a:r>
              <a:rPr lang="fr-FR" dirty="0" err="1"/>
              <a:t>within</a:t>
            </a:r>
            <a:r>
              <a:rPr lang="fr-FR" dirty="0"/>
              <a:t> </a:t>
            </a:r>
            <a:r>
              <a:rPr lang="fr-FR" dirty="0" err="1"/>
              <a:t>transformed</a:t>
            </a:r>
            <a:r>
              <a:rPr lang="fr-FR" dirty="0"/>
              <a:t> data </a:t>
            </a:r>
          </a:p>
        </p:txBody>
      </p:sp>
      <p:sp>
        <p:nvSpPr>
          <p:cNvPr id="3" name="Espace réservé du contenu 2"/>
          <p:cNvSpPr>
            <a:spLocks noGrp="1"/>
          </p:cNvSpPr>
          <p:nvPr>
            <p:ph idx="1"/>
          </p:nvPr>
        </p:nvSpPr>
        <p:spPr/>
        <p:txBody>
          <a:bodyPr/>
          <a:lstStyle/>
          <a:p>
            <a:pPr marL="0" indent="0">
              <a:buNone/>
            </a:pPr>
            <a:r>
              <a:rPr lang="fr-FR" dirty="0"/>
              <a:t>If the </a:t>
            </a:r>
            <a:r>
              <a:rPr lang="fr-FR" dirty="0" err="1"/>
              <a:t>conditional</a:t>
            </a:r>
            <a:r>
              <a:rPr lang="fr-FR" dirty="0"/>
              <a:t> expectation of the time </a:t>
            </a:r>
            <a:r>
              <a:rPr lang="fr-FR" dirty="0" err="1"/>
              <a:t>random</a:t>
            </a:r>
            <a:r>
              <a:rPr lang="fr-FR" dirty="0"/>
              <a:t> </a:t>
            </a:r>
            <a:r>
              <a:rPr lang="fr-FR" dirty="0" err="1"/>
              <a:t>effect</a:t>
            </a:r>
            <a:r>
              <a:rPr lang="fr-FR" dirty="0"/>
              <a:t> </a:t>
            </a:r>
            <a:r>
              <a:rPr lang="fr-FR" dirty="0" err="1"/>
              <a:t>is</a:t>
            </a:r>
            <a:r>
              <a:rPr lang="fr-FR" dirty="0"/>
              <a:t> </a:t>
            </a:r>
            <a:r>
              <a:rPr lang="fr-FR" dirty="0" err="1"/>
              <a:t>linear</a:t>
            </a:r>
            <a:r>
              <a:rPr lang="fr-FR" dirty="0"/>
              <a:t> </a:t>
            </a:r>
            <a:r>
              <a:rPr lang="fr-FR" dirty="0" err="1"/>
              <a:t>with</a:t>
            </a:r>
            <a:r>
              <a:rPr lang="fr-FR" dirty="0"/>
              <a:t> time: </a:t>
            </a:r>
            <a:r>
              <a:rPr lang="el-GR" altLang="fr-FR" b="1" dirty="0">
                <a:solidFill>
                  <a:srgbClr val="00B050"/>
                </a:solidFill>
              </a:rPr>
              <a:t>α</a:t>
            </a:r>
            <a:r>
              <a:rPr lang="fr-FR" altLang="fr-FR" b="1" dirty="0">
                <a:solidFill>
                  <a:srgbClr val="00B050"/>
                </a:solidFill>
              </a:rPr>
              <a:t>(t)= b.t</a:t>
            </a:r>
          </a:p>
          <a:p>
            <a:pPr marL="0" indent="0">
              <a:buNone/>
            </a:pPr>
            <a:r>
              <a:rPr lang="fr-FR" dirty="0"/>
              <a:t>(</a:t>
            </a:r>
            <a:r>
              <a:rPr lang="fr-FR" dirty="0" err="1"/>
              <a:t>may</a:t>
            </a:r>
            <a:r>
              <a:rPr lang="fr-FR" dirty="0"/>
              <a:t> </a:t>
            </a:r>
            <a:r>
              <a:rPr lang="fr-FR" dirty="0" err="1"/>
              <a:t>be</a:t>
            </a:r>
            <a:r>
              <a:rPr lang="fr-FR" dirty="0"/>
              <a:t> </a:t>
            </a:r>
            <a:r>
              <a:rPr lang="fr-FR" dirty="0" err="1"/>
              <a:t>also</a:t>
            </a:r>
            <a:r>
              <a:rPr lang="fr-FR" dirty="0"/>
              <a:t> </a:t>
            </a:r>
            <a:r>
              <a:rPr lang="fr-FR" dirty="0" err="1"/>
              <a:t>quadratic</a:t>
            </a:r>
            <a:r>
              <a:rPr lang="fr-FR" dirty="0"/>
              <a:t>): </a:t>
            </a:r>
          </a:p>
          <a:p>
            <a:pPr marL="0" indent="0">
              <a:buNone/>
            </a:pPr>
            <a:r>
              <a:rPr lang="fr-FR" dirty="0" err="1"/>
              <a:t>Then</a:t>
            </a:r>
            <a:r>
              <a:rPr lang="fr-FR" dirty="0"/>
              <a:t> the one-</a:t>
            </a:r>
            <a:r>
              <a:rPr lang="fr-FR" dirty="0" err="1"/>
              <a:t>way</a:t>
            </a:r>
            <a:r>
              <a:rPr lang="fr-FR" dirty="0"/>
              <a:t> </a:t>
            </a:r>
            <a:r>
              <a:rPr lang="fr-FR" dirty="0" err="1"/>
              <a:t>fixed</a:t>
            </a:r>
            <a:r>
              <a:rPr lang="fr-FR" dirty="0"/>
              <a:t> </a:t>
            </a:r>
            <a:r>
              <a:rPr lang="fr-FR" dirty="0" err="1"/>
              <a:t>effects</a:t>
            </a:r>
            <a:r>
              <a:rPr lang="fr-FR" dirty="0"/>
              <a:t> (on </a:t>
            </a:r>
            <a:r>
              <a:rPr lang="fr-FR" dirty="0" err="1"/>
              <a:t>individuals</a:t>
            </a:r>
            <a:r>
              <a:rPr lang="fr-FR" dirty="0"/>
              <a:t> </a:t>
            </a:r>
            <a:r>
              <a:rPr lang="fr-FR" dirty="0" err="1"/>
              <a:t>only</a:t>
            </a:r>
            <a:r>
              <a:rPr lang="fr-FR" dirty="0"/>
              <a:t>) </a:t>
            </a:r>
            <a:r>
              <a:rPr lang="fr-FR" dirty="0" err="1"/>
              <a:t>will</a:t>
            </a:r>
            <a:r>
              <a:rPr lang="fr-FR" dirty="0"/>
              <a:t> face unit </a:t>
            </a:r>
            <a:r>
              <a:rPr lang="fr-FR" dirty="0" err="1"/>
              <a:t>root</a:t>
            </a:r>
            <a:r>
              <a:rPr lang="fr-FR" dirty="0"/>
              <a:t> and </a:t>
            </a:r>
            <a:r>
              <a:rPr lang="fr-FR" dirty="0" err="1"/>
              <a:t>potential</a:t>
            </a:r>
            <a:r>
              <a:rPr lang="fr-FR" dirty="0"/>
              <a:t> </a:t>
            </a:r>
            <a:r>
              <a:rPr lang="fr-FR" dirty="0" err="1"/>
              <a:t>common</a:t>
            </a:r>
            <a:r>
              <a:rPr lang="fr-FR" dirty="0"/>
              <a:t> trends </a:t>
            </a:r>
            <a:r>
              <a:rPr lang="fr-FR" dirty="0" err="1"/>
              <a:t>correlation</a:t>
            </a:r>
            <a:r>
              <a:rPr lang="fr-FR" dirty="0"/>
              <a:t> </a:t>
            </a:r>
            <a:r>
              <a:rPr lang="fr-FR" dirty="0" err="1"/>
              <a:t>with</a:t>
            </a:r>
            <a:r>
              <a:rPr lang="fr-FR" dirty="0"/>
              <a:t> </a:t>
            </a:r>
            <a:r>
              <a:rPr lang="fr-FR" dirty="0" err="1"/>
              <a:t>explanatory</a:t>
            </a:r>
            <a:r>
              <a:rPr lang="fr-FR" dirty="0"/>
              <a:t> variables.</a:t>
            </a:r>
          </a:p>
        </p:txBody>
      </p:sp>
    </p:spTree>
    <p:extLst>
      <p:ext uri="{BB962C8B-B14F-4D97-AF65-F5344CB8AC3E}">
        <p14:creationId xmlns:p14="http://schemas.microsoft.com/office/powerpoint/2010/main" val="3372610622"/>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re 1"/>
          <p:cNvSpPr>
            <a:spLocks noGrp="1"/>
          </p:cNvSpPr>
          <p:nvPr>
            <p:ph type="title"/>
          </p:nvPr>
        </p:nvSpPr>
        <p:spPr/>
        <p:txBody>
          <a:bodyPr>
            <a:normAutofit fontScale="90000"/>
          </a:bodyPr>
          <a:lstStyle/>
          <a:p>
            <a:r>
              <a:rPr lang="fr-FR" altLang="fr-FR" sz="3600" dirty="0"/>
              <a:t>Non </a:t>
            </a:r>
            <a:r>
              <a:rPr lang="fr-FR" altLang="fr-FR" sz="3600" dirty="0" err="1"/>
              <a:t>stationarity</a:t>
            </a:r>
            <a:r>
              <a:rPr lang="fr-FR" altLang="fr-FR" sz="3600" dirty="0"/>
              <a:t> of </a:t>
            </a:r>
            <a:r>
              <a:rPr lang="fr-FR" altLang="fr-FR" sz="3600" dirty="0" err="1"/>
              <a:t>Within</a:t>
            </a:r>
            <a:r>
              <a:rPr lang="fr-FR" altLang="fr-FR" sz="3600" dirty="0"/>
              <a:t> </a:t>
            </a:r>
            <a:r>
              <a:rPr lang="fr-FR" altLang="fr-FR" sz="3600" dirty="0" err="1"/>
              <a:t>transformed</a:t>
            </a:r>
            <a:r>
              <a:rPr lang="fr-FR" altLang="fr-FR" sz="3600" dirty="0"/>
              <a:t> variables</a:t>
            </a:r>
          </a:p>
        </p:txBody>
      </p:sp>
      <p:sp>
        <p:nvSpPr>
          <p:cNvPr id="50179" name="Espace réservé du contenu 2"/>
          <p:cNvSpPr>
            <a:spLocks noGrp="1"/>
          </p:cNvSpPr>
          <p:nvPr>
            <p:ph idx="1"/>
          </p:nvPr>
        </p:nvSpPr>
        <p:spPr/>
        <p:txBody>
          <a:bodyPr/>
          <a:lstStyle/>
          <a:p>
            <a:pPr marL="0" indent="0">
              <a:buFontTx/>
              <a:buNone/>
            </a:pPr>
            <a:r>
              <a:rPr lang="fr-FR" altLang="fr-FR" dirty="0" err="1"/>
              <a:t>Within</a:t>
            </a:r>
            <a:r>
              <a:rPr lang="fr-FR" altLang="fr-FR" dirty="0"/>
              <a:t> </a:t>
            </a:r>
            <a:r>
              <a:rPr lang="fr-FR" altLang="fr-FR" dirty="0" err="1"/>
              <a:t>transformed</a:t>
            </a:r>
            <a:r>
              <a:rPr lang="fr-FR" altLang="fr-FR" dirty="0"/>
              <a:t> variables </a:t>
            </a:r>
            <a:r>
              <a:rPr lang="fr-FR" altLang="fr-FR" dirty="0" err="1"/>
              <a:t>eliminate</a:t>
            </a:r>
            <a:r>
              <a:rPr lang="fr-FR" altLang="fr-FR" dirty="0"/>
              <a:t> </a:t>
            </a:r>
          </a:p>
          <a:p>
            <a:pPr marL="0" indent="0">
              <a:buFontTx/>
              <a:buNone/>
            </a:pPr>
            <a:r>
              <a:rPr lang="fr-FR" altLang="fr-FR" dirty="0" err="1"/>
              <a:t>cov</a:t>
            </a:r>
            <a:r>
              <a:rPr lang="fr-FR" altLang="fr-FR" dirty="0"/>
              <a:t> (x(</a:t>
            </a:r>
            <a:r>
              <a:rPr lang="fr-FR" altLang="fr-FR" dirty="0" err="1"/>
              <a:t>it</a:t>
            </a:r>
            <a:r>
              <a:rPr lang="fr-FR" altLang="fr-FR" dirty="0"/>
              <a:t>) , a(i) )     BUT: </a:t>
            </a:r>
          </a:p>
          <a:p>
            <a:pPr marL="0" indent="0">
              <a:buFontTx/>
              <a:buNone/>
            </a:pPr>
            <a:r>
              <a:rPr lang="fr-FR" altLang="fr-FR" b="1" u="sng" dirty="0"/>
              <a:t>Common trends</a:t>
            </a:r>
            <a:r>
              <a:rPr lang="fr-FR" altLang="fr-FR" dirty="0"/>
              <a:t> </a:t>
            </a:r>
            <a:r>
              <a:rPr lang="fr-FR" altLang="fr-FR" dirty="0" err="1"/>
              <a:t>remains</a:t>
            </a:r>
            <a:r>
              <a:rPr lang="fr-FR" altLang="fr-FR" dirty="0"/>
              <a:t>  </a:t>
            </a:r>
            <a:r>
              <a:rPr lang="fr-FR" altLang="fr-FR" dirty="0" err="1"/>
              <a:t>even</a:t>
            </a:r>
            <a:r>
              <a:rPr lang="fr-FR" altLang="fr-FR" dirty="0"/>
              <a:t> </a:t>
            </a:r>
            <a:r>
              <a:rPr lang="fr-FR" altLang="fr-FR" dirty="0" err="1"/>
              <a:t>with</a:t>
            </a:r>
            <a:r>
              <a:rPr lang="fr-FR" altLang="fr-FR" dirty="0"/>
              <a:t> T&lt;10: </a:t>
            </a:r>
          </a:p>
          <a:p>
            <a:pPr marL="0" indent="0">
              <a:buFontTx/>
              <a:buNone/>
            </a:pPr>
            <a:r>
              <a:rPr lang="fr-FR" altLang="fr-FR" dirty="0" err="1"/>
              <a:t>spurious</a:t>
            </a:r>
            <a:r>
              <a:rPr lang="fr-FR" altLang="fr-FR" dirty="0"/>
              <a:t> </a:t>
            </a:r>
            <a:r>
              <a:rPr lang="fr-FR" altLang="fr-FR" dirty="0" err="1"/>
              <a:t>regressions</a:t>
            </a:r>
            <a:r>
              <a:rPr lang="fr-FR" altLang="fr-FR" dirty="0"/>
              <a:t>, trend </a:t>
            </a:r>
            <a:r>
              <a:rPr lang="fr-FR" altLang="fr-FR" dirty="0" err="1"/>
              <a:t>driven</a:t>
            </a:r>
            <a:r>
              <a:rPr lang="fr-FR" altLang="fr-FR" dirty="0"/>
              <a:t> </a:t>
            </a:r>
            <a:r>
              <a:rPr lang="fr-FR" altLang="fr-FR" dirty="0" err="1"/>
              <a:t>near-multicollinearity</a:t>
            </a:r>
            <a:r>
              <a:rPr lang="fr-FR" altLang="fr-FR" dirty="0"/>
              <a:t>. </a:t>
            </a:r>
          </a:p>
          <a:p>
            <a:pPr marL="0" indent="0">
              <a:buFontTx/>
              <a:buNone/>
            </a:pPr>
            <a:endParaRPr lang="fr-FR" altLang="fr-FR" dirty="0"/>
          </a:p>
          <a:p>
            <a:pPr marL="0" indent="0">
              <a:buFontTx/>
              <a:buNone/>
            </a:pPr>
            <a:r>
              <a:rPr lang="fr-FR" altLang="fr-FR" dirty="0"/>
              <a:t>Compare </a:t>
            </a:r>
            <a:r>
              <a:rPr lang="fr-FR" altLang="fr-FR" dirty="0" err="1"/>
              <a:t>with</a:t>
            </a:r>
            <a:r>
              <a:rPr lang="fr-FR" altLang="fr-FR" dirty="0"/>
              <a:t> first </a:t>
            </a:r>
            <a:r>
              <a:rPr lang="fr-FR" altLang="fr-FR" dirty="0" err="1"/>
              <a:t>differences</a:t>
            </a:r>
            <a:r>
              <a:rPr lang="fr-FR" altLang="fr-FR" dirty="0"/>
              <a:t> and </a:t>
            </a:r>
            <a:r>
              <a:rPr lang="fr-FR" altLang="fr-FR" dirty="0" err="1"/>
              <a:t>between</a:t>
            </a:r>
            <a:r>
              <a:rPr lang="fr-FR" altLang="fr-FR" dirty="0"/>
              <a:t> </a:t>
            </a:r>
            <a:r>
              <a:rPr lang="fr-FR" altLang="fr-FR" dirty="0" err="1"/>
              <a:t>estimators</a:t>
            </a:r>
            <a:r>
              <a:rPr lang="fr-FR" altLang="fr-FR" dirty="0"/>
              <a:t>.</a:t>
            </a:r>
          </a:p>
        </p:txBody>
      </p:sp>
    </p:spTree>
    <p:extLst>
      <p:ext uri="{BB962C8B-B14F-4D97-AF65-F5344CB8AC3E}">
        <p14:creationId xmlns:p14="http://schemas.microsoft.com/office/powerpoint/2010/main" val="1086454578"/>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Two</a:t>
            </a:r>
            <a:r>
              <a:rPr lang="fr-FR" dirty="0"/>
              <a:t> </a:t>
            </a:r>
            <a:r>
              <a:rPr lang="fr-FR" dirty="0" err="1"/>
              <a:t>way</a:t>
            </a:r>
            <a:r>
              <a:rPr lang="fr-FR" dirty="0"/>
              <a:t> </a:t>
            </a:r>
            <a:r>
              <a:rPr lang="fr-FR" dirty="0" err="1"/>
              <a:t>fixed</a:t>
            </a:r>
            <a:r>
              <a:rPr lang="fr-FR" dirty="0"/>
              <a:t> </a:t>
            </a:r>
            <a:r>
              <a:rPr lang="fr-FR" dirty="0" err="1"/>
              <a:t>effects</a:t>
            </a:r>
            <a:r>
              <a:rPr lang="fr-FR" dirty="0"/>
              <a:t> and first </a:t>
            </a:r>
            <a:r>
              <a:rPr lang="fr-FR" dirty="0" err="1"/>
              <a:t>differences</a:t>
            </a:r>
            <a:endParaRPr lang="fr-FR" dirty="0"/>
          </a:p>
        </p:txBody>
      </p:sp>
      <p:sp>
        <p:nvSpPr>
          <p:cNvPr id="3" name="Espace réservé du contenu 2"/>
          <p:cNvSpPr>
            <a:spLocks noGrp="1"/>
          </p:cNvSpPr>
          <p:nvPr>
            <p:ph idx="1"/>
          </p:nvPr>
        </p:nvSpPr>
        <p:spPr/>
        <p:txBody>
          <a:bodyPr/>
          <a:lstStyle/>
          <a:p>
            <a:pPr marL="0" indent="0">
              <a:buNone/>
            </a:pPr>
            <a:r>
              <a:rPr lang="fr-FR" dirty="0"/>
              <a:t>If the </a:t>
            </a:r>
            <a:r>
              <a:rPr lang="fr-FR" dirty="0" err="1"/>
              <a:t>conditional</a:t>
            </a:r>
            <a:r>
              <a:rPr lang="fr-FR" dirty="0"/>
              <a:t> expectation of the time </a:t>
            </a:r>
            <a:r>
              <a:rPr lang="fr-FR" dirty="0" err="1"/>
              <a:t>random</a:t>
            </a:r>
            <a:r>
              <a:rPr lang="fr-FR" dirty="0"/>
              <a:t> </a:t>
            </a:r>
            <a:r>
              <a:rPr lang="fr-FR" dirty="0" err="1"/>
              <a:t>effect</a:t>
            </a:r>
            <a:r>
              <a:rPr lang="fr-FR" dirty="0"/>
              <a:t> </a:t>
            </a:r>
            <a:r>
              <a:rPr lang="fr-FR" dirty="0" err="1"/>
              <a:t>is</a:t>
            </a:r>
            <a:r>
              <a:rPr lang="fr-FR" dirty="0"/>
              <a:t> </a:t>
            </a:r>
            <a:r>
              <a:rPr lang="fr-FR" dirty="0" err="1"/>
              <a:t>linear</a:t>
            </a:r>
            <a:r>
              <a:rPr lang="fr-FR" dirty="0"/>
              <a:t> </a:t>
            </a:r>
            <a:r>
              <a:rPr lang="fr-FR" dirty="0" err="1"/>
              <a:t>with</a:t>
            </a:r>
            <a:r>
              <a:rPr lang="fr-FR" dirty="0"/>
              <a:t> time: </a:t>
            </a:r>
            <a:r>
              <a:rPr lang="el-GR" altLang="fr-FR" b="1" dirty="0">
                <a:solidFill>
                  <a:srgbClr val="00B050"/>
                </a:solidFill>
              </a:rPr>
              <a:t>α</a:t>
            </a:r>
            <a:r>
              <a:rPr lang="fr-FR" altLang="fr-FR" b="1" dirty="0">
                <a:solidFill>
                  <a:srgbClr val="00B050"/>
                </a:solidFill>
              </a:rPr>
              <a:t>(t)= b.t</a:t>
            </a:r>
          </a:p>
          <a:p>
            <a:pPr marL="0" indent="0">
              <a:buNone/>
            </a:pPr>
            <a:r>
              <a:rPr lang="fr-FR" dirty="0"/>
              <a:t>(</a:t>
            </a:r>
            <a:r>
              <a:rPr lang="fr-FR" dirty="0" err="1"/>
              <a:t>may</a:t>
            </a:r>
            <a:r>
              <a:rPr lang="fr-FR" dirty="0"/>
              <a:t> </a:t>
            </a:r>
            <a:r>
              <a:rPr lang="fr-FR" dirty="0" err="1"/>
              <a:t>be</a:t>
            </a:r>
            <a:r>
              <a:rPr lang="fr-FR" dirty="0"/>
              <a:t> </a:t>
            </a:r>
            <a:r>
              <a:rPr lang="fr-FR" dirty="0" err="1"/>
              <a:t>also</a:t>
            </a:r>
            <a:r>
              <a:rPr lang="fr-FR" dirty="0"/>
              <a:t> </a:t>
            </a:r>
            <a:r>
              <a:rPr lang="fr-FR" dirty="0" err="1"/>
              <a:t>quadratic</a:t>
            </a:r>
            <a:r>
              <a:rPr lang="fr-FR" dirty="0"/>
              <a:t>): </a:t>
            </a:r>
          </a:p>
          <a:p>
            <a:pPr marL="0" indent="0">
              <a:buNone/>
            </a:pPr>
            <a:r>
              <a:rPr lang="fr-FR" dirty="0" err="1"/>
              <a:t>Then</a:t>
            </a:r>
            <a:r>
              <a:rPr lang="fr-FR" dirty="0"/>
              <a:t> the </a:t>
            </a:r>
            <a:r>
              <a:rPr lang="fr-FR" dirty="0" err="1"/>
              <a:t>two-way</a:t>
            </a:r>
            <a:r>
              <a:rPr lang="fr-FR" dirty="0"/>
              <a:t> </a:t>
            </a:r>
            <a:r>
              <a:rPr lang="fr-FR" dirty="0" err="1"/>
              <a:t>fixed</a:t>
            </a:r>
            <a:r>
              <a:rPr lang="fr-FR" dirty="0"/>
              <a:t> </a:t>
            </a:r>
            <a:r>
              <a:rPr lang="fr-FR" dirty="0" err="1"/>
              <a:t>effects</a:t>
            </a:r>
            <a:r>
              <a:rPr lang="fr-FR" dirty="0"/>
              <a:t> (on dates and </a:t>
            </a:r>
            <a:r>
              <a:rPr lang="fr-FR" dirty="0" err="1"/>
              <a:t>individuals</a:t>
            </a:r>
            <a:r>
              <a:rPr lang="fr-FR" dirty="0"/>
              <a:t>) </a:t>
            </a:r>
            <a:r>
              <a:rPr lang="fr-FR" dirty="0" err="1"/>
              <a:t>will</a:t>
            </a:r>
            <a:r>
              <a:rPr lang="fr-FR" dirty="0"/>
              <a:t> </a:t>
            </a:r>
            <a:r>
              <a:rPr lang="fr-FR" dirty="0" err="1"/>
              <a:t>estimate</a:t>
            </a:r>
            <a:r>
              <a:rPr lang="fr-FR" dirty="0"/>
              <a:t> b.</a:t>
            </a:r>
          </a:p>
          <a:p>
            <a:pPr marL="0" indent="0">
              <a:buNone/>
            </a:pPr>
            <a:r>
              <a:rPr lang="fr-FR" dirty="0" err="1"/>
              <a:t>When</a:t>
            </a:r>
            <a:r>
              <a:rPr lang="fr-FR" dirty="0"/>
              <a:t> </a:t>
            </a:r>
            <a:r>
              <a:rPr lang="fr-FR" dirty="0" err="1"/>
              <a:t>two-way</a:t>
            </a:r>
            <a:r>
              <a:rPr lang="fr-FR" dirty="0"/>
              <a:t> FE </a:t>
            </a:r>
            <a:r>
              <a:rPr lang="fr-FR" dirty="0" err="1"/>
              <a:t>estimated</a:t>
            </a:r>
            <a:r>
              <a:rPr lang="fr-FR" dirty="0"/>
              <a:t> </a:t>
            </a:r>
            <a:r>
              <a:rPr lang="fr-FR" dirty="0" err="1"/>
              <a:t>parameters</a:t>
            </a:r>
            <a:r>
              <a:rPr lang="fr-FR" dirty="0"/>
              <a:t> </a:t>
            </a:r>
            <a:r>
              <a:rPr lang="fr-FR" dirty="0" err="1"/>
              <a:t>differ</a:t>
            </a:r>
            <a:r>
              <a:rPr lang="fr-FR" dirty="0"/>
              <a:t> A LOT </a:t>
            </a:r>
            <a:r>
              <a:rPr lang="fr-FR" dirty="0" err="1"/>
              <a:t>from</a:t>
            </a:r>
            <a:r>
              <a:rPr lang="fr-FR" dirty="0"/>
              <a:t> one-</a:t>
            </a:r>
            <a:r>
              <a:rPr lang="fr-FR" dirty="0" err="1"/>
              <a:t>way</a:t>
            </a:r>
            <a:r>
              <a:rPr lang="fr-FR" dirty="0"/>
              <a:t> FE </a:t>
            </a:r>
            <a:r>
              <a:rPr lang="fr-FR" dirty="0" err="1"/>
              <a:t>estimated</a:t>
            </a:r>
            <a:r>
              <a:rPr lang="fr-FR" dirty="0"/>
              <a:t> </a:t>
            </a:r>
            <a:r>
              <a:rPr lang="fr-FR" dirty="0" err="1"/>
              <a:t>parameters</a:t>
            </a:r>
            <a:r>
              <a:rPr lang="fr-FR" dirty="0"/>
              <a:t>: </a:t>
            </a:r>
            <a:r>
              <a:rPr lang="fr-FR" dirty="0" err="1"/>
              <a:t>common</a:t>
            </a:r>
            <a:r>
              <a:rPr lang="fr-FR" dirty="0"/>
              <a:t> trend </a:t>
            </a:r>
            <a:r>
              <a:rPr lang="fr-FR" dirty="0" err="1"/>
              <a:t>may</a:t>
            </a:r>
            <a:r>
              <a:rPr lang="fr-FR" dirty="0"/>
              <a:t> </a:t>
            </a:r>
            <a:r>
              <a:rPr lang="fr-FR" dirty="0" err="1"/>
              <a:t>matter</a:t>
            </a:r>
            <a:r>
              <a:rPr lang="fr-FR"/>
              <a:t>.</a:t>
            </a:r>
            <a:endParaRPr lang="fr-FR" dirty="0"/>
          </a:p>
        </p:txBody>
      </p:sp>
    </p:spTree>
    <p:extLst>
      <p:ext uri="{BB962C8B-B14F-4D97-AF65-F5344CB8AC3E}">
        <p14:creationId xmlns:p14="http://schemas.microsoft.com/office/powerpoint/2010/main" val="1033552711"/>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First </a:t>
            </a:r>
            <a:r>
              <a:rPr lang="fr-FR" dirty="0" err="1"/>
              <a:t>difference</a:t>
            </a:r>
            <a:r>
              <a:rPr lang="fr-FR" dirty="0"/>
              <a:t> </a:t>
            </a:r>
            <a:r>
              <a:rPr lang="fr-FR" dirty="0" err="1"/>
              <a:t>eliminates</a:t>
            </a:r>
            <a:r>
              <a:rPr lang="fr-FR" dirty="0"/>
              <a:t> </a:t>
            </a:r>
            <a:r>
              <a:rPr lang="el-GR" altLang="fr-FR" dirty="0">
                <a:solidFill>
                  <a:srgbClr val="00B050"/>
                </a:solidFill>
              </a:rPr>
              <a:t>α</a:t>
            </a:r>
            <a:r>
              <a:rPr lang="fr-FR" altLang="fr-FR" dirty="0">
                <a:solidFill>
                  <a:srgbClr val="00B050"/>
                </a:solidFill>
              </a:rPr>
              <a:t>(i)</a:t>
            </a:r>
            <a:r>
              <a:rPr lang="fr-FR" dirty="0"/>
              <a:t> and ALSO unit </a:t>
            </a:r>
            <a:r>
              <a:rPr lang="fr-FR" dirty="0" err="1"/>
              <a:t>roots</a:t>
            </a:r>
            <a:endParaRPr lang="fr-FR" dirty="0"/>
          </a:p>
        </p:txBody>
      </p:sp>
      <p:sp>
        <p:nvSpPr>
          <p:cNvPr id="3" name="Espace réservé du contenu 2"/>
          <p:cNvSpPr>
            <a:spLocks noGrp="1"/>
          </p:cNvSpPr>
          <p:nvPr>
            <p:ph idx="1"/>
          </p:nvPr>
        </p:nvSpPr>
        <p:spPr/>
        <p:txBody>
          <a:bodyPr/>
          <a:lstStyle/>
          <a:p>
            <a:pPr marL="0" indent="0">
              <a:buNone/>
            </a:pPr>
            <a:r>
              <a:rPr lang="fr-FR" altLang="fr-FR" dirty="0"/>
              <a:t>y(</a:t>
            </a:r>
            <a:r>
              <a:rPr lang="fr-FR" altLang="fr-FR" dirty="0" err="1"/>
              <a:t>i,t</a:t>
            </a:r>
            <a:r>
              <a:rPr lang="fr-FR" altLang="fr-FR" dirty="0"/>
              <a:t>)=</a:t>
            </a:r>
            <a:r>
              <a:rPr lang="el-GR" altLang="fr-FR" dirty="0">
                <a:solidFill>
                  <a:srgbClr val="FF0000"/>
                </a:solidFill>
              </a:rPr>
              <a:t>β</a:t>
            </a:r>
            <a:r>
              <a:rPr lang="fr-FR" altLang="fr-FR" dirty="0">
                <a:solidFill>
                  <a:srgbClr val="FF0000"/>
                </a:solidFill>
              </a:rPr>
              <a:t>0</a:t>
            </a:r>
            <a:r>
              <a:rPr lang="fr-FR" altLang="fr-FR" dirty="0"/>
              <a:t>+</a:t>
            </a:r>
            <a:r>
              <a:rPr lang="el-GR" altLang="fr-FR" dirty="0">
                <a:solidFill>
                  <a:srgbClr val="FF0000"/>
                </a:solidFill>
              </a:rPr>
              <a:t>β</a:t>
            </a:r>
            <a:r>
              <a:rPr lang="fr-FR" altLang="fr-FR" dirty="0">
                <a:solidFill>
                  <a:srgbClr val="FF0000"/>
                </a:solidFill>
              </a:rPr>
              <a:t>(x)</a:t>
            </a:r>
            <a:r>
              <a:rPr lang="fr-FR" altLang="fr-FR" dirty="0"/>
              <a:t>.x(</a:t>
            </a:r>
            <a:r>
              <a:rPr lang="fr-FR" altLang="fr-FR" dirty="0" err="1"/>
              <a:t>i,t</a:t>
            </a:r>
            <a:r>
              <a:rPr lang="fr-FR" altLang="fr-FR" dirty="0"/>
              <a:t>)+</a:t>
            </a:r>
            <a:r>
              <a:rPr lang="el-GR" altLang="fr-FR" dirty="0">
                <a:solidFill>
                  <a:srgbClr val="00B050"/>
                </a:solidFill>
              </a:rPr>
              <a:t>α</a:t>
            </a:r>
            <a:r>
              <a:rPr lang="fr-FR" altLang="fr-FR" dirty="0">
                <a:solidFill>
                  <a:srgbClr val="00B050"/>
                </a:solidFill>
              </a:rPr>
              <a:t>(i)+</a:t>
            </a:r>
            <a:r>
              <a:rPr lang="el-GR" altLang="fr-FR" dirty="0">
                <a:solidFill>
                  <a:srgbClr val="00B050"/>
                </a:solidFill>
              </a:rPr>
              <a:t>α</a:t>
            </a:r>
            <a:r>
              <a:rPr lang="fr-FR" altLang="fr-FR" dirty="0">
                <a:solidFill>
                  <a:srgbClr val="00B050"/>
                </a:solidFill>
              </a:rPr>
              <a:t>(t)+</a:t>
            </a:r>
            <a:r>
              <a:rPr lang="el-GR" altLang="fr-FR" dirty="0">
                <a:solidFill>
                  <a:srgbClr val="00B050"/>
                </a:solidFill>
              </a:rPr>
              <a:t>ε</a:t>
            </a:r>
            <a:r>
              <a:rPr lang="fr-FR" altLang="fr-FR" dirty="0">
                <a:solidFill>
                  <a:srgbClr val="00B050"/>
                </a:solidFill>
              </a:rPr>
              <a:t>(</a:t>
            </a:r>
            <a:r>
              <a:rPr lang="fr-FR" altLang="fr-FR" dirty="0" err="1">
                <a:solidFill>
                  <a:srgbClr val="00B050"/>
                </a:solidFill>
              </a:rPr>
              <a:t>i,t</a:t>
            </a:r>
            <a:r>
              <a:rPr lang="fr-FR" altLang="fr-FR" dirty="0">
                <a:solidFill>
                  <a:srgbClr val="00B050"/>
                </a:solidFill>
              </a:rPr>
              <a:t>)</a:t>
            </a:r>
          </a:p>
          <a:p>
            <a:pPr marL="0" indent="0">
              <a:buNone/>
            </a:pPr>
            <a:r>
              <a:rPr lang="fr-FR" altLang="fr-FR" dirty="0"/>
              <a:t>y(i,t-1)=</a:t>
            </a:r>
            <a:r>
              <a:rPr lang="el-GR" altLang="fr-FR" dirty="0">
                <a:solidFill>
                  <a:srgbClr val="FF0000"/>
                </a:solidFill>
              </a:rPr>
              <a:t>β</a:t>
            </a:r>
            <a:r>
              <a:rPr lang="fr-FR" altLang="fr-FR" dirty="0">
                <a:solidFill>
                  <a:srgbClr val="FF0000"/>
                </a:solidFill>
              </a:rPr>
              <a:t>0</a:t>
            </a:r>
            <a:r>
              <a:rPr lang="fr-FR" altLang="fr-FR" dirty="0"/>
              <a:t>+</a:t>
            </a:r>
            <a:r>
              <a:rPr lang="el-GR" altLang="fr-FR" dirty="0">
                <a:solidFill>
                  <a:srgbClr val="FF0000"/>
                </a:solidFill>
              </a:rPr>
              <a:t>β</a:t>
            </a:r>
            <a:r>
              <a:rPr lang="fr-FR" altLang="fr-FR" dirty="0">
                <a:solidFill>
                  <a:srgbClr val="FF0000"/>
                </a:solidFill>
              </a:rPr>
              <a:t>(x)</a:t>
            </a:r>
            <a:r>
              <a:rPr lang="fr-FR" altLang="fr-FR" dirty="0"/>
              <a:t>.x(i,t-1)+</a:t>
            </a:r>
            <a:r>
              <a:rPr lang="el-GR" altLang="fr-FR" dirty="0">
                <a:solidFill>
                  <a:srgbClr val="00B050"/>
                </a:solidFill>
              </a:rPr>
              <a:t>α</a:t>
            </a:r>
            <a:r>
              <a:rPr lang="fr-FR" altLang="fr-FR" dirty="0">
                <a:solidFill>
                  <a:srgbClr val="00B050"/>
                </a:solidFill>
              </a:rPr>
              <a:t>(i)+</a:t>
            </a:r>
            <a:r>
              <a:rPr lang="el-GR" altLang="fr-FR" dirty="0">
                <a:solidFill>
                  <a:srgbClr val="00B050"/>
                </a:solidFill>
              </a:rPr>
              <a:t>α</a:t>
            </a:r>
            <a:r>
              <a:rPr lang="fr-FR" altLang="fr-FR" dirty="0">
                <a:solidFill>
                  <a:srgbClr val="00B050"/>
                </a:solidFill>
              </a:rPr>
              <a:t>(t-1)+</a:t>
            </a:r>
            <a:r>
              <a:rPr lang="el-GR" altLang="fr-FR" dirty="0">
                <a:solidFill>
                  <a:srgbClr val="00B050"/>
                </a:solidFill>
              </a:rPr>
              <a:t>ε</a:t>
            </a:r>
            <a:r>
              <a:rPr lang="fr-FR" altLang="fr-FR" dirty="0">
                <a:solidFill>
                  <a:srgbClr val="00B050"/>
                </a:solidFill>
              </a:rPr>
              <a:t>(i,t-1)</a:t>
            </a:r>
          </a:p>
          <a:p>
            <a:pPr marL="0" indent="0">
              <a:buNone/>
            </a:pPr>
            <a:r>
              <a:rPr lang="fr-FR" altLang="fr-FR" dirty="0"/>
              <a:t>The first </a:t>
            </a:r>
            <a:r>
              <a:rPr lang="fr-FR" altLang="fr-FR" dirty="0" err="1"/>
              <a:t>differences</a:t>
            </a:r>
            <a:r>
              <a:rPr lang="fr-FR" altLang="fr-FR" dirty="0"/>
              <a:t> </a:t>
            </a:r>
            <a:r>
              <a:rPr lang="fr-FR" altLang="fr-FR" dirty="0" err="1"/>
              <a:t>eliminates</a:t>
            </a:r>
            <a:r>
              <a:rPr lang="fr-FR" altLang="fr-FR" dirty="0"/>
              <a:t> </a:t>
            </a:r>
            <a:r>
              <a:rPr lang="el-GR" altLang="fr-FR" dirty="0">
                <a:solidFill>
                  <a:srgbClr val="00B050"/>
                </a:solidFill>
              </a:rPr>
              <a:t>α</a:t>
            </a:r>
            <a:r>
              <a:rPr lang="fr-FR" altLang="fr-FR" dirty="0">
                <a:solidFill>
                  <a:srgbClr val="00B050"/>
                </a:solidFill>
              </a:rPr>
              <a:t>(i)</a:t>
            </a:r>
            <a:r>
              <a:rPr lang="fr-FR" altLang="fr-FR" dirty="0"/>
              <a:t>, the </a:t>
            </a:r>
            <a:r>
              <a:rPr lang="fr-FR" altLang="fr-FR" dirty="0" err="1"/>
              <a:t>intercept</a:t>
            </a:r>
            <a:r>
              <a:rPr lang="fr-FR" altLang="fr-FR" dirty="0"/>
              <a:t> </a:t>
            </a:r>
            <a:r>
              <a:rPr lang="el-GR" altLang="fr-FR" dirty="0">
                <a:solidFill>
                  <a:srgbClr val="FF0000"/>
                </a:solidFill>
              </a:rPr>
              <a:t>β</a:t>
            </a:r>
            <a:r>
              <a:rPr lang="fr-FR" altLang="fr-FR" dirty="0">
                <a:solidFill>
                  <a:srgbClr val="FF0000"/>
                </a:solidFill>
              </a:rPr>
              <a:t>0</a:t>
            </a:r>
            <a:r>
              <a:rPr lang="fr-FR" altLang="fr-FR" dirty="0"/>
              <a:t> and all time invariant variables z(i) in the </a:t>
            </a:r>
            <a:r>
              <a:rPr lang="fr-FR" altLang="fr-FR" dirty="0" err="1"/>
              <a:t>sample</a:t>
            </a:r>
            <a:r>
              <a:rPr lang="fr-FR" altLang="fr-FR" dirty="0"/>
              <a:t>:</a:t>
            </a:r>
          </a:p>
          <a:p>
            <a:pPr marL="0" indent="0">
              <a:buNone/>
            </a:pPr>
            <a:r>
              <a:rPr lang="fr-FR" altLang="fr-FR" dirty="0"/>
              <a:t>y(</a:t>
            </a:r>
            <a:r>
              <a:rPr lang="fr-FR" altLang="fr-FR" dirty="0" err="1"/>
              <a:t>it</a:t>
            </a:r>
            <a:r>
              <a:rPr lang="fr-FR" altLang="fr-FR" dirty="0"/>
              <a:t>)-y(i,t-1)=</a:t>
            </a:r>
            <a:r>
              <a:rPr lang="el-GR" altLang="fr-FR" dirty="0">
                <a:solidFill>
                  <a:srgbClr val="FF0000"/>
                </a:solidFill>
              </a:rPr>
              <a:t>β</a:t>
            </a:r>
            <a:r>
              <a:rPr lang="fr-FR" altLang="fr-FR" dirty="0">
                <a:solidFill>
                  <a:srgbClr val="FF0000"/>
                </a:solidFill>
              </a:rPr>
              <a:t>(x)</a:t>
            </a:r>
            <a:r>
              <a:rPr lang="fr-FR" altLang="fr-FR" dirty="0"/>
              <a:t>.(x(</a:t>
            </a:r>
            <a:r>
              <a:rPr lang="fr-FR" altLang="fr-FR" dirty="0" err="1"/>
              <a:t>it</a:t>
            </a:r>
            <a:r>
              <a:rPr lang="fr-FR" altLang="fr-FR" dirty="0"/>
              <a:t>)-x(i,t-1))+</a:t>
            </a:r>
            <a:r>
              <a:rPr lang="el-GR" altLang="fr-FR" dirty="0">
                <a:solidFill>
                  <a:srgbClr val="00B050"/>
                </a:solidFill>
              </a:rPr>
              <a:t>ε</a:t>
            </a:r>
            <a:r>
              <a:rPr lang="fr-FR" altLang="fr-FR" dirty="0">
                <a:solidFill>
                  <a:srgbClr val="00B050"/>
                </a:solidFill>
              </a:rPr>
              <a:t>(</a:t>
            </a:r>
            <a:r>
              <a:rPr lang="fr-FR" altLang="fr-FR" dirty="0" err="1">
                <a:solidFill>
                  <a:srgbClr val="00B050"/>
                </a:solidFill>
              </a:rPr>
              <a:t>it</a:t>
            </a:r>
            <a:r>
              <a:rPr lang="fr-FR" altLang="fr-FR" dirty="0">
                <a:solidFill>
                  <a:srgbClr val="00B050"/>
                </a:solidFill>
              </a:rPr>
              <a:t>)-</a:t>
            </a:r>
            <a:r>
              <a:rPr lang="el-GR" altLang="fr-FR" dirty="0">
                <a:solidFill>
                  <a:srgbClr val="00B050"/>
                </a:solidFill>
              </a:rPr>
              <a:t>ε</a:t>
            </a:r>
            <a:r>
              <a:rPr lang="fr-FR" altLang="fr-FR" dirty="0">
                <a:solidFill>
                  <a:srgbClr val="00B050"/>
                </a:solidFill>
              </a:rPr>
              <a:t>(i,t-1)+</a:t>
            </a:r>
          </a:p>
          <a:p>
            <a:pPr marL="0" indent="0">
              <a:buNone/>
            </a:pPr>
            <a:r>
              <a:rPr lang="el-GR" altLang="fr-FR" dirty="0">
                <a:solidFill>
                  <a:srgbClr val="00B050"/>
                </a:solidFill>
              </a:rPr>
              <a:t>α</a:t>
            </a:r>
            <a:r>
              <a:rPr lang="fr-FR" altLang="fr-FR" dirty="0">
                <a:solidFill>
                  <a:srgbClr val="00B050"/>
                </a:solidFill>
              </a:rPr>
              <a:t>(t)-</a:t>
            </a:r>
            <a:r>
              <a:rPr lang="el-GR" altLang="fr-FR" dirty="0">
                <a:solidFill>
                  <a:srgbClr val="00B050"/>
                </a:solidFill>
              </a:rPr>
              <a:t>α</a:t>
            </a:r>
            <a:r>
              <a:rPr lang="fr-FR" altLang="fr-FR" dirty="0">
                <a:solidFill>
                  <a:srgbClr val="00B050"/>
                </a:solidFill>
              </a:rPr>
              <a:t>(t-1)</a:t>
            </a:r>
          </a:p>
          <a:p>
            <a:pPr marL="0" indent="0">
              <a:buNone/>
            </a:pPr>
            <a:endParaRPr lang="fr-FR" altLang="fr-FR" b="1" dirty="0">
              <a:solidFill>
                <a:srgbClr val="00B050"/>
              </a:solidFill>
            </a:endParaRPr>
          </a:p>
          <a:p>
            <a:pPr marL="0" indent="0">
              <a:buNone/>
            </a:pPr>
            <a:endParaRPr lang="fr-FR" altLang="fr-FR" b="1" dirty="0">
              <a:solidFill>
                <a:srgbClr val="00B050"/>
              </a:solidFill>
            </a:endParaRPr>
          </a:p>
          <a:p>
            <a:pPr marL="0" indent="0">
              <a:buNone/>
            </a:pPr>
            <a:endParaRPr lang="fr-FR" altLang="fr-FR" b="1" dirty="0"/>
          </a:p>
        </p:txBody>
      </p:sp>
    </p:spTree>
    <p:extLst>
      <p:ext uri="{BB962C8B-B14F-4D97-AF65-F5344CB8AC3E}">
        <p14:creationId xmlns:p14="http://schemas.microsoft.com/office/powerpoint/2010/main" val="2597135703"/>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Hierarchy</a:t>
            </a:r>
            <a:endParaRPr lang="en-GB" dirty="0"/>
          </a:p>
        </p:txBody>
      </p:sp>
      <p:sp>
        <p:nvSpPr>
          <p:cNvPr id="3" name="Espace réservé du contenu 2"/>
          <p:cNvSpPr>
            <a:spLocks noGrp="1"/>
          </p:cNvSpPr>
          <p:nvPr>
            <p:ph idx="1"/>
          </p:nvPr>
        </p:nvSpPr>
        <p:spPr/>
        <p:txBody>
          <a:bodyPr/>
          <a:lstStyle/>
          <a:p>
            <a:pPr marL="0" indent="0">
              <a:buNone/>
            </a:pPr>
            <a:r>
              <a:rPr lang="fr-FR" sz="2800" dirty="0">
                <a:latin typeface="Cambria Math" panose="02040503050406030204" pitchFamily="18" charset="0"/>
                <a:ea typeface="Cambria Math" panose="02040503050406030204" pitchFamily="18" charset="0"/>
              </a:rPr>
              <a:t>Cross section (</a:t>
            </a:r>
            <a:r>
              <a:rPr lang="fr-FR" sz="2800" dirty="0" err="1">
                <a:latin typeface="Cambria Math" panose="02040503050406030204" pitchFamily="18" charset="0"/>
                <a:ea typeface="Cambria Math" panose="02040503050406030204" pitchFamily="18" charset="0"/>
              </a:rPr>
              <a:t>endogeneity</a:t>
            </a:r>
            <a:r>
              <a:rPr lang="fr-FR" sz="2800" dirty="0">
                <a:latin typeface="Cambria Math" panose="02040503050406030204" pitchFamily="18" charset="0"/>
                <a:ea typeface="Cambria Math" panose="02040503050406030204" pitchFamily="18" charset="0"/>
              </a:rPr>
              <a:t> + </a:t>
            </a:r>
            <a:r>
              <a:rPr lang="fr-FR" sz="2800" dirty="0" err="1">
                <a:latin typeface="Cambria Math" panose="02040503050406030204" pitchFamily="18" charset="0"/>
                <a:ea typeface="Cambria Math" panose="02040503050406030204" pitchFamily="18" charset="0"/>
              </a:rPr>
              <a:t>omitted</a:t>
            </a:r>
            <a:r>
              <a:rPr lang="fr-FR" sz="2800" dirty="0">
                <a:latin typeface="Cambria Math" panose="02040503050406030204" pitchFamily="18" charset="0"/>
                <a:ea typeface="Cambria Math" panose="02040503050406030204" pitchFamily="18" charset="0"/>
              </a:rPr>
              <a:t> variables z(i)) </a:t>
            </a:r>
          </a:p>
          <a:p>
            <a:pPr marL="0" indent="0">
              <a:buNone/>
            </a:pPr>
            <a:r>
              <a:rPr lang="fr-FR" sz="2800" dirty="0">
                <a:latin typeface="Cambria Math" panose="02040503050406030204" pitchFamily="18" charset="0"/>
                <a:ea typeface="Cambria Math" panose="02040503050406030204" pitchFamily="18" charset="0"/>
              </a:rPr>
              <a:t>&lt;&lt;&lt; </a:t>
            </a:r>
            <a:r>
              <a:rPr lang="fr-FR" sz="2800" dirty="0" err="1">
                <a:latin typeface="Cambria Math" panose="02040503050406030204" pitchFamily="18" charset="0"/>
                <a:ea typeface="Cambria Math" panose="02040503050406030204" pitchFamily="18" charset="0"/>
              </a:rPr>
              <a:t>Fixed</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effects</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with</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common</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slopes</a:t>
            </a:r>
            <a:r>
              <a:rPr lang="fr-FR" sz="2800" dirty="0">
                <a:latin typeface="Cambria Math" panose="02040503050406030204" pitchFamily="18" charset="0"/>
                <a:ea typeface="Cambria Math" panose="02040503050406030204" pitchFamily="18" charset="0"/>
              </a:rPr>
              <a:t> restriction for N </a:t>
            </a:r>
            <a:r>
              <a:rPr lang="fr-FR" sz="2800" dirty="0" err="1">
                <a:latin typeface="Cambria Math" panose="02040503050406030204" pitchFamily="18" charset="0"/>
                <a:ea typeface="Cambria Math" panose="02040503050406030204" pitchFamily="18" charset="0"/>
              </a:rPr>
              <a:t>individuals</a:t>
            </a:r>
            <a:r>
              <a:rPr lang="fr-FR" sz="2800" dirty="0">
                <a:latin typeface="Cambria Math" panose="02040503050406030204" pitchFamily="18" charset="0"/>
                <a:ea typeface="Cambria Math" panose="02040503050406030204" pitchFamily="18" charset="0"/>
              </a:rPr>
              <a:t>. (NT-N-k) </a:t>
            </a:r>
            <a:r>
              <a:rPr lang="fr-FR" sz="2800" dirty="0" err="1">
                <a:latin typeface="Cambria Math" panose="02040503050406030204" pitchFamily="18" charset="0"/>
                <a:ea typeface="Cambria Math" panose="02040503050406030204" pitchFamily="18" charset="0"/>
              </a:rPr>
              <a:t>degree</a:t>
            </a:r>
            <a:r>
              <a:rPr lang="fr-FR" sz="2800" dirty="0">
                <a:latin typeface="Cambria Math" panose="02040503050406030204" pitchFamily="18" charset="0"/>
                <a:ea typeface="Cambria Math" panose="02040503050406030204" pitchFamily="18" charset="0"/>
              </a:rPr>
              <a:t> of </a:t>
            </a:r>
            <a:r>
              <a:rPr lang="fr-FR" sz="2800" dirty="0" err="1">
                <a:latin typeface="Cambria Math" panose="02040503050406030204" pitchFamily="18" charset="0"/>
                <a:ea typeface="Cambria Math" panose="02040503050406030204" pitchFamily="18" charset="0"/>
              </a:rPr>
              <a:t>freedom</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better</a:t>
            </a:r>
            <a:r>
              <a:rPr lang="fr-FR" sz="2800" dirty="0">
                <a:latin typeface="Cambria Math" panose="02040503050406030204" pitchFamily="18" charset="0"/>
                <a:ea typeface="Cambria Math" panose="02040503050406030204" pitchFamily="18" charset="0"/>
              </a:rPr>
              <a:t> for </a:t>
            </a:r>
            <a:r>
              <a:rPr lang="fr-FR" sz="2800" dirty="0" err="1">
                <a:latin typeface="Cambria Math" panose="02040503050406030204" pitchFamily="18" charset="0"/>
                <a:ea typeface="Cambria Math" panose="02040503050406030204" pitchFamily="18" charset="0"/>
              </a:rPr>
              <a:t>inference</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than</a:t>
            </a:r>
            <a:r>
              <a:rPr lang="fr-FR" sz="2800" dirty="0">
                <a:latin typeface="Cambria Math" panose="02040503050406030204" pitchFamily="18" charset="0"/>
                <a:ea typeface="Cambria Math" panose="02040503050406030204" pitchFamily="18" charset="0"/>
              </a:rPr>
              <a:t> time </a:t>
            </a:r>
            <a:r>
              <a:rPr lang="fr-FR" sz="2800" dirty="0" err="1">
                <a:latin typeface="Cambria Math" panose="02040503050406030204" pitchFamily="18" charset="0"/>
                <a:ea typeface="Cambria Math" panose="02040503050406030204" pitchFamily="18" charset="0"/>
              </a:rPr>
              <a:t>series</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with</a:t>
            </a:r>
            <a:r>
              <a:rPr lang="fr-FR" sz="2800" dirty="0">
                <a:latin typeface="Cambria Math" panose="02040503050406030204" pitchFamily="18" charset="0"/>
                <a:ea typeface="Cambria Math" panose="02040503050406030204" pitchFamily="18" charset="0"/>
              </a:rPr>
              <a:t> T </a:t>
            </a:r>
            <a:r>
              <a:rPr lang="fr-FR" sz="2800" dirty="0" err="1">
                <a:latin typeface="Cambria Math" panose="02040503050406030204" pitchFamily="18" charset="0"/>
                <a:ea typeface="Cambria Math" panose="02040503050406030204" pitchFamily="18" charset="0"/>
              </a:rPr>
              <a:t>too</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mall</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even</a:t>
            </a:r>
            <a:r>
              <a:rPr lang="fr-FR" sz="2800" dirty="0">
                <a:latin typeface="Cambria Math" panose="02040503050406030204" pitchFamily="18" charset="0"/>
                <a:ea typeface="Cambria Math" panose="02040503050406030204" pitchFamily="18" charset="0"/>
              </a:rPr>
              <a:t> not </a:t>
            </a:r>
            <a:r>
              <a:rPr lang="fr-FR" sz="2800" dirty="0" err="1">
                <a:latin typeface="Cambria Math" panose="02040503050406030204" pitchFamily="18" charset="0"/>
                <a:ea typeface="Cambria Math" panose="02040503050406030204" pitchFamily="18" charset="0"/>
              </a:rPr>
              <a:t>doable</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with</a:t>
            </a:r>
            <a:r>
              <a:rPr lang="fr-FR" sz="2800" dirty="0">
                <a:latin typeface="Cambria Math" panose="02040503050406030204" pitchFamily="18" charset="0"/>
                <a:ea typeface="Cambria Math" panose="02040503050406030204" pitchFamily="18" charset="0"/>
              </a:rPr>
              <a:t> T&lt;k+1.</a:t>
            </a:r>
          </a:p>
          <a:p>
            <a:pPr marL="0" indent="0">
              <a:buNone/>
            </a:pPr>
            <a:r>
              <a:rPr lang="fr-FR" sz="2800" dirty="0">
                <a:latin typeface="Cambria Math" panose="02040503050406030204" pitchFamily="18" charset="0"/>
                <a:ea typeface="Cambria Math" panose="02040503050406030204" pitchFamily="18" charset="0"/>
              </a:rPr>
              <a:t>&lt;&lt;&lt;  N times </a:t>
            </a:r>
            <a:r>
              <a:rPr lang="fr-FR" sz="2800" dirty="0" err="1">
                <a:latin typeface="Cambria Math" panose="02040503050406030204" pitchFamily="18" charset="0"/>
                <a:ea typeface="Cambria Math" panose="02040503050406030204" pitchFamily="18" charset="0"/>
              </a:rPr>
              <a:t>series</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regressions</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with</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different</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slopes</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doable</a:t>
            </a:r>
            <a:r>
              <a:rPr lang="fr-FR" sz="2800" dirty="0">
                <a:latin typeface="Cambria Math" panose="02040503050406030204" pitchFamily="18" charset="0"/>
                <a:ea typeface="Cambria Math" panose="02040503050406030204" pitchFamily="18" charset="0"/>
              </a:rPr>
              <a:t> if N </a:t>
            </a:r>
            <a:r>
              <a:rPr lang="fr-FR" sz="2800" dirty="0" err="1">
                <a:latin typeface="Cambria Math" panose="02040503050406030204" pitchFamily="18" charset="0"/>
                <a:ea typeface="Cambria Math" panose="02040503050406030204" pitchFamily="18" charset="0"/>
              </a:rPr>
              <a:t>small</a:t>
            </a:r>
            <a:r>
              <a:rPr lang="fr-FR" sz="2800" dirty="0">
                <a:latin typeface="Cambria Math" panose="02040503050406030204" pitchFamily="18" charset="0"/>
                <a:ea typeface="Cambria Math" panose="02040503050406030204" pitchFamily="18" charset="0"/>
              </a:rPr>
              <a:t> (N&lt;20) and T&gt;70 or 100 for </a:t>
            </a:r>
            <a:r>
              <a:rPr lang="fr-FR" sz="2800" dirty="0" err="1">
                <a:latin typeface="Cambria Math" panose="02040503050406030204" pitchFamily="18" charset="0"/>
                <a:ea typeface="Cambria Math" panose="02040503050406030204" pitchFamily="18" charset="0"/>
              </a:rPr>
              <a:t>inference</a:t>
            </a:r>
            <a:r>
              <a:rPr lang="fr-FR" sz="2800" dirty="0">
                <a:latin typeface="Cambria Math" panose="02040503050406030204" pitchFamily="18" charset="0"/>
                <a:ea typeface="Cambria Math" panose="02040503050406030204" pitchFamily="18" charset="0"/>
              </a:rPr>
              <a:t> (10 observations for </a:t>
            </a:r>
            <a:r>
              <a:rPr lang="fr-FR" sz="2800" dirty="0" err="1">
                <a:latin typeface="Cambria Math" panose="02040503050406030204" pitchFamily="18" charset="0"/>
                <a:ea typeface="Cambria Math" panose="02040503050406030204" pitchFamily="18" charset="0"/>
              </a:rPr>
              <a:t>each</a:t>
            </a:r>
            <a:r>
              <a:rPr lang="fr-FR" sz="2800" dirty="0">
                <a:latin typeface="Cambria Math" panose="02040503050406030204" pitchFamily="18" charset="0"/>
                <a:ea typeface="Cambria Math" panose="02040503050406030204" pitchFamily="18" charset="0"/>
              </a:rPr>
              <a:t> </a:t>
            </a:r>
            <a:r>
              <a:rPr lang="fr-FR" sz="2800" dirty="0" err="1">
                <a:latin typeface="Cambria Math" panose="02040503050406030204" pitchFamily="18" charset="0"/>
                <a:ea typeface="Cambria Math" panose="02040503050406030204" pitchFamily="18" charset="0"/>
              </a:rPr>
              <a:t>explanatory</a:t>
            </a:r>
            <a:r>
              <a:rPr lang="fr-FR" sz="2800" dirty="0">
                <a:latin typeface="Cambria Math" panose="02040503050406030204" pitchFamily="18" charset="0"/>
                <a:ea typeface="Cambria Math" panose="02040503050406030204" pitchFamily="18" charset="0"/>
              </a:rPr>
              <a:t> variable (</a:t>
            </a:r>
            <a:r>
              <a:rPr lang="fr-FR" sz="2800" dirty="0" err="1">
                <a:latin typeface="Cambria Math" panose="02040503050406030204" pitchFamily="18" charset="0"/>
                <a:ea typeface="Cambria Math" panose="02040503050406030204" pitchFamily="18" charset="0"/>
              </a:rPr>
              <a:t>say</a:t>
            </a:r>
            <a:r>
              <a:rPr lang="fr-FR" sz="2800" dirty="0">
                <a:latin typeface="Cambria Math" panose="02040503050406030204" pitchFamily="18" charset="0"/>
                <a:ea typeface="Cambria Math" panose="02040503050406030204" pitchFamily="18" charset="0"/>
              </a:rPr>
              <a:t> </a:t>
            </a:r>
            <a:r>
              <a:rPr lang="fr-FR" sz="2800">
                <a:latin typeface="Cambria Math" panose="02040503050406030204" pitchFamily="18" charset="0"/>
                <a:ea typeface="Cambria Math" panose="02040503050406030204" pitchFamily="18" charset="0"/>
              </a:rPr>
              <a:t>7 to 10) for </a:t>
            </a:r>
            <a:r>
              <a:rPr lang="fr-FR" sz="2800" dirty="0">
                <a:latin typeface="Cambria Math" panose="02040503050406030204" pitchFamily="18" charset="0"/>
                <a:ea typeface="Cambria Math" panose="02040503050406030204" pitchFamily="18" charset="0"/>
              </a:rPr>
              <a:t>power of t-test).</a:t>
            </a:r>
            <a:endParaRPr lang="en-GB" sz="28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1605887"/>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fr-FR" dirty="0"/>
              <a:t>Cross section &lt; </a:t>
            </a:r>
            <a:r>
              <a:rPr lang="fr-FR" dirty="0" err="1"/>
              <a:t>fixed</a:t>
            </a:r>
            <a:r>
              <a:rPr lang="fr-FR" dirty="0"/>
              <a:t> </a:t>
            </a:r>
            <a:r>
              <a:rPr lang="fr-FR" dirty="0" err="1"/>
              <a:t>effects</a:t>
            </a:r>
            <a:br>
              <a:rPr lang="fr-FR" dirty="0"/>
            </a:br>
            <a:r>
              <a:rPr lang="fr-FR" dirty="0"/>
              <a:t> &lt; time </a:t>
            </a:r>
            <a:r>
              <a:rPr lang="fr-FR" dirty="0" err="1"/>
              <a:t>series</a:t>
            </a:r>
            <a:r>
              <a:rPr lang="fr-FR" dirty="0"/>
              <a:t> </a:t>
            </a:r>
            <a:r>
              <a:rPr lang="fr-FR" dirty="0" err="1"/>
              <a:t>different</a:t>
            </a:r>
            <a:r>
              <a:rPr lang="fr-FR" dirty="0"/>
              <a:t> </a:t>
            </a:r>
            <a:r>
              <a:rPr lang="fr-FR" dirty="0" err="1"/>
              <a:t>slopes</a:t>
            </a:r>
            <a:endParaRPr lang="fr-FR"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360119986"/>
              </p:ext>
            </p:extLst>
          </p:nvPr>
        </p:nvGraphicFramePr>
        <p:xfrm>
          <a:off x="457200" y="1600200"/>
          <a:ext cx="8291265" cy="4663440"/>
        </p:xfrm>
        <a:graphic>
          <a:graphicData uri="http://schemas.openxmlformats.org/drawingml/2006/table">
            <a:tbl>
              <a:tblPr firstRow="1" bandRow="1">
                <a:tableStyleId>{5940675A-B579-460E-94D1-54222C63F5DA}</a:tableStyleId>
              </a:tblPr>
              <a:tblGrid>
                <a:gridCol w="2242592">
                  <a:extLst>
                    <a:ext uri="{9D8B030D-6E8A-4147-A177-3AD203B41FA5}">
                      <a16:colId xmlns:a16="http://schemas.microsoft.com/office/drawing/2014/main" val="20000"/>
                    </a:ext>
                  </a:extLst>
                </a:gridCol>
                <a:gridCol w="3284918">
                  <a:extLst>
                    <a:ext uri="{9D8B030D-6E8A-4147-A177-3AD203B41FA5}">
                      <a16:colId xmlns:a16="http://schemas.microsoft.com/office/drawing/2014/main" val="20001"/>
                    </a:ext>
                  </a:extLst>
                </a:gridCol>
                <a:gridCol w="2763755">
                  <a:extLst>
                    <a:ext uri="{9D8B030D-6E8A-4147-A177-3AD203B41FA5}">
                      <a16:colId xmlns:a16="http://schemas.microsoft.com/office/drawing/2014/main" val="20002"/>
                    </a:ext>
                  </a:extLst>
                </a:gridCol>
              </a:tblGrid>
              <a:tr h="1473696">
                <a:tc>
                  <a:txBody>
                    <a:bodyPr/>
                    <a:lstStyle/>
                    <a:p>
                      <a:r>
                        <a:rPr lang="fr-FR" sz="2400" dirty="0" err="1">
                          <a:latin typeface="Cambria Math" panose="02040503050406030204" pitchFamily="18" charset="0"/>
                          <a:ea typeface="Cambria Math" panose="02040503050406030204" pitchFamily="18" charset="0"/>
                        </a:rPr>
                        <a:t>Number</a:t>
                      </a:r>
                      <a:r>
                        <a:rPr lang="fr-FR" sz="2400" baseline="0" dirty="0">
                          <a:latin typeface="Cambria Math" panose="02040503050406030204" pitchFamily="18" charset="0"/>
                          <a:ea typeface="Cambria Math" panose="02040503050406030204" pitchFamily="18" charset="0"/>
                        </a:rPr>
                        <a:t> of </a:t>
                      </a:r>
                      <a:r>
                        <a:rPr lang="fr-FR" sz="2400" baseline="0" dirty="0" err="1">
                          <a:latin typeface="Cambria Math" panose="02040503050406030204" pitchFamily="18" charset="0"/>
                          <a:ea typeface="Cambria Math" panose="02040503050406030204" pitchFamily="18" charset="0"/>
                        </a:rPr>
                        <a:t>explanatory</a:t>
                      </a:r>
                      <a:r>
                        <a:rPr lang="fr-FR" sz="2400" baseline="0" dirty="0">
                          <a:latin typeface="Cambria Math" panose="02040503050406030204" pitchFamily="18" charset="0"/>
                          <a:ea typeface="Cambria Math" panose="02040503050406030204" pitchFamily="18" charset="0"/>
                        </a:rPr>
                        <a:t> variables k</a:t>
                      </a:r>
                      <a:endParaRPr lang="fr-FR" sz="2400" dirty="0">
                        <a:latin typeface="Cambria Math" panose="02040503050406030204" pitchFamily="18" charset="0"/>
                        <a:ea typeface="Cambria Math" panose="02040503050406030204" pitchFamily="18" charset="0"/>
                      </a:endParaRPr>
                    </a:p>
                  </a:txBody>
                  <a:tcPr/>
                </a:tc>
                <a:tc>
                  <a:txBody>
                    <a:bodyPr/>
                    <a:lstStyle/>
                    <a:p>
                      <a:r>
                        <a:rPr lang="fr-FR" sz="2400" dirty="0">
                          <a:latin typeface="Cambria Math" panose="02040503050406030204" pitchFamily="18" charset="0"/>
                          <a:ea typeface="Cambria Math" panose="02040503050406030204" pitchFamily="18" charset="0"/>
                        </a:rPr>
                        <a:t>T </a:t>
                      </a:r>
                      <a:r>
                        <a:rPr lang="fr-FR" sz="2400" dirty="0" err="1">
                          <a:latin typeface="Cambria Math" panose="02040503050406030204" pitchFamily="18" charset="0"/>
                          <a:ea typeface="Cambria Math" panose="02040503050406030204" pitchFamily="18" charset="0"/>
                        </a:rPr>
                        <a:t>small</a:t>
                      </a:r>
                      <a:r>
                        <a:rPr lang="fr-FR" sz="2400" dirty="0">
                          <a:latin typeface="Cambria Math" panose="02040503050406030204" pitchFamily="18" charset="0"/>
                          <a:ea typeface="Cambria Math" panose="02040503050406030204" pitchFamily="18" charset="0"/>
                        </a:rPr>
                        <a:t>&lt;k+1</a:t>
                      </a:r>
                      <a:r>
                        <a:rPr lang="fr-FR" sz="2400" baseline="0" dirty="0">
                          <a:latin typeface="Cambria Math" panose="02040503050406030204" pitchFamily="18" charset="0"/>
                          <a:ea typeface="Cambria Math" panose="02040503050406030204" pitchFamily="18" charset="0"/>
                        </a:rPr>
                        <a:t> or </a:t>
                      </a:r>
                    </a:p>
                    <a:p>
                      <a:r>
                        <a:rPr lang="fr-FR" sz="2400" baseline="0" dirty="0">
                          <a:latin typeface="Cambria Math" panose="02040503050406030204" pitchFamily="18" charset="0"/>
                          <a:ea typeface="Cambria Math" panose="02040503050406030204" pitchFamily="18" charset="0"/>
                        </a:rPr>
                        <a:t>&lt;70 observations</a:t>
                      </a:r>
                    </a:p>
                    <a:p>
                      <a:r>
                        <a:rPr lang="fr-FR" sz="2400" baseline="0" dirty="0" err="1">
                          <a:latin typeface="Cambria Math" panose="02040503050406030204" pitchFamily="18" charset="0"/>
                          <a:ea typeface="Cambria Math" panose="02040503050406030204" pitchFamily="18" charset="0"/>
                        </a:rPr>
                        <a:t>weak</a:t>
                      </a:r>
                      <a:r>
                        <a:rPr lang="fr-FR" sz="2400" baseline="0" dirty="0">
                          <a:latin typeface="Cambria Math" panose="02040503050406030204" pitchFamily="18" charset="0"/>
                          <a:ea typeface="Cambria Math" panose="02040503050406030204" pitchFamily="18" charset="0"/>
                        </a:rPr>
                        <a:t> </a:t>
                      </a:r>
                      <a:r>
                        <a:rPr lang="fr-FR" sz="2400" baseline="0" dirty="0" err="1">
                          <a:latin typeface="Cambria Math" panose="02040503050406030204" pitchFamily="18" charset="0"/>
                          <a:ea typeface="Cambria Math" panose="02040503050406030204" pitchFamily="18" charset="0"/>
                        </a:rPr>
                        <a:t>inference</a:t>
                      </a:r>
                      <a:r>
                        <a:rPr lang="fr-FR" sz="2400" baseline="0" dirty="0">
                          <a:latin typeface="Cambria Math" panose="02040503050406030204" pitchFamily="18" charset="0"/>
                          <a:ea typeface="Cambria Math" panose="02040503050406030204" pitchFamily="18" charset="0"/>
                        </a:rPr>
                        <a:t> for time </a:t>
                      </a:r>
                      <a:r>
                        <a:rPr lang="fr-FR" sz="2400" baseline="0" dirty="0" err="1">
                          <a:latin typeface="Cambria Math" panose="02040503050406030204" pitchFamily="18" charset="0"/>
                          <a:ea typeface="Cambria Math" panose="02040503050406030204" pitchFamily="18" charset="0"/>
                        </a:rPr>
                        <a:t>series</a:t>
                      </a:r>
                      <a:endParaRPr lang="fr-FR" sz="2400" dirty="0">
                        <a:latin typeface="Cambria Math" panose="02040503050406030204" pitchFamily="18" charset="0"/>
                        <a:ea typeface="Cambria Math" panose="02040503050406030204" pitchFamily="18" charset="0"/>
                      </a:endParaRPr>
                    </a:p>
                  </a:txBody>
                  <a:tcPr/>
                </a:tc>
                <a:tc>
                  <a:txBody>
                    <a:bodyPr/>
                    <a:lstStyle/>
                    <a:p>
                      <a:r>
                        <a:rPr lang="fr-FR" sz="2400" dirty="0">
                          <a:latin typeface="Cambria Math" panose="02040503050406030204" pitchFamily="18" charset="0"/>
                          <a:ea typeface="Cambria Math" panose="02040503050406030204" pitchFamily="18" charset="0"/>
                        </a:rPr>
                        <a:t>T large&gt;100</a:t>
                      </a:r>
                    </a:p>
                  </a:txBody>
                  <a:tcPr/>
                </a:tc>
                <a:extLst>
                  <a:ext uri="{0D108BD9-81ED-4DB2-BD59-A6C34878D82A}">
                    <a16:rowId xmlns:a16="http://schemas.microsoft.com/office/drawing/2014/main" val="10000"/>
                  </a:ext>
                </a:extLst>
              </a:tr>
              <a:tr h="1473696">
                <a:tc>
                  <a:txBody>
                    <a:bodyPr/>
                    <a:lstStyle/>
                    <a:p>
                      <a:r>
                        <a:rPr lang="fr-FR" sz="2400" dirty="0">
                          <a:latin typeface="Cambria Math" panose="02040503050406030204" pitchFamily="18" charset="0"/>
                          <a:ea typeface="Cambria Math" panose="02040503050406030204" pitchFamily="18" charset="0"/>
                        </a:rPr>
                        <a:t>N </a:t>
                      </a:r>
                      <a:r>
                        <a:rPr lang="fr-FR" sz="2400" dirty="0" err="1">
                          <a:latin typeface="Cambria Math" panose="02040503050406030204" pitchFamily="18" charset="0"/>
                          <a:ea typeface="Cambria Math" panose="02040503050406030204" pitchFamily="18" charset="0"/>
                        </a:rPr>
                        <a:t>very</a:t>
                      </a:r>
                      <a:r>
                        <a:rPr lang="fr-FR" sz="2400" dirty="0">
                          <a:latin typeface="Cambria Math" panose="02040503050406030204" pitchFamily="18" charset="0"/>
                          <a:ea typeface="Cambria Math" panose="02040503050406030204" pitchFamily="18" charset="0"/>
                        </a:rPr>
                        <a:t> </a:t>
                      </a:r>
                      <a:r>
                        <a:rPr lang="fr-FR" sz="2400" dirty="0" err="1">
                          <a:latin typeface="Cambria Math" panose="02040503050406030204" pitchFamily="18" charset="0"/>
                          <a:ea typeface="Cambria Math" panose="02040503050406030204" pitchFamily="18" charset="0"/>
                        </a:rPr>
                        <a:t>small</a:t>
                      </a:r>
                      <a:r>
                        <a:rPr lang="fr-FR" sz="2400" dirty="0">
                          <a:latin typeface="Cambria Math" panose="02040503050406030204" pitchFamily="18" charset="0"/>
                          <a:ea typeface="Cambria Math" panose="02040503050406030204" pitchFamily="18" charset="0"/>
                        </a:rPr>
                        <a:t>:</a:t>
                      </a:r>
                    </a:p>
                    <a:p>
                      <a:r>
                        <a:rPr lang="fr-FR" sz="2400" dirty="0">
                          <a:latin typeface="Cambria Math" panose="02040503050406030204" pitchFamily="18" charset="0"/>
                          <a:ea typeface="Cambria Math" panose="02040503050406030204" pitchFamily="18" charset="0"/>
                        </a:rPr>
                        <a:t>2 to 20&lt;100</a:t>
                      </a:r>
                    </a:p>
                  </a:txBody>
                  <a:tcPr/>
                </a:tc>
                <a:tc>
                  <a:txBody>
                    <a:bodyPr/>
                    <a:lstStyle/>
                    <a:p>
                      <a:r>
                        <a:rPr lang="fr-FR" sz="2400" dirty="0">
                          <a:latin typeface="Cambria Math" panose="02040503050406030204" pitchFamily="18" charset="0"/>
                          <a:ea typeface="Cambria Math" panose="02040503050406030204" pitchFamily="18" charset="0"/>
                        </a:rPr>
                        <a:t>Macro,</a:t>
                      </a:r>
                      <a:r>
                        <a:rPr lang="fr-FR" sz="2400" baseline="0" dirty="0">
                          <a:latin typeface="Cambria Math" panose="02040503050406030204" pitchFamily="18" charset="0"/>
                          <a:ea typeface="Cambria Math" panose="02040503050406030204" pitchFamily="18" charset="0"/>
                        </a:rPr>
                        <a:t> </a:t>
                      </a:r>
                      <a:r>
                        <a:rPr lang="fr-FR" sz="2400" baseline="0" dirty="0" err="1">
                          <a:latin typeface="Cambria Math" panose="02040503050406030204" pitchFamily="18" charset="0"/>
                          <a:ea typeface="Cambria Math" panose="02040503050406030204" pitchFamily="18" charset="0"/>
                        </a:rPr>
                        <a:t>yearly</a:t>
                      </a:r>
                      <a:r>
                        <a:rPr lang="fr-FR" sz="2400" baseline="0" dirty="0">
                          <a:latin typeface="Cambria Math" panose="02040503050406030204" pitchFamily="18" charset="0"/>
                          <a:ea typeface="Cambria Math" panose="02040503050406030204" pitchFamily="18" charset="0"/>
                        </a:rPr>
                        <a:t>, OECD. </a:t>
                      </a:r>
                    </a:p>
                    <a:p>
                      <a:r>
                        <a:rPr lang="fr-FR" sz="2400" baseline="0" dirty="0">
                          <a:latin typeface="Cambria Math" panose="02040503050406030204" pitchFamily="18" charset="0"/>
                          <a:ea typeface="Cambria Math" panose="02040503050406030204" pitchFamily="18" charset="0"/>
                        </a:rPr>
                        <a:t>FIXED EFFECTS </a:t>
                      </a:r>
                      <a:r>
                        <a:rPr lang="fr-FR" sz="2400" baseline="0" dirty="0" err="1">
                          <a:latin typeface="Cambria Math" panose="02040503050406030204" pitchFamily="18" charset="0"/>
                          <a:ea typeface="Cambria Math" panose="02040503050406030204" pitchFamily="18" charset="0"/>
                        </a:rPr>
                        <a:t>degrees</a:t>
                      </a:r>
                      <a:r>
                        <a:rPr lang="fr-FR" sz="2400" baseline="0" dirty="0">
                          <a:latin typeface="Cambria Math" panose="02040503050406030204" pitchFamily="18" charset="0"/>
                          <a:ea typeface="Cambria Math" panose="02040503050406030204" pitchFamily="18" charset="0"/>
                        </a:rPr>
                        <a:t> of </a:t>
                      </a:r>
                      <a:r>
                        <a:rPr lang="fr-FR" sz="2400" baseline="0" dirty="0" err="1">
                          <a:latin typeface="Cambria Math" panose="02040503050406030204" pitchFamily="18" charset="0"/>
                          <a:ea typeface="Cambria Math" panose="02040503050406030204" pitchFamily="18" charset="0"/>
                        </a:rPr>
                        <a:t>freedom</a:t>
                      </a:r>
                      <a:r>
                        <a:rPr lang="fr-FR" sz="2400" baseline="0" dirty="0">
                          <a:latin typeface="Cambria Math" panose="02040503050406030204" pitchFamily="18" charset="0"/>
                          <a:ea typeface="Cambria Math" panose="02040503050406030204" pitchFamily="18" charset="0"/>
                        </a:rPr>
                        <a:t>:</a:t>
                      </a:r>
                    </a:p>
                    <a:p>
                      <a:r>
                        <a:rPr lang="fr-FR" sz="2400" baseline="0" dirty="0">
                          <a:latin typeface="Cambria Math" panose="02040503050406030204" pitchFamily="18" charset="0"/>
                          <a:ea typeface="Cambria Math" panose="02040503050406030204" pitchFamily="18" charset="0"/>
                        </a:rPr>
                        <a:t>NT-N-k&gt;T-k-1.</a:t>
                      </a:r>
                      <a:endParaRPr lang="fr-FR" sz="2400" dirty="0">
                        <a:latin typeface="Cambria Math" panose="02040503050406030204" pitchFamily="18" charset="0"/>
                        <a:ea typeface="Cambria Math" panose="02040503050406030204" pitchFamily="18" charset="0"/>
                      </a:endParaRPr>
                    </a:p>
                  </a:txBody>
                  <a:tcPr/>
                </a:tc>
                <a:tc>
                  <a:txBody>
                    <a:bodyPr/>
                    <a:lstStyle/>
                    <a:p>
                      <a:r>
                        <a:rPr lang="fr-FR" sz="2400" i="1" dirty="0" err="1">
                          <a:latin typeface="Cambria Math" panose="02040503050406030204" pitchFamily="18" charset="0"/>
                          <a:ea typeface="Cambria Math" panose="02040503050406030204" pitchFamily="18" charset="0"/>
                        </a:rPr>
                        <a:t>Prefer</a:t>
                      </a:r>
                      <a:r>
                        <a:rPr lang="fr-FR" sz="2400" i="1" baseline="0" dirty="0">
                          <a:latin typeface="Cambria Math" panose="02040503050406030204" pitchFamily="18" charset="0"/>
                          <a:ea typeface="Cambria Math" panose="02040503050406030204" pitchFamily="18" charset="0"/>
                        </a:rPr>
                        <a:t> 20 time </a:t>
                      </a:r>
                      <a:r>
                        <a:rPr lang="fr-FR" sz="2400" i="1" baseline="0" dirty="0" err="1">
                          <a:latin typeface="Cambria Math" panose="02040503050406030204" pitchFamily="18" charset="0"/>
                          <a:ea typeface="Cambria Math" panose="02040503050406030204" pitchFamily="18" charset="0"/>
                        </a:rPr>
                        <a:t>series</a:t>
                      </a:r>
                      <a:r>
                        <a:rPr lang="fr-FR" sz="2400" i="1" baseline="0" dirty="0">
                          <a:latin typeface="Cambria Math" panose="02040503050406030204" pitchFamily="18" charset="0"/>
                          <a:ea typeface="Cambria Math" panose="02040503050406030204" pitchFamily="18" charset="0"/>
                        </a:rPr>
                        <a:t> </a:t>
                      </a:r>
                      <a:r>
                        <a:rPr lang="fr-FR" sz="2400" i="1" baseline="0" dirty="0" err="1">
                          <a:latin typeface="Cambria Math" panose="02040503050406030204" pitchFamily="18" charset="0"/>
                          <a:ea typeface="Cambria Math" panose="02040503050406030204" pitchFamily="18" charset="0"/>
                        </a:rPr>
                        <a:t>regressions</a:t>
                      </a:r>
                      <a:r>
                        <a:rPr lang="fr-FR" sz="2400" i="1" baseline="0" dirty="0">
                          <a:latin typeface="Cambria Math" panose="02040503050406030204" pitchFamily="18" charset="0"/>
                          <a:ea typeface="Cambria Math" panose="02040503050406030204" pitchFamily="18" charset="0"/>
                        </a:rPr>
                        <a:t> </a:t>
                      </a:r>
                      <a:r>
                        <a:rPr lang="fr-FR" sz="2400" i="1" baseline="0" dirty="0" err="1">
                          <a:latin typeface="Cambria Math" panose="02040503050406030204" pitchFamily="18" charset="0"/>
                          <a:ea typeface="Cambria Math" panose="02040503050406030204" pitchFamily="18" charset="0"/>
                        </a:rPr>
                        <a:t>with</a:t>
                      </a:r>
                      <a:r>
                        <a:rPr lang="fr-FR" sz="2400" i="1" baseline="0" dirty="0">
                          <a:latin typeface="Cambria Math" panose="02040503050406030204" pitchFamily="18" charset="0"/>
                          <a:ea typeface="Cambria Math" panose="02040503050406030204" pitchFamily="18" charset="0"/>
                        </a:rPr>
                        <a:t> </a:t>
                      </a:r>
                      <a:r>
                        <a:rPr lang="fr-FR" sz="2400" i="1" baseline="0" dirty="0" err="1">
                          <a:latin typeface="Cambria Math" panose="02040503050406030204" pitchFamily="18" charset="0"/>
                          <a:ea typeface="Cambria Math" panose="02040503050406030204" pitchFamily="18" charset="0"/>
                        </a:rPr>
                        <a:t>different</a:t>
                      </a:r>
                      <a:r>
                        <a:rPr lang="fr-FR" sz="2400" i="1" baseline="0" dirty="0">
                          <a:latin typeface="Cambria Math" panose="02040503050406030204" pitchFamily="18" charset="0"/>
                          <a:ea typeface="Cambria Math" panose="02040503050406030204" pitchFamily="18" charset="0"/>
                        </a:rPr>
                        <a:t> </a:t>
                      </a:r>
                      <a:r>
                        <a:rPr lang="fr-FR" sz="2400" i="1" baseline="0" dirty="0" err="1">
                          <a:latin typeface="Cambria Math" panose="02040503050406030204" pitchFamily="18" charset="0"/>
                          <a:ea typeface="Cambria Math" panose="02040503050406030204" pitchFamily="18" charset="0"/>
                        </a:rPr>
                        <a:t>slopes</a:t>
                      </a:r>
                      <a:endParaRPr lang="fr-FR" sz="2400" i="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1"/>
                  </a:ext>
                </a:extLst>
              </a:tr>
              <a:tr h="1473696">
                <a:tc>
                  <a:txBody>
                    <a:bodyPr/>
                    <a:lstStyle/>
                    <a:p>
                      <a:r>
                        <a:rPr lang="fr-FR" sz="2400" dirty="0">
                          <a:latin typeface="Cambria Math" panose="02040503050406030204" pitchFamily="18" charset="0"/>
                          <a:ea typeface="Cambria Math" panose="02040503050406030204" pitchFamily="18" charset="0"/>
                        </a:rPr>
                        <a:t>N large</a:t>
                      </a:r>
                    </a:p>
                    <a:p>
                      <a:r>
                        <a:rPr lang="fr-FR" sz="2400" dirty="0">
                          <a:latin typeface="Cambria Math" panose="02040503050406030204" pitchFamily="18" charset="0"/>
                          <a:ea typeface="Cambria Math" panose="02040503050406030204" pitchFamily="18" charset="0"/>
                        </a:rPr>
                        <a:t>&gt;100</a:t>
                      </a:r>
                    </a:p>
                  </a:txBody>
                  <a:tcPr/>
                </a:tc>
                <a:tc>
                  <a:txBody>
                    <a:bodyPr/>
                    <a:lstStyle/>
                    <a:p>
                      <a:r>
                        <a:rPr lang="fr-FR" sz="2400" dirty="0">
                          <a:latin typeface="Cambria Math" panose="02040503050406030204" pitchFamily="18" charset="0"/>
                          <a:ea typeface="Cambria Math" panose="02040503050406030204" pitchFamily="18" charset="0"/>
                        </a:rPr>
                        <a:t>Balance</a:t>
                      </a:r>
                      <a:r>
                        <a:rPr lang="fr-FR" sz="2400" baseline="0" dirty="0">
                          <a:latin typeface="Cambria Math" panose="02040503050406030204" pitchFamily="18" charset="0"/>
                          <a:ea typeface="Cambria Math" panose="02040503050406030204" pitchFamily="18" charset="0"/>
                        </a:rPr>
                        <a:t> </a:t>
                      </a:r>
                      <a:r>
                        <a:rPr lang="fr-FR" sz="2400" baseline="0" dirty="0" err="1">
                          <a:latin typeface="Cambria Math" panose="02040503050406030204" pitchFamily="18" charset="0"/>
                          <a:ea typeface="Cambria Math" panose="02040503050406030204" pitchFamily="18" charset="0"/>
                        </a:rPr>
                        <a:t>sheets</a:t>
                      </a:r>
                      <a:r>
                        <a:rPr lang="fr-FR" sz="2400" baseline="0" dirty="0">
                          <a:latin typeface="Cambria Math" panose="02040503050406030204" pitchFamily="18" charset="0"/>
                          <a:ea typeface="Cambria Math" panose="02040503050406030204" pitchFamily="18" charset="0"/>
                        </a:rPr>
                        <a:t>, </a:t>
                      </a:r>
                      <a:r>
                        <a:rPr lang="fr-FR" sz="2400" baseline="0" dirty="0" err="1">
                          <a:latin typeface="Cambria Math" panose="02040503050406030204" pitchFamily="18" charset="0"/>
                          <a:ea typeface="Cambria Math" panose="02040503050406030204" pitchFamily="18" charset="0"/>
                        </a:rPr>
                        <a:t>surveys</a:t>
                      </a:r>
                      <a:r>
                        <a:rPr lang="fr-FR" sz="2400" baseline="0" dirty="0">
                          <a:latin typeface="Cambria Math" panose="02040503050406030204" pitchFamily="18" charset="0"/>
                          <a:ea typeface="Cambria Math" panose="02040503050406030204" pitchFamily="18" charset="0"/>
                        </a:rPr>
                        <a:t>.</a:t>
                      </a:r>
                    </a:p>
                    <a:p>
                      <a:r>
                        <a:rPr lang="fr-FR" sz="2400" baseline="0" dirty="0">
                          <a:latin typeface="Cambria Math" panose="02040503050406030204" pitchFamily="18" charset="0"/>
                          <a:ea typeface="Cambria Math" panose="02040503050406030204" pitchFamily="18" charset="0"/>
                        </a:rPr>
                        <a:t>FIXED EFFECTS</a:t>
                      </a:r>
                    </a:p>
                    <a:p>
                      <a:r>
                        <a:rPr lang="fr-FR" sz="2400" baseline="0" dirty="0">
                          <a:latin typeface="Cambria Math" panose="02040503050406030204" pitchFamily="18" charset="0"/>
                          <a:ea typeface="Cambria Math" panose="02040503050406030204" pitchFamily="18" charset="0"/>
                        </a:rPr>
                        <a:t>NT-N-k&gt;T-k-1.</a:t>
                      </a:r>
                      <a:endParaRPr lang="fr-FR" sz="2400" dirty="0">
                        <a:latin typeface="Cambria Math" panose="02040503050406030204" pitchFamily="18" charset="0"/>
                        <a:ea typeface="Cambria Math" panose="02040503050406030204" pitchFamily="18" charset="0"/>
                      </a:endParaRPr>
                    </a:p>
                  </a:txBody>
                  <a:tcPr/>
                </a:tc>
                <a:tc>
                  <a:txBody>
                    <a:bodyPr/>
                    <a:lstStyle/>
                    <a:p>
                      <a:r>
                        <a:rPr lang="fr-FR" sz="2400" dirty="0" err="1">
                          <a:latin typeface="Cambria Math" panose="02040503050406030204" pitchFamily="18" charset="0"/>
                          <a:ea typeface="Cambria Math" panose="02040503050406030204" pitchFamily="18" charset="0"/>
                        </a:rPr>
                        <a:t>Market</a:t>
                      </a:r>
                      <a:r>
                        <a:rPr lang="fr-FR" sz="2400" dirty="0">
                          <a:latin typeface="Cambria Math" panose="02040503050406030204" pitchFamily="18" charset="0"/>
                          <a:ea typeface="Cambria Math" panose="02040503050406030204" pitchFamily="18" charset="0"/>
                        </a:rPr>
                        <a:t> finance</a:t>
                      </a:r>
                    </a:p>
                    <a:p>
                      <a:r>
                        <a:rPr lang="fr-FR" sz="2400" dirty="0">
                          <a:latin typeface="Cambria Math" panose="02040503050406030204" pitchFamily="18" charset="0"/>
                          <a:ea typeface="Cambria Math" panose="02040503050406030204" pitchFamily="18" charset="0"/>
                        </a:rPr>
                        <a:t>FIXED</a:t>
                      </a:r>
                      <a:r>
                        <a:rPr lang="fr-FR" sz="2400" baseline="0" dirty="0">
                          <a:latin typeface="Cambria Math" panose="02040503050406030204" pitchFamily="18" charset="0"/>
                          <a:ea typeface="Cambria Math" panose="02040503050406030204" pitchFamily="18" charset="0"/>
                        </a:rPr>
                        <a:t> EFFECTS</a:t>
                      </a:r>
                    </a:p>
                    <a:p>
                      <a:r>
                        <a:rPr lang="fr-FR" sz="2400" baseline="0" dirty="0">
                          <a:latin typeface="Cambria Math" panose="02040503050406030204" pitchFamily="18" charset="0"/>
                          <a:ea typeface="Cambria Math" panose="02040503050406030204" pitchFamily="18" charset="0"/>
                        </a:rPr>
                        <a:t>NT-N-k&gt;T-k-1.</a:t>
                      </a:r>
                      <a:endParaRPr lang="fr-FR" sz="24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62146637"/>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dirty="0"/>
              <a:t>TWFE transformation </a:t>
            </a:r>
            <a:br>
              <a:rPr lang="en-US" dirty="0"/>
            </a:br>
            <a:r>
              <a:rPr lang="en-US" dirty="0"/>
              <a:t>for univariate and bivariate statistics.</a:t>
            </a:r>
          </a:p>
        </p:txBody>
      </p:sp>
      <p:sp>
        <p:nvSpPr>
          <p:cNvPr id="3" name="Espace réservé du contenu 2"/>
          <p:cNvSpPr>
            <a:spLocks noGrp="1"/>
          </p:cNvSpPr>
          <p:nvPr>
            <p:ph idx="1"/>
          </p:nvPr>
        </p:nvSpPr>
        <p:spPr/>
        <p:txBody>
          <a:bodyPr>
            <a:normAutofit fontScale="92500" lnSpcReduction="10000"/>
          </a:bodyPr>
          <a:lstStyle/>
          <a:p>
            <a:pPr marL="0" indent="0">
              <a:buNone/>
            </a:pPr>
            <a:r>
              <a:rPr lang="en-US" dirty="0"/>
              <a:t>For balanced panel: add the average time series </a:t>
            </a:r>
          </a:p>
          <a:p>
            <a:pPr marL="0" indent="0">
              <a:buNone/>
            </a:pPr>
            <a:r>
              <a:rPr lang="en-US" dirty="0"/>
              <a:t>–x(.t)+x(..) to the within transformation:</a:t>
            </a:r>
          </a:p>
          <a:p>
            <a:pPr marL="0" indent="0">
              <a:buNone/>
            </a:pPr>
            <a:r>
              <a:rPr lang="en-US" dirty="0"/>
              <a:t>x(it)-x(.</a:t>
            </a:r>
            <a:r>
              <a:rPr lang="en-US" dirty="0" err="1"/>
              <a:t>i</a:t>
            </a:r>
            <a:r>
              <a:rPr lang="en-US" dirty="0"/>
              <a:t>)-x(.t)+x(..)</a:t>
            </a:r>
          </a:p>
          <a:p>
            <a:pPr marL="0" indent="0">
              <a:buNone/>
            </a:pPr>
            <a:r>
              <a:rPr lang="en-US" dirty="0"/>
              <a:t>For unbalanced panel: residuals of the regression of a within transformed variable on all time dummies.</a:t>
            </a:r>
          </a:p>
          <a:p>
            <a:pPr marL="0" indent="0">
              <a:buNone/>
            </a:pPr>
            <a:r>
              <a:rPr lang="en-US" dirty="0"/>
              <a:t>For unbalanced panel with too many time dummies: code </a:t>
            </a:r>
            <a:r>
              <a:rPr lang="en-US" dirty="0" err="1"/>
              <a:t>Wansbeek</a:t>
            </a:r>
            <a:r>
              <a:rPr lang="en-US" dirty="0"/>
              <a:t> </a:t>
            </a:r>
            <a:r>
              <a:rPr lang="en-US" dirty="0" err="1"/>
              <a:t>Kapstein</a:t>
            </a:r>
            <a:r>
              <a:rPr lang="en-US" dirty="0"/>
              <a:t> (1989) matrices transformation</a:t>
            </a:r>
          </a:p>
        </p:txBody>
      </p:sp>
    </p:spTree>
    <p:extLst>
      <p:ext uri="{BB962C8B-B14F-4D97-AF65-F5344CB8AC3E}">
        <p14:creationId xmlns:p14="http://schemas.microsoft.com/office/powerpoint/2010/main" val="2034039051"/>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dirty="0"/>
              <a:t>TWFE and multiple treatments at different dates (diff in diff).</a:t>
            </a:r>
          </a:p>
        </p:txBody>
      </p:sp>
      <p:sp>
        <p:nvSpPr>
          <p:cNvPr id="3" name="Espace réservé du contenu 2"/>
          <p:cNvSpPr>
            <a:spLocks noGrp="1"/>
          </p:cNvSpPr>
          <p:nvPr>
            <p:ph idx="1"/>
          </p:nvPr>
        </p:nvSpPr>
        <p:spPr/>
        <p:txBody>
          <a:bodyPr/>
          <a:lstStyle/>
          <a:p>
            <a:pPr marL="0" indent="0">
              <a:buNone/>
            </a:pPr>
            <a:r>
              <a:rPr lang="en-US" dirty="0"/>
              <a:t>De </a:t>
            </a:r>
            <a:r>
              <a:rPr lang="en-US" dirty="0" err="1"/>
              <a:t>Chaisemartin</a:t>
            </a:r>
            <a:r>
              <a:rPr lang="en-US" dirty="0"/>
              <a:t> et </a:t>
            </a:r>
            <a:r>
              <a:rPr lang="en-US" dirty="0" err="1"/>
              <a:t>d’Haultfoeuille</a:t>
            </a:r>
            <a:r>
              <a:rPr lang="en-US"/>
              <a:t> (2022) published </a:t>
            </a:r>
            <a:r>
              <a:rPr lang="en-US" dirty="0"/>
              <a:t>several papers in the recent years on corrections to be done </a:t>
            </a:r>
            <a:r>
              <a:rPr lang="en-US"/>
              <a:t>using the TWFE.</a:t>
            </a:r>
          </a:p>
        </p:txBody>
      </p:sp>
    </p:spTree>
    <p:extLst>
      <p:ext uri="{BB962C8B-B14F-4D97-AF65-F5344CB8AC3E}">
        <p14:creationId xmlns:p14="http://schemas.microsoft.com/office/powerpoint/2010/main" val="4198616887"/>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3"/>
          <p:cNvSpPr>
            <a:spLocks noGrp="1"/>
          </p:cNvSpPr>
          <p:nvPr>
            <p:ph type="ctrTitle"/>
          </p:nvPr>
        </p:nvSpPr>
        <p:spPr/>
        <p:txBody>
          <a:bodyPr/>
          <a:lstStyle/>
          <a:p>
            <a:r>
              <a:rPr lang="fr-FR" altLang="fr-FR" dirty="0"/>
              <a:t>10. </a:t>
            </a:r>
            <a:r>
              <a:rPr lang="fr-FR" altLang="fr-FR" dirty="0" err="1"/>
              <a:t>Between</a:t>
            </a:r>
            <a:r>
              <a:rPr lang="fr-FR" altLang="fr-FR" dirty="0"/>
              <a:t> </a:t>
            </a:r>
            <a:r>
              <a:rPr lang="fr-FR" altLang="fr-FR" dirty="0" err="1"/>
              <a:t>explanation</a:t>
            </a:r>
            <a:r>
              <a:rPr lang="fr-FR" altLang="fr-FR" dirty="0"/>
              <a:t> of </a:t>
            </a:r>
            <a:r>
              <a:rPr lang="fr-FR" altLang="fr-FR" dirty="0" err="1"/>
              <a:t>between</a:t>
            </a:r>
            <a:r>
              <a:rPr lang="fr-FR" altLang="fr-FR" dirty="0"/>
              <a:t> variance</a:t>
            </a:r>
          </a:p>
        </p:txBody>
      </p:sp>
      <p:sp>
        <p:nvSpPr>
          <p:cNvPr id="6147" name="Sous-titre 4"/>
          <p:cNvSpPr>
            <a:spLocks noGrp="1"/>
          </p:cNvSpPr>
          <p:nvPr>
            <p:ph type="subTitle" idx="1"/>
          </p:nvPr>
        </p:nvSpPr>
        <p:spPr/>
        <p:txBody>
          <a:bodyPr/>
          <a:lstStyle/>
          <a:p>
            <a:r>
              <a:rPr lang="fr-FR" altLang="fr-FR"/>
              <a:t> </a:t>
            </a:r>
          </a:p>
        </p:txBody>
      </p:sp>
    </p:spTree>
    <p:extLst>
      <p:ext uri="{BB962C8B-B14F-4D97-AF65-F5344CB8AC3E}">
        <p14:creationId xmlns:p14="http://schemas.microsoft.com/office/powerpoint/2010/main" val="4085399989"/>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0" y="0"/>
            <a:ext cx="9144000" cy="738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sz="2400">
                <a:latin typeface="Times New Roman" pitchFamily="18" charset="0"/>
              </a:rPr>
              <a:t>BETWEEN ESTIMATE: N=56</a:t>
            </a:r>
          </a:p>
          <a:p>
            <a:pPr eaLnBrk="1" hangingPunct="1">
              <a:spcBef>
                <a:spcPct val="0"/>
              </a:spcBef>
              <a:buFontTx/>
              <a:buNone/>
            </a:pPr>
            <a:r>
              <a:rPr lang="fr-FR" altLang="fr-FR" sz="2400">
                <a:latin typeface="Times New Roman" pitchFamily="18" charset="0"/>
              </a:rPr>
              <a:t>WEIGHTS FOR UNBALANCED T(i) PER COUNTRY: WEIGHTED LEAST SQUARES</a:t>
            </a:r>
          </a:p>
          <a:p>
            <a:pPr eaLnBrk="1" hangingPunct="1">
              <a:spcBef>
                <a:spcPct val="0"/>
              </a:spcBef>
              <a:buFontTx/>
              <a:buNone/>
            </a:pPr>
            <a:r>
              <a:rPr lang="fr-FR" altLang="fr-FR" sz="2400">
                <a:latin typeface="Times New Roman" pitchFamily="18" charset="0"/>
              </a:rPr>
              <a:t>When Policy is the only regressor: </a:t>
            </a:r>
            <a:r>
              <a:rPr lang="fr-FR" altLang="fr-FR" sz="2400" b="1">
                <a:solidFill>
                  <a:srgbClr val="FF0000"/>
                </a:solidFill>
                <a:latin typeface="Times New Roman" pitchFamily="18" charset="0"/>
              </a:rPr>
              <a:t>R2=51.51%</a:t>
            </a:r>
            <a:r>
              <a:rPr lang="fr-FR" altLang="fr-FR" sz="2400" b="1">
                <a:latin typeface="Times New Roman" pitchFamily="18" charset="0"/>
              </a:rPr>
              <a:t>, cf square of unweighted simple correlation with gdpg (0.7091)</a:t>
            </a:r>
            <a:r>
              <a:rPr lang="fr-FR" altLang="fr-FR" sz="2400" b="1" baseline="30000">
                <a:latin typeface="Times New Roman" pitchFamily="18" charset="0"/>
              </a:rPr>
              <a:t>2</a:t>
            </a:r>
            <a:r>
              <a:rPr lang="fr-FR" altLang="fr-FR" sz="2400" b="1">
                <a:latin typeface="Times New Roman" pitchFamily="18" charset="0"/>
              </a:rPr>
              <a:t>=r</a:t>
            </a:r>
            <a:r>
              <a:rPr lang="fr-FR" altLang="fr-FR" sz="2400" b="1" baseline="30000">
                <a:latin typeface="Times New Roman" pitchFamily="18" charset="0"/>
              </a:rPr>
              <a:t>2</a:t>
            </a:r>
            <a:endParaRPr lang="fr-FR" altLang="fr-FR" sz="2400">
              <a:latin typeface="Times New Roman" pitchFamily="18" charset="0"/>
            </a:endParaRPr>
          </a:p>
          <a:p>
            <a:pPr eaLnBrk="1" hangingPunct="1">
              <a:spcBef>
                <a:spcPct val="0"/>
              </a:spcBef>
              <a:buFontTx/>
              <a:buNone/>
            </a:pPr>
            <a:r>
              <a:rPr lang="fr-FR" altLang="fr-FR" sz="2400">
                <a:latin typeface="Times New Roman" pitchFamily="18" charset="0"/>
              </a:rPr>
              <a:t>R2=</a:t>
            </a:r>
            <a:r>
              <a:rPr lang="fr-FR" altLang="fr-FR" sz="2400" b="1">
                <a:solidFill>
                  <a:srgbClr val="FF0000"/>
                </a:solidFill>
                <a:latin typeface="Times New Roman" pitchFamily="18" charset="0"/>
              </a:rPr>
              <a:t>57.17% OF 37%</a:t>
            </a:r>
            <a:r>
              <a:rPr lang="fr-FR" altLang="fr-FR" sz="2400">
                <a:latin typeface="Times New Roman" pitchFamily="18" charset="0"/>
              </a:rPr>
              <a:t> (THE SHARE OF BETWEEN VARIANCE IN OVERALL VARIANCE OF GDPG): </a:t>
            </a:r>
            <a:r>
              <a:rPr lang="fr-FR" altLang="fr-FR" sz="2400" b="1">
                <a:latin typeface="Times New Roman" pitchFamily="18" charset="0"/>
              </a:rPr>
              <a:t>21%</a:t>
            </a:r>
            <a:r>
              <a:rPr lang="fr-FR" altLang="fr-FR" sz="2400">
                <a:latin typeface="Times New Roman" pitchFamily="18" charset="0"/>
              </a:rPr>
              <a:t> of OVERALL VARIANCE.</a:t>
            </a:r>
          </a:p>
          <a:p>
            <a:pPr eaLnBrk="1" hangingPunct="1">
              <a:spcBef>
                <a:spcPct val="0"/>
              </a:spcBef>
              <a:buFontTx/>
              <a:buNone/>
            </a:pPr>
            <a:r>
              <a:rPr lang="fr-FR" altLang="fr-FR" sz="2400" b="1">
                <a:latin typeface="Times New Roman" pitchFamily="18" charset="0"/>
              </a:rPr>
              <a:t>Within + Between : </a:t>
            </a:r>
            <a:r>
              <a:rPr lang="fr-FR" altLang="fr-FR" sz="2400" b="1">
                <a:solidFill>
                  <a:srgbClr val="FF0000"/>
                </a:solidFill>
                <a:latin typeface="Times New Roman" pitchFamily="18" charset="0"/>
              </a:rPr>
              <a:t>15.09% of 63% + 57.17% of 37%</a:t>
            </a:r>
            <a:r>
              <a:rPr lang="fr-FR" altLang="fr-FR" sz="2400" b="1">
                <a:latin typeface="Times New Roman" pitchFamily="18" charset="0"/>
              </a:rPr>
              <a:t> = 9.45%+21%</a:t>
            </a:r>
          </a:p>
          <a:p>
            <a:pPr eaLnBrk="1" hangingPunct="1">
              <a:spcBef>
                <a:spcPct val="0"/>
              </a:spcBef>
              <a:buFontTx/>
              <a:buNone/>
            </a:pPr>
            <a:r>
              <a:rPr lang="fr-FR" altLang="fr-FR" sz="2400">
                <a:latin typeface="Times New Roman" pitchFamily="18" charset="0"/>
              </a:rPr>
              <a:t>Alpha(i) biased parameters. </a:t>
            </a:r>
          </a:p>
          <a:p>
            <a:pPr eaLnBrk="1" hangingPunct="1">
              <a:spcBef>
                <a:spcPct val="0"/>
              </a:spcBef>
              <a:buFontTx/>
              <a:buNone/>
            </a:pPr>
            <a:r>
              <a:rPr lang="fr-FR" altLang="fr-FR" sz="2400">
                <a:latin typeface="Times New Roman" pitchFamily="18" charset="0"/>
              </a:rPr>
              <a:t>TIME INVARIANT VARIABLES ARE NOT YET INCLUDED</a:t>
            </a:r>
          </a:p>
          <a:p>
            <a:pPr eaLnBrk="1" hangingPunct="1">
              <a:spcBef>
                <a:spcPct val="0"/>
              </a:spcBef>
              <a:buFontTx/>
              <a:buNone/>
            </a:pPr>
            <a:r>
              <a:rPr lang="fr-FR" altLang="fr-FR" sz="2400">
                <a:latin typeface="Times New Roman" pitchFamily="18" charset="0"/>
              </a:rPr>
              <a:t>RMSE= 2.572 = 1.604 x 1.604</a:t>
            </a:r>
          </a:p>
          <a:p>
            <a:pPr eaLnBrk="1" hangingPunct="1">
              <a:spcBef>
                <a:spcPct val="0"/>
              </a:spcBef>
              <a:buFontTx/>
              <a:buNone/>
            </a:pPr>
            <a:r>
              <a:rPr lang="fr-FR" altLang="fr-FR" sz="2400">
                <a:latin typeface="Times New Roman" pitchFamily="18" charset="0"/>
              </a:rPr>
              <a:t>------------------------------------------------------------------------</a:t>
            </a:r>
          </a:p>
          <a:p>
            <a:pPr eaLnBrk="1" hangingPunct="1">
              <a:spcBef>
                <a:spcPct val="0"/>
              </a:spcBef>
              <a:buFontTx/>
              <a:buNone/>
            </a:pPr>
            <a:r>
              <a:rPr lang="fr-FR" altLang="fr-FR" sz="2400">
                <a:latin typeface="Times New Roman" pitchFamily="18" charset="0"/>
              </a:rPr>
              <a:t>        gdpg |      Coef.   Std. Err.      t    P&gt;|t|     [95% Conf. Interval]</a:t>
            </a:r>
          </a:p>
          <a:p>
            <a:pPr eaLnBrk="1" hangingPunct="1">
              <a:spcBef>
                <a:spcPct val="0"/>
              </a:spcBef>
              <a:buFontTx/>
              <a:buNone/>
            </a:pPr>
            <a:r>
              <a:rPr lang="fr-FR" altLang="fr-FR" sz="2400">
                <a:latin typeface="Times New Roman" pitchFamily="18" charset="0"/>
              </a:rPr>
              <a:t>-------------+----------------------------------------------------------------</a:t>
            </a:r>
          </a:p>
          <a:p>
            <a:pPr eaLnBrk="1" hangingPunct="1">
              <a:spcBef>
                <a:spcPct val="0"/>
              </a:spcBef>
              <a:buFontTx/>
              <a:buNone/>
            </a:pPr>
            <a:r>
              <a:rPr lang="fr-FR" altLang="fr-FR" sz="2400">
                <a:latin typeface="Times New Roman" pitchFamily="18" charset="0"/>
              </a:rPr>
              <a:t>      policy |   1.816484   .2393748     7.59   0.000     1.336143    2.296824</a:t>
            </a:r>
          </a:p>
          <a:p>
            <a:pPr eaLnBrk="1" hangingPunct="1">
              <a:spcBef>
                <a:spcPct val="0"/>
              </a:spcBef>
              <a:buFontTx/>
              <a:buNone/>
            </a:pPr>
            <a:r>
              <a:rPr lang="fr-FR" altLang="fr-FR" sz="2400">
                <a:latin typeface="Times New Roman" pitchFamily="18" charset="0"/>
              </a:rPr>
              <a:t>        lgdp |   .3931539   .3101081     1.27   0.211    -.2291234    1.015431</a:t>
            </a:r>
          </a:p>
          <a:p>
            <a:pPr eaLnBrk="1" hangingPunct="1">
              <a:spcBef>
                <a:spcPct val="0"/>
              </a:spcBef>
              <a:buFontTx/>
              <a:buNone/>
            </a:pPr>
            <a:r>
              <a:rPr lang="fr-FR" altLang="fr-FR" sz="2400">
                <a:latin typeface="Times New Roman" pitchFamily="18" charset="0"/>
              </a:rPr>
              <a:t>        m2_1 |   .0403462   .0204063     1.98   0.053     -.000602    .0812943</a:t>
            </a:r>
          </a:p>
          <a:p>
            <a:pPr eaLnBrk="1" hangingPunct="1">
              <a:spcBef>
                <a:spcPct val="0"/>
              </a:spcBef>
              <a:buFontTx/>
              <a:buNone/>
            </a:pPr>
            <a:r>
              <a:rPr lang="fr-FR" altLang="fr-FR" sz="2400">
                <a:latin typeface="Times New Roman" pitchFamily="18" charset="0"/>
              </a:rPr>
              <a:t>       _cons |  -5.105835   2.233604    -2.29   0.026     -9.58789   -.6237802</a:t>
            </a:r>
          </a:p>
          <a:p>
            <a:pPr eaLnBrk="1" hangingPunct="1">
              <a:spcBef>
                <a:spcPct val="0"/>
              </a:spcBef>
              <a:buFontTx/>
              <a:buNone/>
            </a:pPr>
            <a:r>
              <a:rPr lang="fr-FR" altLang="fr-FR" sz="2400">
                <a:latin typeface="Times New Roman" pitchFamily="18" charset="0"/>
              </a:rPr>
              <a:t>------------------------------------------------------------------------------</a:t>
            </a:r>
          </a:p>
          <a:p>
            <a:pPr eaLnBrk="1" hangingPunct="1">
              <a:spcBef>
                <a:spcPct val="0"/>
              </a:spcBef>
              <a:buFontTx/>
              <a:buNone/>
            </a:pPr>
            <a:endParaRPr lang="fr-FR" altLang="fr-FR" sz="1800">
              <a:latin typeface="Times New Roman" pitchFamily="18" charset="0"/>
            </a:endParaRPr>
          </a:p>
        </p:txBody>
      </p:sp>
    </p:spTree>
    <p:extLst>
      <p:ext uri="{BB962C8B-B14F-4D97-AF65-F5344CB8AC3E}">
        <p14:creationId xmlns:p14="http://schemas.microsoft.com/office/powerpoint/2010/main" val="3613965927"/>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0" y="0"/>
            <a:ext cx="9144000" cy="600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sz="2400">
                <a:latin typeface="Times New Roman" pitchFamily="18" charset="0"/>
              </a:rPr>
              <a:t>BETWEEN Including 4 time invariant variables</a:t>
            </a:r>
          </a:p>
          <a:p>
            <a:pPr eaLnBrk="1" hangingPunct="1">
              <a:spcBef>
                <a:spcPct val="0"/>
              </a:spcBef>
              <a:buFontTx/>
              <a:buNone/>
            </a:pPr>
            <a:r>
              <a:rPr lang="fr-FR" altLang="fr-FR" sz="2400">
                <a:latin typeface="Times New Roman" pitchFamily="18" charset="0"/>
              </a:rPr>
              <a:t>R2=59.07% &gt; 57.17%: marginal gain of R2 = 2%</a:t>
            </a:r>
          </a:p>
          <a:p>
            <a:pPr eaLnBrk="1" hangingPunct="1">
              <a:spcBef>
                <a:spcPct val="0"/>
              </a:spcBef>
              <a:buFontTx/>
              <a:buNone/>
            </a:pPr>
            <a:r>
              <a:rPr lang="fr-FR" altLang="fr-FR" sz="2400">
                <a:latin typeface="Times New Roman" pitchFamily="18" charset="0"/>
              </a:rPr>
              <a:t>ICRGE no longer relevant regressor (inference with N=56).</a:t>
            </a:r>
          </a:p>
          <a:p>
            <a:pPr eaLnBrk="1" hangingPunct="1">
              <a:spcBef>
                <a:spcPct val="0"/>
              </a:spcBef>
              <a:buFontTx/>
              <a:buNone/>
            </a:pPr>
            <a:r>
              <a:rPr lang="fr-FR" altLang="fr-FR" sz="2400">
                <a:latin typeface="Times New Roman" pitchFamily="18" charset="0"/>
              </a:rPr>
              <a:t>------------------------------------------------------------------------------</a:t>
            </a:r>
          </a:p>
          <a:p>
            <a:pPr eaLnBrk="1" hangingPunct="1">
              <a:spcBef>
                <a:spcPct val="0"/>
              </a:spcBef>
              <a:buFontTx/>
              <a:buNone/>
            </a:pPr>
            <a:r>
              <a:rPr lang="fr-FR" altLang="fr-FR" sz="2400">
                <a:latin typeface="Times New Roman" pitchFamily="18" charset="0"/>
              </a:rPr>
              <a:t>        gdpg |      Coef.   Std. Err.      t    P&gt;|t|     [95% Conf. Interval]</a:t>
            </a:r>
          </a:p>
          <a:p>
            <a:pPr eaLnBrk="1" hangingPunct="1">
              <a:spcBef>
                <a:spcPct val="0"/>
              </a:spcBef>
              <a:buFontTx/>
              <a:buNone/>
            </a:pPr>
            <a:r>
              <a:rPr lang="fr-FR" altLang="fr-FR" sz="2400">
                <a:latin typeface="Times New Roman" pitchFamily="18" charset="0"/>
              </a:rPr>
              <a:t>-------------+----------------------------------------------------------------</a:t>
            </a:r>
          </a:p>
          <a:p>
            <a:pPr eaLnBrk="1" hangingPunct="1">
              <a:spcBef>
                <a:spcPct val="0"/>
              </a:spcBef>
              <a:buFontTx/>
              <a:buNone/>
            </a:pPr>
            <a:r>
              <a:rPr lang="fr-FR" altLang="fr-FR" sz="2400">
                <a:latin typeface="Times New Roman" pitchFamily="18" charset="0"/>
              </a:rPr>
              <a:t>      policy |   1.661274   .3073901     5.40   0.000     1.043224    2.279323</a:t>
            </a:r>
          </a:p>
          <a:p>
            <a:pPr eaLnBrk="1" hangingPunct="1">
              <a:spcBef>
                <a:spcPct val="0"/>
              </a:spcBef>
              <a:buFontTx/>
              <a:buNone/>
            </a:pPr>
            <a:r>
              <a:rPr lang="fr-FR" altLang="fr-FR" sz="2400">
                <a:latin typeface="Times New Roman" pitchFamily="18" charset="0"/>
              </a:rPr>
              <a:t>        lgdp |  -.1287407    .482766    -0.27   0.791    -1.099407    .8419255</a:t>
            </a:r>
          </a:p>
          <a:p>
            <a:pPr eaLnBrk="1" hangingPunct="1">
              <a:spcBef>
                <a:spcPct val="0"/>
              </a:spcBef>
              <a:buFontTx/>
              <a:buNone/>
            </a:pPr>
            <a:r>
              <a:rPr lang="fr-FR" altLang="fr-FR" sz="2400">
                <a:latin typeface="Times New Roman" pitchFamily="18" charset="0"/>
              </a:rPr>
              <a:t>        m2_1 |   .0301945   .0222294     1.36   0.181    -.0145006    .07488</a:t>
            </a:r>
          </a:p>
          <a:p>
            <a:pPr eaLnBrk="1" hangingPunct="1">
              <a:spcBef>
                <a:spcPct val="0"/>
              </a:spcBef>
              <a:buFontTx/>
              <a:buNone/>
            </a:pPr>
            <a:r>
              <a:rPr lang="fr-FR" altLang="fr-FR" sz="2400">
                <a:latin typeface="Times New Roman" pitchFamily="18" charset="0"/>
              </a:rPr>
              <a:t>       icrge |   </a:t>
            </a:r>
            <a:r>
              <a:rPr lang="fr-FR" altLang="fr-FR" sz="2400">
                <a:solidFill>
                  <a:srgbClr val="FF0000"/>
                </a:solidFill>
                <a:latin typeface="Times New Roman" pitchFamily="18" charset="0"/>
              </a:rPr>
              <a:t>.2697856</a:t>
            </a:r>
            <a:r>
              <a:rPr lang="fr-FR" altLang="fr-FR" sz="2400">
                <a:latin typeface="Times New Roman" pitchFamily="18" charset="0"/>
              </a:rPr>
              <a:t>   .2305179     1.17   0.248    -.1937016    .7332728</a:t>
            </a:r>
          </a:p>
          <a:p>
            <a:pPr eaLnBrk="1" hangingPunct="1">
              <a:spcBef>
                <a:spcPct val="0"/>
              </a:spcBef>
              <a:buFontTx/>
              <a:buNone/>
            </a:pPr>
            <a:r>
              <a:rPr lang="fr-FR" altLang="fr-FR" sz="2400">
                <a:latin typeface="Times New Roman" pitchFamily="18" charset="0"/>
              </a:rPr>
              <a:t>         ssa |  </a:t>
            </a:r>
            <a:r>
              <a:rPr lang="fr-FR" altLang="fr-FR" sz="2400">
                <a:solidFill>
                  <a:srgbClr val="FF0000"/>
                </a:solidFill>
                <a:latin typeface="Times New Roman" pitchFamily="18" charset="0"/>
              </a:rPr>
              <a:t>-.8900755</a:t>
            </a:r>
            <a:r>
              <a:rPr lang="fr-FR" altLang="fr-FR" sz="2400">
                <a:latin typeface="Times New Roman" pitchFamily="18" charset="0"/>
              </a:rPr>
              <a:t>   .8002408    -1.11   0.272    -2.499067    .7189164</a:t>
            </a:r>
          </a:p>
          <a:p>
            <a:pPr eaLnBrk="1" hangingPunct="1">
              <a:spcBef>
                <a:spcPct val="0"/>
              </a:spcBef>
              <a:buFontTx/>
              <a:buNone/>
            </a:pPr>
            <a:r>
              <a:rPr lang="fr-FR" altLang="fr-FR" sz="2400">
                <a:latin typeface="Times New Roman" pitchFamily="18" charset="0"/>
              </a:rPr>
              <a:t>       easia |    </a:t>
            </a:r>
            <a:r>
              <a:rPr lang="fr-FR" altLang="fr-FR" sz="2400">
                <a:solidFill>
                  <a:srgbClr val="FF0000"/>
                </a:solidFill>
                <a:latin typeface="Times New Roman" pitchFamily="18" charset="0"/>
              </a:rPr>
              <a:t>.128337</a:t>
            </a:r>
            <a:r>
              <a:rPr lang="fr-FR" altLang="fr-FR" sz="2400">
                <a:latin typeface="Times New Roman" pitchFamily="18" charset="0"/>
              </a:rPr>
              <a:t>   .9851497     0.13   0.897    -1.852439    2.109113</a:t>
            </a:r>
          </a:p>
          <a:p>
            <a:pPr eaLnBrk="1" hangingPunct="1">
              <a:spcBef>
                <a:spcPct val="0"/>
              </a:spcBef>
              <a:buFontTx/>
              <a:buNone/>
            </a:pPr>
            <a:r>
              <a:rPr lang="fr-FR" altLang="fr-FR" sz="2400">
                <a:latin typeface="Times New Roman" pitchFamily="18" charset="0"/>
              </a:rPr>
              <a:t>       ethnf |  </a:t>
            </a:r>
            <a:r>
              <a:rPr lang="fr-FR" altLang="fr-FR" sz="2400">
                <a:solidFill>
                  <a:srgbClr val="FF0000"/>
                </a:solidFill>
                <a:latin typeface="Times New Roman" pitchFamily="18" charset="0"/>
              </a:rPr>
              <a:t>-.0020761</a:t>
            </a:r>
            <a:r>
              <a:rPr lang="fr-FR" altLang="fr-FR" sz="2400">
                <a:latin typeface="Times New Roman" pitchFamily="18" charset="0"/>
              </a:rPr>
              <a:t>    .009249    -0.22   0.823    -.0206726    .0165203</a:t>
            </a:r>
          </a:p>
          <a:p>
            <a:pPr eaLnBrk="1" hangingPunct="1">
              <a:spcBef>
                <a:spcPct val="0"/>
              </a:spcBef>
              <a:buFontTx/>
              <a:buNone/>
            </a:pPr>
            <a:r>
              <a:rPr lang="fr-FR" altLang="fr-FR" sz="2400">
                <a:latin typeface="Times New Roman" pitchFamily="18" charset="0"/>
              </a:rPr>
              <a:t>       _cons |  -1.571956   3.541679    -0.44   0.659     -8.69298    5.549067</a:t>
            </a:r>
          </a:p>
          <a:p>
            <a:pPr eaLnBrk="1" hangingPunct="1">
              <a:spcBef>
                <a:spcPct val="0"/>
              </a:spcBef>
              <a:buFontTx/>
              <a:buNone/>
            </a:pPr>
            <a:r>
              <a:rPr lang="fr-FR" altLang="fr-FR" sz="2400">
                <a:latin typeface="Times New Roman" pitchFamily="18" charset="0"/>
              </a:rPr>
              <a:t>------------------------------------------------------------------------------</a:t>
            </a:r>
          </a:p>
          <a:p>
            <a:pPr eaLnBrk="1" hangingPunct="1">
              <a:spcBef>
                <a:spcPct val="0"/>
              </a:spcBef>
              <a:buFontTx/>
              <a:buNone/>
            </a:pPr>
            <a:endParaRPr lang="fr-FR" altLang="fr-FR" sz="2400">
              <a:latin typeface="Times New Roman" pitchFamily="18" charset="0"/>
            </a:endParaRPr>
          </a:p>
        </p:txBody>
      </p:sp>
    </p:spTree>
    <p:extLst>
      <p:ext uri="{BB962C8B-B14F-4D97-AF65-F5344CB8AC3E}">
        <p14:creationId xmlns:p14="http://schemas.microsoft.com/office/powerpoint/2010/main" val="988965398"/>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p:cNvSpPr>
                <a:spLocks noGrp="1"/>
              </p:cNvSpPr>
              <p:nvPr>
                <p:ph type="title"/>
              </p:nvPr>
            </p:nvSpPr>
            <p:spPr/>
            <p:txBody>
              <a:bodyPr>
                <a:normAutofit fontScale="90000"/>
              </a:bodyPr>
              <a:lstStyle/>
              <a:p>
                <a:r>
                  <a:rPr lang="fr-FR" dirty="0" err="1"/>
                  <a:t>Between</a:t>
                </a:r>
                <a:r>
                  <a:rPr lang="fr-FR" dirty="0"/>
                  <a:t> </a:t>
                </a:r>
                <a14:m>
                  <m:oMath xmlns:m="http://schemas.openxmlformats.org/officeDocument/2006/math">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oMath>
                </a14:m>
                <a:r>
                  <a:rPr lang="fr-FR" dirty="0"/>
                  <a:t>-</a:t>
                </a:r>
                <a:r>
                  <a:rPr lang="fr-FR" dirty="0" err="1"/>
                  <a:t>endogeneity</a:t>
                </a:r>
                <a:r>
                  <a:rPr lang="fr-FR" dirty="0"/>
                  <a:t> </a:t>
                </a:r>
                <a:r>
                  <a:rPr lang="fr-FR" dirty="0" err="1"/>
                  <a:t>bias</a:t>
                </a:r>
                <a:br>
                  <a:rPr lang="fr-FR" dirty="0"/>
                </a:br>
                <a:r>
                  <a:rPr lang="fr-FR" dirty="0"/>
                  <a:t>simple </a:t>
                </a:r>
                <a:r>
                  <a:rPr lang="fr-FR" dirty="0" err="1"/>
                  <a:t>regression</a:t>
                </a:r>
                <a:r>
                  <a:rPr lang="fr-FR" dirty="0"/>
                  <a:t> (</a:t>
                </a:r>
                <a:r>
                  <a:rPr lang="fr-FR" dirty="0" err="1"/>
                  <a:t>true+bias</a:t>
                </a:r>
                <a:r>
                  <a:rPr lang="fr-FR" dirty="0"/>
                  <a:t>)</a:t>
                </a:r>
              </a:p>
            </p:txBody>
          </p:sp>
        </mc:Choice>
        <mc:Fallback xmlns="">
          <p:sp>
            <p:nvSpPr>
              <p:cNvPr id="2" name="Titre 1"/>
              <p:cNvSpPr>
                <a:spLocks noGrp="1" noRot="1" noChangeAspect="1" noMove="1" noResize="1" noEditPoints="1" noAdjustHandles="1" noChangeArrowheads="1" noChangeShapeType="1" noTextEdit="1"/>
              </p:cNvSpPr>
              <p:nvPr>
                <p:ph type="title"/>
              </p:nvPr>
            </p:nvSpPr>
            <p:spPr>
              <a:blipFill rotWithShape="1">
                <a:blip r:embed="rId2"/>
                <a:stretch>
                  <a:fillRect t="-23936" b="-3723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 name="Espace réservé du contenu 2"/>
              <p:cNvSpPr>
                <a:spLocks noGrp="1"/>
              </p:cNvSpPr>
              <p:nvPr>
                <p:ph idx="1"/>
              </p:nvPr>
            </p:nvSpPr>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sSub>
                        <m:sSubPr>
                          <m:ctrlPr>
                            <a:rPr lang="el-GR" b="0" i="1" smtClean="0">
                              <a:latin typeface="Cambria Math" panose="02040503050406030204" pitchFamily="18" charset="0"/>
                            </a:rPr>
                          </m:ctrlPr>
                        </m:sSubPr>
                        <m:e>
                          <m:r>
                            <m:rPr>
                              <m:sty m:val="p"/>
                            </m:rPr>
                            <a:rPr lang="el-GR" i="1">
                              <a:latin typeface="Cambria Math"/>
                            </a:rPr>
                            <m:t>β</m:t>
                          </m:r>
                        </m:e>
                        <m:sub>
                          <m:r>
                            <a:rPr lang="fr-FR" b="0" i="1" smtClean="0">
                              <a:latin typeface="Cambria Math"/>
                            </a:rPr>
                            <m:t>𝐵</m:t>
                          </m:r>
                        </m:sub>
                      </m:sSub>
                      <m:r>
                        <a:rPr lang="fr-FR" b="0" i="1" smtClean="0">
                          <a:latin typeface="Cambria Math"/>
                        </a:rPr>
                        <m:t>=</m:t>
                      </m:r>
                      <m:r>
                        <a:rPr lang="fr-FR" i="1">
                          <a:latin typeface="Cambria Math"/>
                        </a:rPr>
                        <m:t>𝑟</m:t>
                      </m:r>
                      <m:r>
                        <a:rPr lang="fr-FR" i="1">
                          <a:latin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b="0" i="1" smtClean="0">
                              <a:latin typeface="Cambria Math"/>
                              <a:ea typeface="Cambria Math"/>
                            </a:rPr>
                            <m:t>𝑦</m:t>
                          </m:r>
                        </m:e>
                        <m:sub>
                          <m:r>
                            <a:rPr lang="fr-FR" i="1">
                              <a:latin typeface="Cambria Math"/>
                            </a:rPr>
                            <m:t>𝑖</m:t>
                          </m:r>
                          <m:r>
                            <a:rPr lang="fr-FR" b="0" i="1" smtClean="0">
                              <a:latin typeface="Cambria Math"/>
                            </a:rPr>
                            <m:t>.</m:t>
                          </m:r>
                        </m:sub>
                      </m:sSub>
                      <m:r>
                        <a:rPr lang="fr-FR" i="1">
                          <a:latin typeface="Cambria Math"/>
                        </a:rPr>
                        <m:t>)</m:t>
                      </m:r>
                      <m:f>
                        <m:fPr>
                          <m:ctrlPr>
                            <a:rPr lang="fr-FR" i="1">
                              <a:latin typeface="Cambria Math" panose="02040503050406030204" pitchFamily="18" charset="0"/>
                            </a:rPr>
                          </m:ctrlPr>
                        </m:fPr>
                        <m:num>
                          <m:r>
                            <a:rPr lang="fr-FR" i="1">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b="0" i="1" smtClean="0">
                                  <a:latin typeface="Cambria Math"/>
                                </a:rPr>
                                <m:t>𝑦</m:t>
                              </m:r>
                            </m:e>
                            <m:sub>
                              <m:r>
                                <a:rPr lang="fr-FR" i="1">
                                  <a:latin typeface="Cambria Math"/>
                                </a:rPr>
                                <m:t>𝑖</m:t>
                              </m:r>
                              <m:r>
                                <a:rPr lang="fr-FR" b="0" i="1" smtClean="0">
                                  <a:latin typeface="Cambria Math"/>
                                </a:rPr>
                                <m:t>.</m:t>
                              </m:r>
                            </m:sub>
                          </m:sSub>
                          <m:r>
                            <a:rPr lang="fr-FR" i="1">
                              <a:latin typeface="Cambria Math"/>
                            </a:rPr>
                            <m:t>)</m:t>
                          </m:r>
                        </m:num>
                        <m:den>
                          <m:r>
                            <a:rPr lang="fr-FR" i="1">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den>
                      </m:f>
                      <m:r>
                        <a:rPr lang="fr-FR" b="0" i="1" smtClean="0">
                          <a:latin typeface="Cambria Math"/>
                        </a:rPr>
                        <m:t>+</m:t>
                      </m:r>
                      <m:r>
                        <a:rPr lang="fr-FR" b="0" i="1" smtClean="0">
                          <a:latin typeface="Cambria Math"/>
                        </a:rPr>
                        <m:t>𝑟</m:t>
                      </m:r>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𝑥</m:t>
                          </m:r>
                        </m:e>
                        <m:sub>
                          <m:r>
                            <a:rPr lang="fr-FR" b="0" i="1" smtClean="0">
                              <a:latin typeface="Cambria Math"/>
                            </a:rPr>
                            <m:t>𝑖</m:t>
                          </m:r>
                          <m:r>
                            <a:rPr lang="fr-FR" b="0" i="1" smtClean="0">
                              <a:latin typeface="Cambria Math"/>
                            </a:rPr>
                            <m:t>.</m:t>
                          </m:r>
                        </m:sub>
                      </m:sSub>
                      <m:r>
                        <a:rPr lang="fr-FR" b="0" i="1" smtClean="0">
                          <a:latin typeface="Cambria Math"/>
                        </a:rPr>
                        <m:t>,</m:t>
                      </m:r>
                      <m:sSub>
                        <m:sSubPr>
                          <m:ctrlPr>
                            <a:rPr lang="fr-FR" i="1">
                              <a:latin typeface="Cambria Math" panose="02040503050406030204" pitchFamily="18" charset="0"/>
                            </a:rPr>
                          </m:ctrlPr>
                        </m:sSubPr>
                        <m:e>
                          <m:r>
                            <a:rPr lang="fr-FR" i="1" smtClean="0">
                              <a:latin typeface="Cambria Math"/>
                              <a:ea typeface="Cambria Math"/>
                            </a:rPr>
                            <m:t>𝛼</m:t>
                          </m:r>
                        </m:e>
                        <m:sub>
                          <m:r>
                            <a:rPr lang="fr-FR" i="1">
                              <a:latin typeface="Cambria Math"/>
                            </a:rPr>
                            <m:t>𝑖</m:t>
                          </m:r>
                        </m:sub>
                      </m:sSub>
                      <m:r>
                        <a:rPr lang="fr-FR" b="0" i="1" smtClean="0">
                          <a:latin typeface="Cambria Math"/>
                        </a:rPr>
                        <m:t>)</m:t>
                      </m:r>
                      <m:f>
                        <m:fPr>
                          <m:ctrlPr>
                            <a:rPr lang="fr-FR" b="0" i="1" smtClean="0">
                              <a:latin typeface="Cambria Math" panose="02040503050406030204" pitchFamily="18" charset="0"/>
                            </a:rPr>
                          </m:ctrlPr>
                        </m:fPr>
                        <m:num>
                          <m:r>
                            <a:rPr lang="fr-FR" b="0" i="1" smtClean="0">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r>
                            <a:rPr lang="fr-FR" i="1">
                              <a:latin typeface="Cambria Math"/>
                            </a:rPr>
                            <m:t>)</m:t>
                          </m:r>
                        </m:num>
                        <m:den>
                          <m:r>
                            <a:rPr lang="fr-FR" i="1">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b="0" i="1" smtClean="0">
                                  <a:latin typeface="Cambria Math"/>
                                </a:rPr>
                                <m:t>𝑥</m:t>
                              </m:r>
                            </m:e>
                            <m:sub>
                              <m:r>
                                <a:rPr lang="fr-FR" i="1">
                                  <a:latin typeface="Cambria Math"/>
                                </a:rPr>
                                <m:t>𝑖</m:t>
                              </m:r>
                              <m:r>
                                <a:rPr lang="fr-FR" b="0" i="1" smtClean="0">
                                  <a:latin typeface="Cambria Math"/>
                                </a:rPr>
                                <m:t>.</m:t>
                              </m:r>
                            </m:sub>
                          </m:sSub>
                          <m:r>
                            <a:rPr lang="fr-FR" i="1">
                              <a:latin typeface="Cambria Math"/>
                            </a:rPr>
                            <m:t>)</m:t>
                          </m:r>
                        </m:den>
                      </m:f>
                    </m:oMath>
                  </m:oMathPara>
                </a14:m>
                <a:endParaRPr lang="fr-FR" dirty="0"/>
              </a:p>
              <a:p>
                <a:pPr marL="0" indent="0">
                  <a:buNone/>
                </a:pPr>
                <a:r>
                  <a:rPr lang="fr-FR" dirty="0"/>
                  <a:t>The </a:t>
                </a:r>
                <a:r>
                  <a:rPr lang="fr-FR" dirty="0" err="1"/>
                  <a:t>bias</a:t>
                </a:r>
                <a:r>
                  <a:rPr lang="fr-FR" dirty="0"/>
                  <a:t> </a:t>
                </a:r>
                <a:r>
                  <a:rPr lang="fr-FR" dirty="0" err="1"/>
                  <a:t>is</a:t>
                </a:r>
                <a:r>
                  <a:rPr lang="fr-FR" dirty="0"/>
                  <a:t> </a:t>
                </a:r>
                <a:r>
                  <a:rPr lang="fr-FR" b="1" dirty="0" err="1"/>
                  <a:t>linearly</a:t>
                </a:r>
                <a:r>
                  <a:rPr lang="fr-FR" b="1" dirty="0"/>
                  <a:t> </a:t>
                </a:r>
                <a:r>
                  <a:rPr lang="fr-FR" b="1" dirty="0" err="1"/>
                  <a:t>increasing</a:t>
                </a:r>
                <a:r>
                  <a:rPr lang="fr-FR" dirty="0"/>
                  <a:t> </a:t>
                </a:r>
                <a:r>
                  <a:rPr lang="fr-FR" dirty="0" err="1"/>
                  <a:t>with</a:t>
                </a:r>
                <a:r>
                  <a:rPr lang="fr-FR" dirty="0"/>
                  <a:t> </a:t>
                </a:r>
                <a14:m>
                  <m:oMath xmlns:m="http://schemas.openxmlformats.org/officeDocument/2006/math">
                    <m:r>
                      <a:rPr lang="fr-FR" i="1">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r>
                      <a:rPr lang="fr-FR" i="1">
                        <a:latin typeface="Cambria Math"/>
                      </a:rPr>
                      <m:t>)</m:t>
                    </m:r>
                  </m:oMath>
                </a14:m>
                <a:r>
                  <a:rPr lang="fr-FR" dirty="0"/>
                  <a:t> the standard </a:t>
                </a:r>
                <a:r>
                  <a:rPr lang="fr-FR" dirty="0" err="1"/>
                  <a:t>error</a:t>
                </a:r>
                <a:r>
                  <a:rPr lang="fr-FR" dirty="0"/>
                  <a:t> of the </a:t>
                </a:r>
                <a:r>
                  <a:rPr lang="fr-FR" dirty="0" err="1"/>
                  <a:t>random</a:t>
                </a:r>
                <a:r>
                  <a:rPr lang="fr-FR" dirty="0"/>
                  <a:t> </a:t>
                </a:r>
                <a:r>
                  <a:rPr lang="fr-FR" dirty="0" err="1"/>
                  <a:t>individual</a:t>
                </a:r>
                <a:r>
                  <a:rPr lang="fr-FR" dirty="0"/>
                  <a:t> </a:t>
                </a:r>
                <a:r>
                  <a:rPr lang="fr-FR" dirty="0" err="1"/>
                  <a:t>term</a:t>
                </a:r>
                <a:r>
                  <a:rPr lang="fr-FR" dirty="0"/>
                  <a:t> and </a:t>
                </a:r>
                <a:r>
                  <a:rPr lang="fr-FR" dirty="0" err="1"/>
                  <a:t>with</a:t>
                </a:r>
                <a:r>
                  <a:rPr lang="fr-FR" dirty="0"/>
                  <a:t> </a:t>
                </a:r>
                <a14:m>
                  <m:oMath xmlns:m="http://schemas.openxmlformats.org/officeDocument/2006/math">
                    <m:r>
                      <a:rPr lang="fr-FR" i="1">
                        <a:latin typeface="Cambria Math"/>
                      </a:rPr>
                      <m:t>𝑟</m:t>
                    </m:r>
                    <m:r>
                      <a:rPr lang="fr-FR" i="1">
                        <a:latin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r>
                      <a:rPr lang="fr-FR" i="1">
                        <a:latin typeface="Cambria Math"/>
                      </a:rPr>
                      <m:t>)</m:t>
                    </m:r>
                  </m:oMath>
                </a14:m>
                <a:r>
                  <a:rPr lang="fr-FR" dirty="0"/>
                  <a:t>. </a:t>
                </a:r>
              </a:p>
              <a:p>
                <a:pPr marL="0" indent="0">
                  <a:buNone/>
                </a:pPr>
                <a:r>
                  <a:rPr lang="fr-FR" dirty="0"/>
                  <a:t>This </a:t>
                </a:r>
                <a:r>
                  <a:rPr lang="fr-FR" dirty="0" err="1"/>
                  <a:t>property</a:t>
                </a:r>
                <a:r>
                  <a:rPr lang="fr-FR" dirty="0"/>
                  <a:t> </a:t>
                </a:r>
                <a:r>
                  <a:rPr lang="fr-FR" dirty="0" err="1"/>
                  <a:t>remains</a:t>
                </a:r>
                <a:r>
                  <a:rPr lang="fr-FR" dirty="0"/>
                  <a:t> in multiple </a:t>
                </a:r>
                <a:r>
                  <a:rPr lang="fr-FR" dirty="0" err="1"/>
                  <a:t>regression</a:t>
                </a:r>
                <a:r>
                  <a:rPr lang="fr-FR" dirty="0"/>
                  <a:t>, but cross </a:t>
                </a:r>
                <a:r>
                  <a:rPr lang="fr-FR" dirty="0" err="1"/>
                  <a:t>correlation</a:t>
                </a:r>
                <a:r>
                  <a:rPr lang="fr-FR" dirty="0"/>
                  <a:t> </a:t>
                </a:r>
                <a:r>
                  <a:rPr lang="fr-FR" dirty="0" err="1"/>
                  <a:t>between</a:t>
                </a:r>
                <a:r>
                  <a:rPr lang="fr-FR" dirty="0"/>
                  <a:t> </a:t>
                </a:r>
                <a:r>
                  <a:rPr lang="fr-FR" dirty="0" err="1"/>
                  <a:t>several</a:t>
                </a:r>
                <a:r>
                  <a:rPr lang="fr-FR" dirty="0"/>
                  <a:t> </a:t>
                </a:r>
                <a:r>
                  <a:rPr lang="fr-FR" dirty="0" err="1"/>
                  <a:t>endogenous</a:t>
                </a:r>
                <a:r>
                  <a:rPr lang="fr-FR" dirty="0"/>
                  <a:t> variables (X’X</a:t>
                </a:r>
                <a:r>
                  <a:rPr lang="fr-FR" baseline="30000" dirty="0"/>
                  <a:t>)-1</a:t>
                </a:r>
                <a:r>
                  <a:rPr lang="fr-FR" dirty="0"/>
                  <a:t>(X’</a:t>
                </a:r>
                <a:r>
                  <a:rPr lang="el-GR" dirty="0"/>
                  <a:t>α</a:t>
                </a:r>
                <a:r>
                  <a:rPr lang="fr-FR" dirty="0"/>
                  <a:t>) leads to a more </a:t>
                </a:r>
                <a:r>
                  <a:rPr lang="fr-FR" dirty="0" err="1"/>
                  <a:t>complicated</a:t>
                </a:r>
                <a:r>
                  <a:rPr lang="fr-FR" dirty="0"/>
                  <a:t> formulas for the </a:t>
                </a:r>
                <a:r>
                  <a:rPr lang="fr-FR" dirty="0" err="1"/>
                  <a:t>bias</a:t>
                </a:r>
                <a:r>
                  <a:rPr lang="fr-FR" dirty="0"/>
                  <a:t>. </a:t>
                </a:r>
              </a:p>
              <a:p>
                <a:pPr marL="0" indent="0">
                  <a:buNone/>
                </a:pPr>
                <a:endParaRPr lang="fr-FR" dirty="0"/>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xfrm>
                <a:off x="457200" y="1600200"/>
                <a:ext cx="8229600" cy="5069160"/>
              </a:xfrm>
              <a:blipFill rotWithShape="1">
                <a:blip r:embed="rId3"/>
                <a:stretch>
                  <a:fillRect l="-1852" r="-2444"/>
                </a:stretch>
              </a:blipFill>
            </p:spPr>
            <p:txBody>
              <a:bodyPr/>
              <a:lstStyle/>
              <a:p>
                <a:r>
                  <a:rPr lang="fr-FR">
                    <a:noFill/>
                  </a:rPr>
                  <a:t> </a:t>
                </a:r>
              </a:p>
            </p:txBody>
          </p:sp>
        </mc:Fallback>
      </mc:AlternateContent>
    </p:spTree>
    <p:extLst>
      <p:ext uri="{BB962C8B-B14F-4D97-AF65-F5344CB8AC3E}">
        <p14:creationId xmlns:p14="http://schemas.microsoft.com/office/powerpoint/2010/main" val="1132857231"/>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re 1"/>
          <p:cNvSpPr>
            <a:spLocks noGrp="1"/>
          </p:cNvSpPr>
          <p:nvPr>
            <p:ph type="title"/>
          </p:nvPr>
        </p:nvSpPr>
        <p:spPr/>
        <p:txBody>
          <a:bodyPr/>
          <a:lstStyle/>
          <a:p>
            <a:r>
              <a:rPr lang="fr-FR" altLang="fr-FR" dirty="0" err="1"/>
              <a:t>Within</a:t>
            </a:r>
            <a:r>
              <a:rPr lang="fr-FR" altLang="fr-FR" dirty="0"/>
              <a:t> vs </a:t>
            </a:r>
            <a:r>
              <a:rPr lang="fr-FR" altLang="fr-FR" dirty="0" err="1"/>
              <a:t>Between</a:t>
            </a:r>
            <a:endParaRPr lang="fr-FR" altLang="fr-FR" dirty="0"/>
          </a:p>
        </p:txBody>
      </p:sp>
      <mc:AlternateContent xmlns:mc="http://schemas.openxmlformats.org/markup-compatibility/2006" xmlns:a14="http://schemas.microsoft.com/office/drawing/2010/main">
        <mc:Choice Requires="a14">
          <p:sp>
            <p:nvSpPr>
              <p:cNvPr id="59395" name="Espace réservé du contenu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rPr>
                          </m:ctrlPr>
                        </m:sSubPr>
                        <m:e>
                          <m:r>
                            <m:rPr>
                              <m:sty m:val="p"/>
                            </m:rPr>
                            <a:rPr lang="el-GR" i="1">
                              <a:latin typeface="Cambria Math"/>
                            </a:rPr>
                            <m:t>β</m:t>
                          </m:r>
                        </m:e>
                        <m:sub>
                          <m:r>
                            <a:rPr lang="fr-FR" i="1">
                              <a:latin typeface="Cambria Math"/>
                            </a:rPr>
                            <m:t>𝐵</m:t>
                          </m:r>
                        </m:sub>
                      </m:sSub>
                      <m:r>
                        <a:rPr lang="fr-FR" i="1">
                          <a:latin typeface="Cambria Math"/>
                        </a:rPr>
                        <m:t>=</m:t>
                      </m:r>
                      <m:r>
                        <a:rPr lang="fr-FR" i="1">
                          <a:latin typeface="Cambria Math"/>
                        </a:rPr>
                        <m:t>𝑟</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𝑦</m:t>
                              </m:r>
                            </m:e>
                            <m:sub>
                              <m:r>
                                <a:rPr lang="fr-FR" i="1">
                                  <a:latin typeface="Cambria Math"/>
                                </a:rPr>
                                <m:t>𝑖</m:t>
                              </m:r>
                              <m:r>
                                <a:rPr lang="fr-FR" i="1">
                                  <a:latin typeface="Cambria Math"/>
                                </a:rPr>
                                <m:t>.</m:t>
                              </m:r>
                            </m:sub>
                          </m:sSub>
                        </m:e>
                      </m:d>
                      <m:f>
                        <m:fPr>
                          <m:ctrlPr>
                            <a:rPr lang="fr-FR" i="1">
                              <a:latin typeface="Cambria Math" panose="02040503050406030204" pitchFamily="18" charset="0"/>
                            </a:rPr>
                          </m:ctrlPr>
                        </m:fPr>
                        <m:num>
                          <m:r>
                            <a:rPr lang="fr-FR" i="1">
                              <a:latin typeface="Cambria Math"/>
                              <a:ea typeface="Cambria Math"/>
                            </a:rPr>
                            <m:t>𝜎</m:t>
                          </m:r>
                          <m:d>
                            <m:dPr>
                              <m:ctrlPr>
                                <a:rPr lang="fr-FR" i="1">
                                  <a:latin typeface="Cambria Math" panose="02040503050406030204" pitchFamily="18" charset="0"/>
                                  <a:ea typeface="Cambria Math"/>
                                </a:rPr>
                              </m:ctrlPr>
                            </m:dPr>
                            <m:e>
                              <m:sSub>
                                <m:sSubPr>
                                  <m:ctrlPr>
                                    <a:rPr lang="fr-FR" i="1">
                                      <a:latin typeface="Cambria Math" panose="02040503050406030204" pitchFamily="18" charset="0"/>
                                    </a:rPr>
                                  </m:ctrlPr>
                                </m:sSubPr>
                                <m:e>
                                  <m:r>
                                    <a:rPr lang="fr-FR" i="1">
                                      <a:latin typeface="Cambria Math"/>
                                    </a:rPr>
                                    <m:t>𝑦</m:t>
                                  </m:r>
                                </m:e>
                                <m:sub>
                                  <m:r>
                                    <a:rPr lang="fr-FR" i="1">
                                      <a:latin typeface="Cambria Math"/>
                                    </a:rPr>
                                    <m:t>𝑖</m:t>
                                  </m:r>
                                  <m:r>
                                    <a:rPr lang="fr-FR" i="1">
                                      <a:latin typeface="Cambria Math"/>
                                    </a:rPr>
                                    <m:t>.</m:t>
                                  </m:r>
                                </m:sub>
                              </m:sSub>
                            </m:e>
                          </m:d>
                        </m:num>
                        <m:den>
                          <m:r>
                            <a:rPr lang="fr-FR" i="1">
                              <a:latin typeface="Cambria Math"/>
                              <a:ea typeface="Cambria Math"/>
                            </a:rPr>
                            <m:t>𝜎</m:t>
                          </m:r>
                          <m:d>
                            <m:dPr>
                              <m:ctrlPr>
                                <a:rPr lang="fr-FR" i="1">
                                  <a:latin typeface="Cambria Math" panose="02040503050406030204" pitchFamily="18" charset="0"/>
                                  <a:ea typeface="Cambria Math"/>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e>
                          </m:d>
                        </m:den>
                      </m:f>
                      <m:r>
                        <a:rPr lang="fr-FR" i="1">
                          <a:latin typeface="Cambria Math"/>
                        </a:rPr>
                        <m:t>+</m:t>
                      </m:r>
                      <m:r>
                        <a:rPr lang="fr-FR" i="1">
                          <a:latin typeface="Cambria Math"/>
                        </a:rPr>
                        <m:t>𝑟</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e>
                      </m:d>
                      <m:f>
                        <m:fPr>
                          <m:ctrlPr>
                            <a:rPr lang="fr-FR" i="1">
                              <a:latin typeface="Cambria Math" panose="02040503050406030204" pitchFamily="18" charset="0"/>
                            </a:rPr>
                          </m:ctrlPr>
                        </m:fPr>
                        <m:num>
                          <m:r>
                            <a:rPr lang="fr-FR" i="1">
                              <a:latin typeface="Cambria Math"/>
                              <a:ea typeface="Cambria Math"/>
                            </a:rPr>
                            <m:t>𝜎</m:t>
                          </m:r>
                          <m:d>
                            <m:dPr>
                              <m:ctrlPr>
                                <a:rPr lang="fr-FR" i="1">
                                  <a:latin typeface="Cambria Math" panose="02040503050406030204" pitchFamily="18" charset="0"/>
                                  <a:ea typeface="Cambria Math"/>
                                </a:rPr>
                              </m:ctrlPr>
                            </m:dPr>
                            <m:e>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e>
                          </m:d>
                        </m:num>
                        <m:den>
                          <m:r>
                            <a:rPr lang="fr-FR" i="1">
                              <a:latin typeface="Cambria Math"/>
                              <a:ea typeface="Cambria Math"/>
                            </a:rPr>
                            <m:t>𝜎</m:t>
                          </m:r>
                          <m:d>
                            <m:dPr>
                              <m:ctrlPr>
                                <a:rPr lang="fr-FR" i="1">
                                  <a:latin typeface="Cambria Math" panose="02040503050406030204" pitchFamily="18" charset="0"/>
                                  <a:ea typeface="Cambria Math"/>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e>
                          </m:d>
                        </m:den>
                      </m:f>
                    </m:oMath>
                  </m:oMathPara>
                </a14:m>
                <a:endParaRPr lang="fr-FR" dirty="0"/>
              </a:p>
              <a:p>
                <a:pPr marL="0" indent="0">
                  <a:buNone/>
                </a:pPr>
                <a14:m>
                  <m:oMathPara xmlns:m="http://schemas.openxmlformats.org/officeDocument/2006/math">
                    <m:oMathParaPr>
                      <m:jc m:val="centerGroup"/>
                    </m:oMathParaPr>
                    <m:oMath xmlns:m="http://schemas.openxmlformats.org/officeDocument/2006/math">
                      <m:r>
                        <a:rPr lang="fr-FR" i="1">
                          <a:latin typeface="Cambria Math"/>
                        </a:rPr>
                        <m:t>𝑟</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b="0" i="1" smtClean="0">
                                  <a:latin typeface="Cambria Math"/>
                                </a:rPr>
                                <m:t>𝑡</m:t>
                              </m:r>
                            </m:sub>
                          </m:sSub>
                          <m:r>
                            <a:rPr lang="fr-FR" b="0" i="1" smtClean="0">
                              <a:latin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𝑦</m:t>
                              </m:r>
                            </m:e>
                            <m:sub>
                              <m:r>
                                <a:rPr lang="fr-FR" i="1">
                                  <a:latin typeface="Cambria Math"/>
                                </a:rPr>
                                <m:t>𝑖</m:t>
                              </m:r>
                              <m:r>
                                <a:rPr lang="fr-FR" b="0" i="1" smtClean="0">
                                  <a:latin typeface="Cambria Math"/>
                                </a:rPr>
                                <m:t>𝑡</m:t>
                              </m:r>
                            </m:sub>
                          </m:sSub>
                          <m:r>
                            <a:rPr lang="fr-FR" b="0" i="1" smtClean="0">
                              <a:latin typeface="Cambria Math"/>
                            </a:rPr>
                            <m:t>−</m:t>
                          </m:r>
                          <m:sSub>
                            <m:sSubPr>
                              <m:ctrlPr>
                                <a:rPr lang="fr-FR" i="1">
                                  <a:latin typeface="Cambria Math" panose="02040503050406030204" pitchFamily="18" charset="0"/>
                                </a:rPr>
                              </m:ctrlPr>
                            </m:sSubPr>
                            <m:e>
                              <m:r>
                                <a:rPr lang="fr-FR" i="1">
                                  <a:latin typeface="Cambria Math"/>
                                  <a:ea typeface="Cambria Math"/>
                                </a:rPr>
                                <m:t>𝑦</m:t>
                              </m:r>
                            </m:e>
                            <m:sub>
                              <m:r>
                                <a:rPr lang="fr-FR" i="1">
                                  <a:latin typeface="Cambria Math"/>
                                </a:rPr>
                                <m:t>𝑖</m:t>
                              </m:r>
                              <m:r>
                                <a:rPr lang="fr-FR" b="0" i="1" smtClean="0">
                                  <a:latin typeface="Cambria Math"/>
                                </a:rPr>
                                <m:t>.</m:t>
                              </m:r>
                            </m:sub>
                          </m:sSub>
                        </m:e>
                      </m:d>
                      <m:r>
                        <a:rPr lang="fr-FR" i="1" smtClean="0">
                          <a:latin typeface="Cambria Math"/>
                          <a:ea typeface="Cambria Math"/>
                        </a:rPr>
                        <m:t>≠</m:t>
                      </m:r>
                      <m:r>
                        <a:rPr lang="fr-FR" i="1">
                          <a:latin typeface="Cambria Math"/>
                        </a:rPr>
                        <m:t>𝑟</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𝑦</m:t>
                              </m:r>
                            </m:e>
                            <m:sub>
                              <m:r>
                                <a:rPr lang="fr-FR" i="1">
                                  <a:latin typeface="Cambria Math"/>
                                </a:rPr>
                                <m:t>𝑖</m:t>
                              </m:r>
                              <m:r>
                                <a:rPr lang="fr-FR" i="1">
                                  <a:latin typeface="Cambria Math"/>
                                </a:rPr>
                                <m:t>.</m:t>
                              </m:r>
                            </m:sub>
                          </m:sSub>
                        </m:e>
                      </m:d>
                      <m:r>
                        <a:rPr lang="fr-FR" b="0" i="1" smtClean="0">
                          <a:latin typeface="Cambria Math"/>
                        </a:rPr>
                        <m:t>+</m:t>
                      </m:r>
                      <m:r>
                        <a:rPr lang="fr-FR" i="1">
                          <a:latin typeface="Cambria Math"/>
                        </a:rPr>
                        <m:t>𝑟</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e>
                      </m:d>
                    </m:oMath>
                  </m:oMathPara>
                </a14:m>
                <a:endParaRPr lang="fr-FR" altLang="fr-FR" dirty="0"/>
              </a:p>
              <a:p>
                <a:pPr marL="0" indent="0">
                  <a:buNone/>
                </a:pPr>
                <a:r>
                  <a:rPr lang="fr-FR" altLang="fr-FR" dirty="0"/>
                  <a:t>If no </a:t>
                </a:r>
                <a:r>
                  <a:rPr lang="fr-FR" altLang="fr-FR" dirty="0" err="1"/>
                  <a:t>endogeneity</a:t>
                </a:r>
                <a:r>
                  <a:rPr lang="fr-FR" altLang="fr-FR" dirty="0"/>
                  <a:t> </a:t>
                </a:r>
                <a:r>
                  <a:rPr lang="fr-FR" altLang="fr-FR" dirty="0" err="1"/>
                  <a:t>bias</a:t>
                </a:r>
                <a:r>
                  <a:rPr lang="fr-FR" altLang="fr-FR" dirty="0"/>
                  <a:t> and no </a:t>
                </a:r>
                <a:r>
                  <a:rPr lang="fr-FR" altLang="fr-FR" dirty="0" err="1"/>
                  <a:t>additional</a:t>
                </a:r>
                <a:r>
                  <a:rPr lang="fr-FR" altLang="fr-FR" dirty="0"/>
                  <a:t> issues:</a:t>
                </a:r>
              </a:p>
              <a:p>
                <a:pPr marL="0" indent="0">
                  <a:buNone/>
                </a:pPr>
                <a14:m>
                  <m:oMathPara xmlns:m="http://schemas.openxmlformats.org/officeDocument/2006/math">
                    <m:oMathParaPr>
                      <m:jc m:val="centerGroup"/>
                    </m:oMathParaPr>
                    <m:oMath xmlns:m="http://schemas.openxmlformats.org/officeDocument/2006/math">
                      <m:r>
                        <a:rPr lang="fr-FR" i="1">
                          <a:latin typeface="Cambria Math"/>
                        </a:rPr>
                        <m:t>𝑟</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𝑖𝑡</m:t>
                              </m:r>
                            </m:sub>
                          </m:sSub>
                          <m:r>
                            <a:rPr lang="fr-FR" i="1">
                              <a:latin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𝑦</m:t>
                              </m:r>
                            </m:e>
                            <m:sub>
                              <m:r>
                                <a:rPr lang="fr-FR" i="1">
                                  <a:latin typeface="Cambria Math"/>
                                </a:rPr>
                                <m:t>𝑖𝑡</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𝑦</m:t>
                              </m:r>
                            </m:e>
                            <m:sub>
                              <m:r>
                                <a:rPr lang="fr-FR" i="1">
                                  <a:latin typeface="Cambria Math"/>
                                </a:rPr>
                                <m:t>𝑖</m:t>
                              </m:r>
                              <m:r>
                                <a:rPr lang="fr-FR" i="1">
                                  <a:latin typeface="Cambria Math"/>
                                </a:rPr>
                                <m:t>.</m:t>
                              </m:r>
                            </m:sub>
                          </m:sSub>
                        </m:e>
                      </m:d>
                      <m:r>
                        <a:rPr lang="fr-FR" b="0" i="1" smtClean="0">
                          <a:latin typeface="Cambria Math"/>
                        </a:rPr>
                        <m:t>=</m:t>
                      </m:r>
                      <m:r>
                        <a:rPr lang="fr-FR" i="1">
                          <a:latin typeface="Cambria Math"/>
                        </a:rPr>
                        <m:t>𝑟</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i="1">
                                  <a:latin typeface="Cambria Math"/>
                                </a:rPr>
                                <m:t>.</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𝑦</m:t>
                              </m:r>
                            </m:e>
                            <m:sub>
                              <m:r>
                                <a:rPr lang="fr-FR" i="1">
                                  <a:latin typeface="Cambria Math"/>
                                </a:rPr>
                                <m:t>𝑖</m:t>
                              </m:r>
                              <m:r>
                                <a:rPr lang="fr-FR" i="1">
                                  <a:latin typeface="Cambria Math"/>
                                </a:rPr>
                                <m:t>.</m:t>
                              </m:r>
                            </m:sub>
                          </m:sSub>
                        </m:e>
                      </m:d>
                      <m:r>
                        <a:rPr lang="fr-FR" b="0" i="1" smtClean="0">
                          <a:latin typeface="Cambria Math"/>
                        </a:rPr>
                        <m:t>=</m:t>
                      </m:r>
                      <m:r>
                        <a:rPr lang="fr-FR" i="1">
                          <a:latin typeface="Cambria Math"/>
                        </a:rPr>
                        <m:t>𝑟</m:t>
                      </m:r>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𝑥</m:t>
                              </m:r>
                            </m:e>
                            <m:sub>
                              <m:r>
                                <a:rPr lang="fr-FR" i="1">
                                  <a:latin typeface="Cambria Math"/>
                                </a:rPr>
                                <m:t>𝑖</m:t>
                              </m:r>
                              <m:r>
                                <a:rPr lang="fr-FR" b="0" i="1" smtClean="0">
                                  <a:latin typeface="Cambria Math"/>
                                </a:rPr>
                                <m:t>𝑡</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𝑦</m:t>
                              </m:r>
                            </m:e>
                            <m:sub>
                              <m:r>
                                <a:rPr lang="fr-FR" i="1">
                                  <a:latin typeface="Cambria Math"/>
                                </a:rPr>
                                <m:t>𝑖</m:t>
                              </m:r>
                              <m:r>
                                <a:rPr lang="fr-FR" b="0" i="1" smtClean="0">
                                  <a:latin typeface="Cambria Math"/>
                                </a:rPr>
                                <m:t>𝑡</m:t>
                              </m:r>
                            </m:sub>
                          </m:sSub>
                        </m:e>
                      </m:d>
                    </m:oMath>
                  </m:oMathPara>
                </a14:m>
                <a:endParaRPr lang="fr-FR" altLang="fr-FR" dirty="0"/>
              </a:p>
              <a:p>
                <a:pPr marL="0" indent="0">
                  <a:buNone/>
                </a:pPr>
                <a:r>
                  <a:rPr lang="fr-FR" altLang="fr-FR" dirty="0" err="1"/>
                  <a:t>Between</a:t>
                </a:r>
                <a:r>
                  <a:rPr lang="fr-FR" altLang="fr-FR" dirty="0"/>
                  <a:t> has an alpha(i) </a:t>
                </a:r>
                <a:r>
                  <a:rPr lang="fr-FR" altLang="fr-FR" dirty="0" err="1"/>
                  <a:t>endogeneity</a:t>
                </a:r>
                <a:r>
                  <a:rPr lang="fr-FR" altLang="fr-FR" dirty="0"/>
                  <a:t> </a:t>
                </a:r>
                <a:r>
                  <a:rPr lang="fr-FR" altLang="fr-FR" dirty="0" err="1"/>
                  <a:t>bias</a:t>
                </a:r>
                <a:r>
                  <a:rPr lang="fr-FR" altLang="fr-FR" dirty="0"/>
                  <a:t>.</a:t>
                </a:r>
              </a:p>
              <a:p>
                <a:pPr marL="0" indent="0">
                  <a:buFontTx/>
                  <a:buNone/>
                </a:pPr>
                <a:r>
                  <a:rPr lang="fr-FR" altLang="fr-FR" dirty="0"/>
                  <a:t>not </a:t>
                </a:r>
                <a:r>
                  <a:rPr lang="fr-FR" altLang="fr-FR" dirty="0" err="1"/>
                  <a:t>Within</a:t>
                </a:r>
                <a:r>
                  <a:rPr lang="fr-FR" altLang="fr-FR" dirty="0"/>
                  <a:t> [cf. Hausman test]</a:t>
                </a:r>
              </a:p>
            </p:txBody>
          </p:sp>
        </mc:Choice>
        <mc:Fallback xmlns="">
          <p:sp>
            <p:nvSpPr>
              <p:cNvPr id="59395" name="Espace réservé du contenu 2"/>
              <p:cNvSpPr>
                <a:spLocks noGrp="1" noRot="1" noChangeAspect="1" noMove="1" noResize="1" noEditPoints="1" noAdjustHandles="1" noChangeArrowheads="1" noChangeShapeType="1" noTextEdit="1"/>
              </p:cNvSpPr>
              <p:nvPr>
                <p:ph idx="1"/>
              </p:nvPr>
            </p:nvSpPr>
            <p:spPr>
              <a:xfrm>
                <a:off x="395536" y="1600200"/>
                <a:ext cx="8229600" cy="4525963"/>
              </a:xfrm>
              <a:blipFill rotWithShape="1">
                <a:blip r:embed="rId2"/>
                <a:stretch>
                  <a:fillRect l="-1926" b="-270"/>
                </a:stretch>
              </a:blipFill>
            </p:spPr>
            <p:txBody>
              <a:bodyPr/>
              <a:lstStyle/>
              <a:p>
                <a:r>
                  <a:rPr lang="fr-FR">
                    <a:noFill/>
                  </a:rPr>
                  <a:t> </a:t>
                </a:r>
              </a:p>
            </p:txBody>
          </p:sp>
        </mc:Fallback>
      </mc:AlternateContent>
    </p:spTree>
    <p:extLst>
      <p:ext uri="{BB962C8B-B14F-4D97-AF65-F5344CB8AC3E}">
        <p14:creationId xmlns:p14="http://schemas.microsoft.com/office/powerpoint/2010/main" val="1791122900"/>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Between</a:t>
            </a:r>
            <a:r>
              <a:rPr lang="fr-FR" dirty="0"/>
              <a:t> </a:t>
            </a:r>
            <a:r>
              <a:rPr lang="fr-FR" dirty="0" err="1"/>
              <a:t>weaknesses</a:t>
            </a:r>
            <a:br>
              <a:rPr lang="fr-FR" dirty="0"/>
            </a:br>
            <a:r>
              <a:rPr lang="fr-FR" dirty="0" err="1"/>
              <a:t>with</a:t>
            </a:r>
            <a:r>
              <a:rPr lang="fr-FR" dirty="0"/>
              <a:t> respect to </a:t>
            </a:r>
            <a:r>
              <a:rPr lang="fr-FR" dirty="0" err="1"/>
              <a:t>Within</a:t>
            </a:r>
            <a:endParaRPr lang="fr-FR" dirty="0"/>
          </a:p>
        </p:txBody>
      </p:sp>
      <p:sp>
        <p:nvSpPr>
          <p:cNvPr id="3" name="Espace réservé du contenu 2"/>
          <p:cNvSpPr>
            <a:spLocks noGrp="1"/>
          </p:cNvSpPr>
          <p:nvPr>
            <p:ph idx="1"/>
          </p:nvPr>
        </p:nvSpPr>
        <p:spPr/>
        <p:txBody>
          <a:bodyPr/>
          <a:lstStyle/>
          <a:p>
            <a:pPr marL="514350" indent="-514350">
              <a:buFontTx/>
              <a:buAutoNum type="arabicParenR"/>
            </a:pPr>
            <a:r>
              <a:rPr lang="fr-FR" dirty="0"/>
              <a:t>Faces </a:t>
            </a:r>
            <a:r>
              <a:rPr lang="fr-FR" dirty="0" err="1"/>
              <a:t>individual</a:t>
            </a:r>
            <a:r>
              <a:rPr lang="fr-FR" dirty="0"/>
              <a:t> (i) </a:t>
            </a:r>
            <a:r>
              <a:rPr lang="fr-FR" dirty="0" err="1"/>
              <a:t>endogeneity</a:t>
            </a:r>
            <a:r>
              <a:rPr lang="fr-FR" dirty="0"/>
              <a:t> </a:t>
            </a:r>
            <a:r>
              <a:rPr lang="fr-FR" dirty="0" err="1"/>
              <a:t>bias</a:t>
            </a:r>
            <a:r>
              <a:rPr lang="fr-FR" dirty="0"/>
              <a:t> = </a:t>
            </a:r>
            <a:r>
              <a:rPr lang="fr-FR" dirty="0" err="1"/>
              <a:t>it</a:t>
            </a:r>
            <a:r>
              <a:rPr lang="fr-FR" dirty="0"/>
              <a:t> </a:t>
            </a:r>
            <a:r>
              <a:rPr lang="fr-FR" dirty="0" err="1"/>
              <a:t>is</a:t>
            </a:r>
            <a:r>
              <a:rPr lang="fr-FR" dirty="0"/>
              <a:t> set </a:t>
            </a:r>
            <a:r>
              <a:rPr lang="fr-FR" dirty="0" err="1"/>
              <a:t>aside</a:t>
            </a:r>
            <a:r>
              <a:rPr lang="fr-FR" dirty="0"/>
              <a:t> </a:t>
            </a:r>
            <a:r>
              <a:rPr lang="fr-FR" dirty="0" err="1"/>
              <a:t>most</a:t>
            </a:r>
            <a:r>
              <a:rPr lang="fr-FR" dirty="0"/>
              <a:t> of the time (</a:t>
            </a:r>
            <a:r>
              <a:rPr lang="fr-FR" dirty="0" err="1"/>
              <a:t>except</a:t>
            </a:r>
            <a:r>
              <a:rPr lang="fr-FR" dirty="0"/>
              <a:t> </a:t>
            </a:r>
            <a:r>
              <a:rPr lang="fr-FR" dirty="0" err="1"/>
              <a:t>when</a:t>
            </a:r>
            <a:r>
              <a:rPr lang="fr-FR" dirty="0"/>
              <a:t> </a:t>
            </a:r>
            <a:r>
              <a:rPr lang="fr-FR" dirty="0" err="1"/>
              <a:t>showing</a:t>
            </a:r>
            <a:r>
              <a:rPr lang="fr-FR" dirty="0"/>
              <a:t> </a:t>
            </a:r>
            <a:r>
              <a:rPr lang="fr-FR" dirty="0" err="1"/>
              <a:t>bivariate</a:t>
            </a:r>
            <a:r>
              <a:rPr lang="fr-FR" dirty="0"/>
              <a:t> </a:t>
            </a:r>
            <a:r>
              <a:rPr lang="fr-FR" dirty="0" err="1"/>
              <a:t>correlation</a:t>
            </a:r>
            <a:r>
              <a:rPr lang="fr-FR" dirty="0"/>
              <a:t>).</a:t>
            </a:r>
          </a:p>
          <a:p>
            <a:pPr marL="514350" indent="-514350">
              <a:buFontTx/>
              <a:buAutoNum type="arabicParenR"/>
            </a:pPr>
            <a:r>
              <a:rPr lang="fr-FR" dirty="0"/>
              <a:t>Has N-k-1 &lt; NT – N – k </a:t>
            </a:r>
            <a:r>
              <a:rPr lang="fr-FR" dirty="0" err="1"/>
              <a:t>degrees</a:t>
            </a:r>
            <a:r>
              <a:rPr lang="fr-FR" dirty="0"/>
              <a:t> of </a:t>
            </a:r>
            <a:r>
              <a:rPr lang="fr-FR" dirty="0" err="1"/>
              <a:t>freedom</a:t>
            </a:r>
            <a:r>
              <a:rPr lang="fr-FR" dirty="0"/>
              <a:t>, </a:t>
            </a:r>
            <a:r>
              <a:rPr lang="fr-FR" dirty="0" err="1"/>
              <a:t>hence</a:t>
            </a:r>
            <a:r>
              <a:rPr lang="fr-FR" dirty="0"/>
              <a:t> </a:t>
            </a:r>
            <a:r>
              <a:rPr lang="fr-FR" dirty="0" err="1"/>
              <a:t>lower</a:t>
            </a:r>
            <a:r>
              <a:rPr lang="fr-FR" dirty="0"/>
              <a:t> t-</a:t>
            </a:r>
            <a:r>
              <a:rPr lang="fr-FR" dirty="0" err="1"/>
              <a:t>stats</a:t>
            </a:r>
            <a:r>
              <a:rPr lang="fr-FR" dirty="0"/>
              <a:t>.</a:t>
            </a:r>
          </a:p>
        </p:txBody>
      </p:sp>
    </p:spTree>
    <p:extLst>
      <p:ext uri="{BB962C8B-B14F-4D97-AF65-F5344CB8AC3E}">
        <p14:creationId xmlns:p14="http://schemas.microsoft.com/office/powerpoint/2010/main" val="18950928"/>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Between</a:t>
            </a:r>
            <a:r>
              <a:rPr lang="fr-FR" dirty="0"/>
              <a:t> </a:t>
            </a:r>
            <a:r>
              <a:rPr lang="fr-FR" dirty="0" err="1"/>
              <a:t>strengths</a:t>
            </a:r>
            <a:r>
              <a:rPr lang="fr-FR" dirty="0"/>
              <a:t> </a:t>
            </a:r>
            <a:r>
              <a:rPr lang="fr-FR" dirty="0" err="1"/>
              <a:t>with</a:t>
            </a:r>
            <a:r>
              <a:rPr lang="fr-FR" dirty="0"/>
              <a:t> respect to </a:t>
            </a:r>
            <a:r>
              <a:rPr lang="fr-FR" dirty="0" err="1"/>
              <a:t>Within</a:t>
            </a:r>
            <a:endParaRPr lang="fr-FR" dirty="0"/>
          </a:p>
        </p:txBody>
      </p:sp>
      <p:sp>
        <p:nvSpPr>
          <p:cNvPr id="3" name="Espace réservé du contenu 2"/>
          <p:cNvSpPr>
            <a:spLocks noGrp="1"/>
          </p:cNvSpPr>
          <p:nvPr>
            <p:ph idx="1"/>
          </p:nvPr>
        </p:nvSpPr>
        <p:spPr/>
        <p:txBody>
          <a:bodyPr/>
          <a:lstStyle/>
          <a:p>
            <a:pPr marL="514350" indent="-514350" algn="just">
              <a:buAutoNum type="arabicParenR"/>
            </a:pPr>
            <a:r>
              <a:rPr lang="fr-FR" dirty="0"/>
              <a:t>30% to 70% of the variance of the </a:t>
            </a:r>
            <a:r>
              <a:rPr lang="fr-FR" dirty="0" err="1"/>
              <a:t>dependent</a:t>
            </a:r>
            <a:r>
              <a:rPr lang="fr-FR" dirty="0"/>
              <a:t> variable </a:t>
            </a:r>
            <a:r>
              <a:rPr lang="fr-FR" dirty="0" err="1"/>
              <a:t>with</a:t>
            </a:r>
            <a:r>
              <a:rPr lang="fr-FR" dirty="0"/>
              <a:t> « relevance ».</a:t>
            </a:r>
          </a:p>
          <a:p>
            <a:pPr marL="514350" indent="-514350" algn="just">
              <a:buAutoNum type="arabicParenR"/>
            </a:pPr>
            <a:r>
              <a:rPr lang="fr-FR" dirty="0" err="1"/>
              <a:t>Eliminates</a:t>
            </a:r>
            <a:r>
              <a:rPr lang="fr-FR" dirty="0"/>
              <a:t> trends and </a:t>
            </a:r>
            <a:r>
              <a:rPr lang="fr-FR" dirty="0" err="1"/>
              <a:t>spurious</a:t>
            </a:r>
            <a:r>
              <a:rPr lang="fr-FR" dirty="0"/>
              <a:t> </a:t>
            </a:r>
            <a:r>
              <a:rPr lang="fr-FR" dirty="0" err="1"/>
              <a:t>regressions</a:t>
            </a:r>
            <a:r>
              <a:rPr lang="fr-FR" dirty="0"/>
              <a:t> due to unit </a:t>
            </a:r>
            <a:r>
              <a:rPr lang="fr-FR" dirty="0" err="1"/>
              <a:t>roots</a:t>
            </a:r>
            <a:r>
              <a:rPr lang="fr-FR" dirty="0"/>
              <a:t>, not FE.</a:t>
            </a:r>
          </a:p>
          <a:p>
            <a:pPr marL="514350" indent="-514350" algn="just">
              <a:buAutoNum type="arabicParenR"/>
            </a:pPr>
            <a:r>
              <a:rPr lang="fr-FR" dirty="0"/>
              <a:t>A « good » long </a:t>
            </a:r>
            <a:r>
              <a:rPr lang="fr-FR" dirty="0" err="1"/>
              <a:t>run</a:t>
            </a:r>
            <a:r>
              <a:rPr lang="fr-FR" dirty="0"/>
              <a:t> </a:t>
            </a:r>
            <a:r>
              <a:rPr lang="fr-FR" dirty="0" err="1"/>
              <a:t>estimator</a:t>
            </a:r>
            <a:r>
              <a:rPr lang="fr-FR" dirty="0"/>
              <a:t> of a model </a:t>
            </a:r>
            <a:r>
              <a:rPr lang="fr-FR" dirty="0" err="1"/>
              <a:t>with</a:t>
            </a:r>
            <a:r>
              <a:rPr lang="fr-FR" dirty="0"/>
              <a:t> </a:t>
            </a:r>
            <a:r>
              <a:rPr lang="fr-FR" dirty="0" err="1"/>
              <a:t>lagged</a:t>
            </a:r>
            <a:r>
              <a:rPr lang="fr-FR" dirty="0"/>
              <a:t> </a:t>
            </a:r>
            <a:r>
              <a:rPr lang="fr-FR" dirty="0" err="1"/>
              <a:t>dependent</a:t>
            </a:r>
            <a:r>
              <a:rPr lang="fr-FR" dirty="0"/>
              <a:t> variable, FE </a:t>
            </a:r>
            <a:r>
              <a:rPr lang="fr-FR" dirty="0" err="1"/>
              <a:t>biased</a:t>
            </a:r>
            <a:r>
              <a:rPr lang="fr-FR" dirty="0"/>
              <a:t>.</a:t>
            </a:r>
          </a:p>
          <a:p>
            <a:pPr marL="514350" indent="-514350" algn="just">
              <a:buAutoNum type="arabicParenR"/>
            </a:pPr>
            <a:r>
              <a:rPr lang="fr-FR" dirty="0" err="1"/>
              <a:t>Includes</a:t>
            </a:r>
            <a:r>
              <a:rPr lang="fr-FR" dirty="0"/>
              <a:t> time-invariant </a:t>
            </a:r>
            <a:r>
              <a:rPr lang="fr-FR" dirty="0" err="1"/>
              <a:t>regressors</a:t>
            </a:r>
            <a:r>
              <a:rPr lang="fr-FR" dirty="0"/>
              <a:t>. </a:t>
            </a:r>
          </a:p>
          <a:p>
            <a:pPr marL="0" indent="0">
              <a:buNone/>
            </a:pPr>
            <a:endParaRPr lang="fr-FR" dirty="0"/>
          </a:p>
        </p:txBody>
      </p:sp>
    </p:spTree>
    <p:extLst>
      <p:ext uri="{BB962C8B-B14F-4D97-AF65-F5344CB8AC3E}">
        <p14:creationId xmlns:p14="http://schemas.microsoft.com/office/powerpoint/2010/main" val="939506094"/>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re 1"/>
          <p:cNvSpPr>
            <a:spLocks noGrp="1"/>
          </p:cNvSpPr>
          <p:nvPr>
            <p:ph type="title"/>
          </p:nvPr>
        </p:nvSpPr>
        <p:spPr/>
        <p:txBody>
          <a:bodyPr>
            <a:normAutofit fontScale="90000"/>
          </a:bodyPr>
          <a:lstStyle/>
          <a:p>
            <a:r>
              <a:rPr lang="fr-FR" altLang="fr-FR" dirty="0" err="1"/>
              <a:t>Dynamic</a:t>
            </a:r>
            <a:r>
              <a:rPr lang="fr-FR" altLang="fr-FR" dirty="0"/>
              <a:t> model: </a:t>
            </a:r>
            <a:r>
              <a:rPr lang="fr-FR" altLang="fr-FR" dirty="0" err="1"/>
              <a:t>Between</a:t>
            </a:r>
            <a:r>
              <a:rPr lang="fr-FR" altLang="fr-FR" dirty="0"/>
              <a:t> as a long </a:t>
            </a:r>
            <a:r>
              <a:rPr lang="fr-FR" altLang="fr-FR" dirty="0" err="1"/>
              <a:t>term</a:t>
            </a:r>
            <a:r>
              <a:rPr lang="fr-FR" altLang="fr-FR" dirty="0"/>
              <a:t> </a:t>
            </a:r>
            <a:r>
              <a:rPr lang="fr-FR" altLang="fr-FR" dirty="0" err="1"/>
              <a:t>estimate</a:t>
            </a:r>
            <a:endParaRPr lang="fr-FR" altLang="fr-FR" dirty="0"/>
          </a:p>
        </p:txBody>
      </p:sp>
      <p:sp>
        <p:nvSpPr>
          <p:cNvPr id="61443" name="Espace réservé du contenu 2"/>
          <p:cNvSpPr>
            <a:spLocks noGrp="1"/>
          </p:cNvSpPr>
          <p:nvPr>
            <p:ph idx="1"/>
          </p:nvPr>
        </p:nvSpPr>
        <p:spPr/>
        <p:txBody>
          <a:bodyPr/>
          <a:lstStyle/>
          <a:p>
            <a:pPr marL="0" indent="0">
              <a:buFontTx/>
              <a:buNone/>
            </a:pPr>
            <a:r>
              <a:rPr lang="fr-FR" altLang="fr-FR" dirty="0" err="1"/>
              <a:t>When</a:t>
            </a:r>
            <a:r>
              <a:rPr lang="fr-FR" altLang="fr-FR" dirty="0"/>
              <a:t> the </a:t>
            </a:r>
            <a:r>
              <a:rPr lang="fr-FR" altLang="fr-FR" dirty="0" err="1"/>
              <a:t>true</a:t>
            </a:r>
            <a:r>
              <a:rPr lang="fr-FR" altLang="fr-FR" dirty="0"/>
              <a:t> model has an </a:t>
            </a:r>
            <a:r>
              <a:rPr lang="fr-FR" altLang="fr-FR" dirty="0" err="1"/>
              <a:t>auto-regressive</a:t>
            </a:r>
            <a:r>
              <a:rPr lang="fr-FR" altLang="fr-FR" dirty="0"/>
              <a:t> component = DYNAMIC MODEL.</a:t>
            </a:r>
          </a:p>
          <a:p>
            <a:pPr marL="0" indent="0">
              <a:buFontTx/>
              <a:buNone/>
            </a:pPr>
            <a:r>
              <a:rPr lang="fr-FR" altLang="fr-FR" dirty="0"/>
              <a:t>AND </a:t>
            </a:r>
            <a:r>
              <a:rPr lang="fr-FR" altLang="fr-FR" dirty="0" err="1"/>
              <a:t>when</a:t>
            </a:r>
            <a:r>
              <a:rPr lang="fr-FR" altLang="fr-FR" dirty="0"/>
              <a:t> </a:t>
            </a:r>
            <a:r>
              <a:rPr lang="fr-FR" altLang="fr-FR" dirty="0" err="1"/>
              <a:t>there</a:t>
            </a:r>
            <a:r>
              <a:rPr lang="fr-FR" altLang="fr-FR" dirty="0"/>
              <a:t> </a:t>
            </a:r>
            <a:r>
              <a:rPr lang="fr-FR" altLang="fr-FR" dirty="0" err="1"/>
              <a:t>is</a:t>
            </a:r>
            <a:r>
              <a:rPr lang="fr-FR" altLang="fr-FR" dirty="0"/>
              <a:t> no alpha(i) </a:t>
            </a:r>
            <a:r>
              <a:rPr lang="fr-FR" altLang="fr-FR" dirty="0" err="1"/>
              <a:t>endogeneity</a:t>
            </a:r>
            <a:r>
              <a:rPr lang="fr-FR" altLang="fr-FR" dirty="0"/>
              <a:t>.</a:t>
            </a:r>
          </a:p>
          <a:p>
            <a:pPr marL="0" indent="0">
              <a:buFontTx/>
              <a:buNone/>
            </a:pPr>
            <a:r>
              <a:rPr lang="fr-FR" altLang="fr-FR" dirty="0" err="1"/>
              <a:t>Between</a:t>
            </a:r>
            <a:r>
              <a:rPr lang="fr-FR" altLang="fr-FR" dirty="0"/>
              <a:t> </a:t>
            </a:r>
            <a:r>
              <a:rPr lang="fr-FR" altLang="fr-FR" dirty="0" err="1"/>
              <a:t>estimate</a:t>
            </a:r>
            <a:r>
              <a:rPr lang="fr-FR" altLang="fr-FR" dirty="0"/>
              <a:t> converges to long </a:t>
            </a:r>
            <a:r>
              <a:rPr lang="fr-FR" altLang="fr-FR" dirty="0" err="1"/>
              <a:t>term</a:t>
            </a:r>
            <a:r>
              <a:rPr lang="fr-FR" altLang="fr-FR" dirty="0"/>
              <a:t> </a:t>
            </a:r>
          </a:p>
          <a:p>
            <a:pPr marL="0" indent="0">
              <a:buFontTx/>
              <a:buNone/>
            </a:pPr>
            <a:r>
              <a:rPr lang="fr-FR" altLang="fr-FR" dirty="0"/>
              <a:t>beta/(1-autoreg </a:t>
            </a:r>
            <a:r>
              <a:rPr lang="fr-FR" altLang="fr-FR" dirty="0" err="1"/>
              <a:t>parameter</a:t>
            </a:r>
            <a:r>
              <a:rPr lang="fr-FR" altLang="fr-FR" dirty="0"/>
              <a:t>)</a:t>
            </a:r>
          </a:p>
          <a:p>
            <a:pPr marL="0" indent="0">
              <a:buFontTx/>
              <a:buNone/>
            </a:pPr>
            <a:r>
              <a:rPr lang="fr-FR" altLang="fr-FR" dirty="0"/>
              <a:t>[</a:t>
            </a:r>
            <a:r>
              <a:rPr lang="fr-FR" altLang="fr-FR" dirty="0" err="1"/>
              <a:t>hence</a:t>
            </a:r>
            <a:r>
              <a:rPr lang="fr-FR" altLang="fr-FR" dirty="0"/>
              <a:t> </a:t>
            </a:r>
            <a:r>
              <a:rPr lang="fr-FR" altLang="fr-FR" dirty="0" err="1"/>
              <a:t>within</a:t>
            </a:r>
            <a:r>
              <a:rPr lang="fr-FR" altLang="fr-FR" dirty="0"/>
              <a:t> </a:t>
            </a:r>
            <a:r>
              <a:rPr lang="fr-FR" altLang="fr-FR" dirty="0" err="1"/>
              <a:t>may</a:t>
            </a:r>
            <a:r>
              <a:rPr lang="fr-FR" altLang="fr-FR" dirty="0"/>
              <a:t> </a:t>
            </a:r>
            <a:r>
              <a:rPr lang="fr-FR" altLang="fr-FR" dirty="0" err="1"/>
              <a:t>be</a:t>
            </a:r>
            <a:r>
              <a:rPr lang="fr-FR" altLang="fr-FR" dirty="0"/>
              <a:t> </a:t>
            </a:r>
            <a:r>
              <a:rPr lang="fr-FR" altLang="fr-FR" dirty="0" err="1"/>
              <a:t>smaller</a:t>
            </a:r>
            <a:r>
              <a:rPr lang="fr-FR" altLang="fr-FR" dirty="0"/>
              <a:t> in </a:t>
            </a:r>
            <a:r>
              <a:rPr lang="fr-FR" altLang="fr-FR" dirty="0" err="1"/>
              <a:t>absolute</a:t>
            </a:r>
            <a:r>
              <a:rPr lang="fr-FR" altLang="fr-FR" dirty="0"/>
              <a:t> value </a:t>
            </a:r>
            <a:r>
              <a:rPr lang="fr-FR" altLang="fr-FR" dirty="0" err="1"/>
              <a:t>than</a:t>
            </a:r>
            <a:r>
              <a:rPr lang="fr-FR" altLang="fr-FR" dirty="0"/>
              <a:t> </a:t>
            </a:r>
            <a:r>
              <a:rPr lang="fr-FR" altLang="fr-FR" dirty="0" err="1"/>
              <a:t>between</a:t>
            </a:r>
            <a:r>
              <a:rPr lang="fr-FR" altLang="fr-FR" dirty="0"/>
              <a:t> </a:t>
            </a:r>
            <a:r>
              <a:rPr lang="fr-FR" altLang="fr-FR" dirty="0" err="1"/>
              <a:t>parameters</a:t>
            </a:r>
            <a:r>
              <a:rPr lang="fr-FR" altLang="fr-FR" dirty="0"/>
              <a:t>]</a:t>
            </a:r>
          </a:p>
          <a:p>
            <a:pPr marL="0" indent="0">
              <a:buFontTx/>
              <a:buNone/>
            </a:pPr>
            <a:r>
              <a:rPr lang="fr-FR" altLang="fr-FR" dirty="0" err="1"/>
              <a:t>Pirotte</a:t>
            </a:r>
            <a:r>
              <a:rPr lang="fr-FR" altLang="fr-FR" dirty="0"/>
              <a:t> (</a:t>
            </a:r>
            <a:r>
              <a:rPr lang="fr-FR" altLang="fr-FR" dirty="0" err="1"/>
              <a:t>Economics</a:t>
            </a:r>
            <a:r>
              <a:rPr lang="fr-FR" altLang="fr-FR" dirty="0"/>
              <a:t> </a:t>
            </a:r>
            <a:r>
              <a:rPr lang="fr-FR" altLang="fr-FR" dirty="0" err="1"/>
              <a:t>Letters</a:t>
            </a:r>
            <a:r>
              <a:rPr lang="fr-FR" altLang="fr-FR" dirty="0"/>
              <a:t>)</a:t>
            </a:r>
          </a:p>
          <a:p>
            <a:pPr marL="0" indent="0">
              <a:buFontTx/>
              <a:buNone/>
            </a:pPr>
            <a:endParaRPr lang="fr-FR" altLang="fr-FR" dirty="0"/>
          </a:p>
        </p:txBody>
      </p:sp>
    </p:spTree>
    <p:extLst>
      <p:ext uri="{BB962C8B-B14F-4D97-AF65-F5344CB8AC3E}">
        <p14:creationId xmlns:p14="http://schemas.microsoft.com/office/powerpoint/2010/main" val="49117842"/>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xttab</a:t>
            </a:r>
            <a:r>
              <a:rPr lang="fr-FR" dirty="0"/>
              <a:t> </a:t>
            </a:r>
            <a:r>
              <a:rPr lang="fr-FR" dirty="0" err="1"/>
              <a:t>ssa</a:t>
            </a:r>
            <a:r>
              <a:rPr lang="fr-FR" dirty="0"/>
              <a:t>, time-invariant</a:t>
            </a:r>
            <a:br>
              <a:rPr lang="fr-FR" dirty="0"/>
            </a:br>
            <a:r>
              <a:rPr lang="fr-FR" dirty="0" err="1"/>
              <a:t>sub-saharan</a:t>
            </a:r>
            <a:r>
              <a:rPr lang="fr-FR" dirty="0"/>
              <a:t> </a:t>
            </a:r>
            <a:r>
              <a:rPr lang="fr-FR" dirty="0" err="1"/>
              <a:t>africa</a:t>
            </a:r>
            <a:r>
              <a:rPr lang="fr-FR" dirty="0"/>
              <a:t> </a:t>
            </a:r>
            <a:r>
              <a:rPr lang="fr-FR" dirty="0" err="1"/>
              <a:t>dummy</a:t>
            </a:r>
            <a:endParaRPr lang="fr-FR" dirty="0"/>
          </a:p>
        </p:txBody>
      </p:sp>
      <p:sp>
        <p:nvSpPr>
          <p:cNvPr id="4" name="Rectangle 3"/>
          <p:cNvSpPr/>
          <p:nvPr/>
        </p:nvSpPr>
        <p:spPr>
          <a:xfrm>
            <a:off x="1403648" y="2060848"/>
            <a:ext cx="6768752" cy="3785652"/>
          </a:xfrm>
          <a:prstGeom prst="rect">
            <a:avLst/>
          </a:prstGeom>
        </p:spPr>
        <p:txBody>
          <a:bodyPr wrap="square">
            <a:spAutoFit/>
          </a:bodyPr>
          <a:lstStyle/>
          <a:p>
            <a:r>
              <a:rPr lang="fr-FR" b="1" dirty="0"/>
              <a:t>     </a:t>
            </a:r>
            <a:r>
              <a:rPr lang="fr-FR" sz="2400" b="1" dirty="0"/>
              <a:t>             </a:t>
            </a:r>
            <a:r>
              <a:rPr lang="fr-FR" sz="2400" b="1" dirty="0" err="1"/>
              <a:t>Overall</a:t>
            </a:r>
            <a:r>
              <a:rPr lang="fr-FR" sz="2400" b="1" dirty="0"/>
              <a:t>             </a:t>
            </a:r>
            <a:r>
              <a:rPr lang="fr-FR" sz="2400" b="1" dirty="0" err="1"/>
              <a:t>Between</a:t>
            </a:r>
            <a:r>
              <a:rPr lang="fr-FR" sz="2400" b="1" dirty="0"/>
              <a:t>            </a:t>
            </a:r>
            <a:r>
              <a:rPr lang="fr-FR" sz="2400" b="1" dirty="0" err="1"/>
              <a:t>Within</a:t>
            </a:r>
            <a:endParaRPr lang="fr-FR" sz="2400" b="1" dirty="0"/>
          </a:p>
          <a:p>
            <a:r>
              <a:rPr lang="fr-FR" sz="2400" b="1" dirty="0"/>
              <a:t>      </a:t>
            </a:r>
            <a:r>
              <a:rPr lang="fr-FR" sz="2400" b="1" dirty="0" err="1"/>
              <a:t>ssa</a:t>
            </a:r>
            <a:r>
              <a:rPr lang="fr-FR" sz="2400" b="1" dirty="0"/>
              <a:t> |    </a:t>
            </a:r>
            <a:r>
              <a:rPr lang="fr-FR" sz="2400" b="1" dirty="0" err="1"/>
              <a:t>Freq</a:t>
            </a:r>
            <a:r>
              <a:rPr lang="fr-FR" sz="2400" b="1" dirty="0"/>
              <a:t>.  Percent      </a:t>
            </a:r>
            <a:r>
              <a:rPr lang="fr-FR" sz="2400" b="1" dirty="0" err="1"/>
              <a:t>Freq</a:t>
            </a:r>
            <a:r>
              <a:rPr lang="fr-FR" sz="2400" b="1" dirty="0"/>
              <a:t>.  Percent        </a:t>
            </a:r>
            <a:r>
              <a:rPr lang="fr-FR" sz="2400" b="1" dirty="0" err="1"/>
              <a:t>Percent</a:t>
            </a:r>
            <a:endParaRPr lang="fr-FR" sz="2400" b="1" dirty="0"/>
          </a:p>
          <a:p>
            <a:r>
              <a:rPr lang="fr-FR" sz="2400" b="1" dirty="0"/>
              <a:t>----------+-----------------------------------------------------</a:t>
            </a:r>
          </a:p>
          <a:p>
            <a:r>
              <a:rPr lang="fr-FR" sz="2400" b="1" dirty="0"/>
              <a:t>        0 |     191     69.45        35     62.50         100.00</a:t>
            </a:r>
          </a:p>
          <a:p>
            <a:r>
              <a:rPr lang="fr-FR" sz="2400" b="1" dirty="0"/>
              <a:t>        1 |      84     30.55        21     37.50         100.00</a:t>
            </a:r>
          </a:p>
          <a:p>
            <a:r>
              <a:rPr lang="fr-FR" sz="2400" b="1" dirty="0"/>
              <a:t>----------+-----------------------------------------------------</a:t>
            </a:r>
          </a:p>
          <a:p>
            <a:r>
              <a:rPr lang="fr-FR" sz="2400" b="1" dirty="0"/>
              <a:t>    Total |     275    100.00        56    100.00         100.00</a:t>
            </a:r>
          </a:p>
          <a:p>
            <a:r>
              <a:rPr lang="fr-FR" sz="2400" b="1" dirty="0"/>
              <a:t>                                (n = 56)</a:t>
            </a:r>
          </a:p>
        </p:txBody>
      </p:sp>
    </p:spTree>
    <p:extLst>
      <p:ext uri="{BB962C8B-B14F-4D97-AF65-F5344CB8AC3E}">
        <p14:creationId xmlns:p14="http://schemas.microsoft.com/office/powerpoint/2010/main" val="2090248"/>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err="1">
                <a:solidFill>
                  <a:srgbClr val="FF0000"/>
                </a:solidFill>
              </a:rPr>
              <a:t>Repeated</a:t>
            </a:r>
            <a:r>
              <a:rPr lang="fr-FR" dirty="0"/>
              <a:t> data: Z(i), X(i,.)</a:t>
            </a:r>
            <a:br>
              <a:rPr lang="fr-FR" dirty="0"/>
            </a:br>
            <a:r>
              <a:rPr lang="fr-FR" dirty="0"/>
              <a:t>in the </a:t>
            </a:r>
            <a:r>
              <a:rPr lang="fr-FR" dirty="0" err="1"/>
              <a:t>database</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922469060"/>
              </p:ext>
            </p:extLst>
          </p:nvPr>
        </p:nvGraphicFramePr>
        <p:xfrm>
          <a:off x="457200" y="1600200"/>
          <a:ext cx="8229600" cy="420624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r>
                        <a:rPr lang="fr-FR" b="1" dirty="0" err="1"/>
                        <a:t>Ident</a:t>
                      </a:r>
                      <a:endParaRPr lang="fr-FR" b="1" dirty="0"/>
                    </a:p>
                    <a:p>
                      <a:r>
                        <a:rPr lang="fr-FR" b="1" dirty="0"/>
                        <a:t>(for</a:t>
                      </a:r>
                      <a:r>
                        <a:rPr lang="fr-FR" b="1" baseline="0" dirty="0"/>
                        <a:t> </a:t>
                      </a:r>
                      <a:r>
                        <a:rPr lang="fr-FR" b="1" baseline="0" dirty="0" err="1"/>
                        <a:t>individual</a:t>
                      </a:r>
                      <a:r>
                        <a:rPr lang="fr-FR" b="1" baseline="0" dirty="0"/>
                        <a:t>)</a:t>
                      </a:r>
                      <a:endParaRPr lang="fr-FR" b="1" dirty="0"/>
                    </a:p>
                  </a:txBody>
                  <a:tcPr/>
                </a:tc>
                <a:tc>
                  <a:txBody>
                    <a:bodyPr/>
                    <a:lstStyle/>
                    <a:p>
                      <a:endParaRPr lang="fr-FR" b="1" dirty="0"/>
                    </a:p>
                    <a:p>
                      <a:r>
                        <a:rPr lang="fr-FR" sz="3600" b="1" dirty="0"/>
                        <a:t>YEAR</a:t>
                      </a:r>
                    </a:p>
                  </a:txBody>
                  <a:tcPr/>
                </a:tc>
                <a:tc>
                  <a:txBody>
                    <a:bodyPr/>
                    <a:lstStyle/>
                    <a:p>
                      <a:r>
                        <a:rPr lang="fr-FR" sz="4800" b="1" baseline="0" dirty="0"/>
                        <a:t>Z(i)</a:t>
                      </a:r>
                      <a:endParaRPr lang="fr-FR" sz="4800" b="1" dirty="0"/>
                    </a:p>
                  </a:txBody>
                  <a:tcPr/>
                </a:tc>
                <a:tc>
                  <a:txBody>
                    <a:bodyPr/>
                    <a:lstStyle/>
                    <a:p>
                      <a:r>
                        <a:rPr lang="fr-FR" sz="4800" b="1" baseline="0" dirty="0"/>
                        <a:t>X(i.)</a:t>
                      </a:r>
                      <a:endParaRPr lang="fr-FR" sz="4800" b="1" dirty="0"/>
                    </a:p>
                  </a:txBody>
                  <a:tcPr/>
                </a:tc>
                <a:tc>
                  <a:txBody>
                    <a:bodyPr/>
                    <a:lstStyle/>
                    <a:p>
                      <a:r>
                        <a:rPr lang="fr-FR" sz="4800" b="1" baseline="0" dirty="0"/>
                        <a:t>X(</a:t>
                      </a:r>
                      <a:r>
                        <a:rPr lang="fr-FR" sz="4800" b="1" baseline="0" dirty="0" err="1"/>
                        <a:t>it</a:t>
                      </a:r>
                      <a:r>
                        <a:rPr lang="fr-FR" sz="4800" b="1" baseline="0" dirty="0"/>
                        <a:t>)</a:t>
                      </a:r>
                      <a:endParaRPr lang="fr-FR" sz="4800" b="1" dirty="0"/>
                    </a:p>
                  </a:txBody>
                  <a:tcPr/>
                </a:tc>
                <a:extLst>
                  <a:ext uri="{0D108BD9-81ED-4DB2-BD59-A6C34878D82A}">
                    <a16:rowId xmlns:a16="http://schemas.microsoft.com/office/drawing/2014/main" val="10000"/>
                  </a:ext>
                </a:extLst>
              </a:tr>
              <a:tr h="370840">
                <a:tc>
                  <a:txBody>
                    <a:bodyPr/>
                    <a:lstStyle/>
                    <a:p>
                      <a:pPr algn="ctr"/>
                      <a:r>
                        <a:rPr lang="fr-FR" sz="4800" b="1" dirty="0"/>
                        <a:t>1</a:t>
                      </a:r>
                    </a:p>
                  </a:txBody>
                  <a:tcPr/>
                </a:tc>
                <a:tc>
                  <a:txBody>
                    <a:bodyPr/>
                    <a:lstStyle/>
                    <a:p>
                      <a:pPr algn="ctr"/>
                      <a:r>
                        <a:rPr lang="fr-FR" sz="4800" b="1" dirty="0"/>
                        <a:t>1</a:t>
                      </a:r>
                    </a:p>
                  </a:txBody>
                  <a:tcPr/>
                </a:tc>
                <a:tc>
                  <a:txBody>
                    <a:bodyPr/>
                    <a:lstStyle/>
                    <a:p>
                      <a:pPr algn="ctr"/>
                      <a:r>
                        <a:rPr lang="fr-FR" sz="4800" b="1" dirty="0"/>
                        <a:t>8</a:t>
                      </a:r>
                    </a:p>
                  </a:txBody>
                  <a:tcPr/>
                </a:tc>
                <a:tc>
                  <a:txBody>
                    <a:bodyPr/>
                    <a:lstStyle/>
                    <a:p>
                      <a:pPr algn="ctr"/>
                      <a:r>
                        <a:rPr lang="fr-FR" sz="4800" b="1" dirty="0"/>
                        <a:t>50</a:t>
                      </a:r>
                    </a:p>
                  </a:txBody>
                  <a:tcPr/>
                </a:tc>
                <a:tc>
                  <a:txBody>
                    <a:bodyPr/>
                    <a:lstStyle/>
                    <a:p>
                      <a:pPr algn="ctr"/>
                      <a:r>
                        <a:rPr lang="fr-FR" sz="4800" b="1" dirty="0"/>
                        <a:t>48</a:t>
                      </a:r>
                    </a:p>
                  </a:txBody>
                  <a:tcPr/>
                </a:tc>
                <a:extLst>
                  <a:ext uri="{0D108BD9-81ED-4DB2-BD59-A6C34878D82A}">
                    <a16:rowId xmlns:a16="http://schemas.microsoft.com/office/drawing/2014/main" val="10001"/>
                  </a:ext>
                </a:extLst>
              </a:tr>
              <a:tr h="370840">
                <a:tc>
                  <a:txBody>
                    <a:bodyPr/>
                    <a:lstStyle/>
                    <a:p>
                      <a:pPr algn="ctr"/>
                      <a:r>
                        <a:rPr lang="fr-FR" sz="4800" b="1" dirty="0"/>
                        <a:t>1</a:t>
                      </a:r>
                    </a:p>
                  </a:txBody>
                  <a:tcPr/>
                </a:tc>
                <a:tc>
                  <a:txBody>
                    <a:bodyPr/>
                    <a:lstStyle/>
                    <a:p>
                      <a:pPr algn="ctr"/>
                      <a:r>
                        <a:rPr lang="fr-FR" sz="4800" b="1" dirty="0">
                          <a:solidFill>
                            <a:srgbClr val="FF0000"/>
                          </a:solidFill>
                        </a:rPr>
                        <a:t>2</a:t>
                      </a:r>
                    </a:p>
                  </a:txBody>
                  <a:tcPr/>
                </a:tc>
                <a:tc>
                  <a:txBody>
                    <a:bodyPr/>
                    <a:lstStyle/>
                    <a:p>
                      <a:pPr algn="ctr"/>
                      <a:r>
                        <a:rPr lang="fr-FR" sz="4800" b="1" dirty="0">
                          <a:solidFill>
                            <a:srgbClr val="FF0000"/>
                          </a:solidFill>
                        </a:rPr>
                        <a:t>8</a:t>
                      </a:r>
                    </a:p>
                  </a:txBody>
                  <a:tcPr/>
                </a:tc>
                <a:tc>
                  <a:txBody>
                    <a:bodyPr/>
                    <a:lstStyle/>
                    <a:p>
                      <a:pPr algn="ctr"/>
                      <a:r>
                        <a:rPr lang="fr-FR" sz="4800" b="1" dirty="0">
                          <a:solidFill>
                            <a:srgbClr val="FF0000"/>
                          </a:solidFill>
                        </a:rPr>
                        <a:t>50</a:t>
                      </a:r>
                    </a:p>
                  </a:txBody>
                  <a:tcPr/>
                </a:tc>
                <a:tc>
                  <a:txBody>
                    <a:bodyPr/>
                    <a:lstStyle/>
                    <a:p>
                      <a:pPr algn="ctr"/>
                      <a:r>
                        <a:rPr lang="fr-FR" sz="4800" b="1" dirty="0"/>
                        <a:t>52</a:t>
                      </a:r>
                    </a:p>
                  </a:txBody>
                  <a:tcPr/>
                </a:tc>
                <a:extLst>
                  <a:ext uri="{0D108BD9-81ED-4DB2-BD59-A6C34878D82A}">
                    <a16:rowId xmlns:a16="http://schemas.microsoft.com/office/drawing/2014/main" val="10002"/>
                  </a:ext>
                </a:extLst>
              </a:tr>
              <a:tr h="370840">
                <a:tc>
                  <a:txBody>
                    <a:bodyPr/>
                    <a:lstStyle/>
                    <a:p>
                      <a:pPr algn="ctr"/>
                      <a:r>
                        <a:rPr lang="fr-FR" sz="4800" b="1" dirty="0"/>
                        <a:t>2</a:t>
                      </a:r>
                    </a:p>
                  </a:txBody>
                  <a:tcPr/>
                </a:tc>
                <a:tc>
                  <a:txBody>
                    <a:bodyPr/>
                    <a:lstStyle/>
                    <a:p>
                      <a:pPr algn="ctr"/>
                      <a:r>
                        <a:rPr lang="fr-FR" sz="4800" b="1" dirty="0"/>
                        <a:t>1</a:t>
                      </a:r>
                    </a:p>
                  </a:txBody>
                  <a:tcPr/>
                </a:tc>
                <a:tc>
                  <a:txBody>
                    <a:bodyPr/>
                    <a:lstStyle/>
                    <a:p>
                      <a:pPr algn="ctr"/>
                      <a:r>
                        <a:rPr lang="fr-FR" sz="4800" b="1" dirty="0"/>
                        <a:t>200</a:t>
                      </a:r>
                    </a:p>
                  </a:txBody>
                  <a:tcPr/>
                </a:tc>
                <a:tc>
                  <a:txBody>
                    <a:bodyPr/>
                    <a:lstStyle/>
                    <a:p>
                      <a:pPr algn="ctr"/>
                      <a:r>
                        <a:rPr lang="fr-FR" sz="4800" b="1" dirty="0"/>
                        <a:t>20</a:t>
                      </a:r>
                    </a:p>
                  </a:txBody>
                  <a:tcPr/>
                </a:tc>
                <a:tc>
                  <a:txBody>
                    <a:bodyPr/>
                    <a:lstStyle/>
                    <a:p>
                      <a:pPr algn="ctr"/>
                      <a:r>
                        <a:rPr lang="fr-FR" sz="4800" b="1" dirty="0"/>
                        <a:t>21</a:t>
                      </a:r>
                    </a:p>
                  </a:txBody>
                  <a:tcPr/>
                </a:tc>
                <a:extLst>
                  <a:ext uri="{0D108BD9-81ED-4DB2-BD59-A6C34878D82A}">
                    <a16:rowId xmlns:a16="http://schemas.microsoft.com/office/drawing/2014/main" val="10003"/>
                  </a:ext>
                </a:extLst>
              </a:tr>
              <a:tr h="370840">
                <a:tc>
                  <a:txBody>
                    <a:bodyPr/>
                    <a:lstStyle/>
                    <a:p>
                      <a:pPr algn="ctr"/>
                      <a:r>
                        <a:rPr lang="fr-FR" sz="4800" b="1" dirty="0"/>
                        <a:t>2</a:t>
                      </a:r>
                    </a:p>
                  </a:txBody>
                  <a:tcPr/>
                </a:tc>
                <a:tc>
                  <a:txBody>
                    <a:bodyPr/>
                    <a:lstStyle/>
                    <a:p>
                      <a:pPr algn="ctr"/>
                      <a:r>
                        <a:rPr lang="fr-FR" sz="4800" b="1" dirty="0">
                          <a:solidFill>
                            <a:srgbClr val="FF0000"/>
                          </a:solidFill>
                        </a:rPr>
                        <a:t>2</a:t>
                      </a:r>
                    </a:p>
                  </a:txBody>
                  <a:tcPr/>
                </a:tc>
                <a:tc>
                  <a:txBody>
                    <a:bodyPr/>
                    <a:lstStyle/>
                    <a:p>
                      <a:pPr algn="ctr"/>
                      <a:r>
                        <a:rPr lang="fr-FR" sz="4800" b="1" dirty="0">
                          <a:solidFill>
                            <a:srgbClr val="FF0000"/>
                          </a:solidFill>
                        </a:rPr>
                        <a:t>200</a:t>
                      </a:r>
                    </a:p>
                  </a:txBody>
                  <a:tcPr/>
                </a:tc>
                <a:tc>
                  <a:txBody>
                    <a:bodyPr/>
                    <a:lstStyle/>
                    <a:p>
                      <a:pPr algn="ctr"/>
                      <a:r>
                        <a:rPr lang="fr-FR" sz="4800" b="1" dirty="0">
                          <a:solidFill>
                            <a:srgbClr val="FF0000"/>
                          </a:solidFill>
                        </a:rPr>
                        <a:t>20</a:t>
                      </a:r>
                    </a:p>
                  </a:txBody>
                  <a:tcPr/>
                </a:tc>
                <a:tc>
                  <a:txBody>
                    <a:bodyPr/>
                    <a:lstStyle/>
                    <a:p>
                      <a:pPr algn="ctr"/>
                      <a:r>
                        <a:rPr lang="fr-FR" sz="4800" b="1" dirty="0"/>
                        <a:t>19</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83834693"/>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Copy T times the </a:t>
            </a:r>
            <a:r>
              <a:rPr lang="fr-FR" dirty="0" err="1"/>
              <a:t>same</a:t>
            </a:r>
            <a:r>
              <a:rPr lang="fr-FR" dirty="0"/>
              <a:t> data</a:t>
            </a:r>
            <a:br>
              <a:rPr lang="fr-FR" dirty="0"/>
            </a:br>
            <a:r>
              <a:rPr lang="fr-FR" dirty="0"/>
              <a:t>and </a:t>
            </a:r>
            <a:r>
              <a:rPr lang="fr-FR" dirty="0" err="1"/>
              <a:t>run</a:t>
            </a:r>
            <a:r>
              <a:rPr lang="fr-FR" dirty="0"/>
              <a:t> a </a:t>
            </a:r>
            <a:r>
              <a:rPr lang="fr-FR" dirty="0" err="1"/>
              <a:t>regression</a:t>
            </a:r>
            <a:endParaRPr lang="fr-FR" dirty="0"/>
          </a:p>
        </p:txBody>
      </p:sp>
      <p:sp>
        <p:nvSpPr>
          <p:cNvPr id="3" name="Espace réservé du contenu 2"/>
          <p:cNvSpPr>
            <a:spLocks noGrp="1"/>
          </p:cNvSpPr>
          <p:nvPr>
            <p:ph idx="1"/>
          </p:nvPr>
        </p:nvSpPr>
        <p:spPr/>
        <p:txBody>
          <a:bodyPr>
            <a:normAutofit lnSpcReduction="10000"/>
          </a:bodyPr>
          <a:lstStyle/>
          <a:p>
            <a:pPr marL="0" indent="0">
              <a:buNone/>
            </a:pPr>
            <a:r>
              <a:rPr lang="fr-FR" dirty="0"/>
              <a:t>You have a </a:t>
            </a:r>
            <a:r>
              <a:rPr lang="fr-FR" dirty="0" err="1"/>
              <a:t>sample</a:t>
            </a:r>
            <a:r>
              <a:rPr lang="fr-FR" dirty="0"/>
              <a:t> </a:t>
            </a:r>
            <a:r>
              <a:rPr lang="fr-FR" dirty="0" err="1"/>
              <a:t>with</a:t>
            </a:r>
            <a:r>
              <a:rPr lang="fr-FR" dirty="0"/>
              <a:t> Y(i) and X(i)</a:t>
            </a:r>
          </a:p>
          <a:p>
            <a:pPr marL="0" indent="0">
              <a:buNone/>
            </a:pPr>
            <a:r>
              <a:rPr lang="fr-FR" dirty="0"/>
              <a:t>You </a:t>
            </a:r>
            <a:r>
              <a:rPr lang="fr-FR" dirty="0" err="1"/>
              <a:t>run</a:t>
            </a:r>
            <a:r>
              <a:rPr lang="fr-FR" dirty="0"/>
              <a:t> a simple </a:t>
            </a:r>
            <a:r>
              <a:rPr lang="fr-FR" dirty="0" err="1"/>
              <a:t>regression</a:t>
            </a:r>
            <a:r>
              <a:rPr lang="fr-FR" dirty="0"/>
              <a:t>.</a:t>
            </a:r>
          </a:p>
          <a:p>
            <a:pPr marL="0" indent="0">
              <a:buNone/>
            </a:pPr>
            <a:r>
              <a:rPr lang="fr-FR" dirty="0"/>
              <a:t>You copy T=20 times the </a:t>
            </a:r>
            <a:r>
              <a:rPr lang="fr-FR" dirty="0" err="1"/>
              <a:t>same</a:t>
            </a:r>
            <a:r>
              <a:rPr lang="fr-FR" dirty="0"/>
              <a:t> </a:t>
            </a:r>
            <a:r>
              <a:rPr lang="fr-FR" dirty="0" err="1"/>
              <a:t>sample</a:t>
            </a:r>
            <a:endParaRPr lang="fr-FR" dirty="0"/>
          </a:p>
          <a:p>
            <a:pPr marL="514350" indent="-514350">
              <a:buFont typeface="+mj-lt"/>
              <a:buAutoNum type="arabicPeriod"/>
            </a:pPr>
            <a:r>
              <a:rPr lang="fr-FR" dirty="0" err="1"/>
              <a:t>Does</a:t>
            </a:r>
            <a:r>
              <a:rPr lang="fr-FR" dirty="0"/>
              <a:t> the cloud of points « changes » ?</a:t>
            </a:r>
          </a:p>
          <a:p>
            <a:pPr marL="514350" indent="-514350">
              <a:buFont typeface="+mj-lt"/>
              <a:buAutoNum type="arabicPeriod"/>
            </a:pPr>
            <a:r>
              <a:rPr lang="fr-FR" dirty="0" err="1"/>
              <a:t>Does</a:t>
            </a:r>
            <a:r>
              <a:rPr lang="fr-FR" dirty="0"/>
              <a:t> the </a:t>
            </a:r>
            <a:r>
              <a:rPr lang="fr-FR" dirty="0" err="1"/>
              <a:t>regression</a:t>
            </a:r>
            <a:r>
              <a:rPr lang="fr-FR" dirty="0"/>
              <a:t> line changes ?</a:t>
            </a:r>
          </a:p>
          <a:p>
            <a:pPr marL="514350" indent="-514350">
              <a:buFont typeface="+mj-lt"/>
              <a:buAutoNum type="arabicPeriod"/>
            </a:pPr>
            <a:r>
              <a:rPr lang="fr-FR" dirty="0"/>
              <a:t>Do the </a:t>
            </a:r>
            <a:r>
              <a:rPr lang="fr-FR" dirty="0" err="1"/>
              <a:t>degrees</a:t>
            </a:r>
            <a:r>
              <a:rPr lang="fr-FR" dirty="0"/>
              <a:t> of </a:t>
            </a:r>
            <a:r>
              <a:rPr lang="fr-FR" dirty="0" err="1"/>
              <a:t>freedom</a:t>
            </a:r>
            <a:r>
              <a:rPr lang="fr-FR" dirty="0"/>
              <a:t> changes?</a:t>
            </a:r>
          </a:p>
          <a:p>
            <a:pPr marL="514350" indent="-514350">
              <a:buFont typeface="+mj-lt"/>
              <a:buAutoNum type="arabicPeriod"/>
            </a:pPr>
            <a:r>
              <a:rPr lang="fr-FR" dirty="0"/>
              <a:t>Do the standard </a:t>
            </a:r>
            <a:r>
              <a:rPr lang="fr-FR" dirty="0" err="1"/>
              <a:t>errors</a:t>
            </a:r>
            <a:r>
              <a:rPr lang="fr-FR" dirty="0"/>
              <a:t> of the </a:t>
            </a:r>
            <a:r>
              <a:rPr lang="fr-FR" dirty="0" err="1"/>
              <a:t>estimated</a:t>
            </a:r>
            <a:r>
              <a:rPr lang="fr-FR" dirty="0"/>
              <a:t> </a:t>
            </a:r>
            <a:r>
              <a:rPr lang="fr-FR" dirty="0" err="1"/>
              <a:t>parameters</a:t>
            </a:r>
            <a:r>
              <a:rPr lang="fr-FR" dirty="0"/>
              <a:t> changes ?</a:t>
            </a:r>
          </a:p>
        </p:txBody>
      </p:sp>
    </p:spTree>
    <p:extLst>
      <p:ext uri="{BB962C8B-B14F-4D97-AF65-F5344CB8AC3E}">
        <p14:creationId xmlns:p14="http://schemas.microsoft.com/office/powerpoint/2010/main" val="2408270706"/>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Coded</a:t>
            </a:r>
            <a:r>
              <a:rPr lang="fr-FR" dirty="0"/>
              <a:t> </a:t>
            </a:r>
            <a:r>
              <a:rPr lang="fr-FR" dirty="0" err="1"/>
              <a:t>Between</a:t>
            </a:r>
            <a:r>
              <a:rPr lang="fr-FR" dirty="0"/>
              <a:t> </a:t>
            </a:r>
            <a:r>
              <a:rPr lang="fr-FR" dirty="0" err="1"/>
              <a:t>estimator</a:t>
            </a:r>
            <a:endParaRPr lang="fr-FR" dirty="0"/>
          </a:p>
        </p:txBody>
      </p:sp>
      <p:sp>
        <p:nvSpPr>
          <p:cNvPr id="3" name="Espace réservé du contenu 2"/>
          <p:cNvSpPr>
            <a:spLocks noGrp="1"/>
          </p:cNvSpPr>
          <p:nvPr>
            <p:ph idx="1"/>
          </p:nvPr>
        </p:nvSpPr>
        <p:spPr/>
        <p:txBody>
          <a:bodyPr/>
          <a:lstStyle/>
          <a:p>
            <a:pPr marL="0" indent="0">
              <a:buNone/>
            </a:pPr>
            <a:r>
              <a:rPr lang="fr-FR" dirty="0"/>
              <a:t>The </a:t>
            </a:r>
            <a:r>
              <a:rPr lang="fr-FR" dirty="0" err="1"/>
              <a:t>coded</a:t>
            </a:r>
            <a:r>
              <a:rPr lang="fr-FR" dirty="0"/>
              <a:t> </a:t>
            </a:r>
            <a:r>
              <a:rPr lang="fr-FR" dirty="0" err="1"/>
              <a:t>between</a:t>
            </a:r>
            <a:r>
              <a:rPr lang="fr-FR" dirty="0"/>
              <a:t> </a:t>
            </a:r>
            <a:r>
              <a:rPr lang="fr-FR" dirty="0" err="1"/>
              <a:t>estimator</a:t>
            </a:r>
            <a:r>
              <a:rPr lang="fr-FR" dirty="0"/>
              <a:t> in softwares:</a:t>
            </a:r>
          </a:p>
          <a:p>
            <a:pPr marL="0" indent="0">
              <a:buNone/>
            </a:pPr>
            <a:endParaRPr lang="fr-FR" dirty="0"/>
          </a:p>
          <a:p>
            <a:pPr marL="514350" indent="-514350">
              <a:buFont typeface="+mj-lt"/>
              <a:buAutoNum type="arabicPeriod"/>
            </a:pPr>
            <a:r>
              <a:rPr lang="fr-FR" dirty="0"/>
              <a:t>Uses OLS on </a:t>
            </a:r>
            <a:r>
              <a:rPr lang="fr-FR" dirty="0" err="1"/>
              <a:t>between</a:t>
            </a:r>
            <a:r>
              <a:rPr lang="fr-FR" dirty="0"/>
              <a:t> </a:t>
            </a:r>
            <a:r>
              <a:rPr lang="fr-FR" dirty="0" err="1"/>
              <a:t>transformed</a:t>
            </a:r>
            <a:r>
              <a:rPr lang="fr-FR" dirty="0"/>
              <a:t> variables in the table.</a:t>
            </a:r>
          </a:p>
          <a:p>
            <a:pPr marL="514350" indent="-514350">
              <a:buFont typeface="+mj-lt"/>
              <a:buAutoNum type="arabicPeriod"/>
            </a:pPr>
            <a:r>
              <a:rPr lang="fr-FR" dirty="0"/>
              <a:t>Corrects the </a:t>
            </a:r>
            <a:r>
              <a:rPr lang="fr-FR" dirty="0" err="1"/>
              <a:t>degrees</a:t>
            </a:r>
            <a:r>
              <a:rPr lang="fr-FR" dirty="0"/>
              <a:t> of </a:t>
            </a:r>
            <a:r>
              <a:rPr lang="fr-FR" dirty="0" err="1"/>
              <a:t>freedom</a:t>
            </a:r>
            <a:r>
              <a:rPr lang="fr-FR" dirty="0"/>
              <a:t> to </a:t>
            </a:r>
            <a:r>
              <a:rPr lang="fr-FR" dirty="0" err="1"/>
              <a:t>be</a:t>
            </a:r>
            <a:r>
              <a:rPr lang="fr-FR" dirty="0"/>
              <a:t>      </a:t>
            </a:r>
          </a:p>
          <a:p>
            <a:pPr marL="0" indent="0">
              <a:buNone/>
            </a:pPr>
            <a:r>
              <a:rPr lang="fr-FR" dirty="0"/>
              <a:t>N-k-1 and not NT – k - 1</a:t>
            </a:r>
          </a:p>
        </p:txBody>
      </p:sp>
    </p:spTree>
    <p:extLst>
      <p:ext uri="{BB962C8B-B14F-4D97-AF65-F5344CB8AC3E}">
        <p14:creationId xmlns:p14="http://schemas.microsoft.com/office/powerpoint/2010/main" val="253010452"/>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re 1"/>
          <p:cNvSpPr>
            <a:spLocks noGrp="1"/>
          </p:cNvSpPr>
          <p:nvPr>
            <p:ph type="title"/>
          </p:nvPr>
        </p:nvSpPr>
        <p:spPr>
          <a:xfrm>
            <a:off x="0" y="274638"/>
            <a:ext cx="8686800" cy="1143000"/>
          </a:xfrm>
        </p:spPr>
        <p:txBody>
          <a:bodyPr>
            <a:normAutofit fontScale="90000"/>
          </a:bodyPr>
          <a:lstStyle/>
          <a:p>
            <a:r>
              <a:rPr lang="fr-FR" altLang="fr-FR" dirty="0" err="1"/>
              <a:t>Repeated</a:t>
            </a:r>
            <a:r>
              <a:rPr lang="fr-FR" altLang="fr-FR" dirty="0"/>
              <a:t> </a:t>
            </a:r>
            <a:r>
              <a:rPr lang="fr-FR" altLang="fr-FR" dirty="0" err="1"/>
              <a:t>Between</a:t>
            </a:r>
            <a:r>
              <a:rPr lang="fr-FR" altLang="fr-FR" dirty="0"/>
              <a:t> has </a:t>
            </a:r>
            <a:r>
              <a:rPr lang="fr-FR" altLang="fr-FR" dirty="0" err="1"/>
              <a:t>meaningless</a:t>
            </a:r>
            <a:r>
              <a:rPr lang="fr-FR" altLang="fr-FR" dirty="0"/>
              <a:t> </a:t>
            </a:r>
            <a:r>
              <a:rPr lang="fr-FR" altLang="fr-FR" dirty="0" err="1"/>
              <a:t>degrees</a:t>
            </a:r>
            <a:r>
              <a:rPr lang="fr-FR" altLang="fr-FR" dirty="0"/>
              <a:t> of </a:t>
            </a:r>
            <a:r>
              <a:rPr lang="fr-FR" altLang="fr-FR" dirty="0" err="1"/>
              <a:t>freedom</a:t>
            </a:r>
            <a:endParaRPr lang="fr-FR" altLang="fr-FR" dirty="0"/>
          </a:p>
        </p:txBody>
      </p:sp>
      <p:sp>
        <p:nvSpPr>
          <p:cNvPr id="54275" name="Espace réservé du contenu 2"/>
          <p:cNvSpPr>
            <a:spLocks noGrp="1"/>
          </p:cNvSpPr>
          <p:nvPr>
            <p:ph idx="1"/>
          </p:nvPr>
        </p:nvSpPr>
        <p:spPr/>
        <p:txBody>
          <a:bodyPr/>
          <a:lstStyle/>
          <a:p>
            <a:pPr marL="0" indent="0">
              <a:buFontTx/>
              <a:buNone/>
            </a:pPr>
            <a:r>
              <a:rPr lang="fr-FR" altLang="fr-FR" dirty="0" err="1"/>
              <a:t>Repeated</a:t>
            </a:r>
            <a:r>
              <a:rPr lang="fr-FR" altLang="fr-FR" dirty="0"/>
              <a:t> T times x(i.) </a:t>
            </a:r>
            <a:r>
              <a:rPr lang="fr-FR" altLang="fr-FR" dirty="0" err="1"/>
              <a:t>is</a:t>
            </a:r>
            <a:r>
              <a:rPr lang="fr-FR" altLang="fr-FR" dirty="0"/>
              <a:t> </a:t>
            </a:r>
            <a:r>
              <a:rPr lang="fr-FR" altLang="fr-FR" dirty="0" err="1"/>
              <a:t>what</a:t>
            </a:r>
            <a:r>
              <a:rPr lang="fr-FR" altLang="fr-FR" dirty="0"/>
              <a:t> </a:t>
            </a:r>
            <a:r>
              <a:rPr lang="fr-FR" altLang="fr-FR" dirty="0" err="1"/>
              <a:t>appears</a:t>
            </a:r>
            <a:r>
              <a:rPr lang="fr-FR" altLang="fr-FR" dirty="0"/>
              <a:t> in </a:t>
            </a:r>
            <a:r>
              <a:rPr lang="fr-FR" altLang="fr-FR" dirty="0" err="1"/>
              <a:t>your</a:t>
            </a:r>
            <a:r>
              <a:rPr lang="fr-FR" altLang="fr-FR" dirty="0"/>
              <a:t> </a:t>
            </a:r>
            <a:r>
              <a:rPr lang="fr-FR" altLang="fr-FR" dirty="0" err="1"/>
              <a:t>database</a:t>
            </a:r>
            <a:r>
              <a:rPr lang="fr-FR" altLang="fr-FR" dirty="0"/>
              <a:t> of dimension </a:t>
            </a:r>
            <a:r>
              <a:rPr lang="fr-FR" altLang="fr-FR" b="1" dirty="0">
                <a:solidFill>
                  <a:srgbClr val="FF0000"/>
                </a:solidFill>
              </a:rPr>
              <a:t>NT</a:t>
            </a:r>
            <a:r>
              <a:rPr lang="fr-FR" altLang="fr-FR" dirty="0"/>
              <a:t> </a:t>
            </a:r>
            <a:r>
              <a:rPr lang="fr-FR" altLang="fr-FR" dirty="0" err="1"/>
              <a:t>when</a:t>
            </a:r>
            <a:r>
              <a:rPr lang="fr-FR" altLang="fr-FR" dirty="0"/>
              <a:t> </a:t>
            </a:r>
            <a:r>
              <a:rPr lang="fr-FR" altLang="fr-FR" dirty="0" err="1"/>
              <a:t>you</a:t>
            </a:r>
            <a:r>
              <a:rPr lang="fr-FR" altLang="fr-FR" dirty="0"/>
              <a:t> </a:t>
            </a:r>
            <a:r>
              <a:rPr lang="fr-FR" altLang="fr-FR" dirty="0" err="1"/>
              <a:t>compute</a:t>
            </a:r>
            <a:r>
              <a:rPr lang="fr-FR" altLang="fr-FR" dirty="0"/>
              <a:t> </a:t>
            </a:r>
            <a:r>
              <a:rPr lang="fr-FR" altLang="fr-FR" dirty="0" err="1"/>
              <a:t>it</a:t>
            </a:r>
            <a:r>
              <a:rPr lang="fr-FR" altLang="fr-FR" dirty="0"/>
              <a:t>.</a:t>
            </a:r>
          </a:p>
          <a:p>
            <a:pPr marL="0" indent="0">
              <a:buFontTx/>
              <a:buNone/>
            </a:pPr>
            <a:r>
              <a:rPr lang="fr-FR" altLang="fr-FR" dirty="0"/>
              <a:t>STATA: </a:t>
            </a:r>
            <a:r>
              <a:rPr lang="fr-FR" altLang="fr-FR" dirty="0" err="1"/>
              <a:t>xtreg</a:t>
            </a:r>
            <a:r>
              <a:rPr lang="fr-FR" altLang="fr-FR" dirty="0"/>
              <a:t> y x, </a:t>
            </a:r>
            <a:r>
              <a:rPr lang="fr-FR" altLang="fr-FR" dirty="0" err="1"/>
              <a:t>be</a:t>
            </a:r>
            <a:endParaRPr lang="fr-FR" altLang="fr-FR" dirty="0"/>
          </a:p>
          <a:p>
            <a:pPr marL="0" indent="0">
              <a:buFontTx/>
              <a:buNone/>
            </a:pPr>
            <a:r>
              <a:rPr lang="fr-FR" altLang="fr-FR" dirty="0" err="1"/>
              <a:t>Adjusted</a:t>
            </a:r>
            <a:r>
              <a:rPr lang="fr-FR" altLang="fr-FR" dirty="0"/>
              <a:t> for </a:t>
            </a:r>
            <a:r>
              <a:rPr lang="fr-FR" altLang="fr-FR" dirty="0" err="1"/>
              <a:t>dof</a:t>
            </a:r>
            <a:r>
              <a:rPr lang="fr-FR" altLang="fr-FR" dirty="0"/>
              <a:t> = N – k -1</a:t>
            </a:r>
          </a:p>
          <a:p>
            <a:pPr marL="0" indent="0">
              <a:buFontTx/>
              <a:buNone/>
            </a:pPr>
            <a:r>
              <a:rPr lang="fr-FR" altLang="fr-FR" dirty="0"/>
              <a:t>STATA: reg y(i.) x(i.)</a:t>
            </a:r>
          </a:p>
          <a:p>
            <a:pPr marL="0" indent="0">
              <a:buFontTx/>
              <a:buNone/>
            </a:pPr>
            <a:r>
              <a:rPr lang="fr-FR" altLang="fr-FR" dirty="0" err="1"/>
              <a:t>Dof</a:t>
            </a:r>
            <a:r>
              <a:rPr lang="fr-FR" altLang="fr-FR" dirty="0"/>
              <a:t> NT-k-1, </a:t>
            </a:r>
            <a:r>
              <a:rPr lang="fr-FR" altLang="fr-FR" dirty="0" err="1"/>
              <a:t>artificial</a:t>
            </a:r>
            <a:r>
              <a:rPr lang="fr-FR" altLang="fr-FR" dirty="0"/>
              <a:t> </a:t>
            </a:r>
            <a:r>
              <a:rPr lang="fr-FR" altLang="fr-FR" dirty="0" err="1"/>
              <a:t>increase</a:t>
            </a:r>
            <a:r>
              <a:rPr lang="fr-FR" altLang="fr-FR" dirty="0"/>
              <a:t> of t </a:t>
            </a:r>
            <a:r>
              <a:rPr lang="fr-FR" altLang="fr-FR" dirty="0" err="1"/>
              <a:t>stats</a:t>
            </a:r>
            <a:r>
              <a:rPr lang="fr-FR" altLang="fr-FR" dirty="0"/>
              <a:t>.</a:t>
            </a:r>
          </a:p>
        </p:txBody>
      </p:sp>
    </p:spTree>
    <p:extLst>
      <p:ext uri="{BB962C8B-B14F-4D97-AF65-F5344CB8AC3E}">
        <p14:creationId xmlns:p14="http://schemas.microsoft.com/office/powerpoint/2010/main" val="1399236393"/>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3"/>
          <p:cNvSpPr>
            <a:spLocks noGrp="1"/>
          </p:cNvSpPr>
          <p:nvPr>
            <p:ph type="ctrTitle"/>
          </p:nvPr>
        </p:nvSpPr>
        <p:spPr/>
        <p:txBody>
          <a:bodyPr/>
          <a:lstStyle/>
          <a:p>
            <a:r>
              <a:rPr lang="fr-FR" altLang="fr-FR" dirty="0"/>
              <a:t>11. Time-invariant </a:t>
            </a:r>
            <a:r>
              <a:rPr lang="fr-FR" altLang="fr-FR" dirty="0" err="1"/>
              <a:t>regressors</a:t>
            </a:r>
            <a:r>
              <a:rPr lang="fr-FR" altLang="fr-FR" dirty="0"/>
              <a:t>: </a:t>
            </a:r>
            <a:r>
              <a:rPr lang="fr-FR" altLang="fr-FR" dirty="0" err="1"/>
              <a:t>Mundlak</a:t>
            </a:r>
            <a:r>
              <a:rPr lang="fr-FR" altLang="fr-FR" dirty="0"/>
              <a:t> estimation</a:t>
            </a:r>
          </a:p>
        </p:txBody>
      </p:sp>
      <p:sp>
        <p:nvSpPr>
          <p:cNvPr id="6147" name="Sous-titre 4"/>
          <p:cNvSpPr>
            <a:spLocks noGrp="1"/>
          </p:cNvSpPr>
          <p:nvPr>
            <p:ph type="subTitle" idx="1"/>
          </p:nvPr>
        </p:nvSpPr>
        <p:spPr/>
        <p:txBody>
          <a:bodyPr/>
          <a:lstStyle/>
          <a:p>
            <a:r>
              <a:rPr lang="fr-FR" altLang="fr-FR"/>
              <a:t> </a:t>
            </a:r>
          </a:p>
        </p:txBody>
      </p:sp>
    </p:spTree>
    <p:extLst>
      <p:ext uri="{BB962C8B-B14F-4D97-AF65-F5344CB8AC3E}">
        <p14:creationId xmlns:p14="http://schemas.microsoft.com/office/powerpoint/2010/main" val="2118822270"/>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pPr eaLnBrk="1" hangingPunct="1"/>
            <a:r>
              <a:rPr lang="en-GB" sz="4000" dirty="0"/>
              <a:t>Panel data with time-invariant variables</a:t>
            </a:r>
          </a:p>
        </p:txBody>
      </p:sp>
      <p:sp>
        <p:nvSpPr>
          <p:cNvPr id="4099" name="Rectangle 13"/>
          <p:cNvSpPr>
            <a:spLocks noGrp="1" noChangeArrowheads="1"/>
          </p:cNvSpPr>
          <p:nvPr>
            <p:ph type="body" idx="1"/>
          </p:nvPr>
        </p:nvSpPr>
        <p:spPr/>
        <p:txBody>
          <a:bodyPr>
            <a:normAutofit lnSpcReduction="10000"/>
          </a:bodyPr>
          <a:lstStyle/>
          <a:p>
            <a:pPr marL="0" indent="0" eaLnBrk="1" hangingPunct="1">
              <a:buNone/>
            </a:pPr>
            <a:r>
              <a:rPr lang="en-GB" sz="2800" b="1" dirty="0"/>
              <a:t>Geographical distance</a:t>
            </a:r>
            <a:r>
              <a:rPr lang="en-GB" sz="2800" dirty="0"/>
              <a:t> for cross-country data in gravity models of foreign trade and foreign direct investments (Egger and </a:t>
            </a:r>
            <a:r>
              <a:rPr lang="en-GB" sz="2800" dirty="0" err="1"/>
              <a:t>Pfaffermayr</a:t>
            </a:r>
            <a:r>
              <a:rPr lang="en-GB" sz="2800" dirty="0"/>
              <a:t> (2004), </a:t>
            </a:r>
            <a:r>
              <a:rPr lang="en-GB" sz="2800" dirty="0" err="1"/>
              <a:t>Serlenga</a:t>
            </a:r>
            <a:r>
              <a:rPr lang="en-GB" sz="2800" dirty="0"/>
              <a:t> and Shin (2007),…</a:t>
            </a:r>
          </a:p>
          <a:p>
            <a:pPr marL="0" indent="0" eaLnBrk="1" hangingPunct="1">
              <a:buNone/>
            </a:pPr>
            <a:r>
              <a:rPr lang="en-GB" sz="2800" b="1" dirty="0"/>
              <a:t>Years of schooling, gender and race</a:t>
            </a:r>
            <a:r>
              <a:rPr lang="en-GB" sz="2800" dirty="0"/>
              <a:t> when testing Mincer’s wage regressions using survey data (</a:t>
            </a:r>
            <a:r>
              <a:rPr lang="en-GB" sz="2800" dirty="0" err="1"/>
              <a:t>Hausman</a:t>
            </a:r>
            <a:r>
              <a:rPr lang="en-GB" sz="2800" dirty="0"/>
              <a:t> and Taylor (1981)).</a:t>
            </a:r>
          </a:p>
          <a:p>
            <a:pPr marL="0" indent="0" eaLnBrk="1" hangingPunct="1">
              <a:buNone/>
            </a:pPr>
            <a:r>
              <a:rPr lang="en-GB" sz="2800" b="1" dirty="0"/>
              <a:t>Colonial or legal origin, initial GDP/head in 1960</a:t>
            </a:r>
            <a:r>
              <a:rPr lang="en-GB" sz="2800" dirty="0"/>
              <a:t> for growth or income or inequality (GINI) regressions.</a:t>
            </a:r>
          </a:p>
        </p:txBody>
      </p:sp>
    </p:spTree>
    <p:extLst>
      <p:ext uri="{BB962C8B-B14F-4D97-AF65-F5344CB8AC3E}">
        <p14:creationId xmlns:p14="http://schemas.microsoft.com/office/powerpoint/2010/main" val="1886282322"/>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Individual</a:t>
            </a:r>
            <a:r>
              <a:rPr lang="fr-FR" dirty="0"/>
              <a:t> invariant Z(t)</a:t>
            </a:r>
          </a:p>
        </p:txBody>
      </p:sp>
      <p:sp>
        <p:nvSpPr>
          <p:cNvPr id="3" name="Espace réservé du contenu 2"/>
          <p:cNvSpPr>
            <a:spLocks noGrp="1"/>
          </p:cNvSpPr>
          <p:nvPr>
            <p:ph idx="1"/>
          </p:nvPr>
        </p:nvSpPr>
        <p:spPr/>
        <p:txBody>
          <a:bodyPr/>
          <a:lstStyle/>
          <a:p>
            <a:pPr marL="514350" indent="-514350">
              <a:buFont typeface="+mj-lt"/>
              <a:buAutoNum type="arabicPeriod"/>
            </a:pPr>
            <a:r>
              <a:rPr lang="fr-FR" dirty="0"/>
              <a:t>Time trend, </a:t>
            </a:r>
          </a:p>
          <a:p>
            <a:pPr marL="514350" indent="-514350">
              <a:buFont typeface="+mj-lt"/>
              <a:buAutoNum type="arabicPeriod"/>
            </a:pPr>
            <a:r>
              <a:rPr lang="fr-FR" dirty="0"/>
              <a:t>World </a:t>
            </a:r>
            <a:r>
              <a:rPr lang="fr-FR" dirty="0" err="1"/>
              <a:t>indicators</a:t>
            </a:r>
            <a:r>
              <a:rPr lang="fr-FR" dirty="0"/>
              <a:t> for country </a:t>
            </a:r>
            <a:r>
              <a:rPr lang="fr-FR" dirty="0" err="1"/>
              <a:t>aggregate</a:t>
            </a:r>
            <a:r>
              <a:rPr lang="fr-FR" dirty="0"/>
              <a:t> X(</a:t>
            </a:r>
            <a:r>
              <a:rPr lang="fr-FR" dirty="0" err="1"/>
              <a:t>it</a:t>
            </a:r>
            <a:r>
              <a:rPr lang="fr-FR" dirty="0"/>
              <a:t>)</a:t>
            </a:r>
          </a:p>
          <a:p>
            <a:pPr marL="514350" indent="-514350">
              <a:buFont typeface="+mj-lt"/>
              <a:buAutoNum type="arabicPeriod"/>
            </a:pPr>
            <a:r>
              <a:rPr lang="fr-FR" dirty="0"/>
              <a:t>Country </a:t>
            </a:r>
            <a:r>
              <a:rPr lang="fr-FR" dirty="0" err="1"/>
              <a:t>indicators</a:t>
            </a:r>
            <a:r>
              <a:rPr lang="fr-FR" dirty="0"/>
              <a:t> for </a:t>
            </a:r>
            <a:r>
              <a:rPr lang="fr-FR" dirty="0" err="1"/>
              <a:t>firm</a:t>
            </a:r>
            <a:r>
              <a:rPr lang="fr-FR" dirty="0"/>
              <a:t>, </a:t>
            </a:r>
            <a:r>
              <a:rPr lang="fr-FR" dirty="0" err="1"/>
              <a:t>sectors</a:t>
            </a:r>
            <a:r>
              <a:rPr lang="fr-FR" dirty="0"/>
              <a:t>, </a:t>
            </a:r>
            <a:r>
              <a:rPr lang="fr-FR" dirty="0" err="1"/>
              <a:t>bank</a:t>
            </a:r>
            <a:r>
              <a:rPr lang="fr-FR" dirty="0"/>
              <a:t> or </a:t>
            </a:r>
            <a:r>
              <a:rPr lang="fr-FR" dirty="0" err="1"/>
              <a:t>households</a:t>
            </a:r>
            <a:r>
              <a:rPr lang="fr-FR" dirty="0"/>
              <a:t> </a:t>
            </a:r>
            <a:r>
              <a:rPr lang="fr-FR" dirty="0" err="1"/>
              <a:t>level</a:t>
            </a:r>
            <a:r>
              <a:rPr lang="fr-FR" dirty="0"/>
              <a:t> data X(</a:t>
            </a:r>
            <a:r>
              <a:rPr lang="fr-FR" dirty="0" err="1"/>
              <a:t>it</a:t>
            </a:r>
            <a:r>
              <a:rPr lang="fr-FR" dirty="0"/>
              <a:t>).</a:t>
            </a:r>
          </a:p>
        </p:txBody>
      </p:sp>
    </p:spTree>
    <p:extLst>
      <p:ext uri="{BB962C8B-B14F-4D97-AF65-F5344CB8AC3E}">
        <p14:creationId xmlns:p14="http://schemas.microsoft.com/office/powerpoint/2010/main" val="825820259"/>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Time invariant </a:t>
            </a:r>
            <a:r>
              <a:rPr lang="fr-FR" dirty="0" err="1"/>
              <a:t>regressors</a:t>
            </a:r>
            <a:endParaRPr lang="fr-FR" dirty="0"/>
          </a:p>
        </p:txBody>
      </p:sp>
      <p:sp>
        <p:nvSpPr>
          <p:cNvPr id="3" name="Espace réservé du contenu 2"/>
          <p:cNvSpPr>
            <a:spLocks noGrp="1"/>
          </p:cNvSpPr>
          <p:nvPr>
            <p:ph idx="1"/>
          </p:nvPr>
        </p:nvSpPr>
        <p:spPr/>
        <p:txBody>
          <a:bodyPr/>
          <a:lstStyle/>
          <a:p>
            <a:pPr marL="514350" indent="-514350">
              <a:buAutoNum type="arabicParenR"/>
            </a:pPr>
            <a:r>
              <a:rPr lang="fr-FR" sz="2800" dirty="0"/>
              <a:t>time-invariant </a:t>
            </a:r>
            <a:r>
              <a:rPr lang="fr-FR" sz="2800" dirty="0" err="1"/>
              <a:t>regressors</a:t>
            </a:r>
            <a:r>
              <a:rPr lang="fr-FR" sz="2800" dirty="0"/>
              <a:t> </a:t>
            </a:r>
            <a:r>
              <a:rPr lang="fr-FR" sz="2800" dirty="0" err="1"/>
              <a:t>can</a:t>
            </a:r>
            <a:r>
              <a:rPr lang="fr-FR" sz="2800" dirty="0"/>
              <a:t> ONLY change BETWEEN Variance. </a:t>
            </a:r>
            <a:r>
              <a:rPr lang="fr-FR" sz="2800" dirty="0" err="1"/>
              <a:t>They</a:t>
            </a:r>
            <a:r>
              <a:rPr lang="fr-FR" sz="2800" dirty="0"/>
              <a:t> are </a:t>
            </a:r>
            <a:r>
              <a:rPr lang="fr-FR" sz="2800" dirty="0" err="1"/>
              <a:t>eliminated</a:t>
            </a:r>
            <a:r>
              <a:rPr lang="fr-FR" sz="2800" dirty="0"/>
              <a:t> in LSDV and </a:t>
            </a:r>
            <a:r>
              <a:rPr lang="fr-FR" sz="2800" dirty="0" err="1"/>
              <a:t>Fixed</a:t>
            </a:r>
            <a:r>
              <a:rPr lang="fr-FR" sz="2800" dirty="0"/>
              <a:t> </a:t>
            </a:r>
            <a:r>
              <a:rPr lang="fr-FR" sz="2800" dirty="0" err="1"/>
              <a:t>effect</a:t>
            </a:r>
            <a:r>
              <a:rPr lang="fr-FR" sz="2800" dirty="0"/>
              <a:t> </a:t>
            </a:r>
            <a:r>
              <a:rPr lang="fr-FR" sz="2800" dirty="0" err="1"/>
              <a:t>Within</a:t>
            </a:r>
            <a:r>
              <a:rPr lang="fr-FR" sz="2800" dirty="0"/>
              <a:t> estimation.</a:t>
            </a:r>
          </a:p>
          <a:p>
            <a:pPr marL="514350" indent="-514350">
              <a:buAutoNum type="arabicParenR"/>
            </a:pPr>
            <a:r>
              <a:rPr lang="fr-FR" sz="2800" dirty="0" err="1"/>
              <a:t>Their</a:t>
            </a:r>
            <a:r>
              <a:rPr lang="fr-FR" sz="2800" dirty="0"/>
              <a:t> </a:t>
            </a:r>
            <a:r>
              <a:rPr lang="fr-FR" sz="2800" dirty="0" err="1"/>
              <a:t>degrees</a:t>
            </a:r>
            <a:r>
              <a:rPr lang="fr-FR" sz="2800" dirty="0"/>
              <a:t> of </a:t>
            </a:r>
            <a:r>
              <a:rPr lang="fr-FR" sz="2800" dirty="0" err="1"/>
              <a:t>freedom</a:t>
            </a:r>
            <a:r>
              <a:rPr lang="fr-FR" sz="2800" dirty="0"/>
              <a:t> for </a:t>
            </a:r>
            <a:r>
              <a:rPr lang="fr-FR" sz="2800" dirty="0" err="1"/>
              <a:t>inference</a:t>
            </a:r>
            <a:r>
              <a:rPr lang="fr-FR" sz="2800" dirty="0"/>
              <a:t> </a:t>
            </a:r>
            <a:r>
              <a:rPr lang="fr-FR" sz="2800" dirty="0" err="1"/>
              <a:t>is</a:t>
            </a:r>
            <a:r>
              <a:rPr lang="fr-FR" sz="2800" dirty="0"/>
              <a:t> N not NT</a:t>
            </a:r>
          </a:p>
          <a:p>
            <a:pPr marL="514350" indent="-514350">
              <a:buAutoNum type="arabicParenR"/>
            </a:pPr>
            <a:r>
              <a:rPr lang="fr-FR" sz="2800" dirty="0" err="1"/>
              <a:t>Random</a:t>
            </a:r>
            <a:r>
              <a:rPr lang="fr-FR" sz="2800" dirty="0"/>
              <a:t> </a:t>
            </a:r>
            <a:r>
              <a:rPr lang="fr-FR" sz="2800" dirty="0" err="1"/>
              <a:t>effect</a:t>
            </a:r>
            <a:r>
              <a:rPr lang="fr-FR" sz="2800" dirty="0"/>
              <a:t> </a:t>
            </a:r>
            <a:r>
              <a:rPr lang="fr-FR" sz="2800" dirty="0" err="1"/>
              <a:t>estimates</a:t>
            </a:r>
            <a:r>
              <a:rPr lang="fr-FR" sz="2800" dirty="0"/>
              <a:t> of </a:t>
            </a:r>
            <a:r>
              <a:rPr lang="fr-FR" sz="2800" dirty="0" err="1"/>
              <a:t>parameter</a:t>
            </a:r>
            <a:r>
              <a:rPr lang="fr-FR" sz="2800" dirty="0"/>
              <a:t> for </a:t>
            </a:r>
            <a:r>
              <a:rPr lang="fr-FR" sz="2800" dirty="0">
                <a:solidFill>
                  <a:srgbClr val="0070C0"/>
                </a:solidFill>
              </a:rPr>
              <a:t>z(i)</a:t>
            </a:r>
            <a:r>
              <a:rPr lang="fr-FR" sz="2800" dirty="0"/>
              <a:t> (</a:t>
            </a:r>
            <a:r>
              <a:rPr lang="fr-FR" sz="2800" dirty="0" err="1"/>
              <a:t>omitting</a:t>
            </a:r>
            <a:r>
              <a:rPr lang="fr-FR" sz="2800" dirty="0"/>
              <a:t> </a:t>
            </a:r>
            <a:r>
              <a:rPr lang="fr-FR" sz="2800" dirty="0" err="1"/>
              <a:t>Mundlak</a:t>
            </a:r>
            <a:r>
              <a:rPr lang="fr-FR" sz="2800" dirty="0"/>
              <a:t> </a:t>
            </a:r>
            <a:r>
              <a:rPr lang="fr-FR" sz="2800" b="1" dirty="0">
                <a:solidFill>
                  <a:srgbClr val="0070C0"/>
                </a:solidFill>
              </a:rPr>
              <a:t>x(i.)</a:t>
            </a:r>
            <a:r>
              <a:rPr lang="fr-FR" sz="2800" dirty="0"/>
              <a:t>) are COMPLETELY </a:t>
            </a:r>
            <a:r>
              <a:rPr lang="fr-FR" sz="2800" dirty="0" err="1"/>
              <a:t>different</a:t>
            </a:r>
            <a:r>
              <a:rPr lang="fr-FR" sz="2800" dirty="0"/>
              <a:t> once </a:t>
            </a:r>
            <a:r>
              <a:rPr lang="fr-FR" sz="2800" b="1" dirty="0">
                <a:solidFill>
                  <a:srgbClr val="0070C0"/>
                </a:solidFill>
              </a:rPr>
              <a:t>x(i.) </a:t>
            </a:r>
            <a:r>
              <a:rPr lang="fr-FR" sz="2800" b="1" dirty="0"/>
              <a:t>are </a:t>
            </a:r>
            <a:r>
              <a:rPr lang="fr-FR" sz="2800" b="1" dirty="0" err="1"/>
              <a:t>included</a:t>
            </a:r>
            <a:r>
              <a:rPr lang="fr-FR" sz="2800" b="1" dirty="0"/>
              <a:t> in </a:t>
            </a:r>
            <a:r>
              <a:rPr lang="fr-FR" sz="2800" b="1" dirty="0" err="1"/>
              <a:t>random</a:t>
            </a:r>
            <a:r>
              <a:rPr lang="fr-FR" sz="2800" b="1" dirty="0"/>
              <a:t> </a:t>
            </a:r>
            <a:r>
              <a:rPr lang="fr-FR" sz="2800" b="1" dirty="0" err="1"/>
              <a:t>effect</a:t>
            </a:r>
            <a:r>
              <a:rPr lang="fr-FR" sz="2800" b="1" dirty="0"/>
              <a:t> à la </a:t>
            </a:r>
            <a:r>
              <a:rPr lang="fr-FR" sz="2800" b="1" dirty="0" err="1"/>
              <a:t>Mundlak</a:t>
            </a:r>
            <a:r>
              <a:rPr lang="fr-FR" sz="2800" dirty="0"/>
              <a:t> </a:t>
            </a:r>
          </a:p>
        </p:txBody>
      </p:sp>
    </p:spTree>
    <p:extLst>
      <p:ext uri="{BB962C8B-B14F-4D97-AF65-F5344CB8AC3E}">
        <p14:creationId xmlns:p14="http://schemas.microsoft.com/office/powerpoint/2010/main" val="4217043662"/>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re 1"/>
          <p:cNvSpPr>
            <a:spLocks noGrp="1"/>
          </p:cNvSpPr>
          <p:nvPr>
            <p:ph type="title"/>
          </p:nvPr>
        </p:nvSpPr>
        <p:spPr/>
        <p:txBody>
          <a:bodyPr>
            <a:normAutofit fontScale="90000"/>
          </a:bodyPr>
          <a:lstStyle/>
          <a:p>
            <a:r>
              <a:rPr lang="fr-FR" altLang="fr-FR"/>
              <a:t>Mundlak (1978): run RANDOM effects including ALL x(i.)</a:t>
            </a:r>
          </a:p>
        </p:txBody>
      </p:sp>
      <p:sp>
        <p:nvSpPr>
          <p:cNvPr id="71683" name="Espace réservé du contenu 2"/>
          <p:cNvSpPr>
            <a:spLocks noGrp="1"/>
          </p:cNvSpPr>
          <p:nvPr>
            <p:ph idx="1"/>
          </p:nvPr>
        </p:nvSpPr>
        <p:spPr/>
        <p:txBody>
          <a:bodyPr/>
          <a:lstStyle/>
          <a:p>
            <a:pPr marL="0" indent="0">
              <a:buFontTx/>
              <a:buNone/>
            </a:pPr>
            <a:r>
              <a:rPr lang="fr-FR" altLang="fr-FR" b="1" dirty="0">
                <a:solidFill>
                  <a:srgbClr val="FF0000"/>
                </a:solidFill>
              </a:rPr>
              <a:t>ASSUME: a(i)=</a:t>
            </a:r>
            <a:r>
              <a:rPr lang="fr-FR" altLang="fr-FR" b="1" dirty="0" err="1">
                <a:solidFill>
                  <a:srgbClr val="FF0000"/>
                </a:solidFill>
              </a:rPr>
              <a:t>b’.X</a:t>
            </a:r>
            <a:r>
              <a:rPr lang="fr-FR" altLang="fr-FR" b="1" dirty="0">
                <a:solidFill>
                  <a:srgbClr val="FF0000"/>
                </a:solidFill>
              </a:rPr>
              <a:t>(i.)+c’.Z(i)+a’(i)</a:t>
            </a:r>
          </a:p>
          <a:p>
            <a:pPr marL="0" indent="0">
              <a:buFontTx/>
              <a:buNone/>
            </a:pPr>
            <a:endParaRPr lang="fr-FR" altLang="fr-FR" dirty="0"/>
          </a:p>
          <a:p>
            <a:pPr marL="0" indent="0">
              <a:buFontTx/>
              <a:buNone/>
            </a:pPr>
            <a:r>
              <a:rPr lang="fr-FR" altLang="fr-FR" dirty="0"/>
              <a:t>Y(</a:t>
            </a:r>
            <a:r>
              <a:rPr lang="fr-FR" altLang="fr-FR" dirty="0" err="1"/>
              <a:t>it</a:t>
            </a:r>
            <a:r>
              <a:rPr lang="fr-FR" altLang="fr-FR" dirty="0"/>
              <a:t>) = </a:t>
            </a:r>
            <a:r>
              <a:rPr lang="fr-FR" altLang="fr-FR" dirty="0" err="1"/>
              <a:t>bw</a:t>
            </a:r>
            <a:r>
              <a:rPr lang="fr-FR" altLang="fr-FR" dirty="0"/>
              <a:t> X(</a:t>
            </a:r>
            <a:r>
              <a:rPr lang="fr-FR" altLang="fr-FR" dirty="0" err="1"/>
              <a:t>it</a:t>
            </a:r>
            <a:r>
              <a:rPr lang="fr-FR" altLang="fr-FR" dirty="0"/>
              <a:t>) + (</a:t>
            </a:r>
            <a:r>
              <a:rPr lang="fr-FR" altLang="fr-FR" dirty="0" err="1"/>
              <a:t>bb-bw</a:t>
            </a:r>
            <a:r>
              <a:rPr lang="fr-FR" altLang="fr-FR" dirty="0"/>
              <a:t>) </a:t>
            </a:r>
            <a:r>
              <a:rPr lang="fr-FR" altLang="fr-FR" b="1" dirty="0">
                <a:solidFill>
                  <a:srgbClr val="FF0000"/>
                </a:solidFill>
              </a:rPr>
              <a:t>X(i.)</a:t>
            </a:r>
            <a:r>
              <a:rPr lang="fr-FR" altLang="fr-FR" dirty="0"/>
              <a:t> </a:t>
            </a:r>
          </a:p>
          <a:p>
            <a:pPr marL="0" indent="0">
              <a:buFontTx/>
              <a:buNone/>
            </a:pPr>
            <a:r>
              <a:rPr lang="fr-FR" altLang="fr-FR" dirty="0"/>
              <a:t>	+ cb. Z(i) + </a:t>
            </a:r>
            <a:r>
              <a:rPr lang="fr-FR" altLang="fr-FR" b="1" dirty="0">
                <a:solidFill>
                  <a:srgbClr val="FF0000"/>
                </a:solidFill>
              </a:rPr>
              <a:t>a’(i)</a:t>
            </a:r>
            <a:r>
              <a:rPr lang="fr-FR" altLang="fr-FR" dirty="0"/>
              <a:t> + e(</a:t>
            </a:r>
            <a:r>
              <a:rPr lang="fr-FR" altLang="fr-FR" dirty="0" err="1"/>
              <a:t>it</a:t>
            </a:r>
            <a:r>
              <a:rPr lang="fr-FR" altLang="fr-FR" dirty="0"/>
              <a:t>)</a:t>
            </a:r>
          </a:p>
          <a:p>
            <a:pPr marL="0" indent="0">
              <a:buFontTx/>
              <a:buNone/>
            </a:pPr>
            <a:endParaRPr lang="fr-FR" altLang="fr-FR" dirty="0"/>
          </a:p>
          <a:p>
            <a:pPr marL="0" indent="0">
              <a:buFontTx/>
              <a:buNone/>
            </a:pPr>
            <a:r>
              <a:rPr lang="fr-FR" altLang="fr-FR" dirty="0"/>
              <a:t>Correct </a:t>
            </a:r>
            <a:r>
              <a:rPr lang="fr-FR" altLang="fr-FR" dirty="0" err="1"/>
              <a:t>degrees</a:t>
            </a:r>
            <a:r>
              <a:rPr lang="fr-FR" altLang="fr-FR" dirty="0"/>
              <a:t> of </a:t>
            </a:r>
            <a:r>
              <a:rPr lang="fr-FR" altLang="fr-FR" dirty="0" err="1"/>
              <a:t>freedom</a:t>
            </a:r>
            <a:r>
              <a:rPr lang="fr-FR" altLang="fr-FR" dirty="0"/>
              <a:t> (N-k-1) for Z(i) for </a:t>
            </a:r>
            <a:r>
              <a:rPr lang="fr-FR" altLang="fr-FR" dirty="0" err="1"/>
              <a:t>balanced</a:t>
            </a:r>
            <a:r>
              <a:rPr lang="fr-FR" altLang="fr-FR" dirty="0"/>
              <a:t> panel.</a:t>
            </a:r>
          </a:p>
        </p:txBody>
      </p:sp>
    </p:spTree>
    <p:extLst>
      <p:ext uri="{BB962C8B-B14F-4D97-AF65-F5344CB8AC3E}">
        <p14:creationId xmlns:p14="http://schemas.microsoft.com/office/powerpoint/2010/main" val="637268541"/>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re 1"/>
          <p:cNvSpPr>
            <a:spLocks noGrp="1"/>
          </p:cNvSpPr>
          <p:nvPr>
            <p:ph type="title"/>
          </p:nvPr>
        </p:nvSpPr>
        <p:spPr/>
        <p:txBody>
          <a:bodyPr>
            <a:normAutofit fontScale="90000"/>
          </a:bodyPr>
          <a:lstStyle/>
          <a:p>
            <a:r>
              <a:rPr lang="fr-FR" altLang="fr-FR" dirty="0"/>
              <a:t>Influence </a:t>
            </a:r>
            <a:r>
              <a:rPr lang="fr-FR" altLang="fr-FR" dirty="0" err="1"/>
              <a:t>statistics</a:t>
            </a:r>
            <a:r>
              <a:rPr lang="fr-FR" altLang="fr-FR" dirty="0"/>
              <a:t> not </a:t>
            </a:r>
            <a:r>
              <a:rPr lang="fr-FR" altLang="fr-FR" dirty="0" err="1"/>
              <a:t>coded</a:t>
            </a:r>
            <a:r>
              <a:rPr lang="fr-FR" altLang="fr-FR" dirty="0"/>
              <a:t> for </a:t>
            </a:r>
            <a:r>
              <a:rPr lang="fr-FR" altLang="fr-FR" dirty="0" err="1"/>
              <a:t>fixed</a:t>
            </a:r>
            <a:r>
              <a:rPr lang="fr-FR" altLang="fr-FR" dirty="0"/>
              <a:t> </a:t>
            </a:r>
            <a:r>
              <a:rPr lang="fr-FR" altLang="fr-FR" dirty="0" err="1"/>
              <a:t>effects</a:t>
            </a:r>
            <a:r>
              <a:rPr lang="fr-FR" altLang="fr-FR" dirty="0"/>
              <a:t>?</a:t>
            </a:r>
          </a:p>
        </p:txBody>
      </p:sp>
      <p:sp>
        <p:nvSpPr>
          <p:cNvPr id="3" name="Espace réservé du contenu 2"/>
          <p:cNvSpPr>
            <a:spLocks noGrp="1"/>
          </p:cNvSpPr>
          <p:nvPr>
            <p:ph idx="1"/>
          </p:nvPr>
        </p:nvSpPr>
        <p:spPr/>
        <p:txBody>
          <a:bodyPr/>
          <a:lstStyle/>
          <a:p>
            <a:pPr marL="0" indent="0">
              <a:buNone/>
              <a:defRPr/>
            </a:pPr>
            <a:r>
              <a:rPr lang="fr-FR" dirty="0"/>
              <a:t>If </a:t>
            </a:r>
            <a:r>
              <a:rPr lang="fr-FR" dirty="0" err="1"/>
              <a:t>you</a:t>
            </a:r>
            <a:r>
              <a:rPr lang="fr-FR" dirty="0"/>
              <a:t> </a:t>
            </a:r>
            <a:r>
              <a:rPr lang="fr-FR" dirty="0" err="1"/>
              <a:t>run</a:t>
            </a:r>
            <a:r>
              <a:rPr lang="fr-FR" dirty="0"/>
              <a:t> OLS INCLUDING x(i.): </a:t>
            </a:r>
            <a:r>
              <a:rPr lang="fr-FR" dirty="0" err="1"/>
              <a:t>you</a:t>
            </a:r>
            <a:r>
              <a:rPr lang="fr-FR" dirty="0"/>
              <a:t> </a:t>
            </a:r>
            <a:r>
              <a:rPr lang="fr-FR" dirty="0" err="1"/>
              <a:t>find</a:t>
            </a:r>
            <a:r>
              <a:rPr lang="fr-FR" dirty="0"/>
              <a:t> the </a:t>
            </a:r>
            <a:r>
              <a:rPr lang="fr-FR" dirty="0" err="1"/>
              <a:t>same</a:t>
            </a:r>
            <a:r>
              <a:rPr lang="fr-FR" dirty="0"/>
              <a:t> </a:t>
            </a:r>
            <a:r>
              <a:rPr lang="fr-FR" dirty="0" err="1"/>
              <a:t>parameters</a:t>
            </a:r>
            <a:r>
              <a:rPr lang="fr-FR" dirty="0"/>
              <a:t> </a:t>
            </a:r>
            <a:r>
              <a:rPr lang="fr-FR" dirty="0" err="1"/>
              <a:t>than</a:t>
            </a:r>
            <a:r>
              <a:rPr lang="fr-FR" dirty="0"/>
              <a:t> </a:t>
            </a:r>
            <a:r>
              <a:rPr lang="fr-FR" dirty="0" err="1"/>
              <a:t>Mundlak</a:t>
            </a:r>
            <a:r>
              <a:rPr lang="fr-FR" dirty="0"/>
              <a:t> RE ! </a:t>
            </a:r>
          </a:p>
          <a:p>
            <a:pPr marL="0" indent="0">
              <a:buNone/>
              <a:defRPr/>
            </a:pPr>
            <a:r>
              <a:rPr lang="fr-FR" dirty="0"/>
              <a:t>But the standard </a:t>
            </a:r>
            <a:r>
              <a:rPr lang="fr-FR" dirty="0" err="1"/>
              <a:t>errors</a:t>
            </a:r>
            <a:r>
              <a:rPr lang="fr-FR" dirty="0"/>
              <a:t> are not correct.</a:t>
            </a:r>
          </a:p>
          <a:p>
            <a:pPr marL="0" indent="0">
              <a:buNone/>
              <a:defRPr/>
            </a:pPr>
            <a:r>
              <a:rPr lang="fr-FR" dirty="0"/>
              <a:t> </a:t>
            </a:r>
          </a:p>
          <a:p>
            <a:pPr marL="0" indent="0">
              <a:buFontTx/>
              <a:buNone/>
              <a:defRPr/>
            </a:pPr>
            <a:r>
              <a:rPr lang="fr-FR" dirty="0"/>
              <a:t>This </a:t>
            </a:r>
            <a:r>
              <a:rPr lang="fr-FR" dirty="0" err="1"/>
              <a:t>helps</a:t>
            </a:r>
            <a:r>
              <a:rPr lang="fr-FR" dirty="0"/>
              <a:t> for </a:t>
            </a:r>
            <a:r>
              <a:rPr lang="fr-FR" b="1" dirty="0"/>
              <a:t>influence </a:t>
            </a:r>
            <a:r>
              <a:rPr lang="fr-FR" b="1" dirty="0" err="1"/>
              <a:t>statistics</a:t>
            </a:r>
            <a:r>
              <a:rPr lang="fr-FR" b="1" dirty="0"/>
              <a:t> </a:t>
            </a:r>
            <a:r>
              <a:rPr lang="fr-FR" b="1" dirty="0" err="1"/>
              <a:t>such</a:t>
            </a:r>
            <a:r>
              <a:rPr lang="fr-FR" b="1" dirty="0"/>
              <a:t> as DF-</a:t>
            </a:r>
            <a:r>
              <a:rPr lang="fr-FR" b="1" dirty="0" err="1"/>
              <a:t>befas</a:t>
            </a:r>
            <a:r>
              <a:rPr lang="fr-FR" b="1" dirty="0"/>
              <a:t> </a:t>
            </a:r>
            <a:r>
              <a:rPr lang="fr-FR" dirty="0"/>
              <a:t> </a:t>
            </a:r>
            <a:r>
              <a:rPr lang="fr-FR" dirty="0" err="1"/>
              <a:t>computed</a:t>
            </a:r>
            <a:r>
              <a:rPr lang="fr-FR" dirty="0"/>
              <a:t> for OLS but </a:t>
            </a:r>
            <a:r>
              <a:rPr lang="fr-FR" dirty="0" err="1"/>
              <a:t>sometimes</a:t>
            </a:r>
            <a:r>
              <a:rPr lang="fr-FR" dirty="0"/>
              <a:t> not for </a:t>
            </a:r>
            <a:r>
              <a:rPr lang="fr-FR" dirty="0" err="1"/>
              <a:t>Fixed</a:t>
            </a:r>
            <a:r>
              <a:rPr lang="fr-FR" dirty="0"/>
              <a:t> </a:t>
            </a:r>
            <a:r>
              <a:rPr lang="fr-FR" dirty="0" err="1"/>
              <a:t>effects</a:t>
            </a:r>
            <a:r>
              <a:rPr lang="fr-FR" dirty="0"/>
              <a:t>.</a:t>
            </a:r>
          </a:p>
        </p:txBody>
      </p:sp>
    </p:spTree>
    <p:extLst>
      <p:ext uri="{BB962C8B-B14F-4D97-AF65-F5344CB8AC3E}">
        <p14:creationId xmlns:p14="http://schemas.microsoft.com/office/powerpoint/2010/main" val="199282767"/>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36512" y="0"/>
            <a:ext cx="9144000" cy="677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sz="1800" dirty="0" err="1">
                <a:latin typeface="Times New Roman" pitchFamily="18" charset="0"/>
              </a:rPr>
              <a:t>Mundlak</a:t>
            </a:r>
            <a:r>
              <a:rPr lang="fr-FR" altLang="fr-FR" sz="1800" dirty="0">
                <a:latin typeface="Times New Roman" pitchFamily="18" charset="0"/>
              </a:rPr>
              <a:t> </a:t>
            </a:r>
            <a:r>
              <a:rPr lang="fr-FR" altLang="fr-FR" sz="1800" dirty="0" err="1">
                <a:latin typeface="Times New Roman" pitchFamily="18" charset="0"/>
              </a:rPr>
              <a:t>estimator</a:t>
            </a:r>
            <a:r>
              <a:rPr lang="fr-FR" altLang="fr-FR" sz="1800" dirty="0">
                <a:latin typeface="Times New Roman" pitchFamily="18" charset="0"/>
              </a:rPr>
              <a:t>: </a:t>
            </a:r>
            <a:r>
              <a:rPr lang="fr-FR" altLang="fr-FR" sz="1800" b="1" dirty="0">
                <a:latin typeface="Times New Roman" pitchFamily="18" charset="0"/>
              </a:rPr>
              <a:t>beta (B) – beta (W), beta(B) for time invariant: FOR BALANCED PANEL (</a:t>
            </a:r>
            <a:r>
              <a:rPr lang="fr-FR" altLang="fr-FR" sz="1800" b="1" dirty="0" err="1">
                <a:latin typeface="Times New Roman" pitchFamily="18" charset="0"/>
              </a:rPr>
              <a:t>weights</a:t>
            </a:r>
            <a:r>
              <a:rPr lang="fr-FR" altLang="fr-FR" sz="1800" b="1" dirty="0">
                <a:latin typeface="Times New Roman" pitchFamily="18" charset="0"/>
              </a:rPr>
              <a:t> in </a:t>
            </a:r>
            <a:r>
              <a:rPr lang="fr-FR" altLang="fr-FR" sz="1800" b="1" dirty="0" err="1">
                <a:latin typeface="Times New Roman" pitchFamily="18" charset="0"/>
              </a:rPr>
              <a:t>between</a:t>
            </a:r>
            <a:r>
              <a:rPr lang="fr-FR" altLang="fr-FR" sz="1800" b="1" dirty="0">
                <a:latin typeface="Times New Roman" pitchFamily="18" charset="0"/>
              </a:rPr>
              <a:t> for </a:t>
            </a:r>
            <a:r>
              <a:rPr lang="fr-FR" altLang="fr-FR" sz="1800" b="1" dirty="0" err="1">
                <a:latin typeface="Times New Roman" pitchFamily="18" charset="0"/>
              </a:rPr>
              <a:t>unbalanced</a:t>
            </a:r>
            <a:r>
              <a:rPr lang="fr-FR" altLang="fr-FR" sz="1800" b="1" dirty="0">
                <a:latin typeface="Times New Roman" pitchFamily="18" charset="0"/>
              </a:rPr>
              <a:t>?)</a:t>
            </a:r>
          </a:p>
          <a:p>
            <a:pPr eaLnBrk="1" hangingPunct="1">
              <a:spcBef>
                <a:spcPct val="0"/>
              </a:spcBef>
              <a:buFontTx/>
              <a:buNone/>
            </a:pP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gdpg</a:t>
            </a:r>
            <a:r>
              <a:rPr lang="fr-FR" altLang="fr-FR" sz="2000" dirty="0">
                <a:latin typeface="Times New Roman" pitchFamily="18" charset="0"/>
              </a:rPr>
              <a:t> |      </a:t>
            </a:r>
            <a:r>
              <a:rPr lang="fr-FR" altLang="fr-FR" sz="2000" dirty="0" err="1">
                <a:latin typeface="Times New Roman" pitchFamily="18" charset="0"/>
              </a:rPr>
              <a:t>Coef</a:t>
            </a:r>
            <a:r>
              <a:rPr lang="fr-FR" altLang="fr-FR" sz="2000" dirty="0">
                <a:latin typeface="Times New Roman" pitchFamily="18" charset="0"/>
              </a:rPr>
              <a:t>.   </a:t>
            </a:r>
            <a:r>
              <a:rPr lang="fr-FR" altLang="fr-FR" sz="2000" dirty="0" err="1">
                <a:latin typeface="Times New Roman" pitchFamily="18" charset="0"/>
              </a:rPr>
              <a:t>Std</a:t>
            </a:r>
            <a:r>
              <a:rPr lang="fr-FR" altLang="fr-FR" sz="2000" dirty="0">
                <a:latin typeface="Times New Roman" pitchFamily="18" charset="0"/>
              </a:rPr>
              <a:t>. </a:t>
            </a:r>
            <a:r>
              <a:rPr lang="fr-FR" altLang="fr-FR" sz="2000" dirty="0" err="1">
                <a:latin typeface="Times New Roman" pitchFamily="18" charset="0"/>
              </a:rPr>
              <a:t>Err</a:t>
            </a:r>
            <a:r>
              <a:rPr lang="fr-FR" altLang="fr-FR" sz="2000" dirty="0">
                <a:latin typeface="Times New Roman" pitchFamily="18" charset="0"/>
              </a:rPr>
              <a:t>.      z    P&gt;|z|     [95% </a:t>
            </a:r>
            <a:r>
              <a:rPr lang="fr-FR" altLang="fr-FR" sz="2000" dirty="0" err="1">
                <a:latin typeface="Times New Roman" pitchFamily="18" charset="0"/>
              </a:rPr>
              <a:t>Conf</a:t>
            </a:r>
            <a:r>
              <a:rPr lang="fr-FR" altLang="fr-FR" sz="2000" dirty="0">
                <a:latin typeface="Times New Roman" pitchFamily="18" charset="0"/>
              </a:rPr>
              <a:t>. </a:t>
            </a:r>
            <a:r>
              <a:rPr lang="fr-FR" altLang="fr-FR" sz="2000" dirty="0" err="1">
                <a:latin typeface="Times New Roman" pitchFamily="18" charset="0"/>
              </a:rPr>
              <a:t>Interval</a:t>
            </a: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policy</a:t>
            </a:r>
            <a:r>
              <a:rPr lang="fr-FR" altLang="fr-FR" sz="2000" dirty="0">
                <a:latin typeface="Times New Roman" pitchFamily="18" charset="0"/>
              </a:rPr>
              <a:t> |   </a:t>
            </a:r>
            <a:r>
              <a:rPr lang="fr-FR" altLang="fr-FR" sz="2000" b="1" dirty="0">
                <a:latin typeface="Times New Roman" pitchFamily="18" charset="0"/>
              </a:rPr>
              <a:t> .878318</a:t>
            </a:r>
            <a:r>
              <a:rPr lang="fr-FR" altLang="fr-FR" sz="2000" dirty="0">
                <a:latin typeface="Times New Roman" pitchFamily="18" charset="0"/>
              </a:rPr>
              <a:t>   .2079318     </a:t>
            </a:r>
            <a:r>
              <a:rPr lang="fr-FR" altLang="fr-FR" sz="2000" b="1" dirty="0">
                <a:latin typeface="Times New Roman" pitchFamily="18" charset="0"/>
              </a:rPr>
              <a:t>4.22</a:t>
            </a:r>
            <a:r>
              <a:rPr lang="fr-FR" altLang="fr-FR" sz="2000" dirty="0">
                <a:latin typeface="Times New Roman" pitchFamily="18" charset="0"/>
              </a:rPr>
              <a:t>   0.000     .4707792    1.285857</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lgdp</a:t>
            </a:r>
            <a:r>
              <a:rPr lang="fr-FR" altLang="fr-FR" sz="2000" dirty="0">
                <a:latin typeface="Times New Roman" pitchFamily="18" charset="0"/>
              </a:rPr>
              <a:t> |  </a:t>
            </a:r>
            <a:r>
              <a:rPr lang="fr-FR" altLang="fr-FR" sz="2000" b="1" dirty="0">
                <a:latin typeface="Times New Roman" pitchFamily="18" charset="0"/>
              </a:rPr>
              <a:t>-3.882033 </a:t>
            </a:r>
            <a:r>
              <a:rPr lang="fr-FR" altLang="fr-FR" sz="2000" dirty="0">
                <a:latin typeface="Times New Roman" pitchFamily="18" charset="0"/>
              </a:rPr>
              <a:t>   1.03924    </a:t>
            </a:r>
            <a:r>
              <a:rPr lang="fr-FR" altLang="fr-FR" sz="2000" b="1" dirty="0">
                <a:latin typeface="Times New Roman" pitchFamily="18" charset="0"/>
              </a:rPr>
              <a:t>-3.74</a:t>
            </a:r>
            <a:r>
              <a:rPr lang="fr-FR" altLang="fr-FR" sz="2000" dirty="0">
                <a:latin typeface="Times New Roman" pitchFamily="18" charset="0"/>
              </a:rPr>
              <a:t>   0.000    -5.918907   -1.845159</a:t>
            </a:r>
          </a:p>
          <a:p>
            <a:pPr eaLnBrk="1" hangingPunct="1">
              <a:spcBef>
                <a:spcPct val="0"/>
              </a:spcBef>
              <a:buFontTx/>
              <a:buNone/>
            </a:pPr>
            <a:r>
              <a:rPr lang="fr-FR" altLang="fr-FR" sz="2000" dirty="0">
                <a:latin typeface="Times New Roman" pitchFamily="18" charset="0"/>
              </a:rPr>
              <a:t>        m2_1 |  </a:t>
            </a:r>
            <a:r>
              <a:rPr lang="fr-FR" altLang="fr-FR" sz="2000" b="1" dirty="0">
                <a:latin typeface="Times New Roman" pitchFamily="18" charset="0"/>
              </a:rPr>
              <a:t> -.049506</a:t>
            </a:r>
            <a:r>
              <a:rPr lang="fr-FR" altLang="fr-FR" sz="2000" dirty="0">
                <a:latin typeface="Times New Roman" pitchFamily="18" charset="0"/>
              </a:rPr>
              <a:t>   .0227999    </a:t>
            </a:r>
            <a:r>
              <a:rPr lang="fr-FR" altLang="fr-FR" sz="2000" b="1" dirty="0">
                <a:latin typeface="Times New Roman" pitchFamily="18" charset="0"/>
              </a:rPr>
              <a:t>-2.17</a:t>
            </a:r>
            <a:r>
              <a:rPr lang="fr-FR" altLang="fr-FR" sz="2000" dirty="0">
                <a:latin typeface="Times New Roman" pitchFamily="18" charset="0"/>
              </a:rPr>
              <a:t>   0.030    -.0941929    -.004819</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mpolicy</a:t>
            </a:r>
            <a:r>
              <a:rPr lang="fr-FR" altLang="fr-FR" sz="2000" dirty="0">
                <a:latin typeface="Times New Roman" pitchFamily="18" charset="0"/>
              </a:rPr>
              <a:t> |    </a:t>
            </a:r>
            <a:r>
              <a:rPr lang="fr-FR" altLang="fr-FR" sz="2000" b="1" dirty="0">
                <a:solidFill>
                  <a:srgbClr val="00B050"/>
                </a:solidFill>
                <a:latin typeface="Times New Roman" pitchFamily="18" charset="0"/>
              </a:rPr>
              <a:t>.413422</a:t>
            </a:r>
            <a:r>
              <a:rPr lang="fr-FR" altLang="fr-FR" sz="2000" dirty="0">
                <a:latin typeface="Times New Roman" pitchFamily="18" charset="0"/>
              </a:rPr>
              <a:t>   .3574066     1.16   0.247    -.2870822    1.113926</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mlgdp</a:t>
            </a:r>
            <a:r>
              <a:rPr lang="fr-FR" altLang="fr-FR" sz="2000" dirty="0">
                <a:latin typeface="Times New Roman" pitchFamily="18" charset="0"/>
              </a:rPr>
              <a:t> |   </a:t>
            </a:r>
            <a:r>
              <a:rPr lang="fr-FR" altLang="fr-FR" sz="2000" b="1" dirty="0">
                <a:solidFill>
                  <a:srgbClr val="00B050"/>
                </a:solidFill>
                <a:latin typeface="Times New Roman" pitchFamily="18" charset="0"/>
              </a:rPr>
              <a:t>3.606534</a:t>
            </a:r>
            <a:r>
              <a:rPr lang="fr-FR" altLang="fr-FR" sz="2000" dirty="0">
                <a:latin typeface="Times New Roman" pitchFamily="18" charset="0"/>
              </a:rPr>
              <a:t>   1.125934     </a:t>
            </a:r>
            <a:r>
              <a:rPr lang="fr-FR" altLang="fr-FR" sz="2000" b="1" dirty="0">
                <a:solidFill>
                  <a:srgbClr val="00B050"/>
                </a:solidFill>
                <a:latin typeface="Times New Roman" pitchFamily="18" charset="0"/>
              </a:rPr>
              <a:t>3.20</a:t>
            </a:r>
            <a:r>
              <a:rPr lang="fr-FR" altLang="fr-FR" sz="2000" dirty="0">
                <a:latin typeface="Times New Roman" pitchFamily="18" charset="0"/>
              </a:rPr>
              <a:t>   0.001     1.399744    5.813323</a:t>
            </a:r>
          </a:p>
          <a:p>
            <a:pPr eaLnBrk="1" hangingPunct="1">
              <a:spcBef>
                <a:spcPct val="0"/>
              </a:spcBef>
              <a:buFontTx/>
              <a:buNone/>
            </a:pPr>
            <a:r>
              <a:rPr lang="fr-FR" altLang="fr-FR" sz="2000" dirty="0">
                <a:latin typeface="Times New Roman" pitchFamily="18" charset="0"/>
              </a:rPr>
              <a:t>       mm2_1 |  </a:t>
            </a:r>
            <a:r>
              <a:rPr lang="fr-FR" altLang="fr-FR" sz="2000" b="1" dirty="0">
                <a:solidFill>
                  <a:srgbClr val="00B050"/>
                </a:solidFill>
                <a:latin typeface="Times New Roman" pitchFamily="18" charset="0"/>
              </a:rPr>
              <a:t> .0766954</a:t>
            </a:r>
            <a:r>
              <a:rPr lang="fr-FR" altLang="fr-FR" sz="2000" dirty="0">
                <a:latin typeface="Times New Roman" pitchFamily="18" charset="0"/>
              </a:rPr>
              <a:t>   .0304941     </a:t>
            </a:r>
            <a:r>
              <a:rPr lang="fr-FR" altLang="fr-FR" sz="2000" b="1" dirty="0">
                <a:solidFill>
                  <a:srgbClr val="00B050"/>
                </a:solidFill>
                <a:latin typeface="Times New Roman" pitchFamily="18" charset="0"/>
              </a:rPr>
              <a:t>2.52</a:t>
            </a:r>
            <a:r>
              <a:rPr lang="fr-FR" altLang="fr-FR" sz="2000" dirty="0">
                <a:latin typeface="Times New Roman" pitchFamily="18" charset="0"/>
              </a:rPr>
              <a:t>   0.012      .016928    .1364628</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icrge</a:t>
            </a:r>
            <a:r>
              <a:rPr lang="fr-FR" altLang="fr-FR" sz="2000" dirty="0">
                <a:latin typeface="Times New Roman" pitchFamily="18" charset="0"/>
              </a:rPr>
              <a:t> |    </a:t>
            </a:r>
            <a:r>
              <a:rPr lang="fr-FR" altLang="fr-FR" sz="2000" dirty="0">
                <a:solidFill>
                  <a:srgbClr val="FF0000"/>
                </a:solidFill>
                <a:latin typeface="Times New Roman" pitchFamily="18" charset="0"/>
              </a:rPr>
              <a:t>.470856</a:t>
            </a:r>
            <a:r>
              <a:rPr lang="fr-FR" altLang="fr-FR" sz="2000" dirty="0">
                <a:latin typeface="Times New Roman" pitchFamily="18" charset="0"/>
              </a:rPr>
              <a:t>   .2050086     </a:t>
            </a:r>
            <a:r>
              <a:rPr lang="fr-FR" altLang="fr-FR" sz="2000" dirty="0">
                <a:solidFill>
                  <a:srgbClr val="FF0000"/>
                </a:solidFill>
                <a:latin typeface="Times New Roman" pitchFamily="18" charset="0"/>
              </a:rPr>
              <a:t>2.30</a:t>
            </a:r>
            <a:r>
              <a:rPr lang="fr-FR" altLang="fr-FR" sz="2000" dirty="0">
                <a:latin typeface="Times New Roman" pitchFamily="18" charset="0"/>
              </a:rPr>
              <a:t>   0.022     .0690466    .8726655</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ssa</a:t>
            </a:r>
            <a:r>
              <a:rPr lang="fr-FR" altLang="fr-FR" sz="2000" dirty="0">
                <a:latin typeface="Times New Roman" pitchFamily="18" charset="0"/>
              </a:rPr>
              <a:t> |    </a:t>
            </a:r>
            <a:r>
              <a:rPr lang="fr-FR" altLang="fr-FR" sz="2000" dirty="0">
                <a:solidFill>
                  <a:srgbClr val="FF0000"/>
                </a:solidFill>
                <a:latin typeface="Times New Roman" pitchFamily="18" charset="0"/>
              </a:rPr>
              <a:t>-1.1797 </a:t>
            </a:r>
            <a:r>
              <a:rPr lang="fr-FR" altLang="fr-FR" sz="2000" dirty="0">
                <a:latin typeface="Times New Roman" pitchFamily="18" charset="0"/>
              </a:rPr>
              <a:t>  .7126032    -1.66   0.098    -2.576376    .2169769</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easia</a:t>
            </a:r>
            <a:r>
              <a:rPr lang="fr-FR" altLang="fr-FR" sz="2000" dirty="0">
                <a:latin typeface="Times New Roman" pitchFamily="18" charset="0"/>
              </a:rPr>
              <a:t> |  </a:t>
            </a:r>
            <a:r>
              <a:rPr lang="fr-FR" altLang="fr-FR" sz="2000" dirty="0">
                <a:solidFill>
                  <a:srgbClr val="FF0000"/>
                </a:solidFill>
                <a:latin typeface="Times New Roman" pitchFamily="18" charset="0"/>
              </a:rPr>
              <a:t> .5661284</a:t>
            </a:r>
            <a:r>
              <a:rPr lang="fr-FR" altLang="fr-FR" sz="2000" dirty="0">
                <a:latin typeface="Times New Roman" pitchFamily="18" charset="0"/>
              </a:rPr>
              <a:t>   .8568978     0.66   0.509     -1.11336    2.245617</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ethnf</a:t>
            </a:r>
            <a:r>
              <a:rPr lang="fr-FR" altLang="fr-FR" sz="2000" dirty="0">
                <a:latin typeface="Times New Roman" pitchFamily="18" charset="0"/>
              </a:rPr>
              <a:t> |   </a:t>
            </a:r>
            <a:r>
              <a:rPr lang="fr-FR" altLang="fr-FR" sz="2000" dirty="0">
                <a:solidFill>
                  <a:srgbClr val="FF0000"/>
                </a:solidFill>
                <a:latin typeface="Times New Roman" pitchFamily="18" charset="0"/>
              </a:rPr>
              <a:t>-.002012</a:t>
            </a:r>
            <a:r>
              <a:rPr lang="fr-FR" altLang="fr-FR" sz="2000" dirty="0">
                <a:latin typeface="Times New Roman" pitchFamily="18" charset="0"/>
              </a:rPr>
              <a:t>   .0084419    -0.24   0.812    -.0185578    .0145339</a:t>
            </a:r>
          </a:p>
          <a:p>
            <a:pPr eaLnBrk="1" hangingPunct="1">
              <a:spcBef>
                <a:spcPct val="0"/>
              </a:spcBef>
              <a:buFontTx/>
              <a:buNone/>
            </a:pPr>
            <a:r>
              <a:rPr lang="fr-FR" altLang="fr-FR" sz="2000" dirty="0">
                <a:latin typeface="Times New Roman" pitchFamily="18" charset="0"/>
              </a:rPr>
              <a:t>       _cons |   -.811913   3.231572    -0.25   0.802    -7.145679    5.521853</a:t>
            </a:r>
          </a:p>
          <a:p>
            <a:pPr eaLnBrk="1" hangingPunct="1">
              <a:spcBef>
                <a:spcPct val="0"/>
              </a:spcBef>
              <a:buFontTx/>
              <a:buNone/>
            </a:pP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sigma_u</a:t>
            </a:r>
            <a:r>
              <a:rPr lang="fr-FR" altLang="fr-FR" sz="2000" dirty="0">
                <a:latin typeface="Times New Roman" pitchFamily="18" charset="0"/>
              </a:rPr>
              <a:t> |  .60621529</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sigma_e</a:t>
            </a:r>
            <a:r>
              <a:rPr lang="fr-FR" altLang="fr-FR" sz="2000" dirty="0">
                <a:latin typeface="Times New Roman" pitchFamily="18" charset="0"/>
              </a:rPr>
              <a:t> |  2.9596021</a:t>
            </a:r>
          </a:p>
          <a:p>
            <a:pPr eaLnBrk="1" hangingPunct="1">
              <a:spcBef>
                <a:spcPct val="0"/>
              </a:spcBef>
              <a:buFontTx/>
              <a:buNone/>
            </a:pPr>
            <a:r>
              <a:rPr lang="fr-FR" altLang="fr-FR" sz="2000" dirty="0">
                <a:latin typeface="Times New Roman" pitchFamily="18" charset="0"/>
              </a:rPr>
              <a:t>         rho |  .04026596   (fraction of variance due to </a:t>
            </a:r>
            <a:r>
              <a:rPr lang="fr-FR" altLang="fr-FR" sz="2000" dirty="0" err="1">
                <a:latin typeface="Times New Roman" pitchFamily="18" charset="0"/>
              </a:rPr>
              <a:t>u_i</a:t>
            </a: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a:t>
            </a:r>
          </a:p>
          <a:p>
            <a:pPr eaLnBrk="1" hangingPunct="1">
              <a:spcBef>
                <a:spcPct val="0"/>
              </a:spcBef>
              <a:buFontTx/>
              <a:buNone/>
            </a:pPr>
            <a:endParaRPr lang="fr-FR" altLang="fr-FR" sz="1800" dirty="0">
              <a:latin typeface="Times New Roman" pitchFamily="18" charset="0"/>
            </a:endParaRPr>
          </a:p>
        </p:txBody>
      </p:sp>
    </p:spTree>
    <p:extLst>
      <p:ext uri="{BB962C8B-B14F-4D97-AF65-F5344CB8AC3E}">
        <p14:creationId xmlns:p14="http://schemas.microsoft.com/office/powerpoint/2010/main" val="1295235600"/>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re 1"/>
          <p:cNvSpPr>
            <a:spLocks noGrp="1"/>
          </p:cNvSpPr>
          <p:nvPr>
            <p:ph type="title"/>
          </p:nvPr>
        </p:nvSpPr>
        <p:spPr/>
        <p:txBody>
          <a:bodyPr>
            <a:normAutofit fontScale="90000"/>
          </a:bodyPr>
          <a:lstStyle/>
          <a:p>
            <a:r>
              <a:rPr lang="fr-FR" altLang="fr-FR"/>
              <a:t>Outliers: studentized residuals of the Mundlak regression</a:t>
            </a:r>
          </a:p>
        </p:txBody>
      </p:sp>
      <p:sp>
        <p:nvSpPr>
          <p:cNvPr id="39939" name="Espace réservé du contenu 2"/>
          <p:cNvSpPr>
            <a:spLocks noGrp="1"/>
          </p:cNvSpPr>
          <p:nvPr>
            <p:ph idx="1"/>
          </p:nvPr>
        </p:nvSpPr>
        <p:spPr/>
        <p:txBody>
          <a:bodyPr/>
          <a:lstStyle/>
          <a:p>
            <a:pPr marL="0" indent="0">
              <a:buFontTx/>
              <a:buNone/>
            </a:pPr>
            <a:r>
              <a:rPr lang="fr-FR" altLang="fr-FR"/>
              <a:t>OLS provides residuals and fitted for Mundlak (SE of parameters are not correct).</a:t>
            </a:r>
          </a:p>
          <a:p>
            <a:pPr marL="0" indent="0">
              <a:buFontTx/>
              <a:buNone/>
            </a:pPr>
            <a:r>
              <a:rPr lang="fr-FR" altLang="fr-FR"/>
              <a:t>Influence statistics</a:t>
            </a:r>
          </a:p>
          <a:p>
            <a:pPr marL="0" indent="0">
              <a:buFontTx/>
              <a:buNone/>
            </a:pPr>
            <a:endParaRPr lang="fr-FR" altLang="fr-FR"/>
          </a:p>
        </p:txBody>
      </p:sp>
    </p:spTree>
    <p:extLst>
      <p:ext uri="{BB962C8B-B14F-4D97-AF65-F5344CB8AC3E}">
        <p14:creationId xmlns:p14="http://schemas.microsoft.com/office/powerpoint/2010/main" val="805333357"/>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8" y="0"/>
            <a:ext cx="9097962"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9741504"/>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69863"/>
            <a:ext cx="9020175" cy="642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7475894"/>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8" y="0"/>
            <a:ext cx="9196387" cy="674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1262858"/>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888"/>
            <a:ext cx="9088438" cy="666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2712892"/>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2018655"/>
          </a:xfrm>
        </p:spPr>
        <p:txBody>
          <a:bodyPr>
            <a:normAutofit fontScale="90000"/>
          </a:bodyPr>
          <a:lstStyle/>
          <a:p>
            <a:r>
              <a:rPr lang="fr-FR" dirty="0"/>
              <a:t>12: Hausman Taylor </a:t>
            </a:r>
            <a:r>
              <a:rPr lang="fr-FR" dirty="0" err="1"/>
              <a:t>estimator</a:t>
            </a:r>
            <a:br>
              <a:rPr lang="fr-FR" dirty="0"/>
            </a:br>
            <a:r>
              <a:rPr lang="fr-FR" dirty="0"/>
              <a:t>for </a:t>
            </a:r>
            <a:r>
              <a:rPr lang="el-GR" dirty="0"/>
              <a:t>α</a:t>
            </a:r>
            <a:r>
              <a:rPr lang="fr-FR" dirty="0"/>
              <a:t>(i)-</a:t>
            </a:r>
            <a:r>
              <a:rPr lang="fr-FR" dirty="0" err="1"/>
              <a:t>endogenous</a:t>
            </a:r>
            <a:r>
              <a:rPr lang="fr-FR" dirty="0"/>
              <a:t> </a:t>
            </a:r>
            <a:br>
              <a:rPr lang="fr-FR" dirty="0"/>
            </a:br>
            <a:r>
              <a:rPr lang="fr-FR" dirty="0"/>
              <a:t>time invariant </a:t>
            </a:r>
            <a:r>
              <a:rPr lang="fr-FR" dirty="0" err="1"/>
              <a:t>regressors</a:t>
            </a:r>
            <a:endParaRPr lang="fr-FR" dirty="0"/>
          </a:p>
        </p:txBody>
      </p:sp>
    </p:spTree>
    <p:extLst>
      <p:ext uri="{BB962C8B-B14F-4D97-AF65-F5344CB8AC3E}">
        <p14:creationId xmlns:p14="http://schemas.microsoft.com/office/powerpoint/2010/main" val="1458650708"/>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Mundlak</a:t>
            </a:r>
            <a:r>
              <a:rPr lang="fr-FR" dirty="0"/>
              <a:t> </a:t>
            </a:r>
            <a:r>
              <a:rPr lang="fr-FR" dirty="0" err="1"/>
              <a:t>then</a:t>
            </a:r>
            <a:r>
              <a:rPr lang="fr-FR" dirty="0"/>
              <a:t> Hausman Taylor</a:t>
            </a:r>
            <a:br>
              <a:rPr lang="fr-FR" dirty="0"/>
            </a:br>
            <a:r>
              <a:rPr lang="fr-FR" dirty="0" err="1"/>
              <a:t>coded</a:t>
            </a:r>
            <a:r>
              <a:rPr lang="fr-FR" dirty="0"/>
              <a:t> in Stata</a:t>
            </a:r>
          </a:p>
        </p:txBody>
      </p:sp>
      <p:sp>
        <p:nvSpPr>
          <p:cNvPr id="3" name="Espace réservé du contenu 2"/>
          <p:cNvSpPr>
            <a:spLocks noGrp="1"/>
          </p:cNvSpPr>
          <p:nvPr>
            <p:ph idx="1"/>
          </p:nvPr>
        </p:nvSpPr>
        <p:spPr/>
        <p:txBody>
          <a:bodyPr/>
          <a:lstStyle/>
          <a:p>
            <a:pPr marL="0" indent="0">
              <a:buNone/>
            </a:pPr>
            <a:r>
              <a:rPr lang="fr-FR" dirty="0" err="1"/>
              <a:t>Mundlak</a:t>
            </a:r>
            <a:r>
              <a:rPr lang="fr-FR" dirty="0"/>
              <a:t> corrects </a:t>
            </a:r>
            <a:r>
              <a:rPr lang="fr-FR" b="1" dirty="0" err="1"/>
              <a:t>Cov</a:t>
            </a:r>
            <a:r>
              <a:rPr lang="fr-FR" b="1" dirty="0"/>
              <a:t>(x(</a:t>
            </a:r>
            <a:r>
              <a:rPr lang="fr-FR" b="1" dirty="0" err="1"/>
              <a:t>it</a:t>
            </a:r>
            <a:r>
              <a:rPr lang="fr-FR" b="1" dirty="0"/>
              <a:t>),</a:t>
            </a:r>
            <a:r>
              <a:rPr lang="el-GR" b="1" dirty="0"/>
              <a:t>α</a:t>
            </a:r>
            <a:r>
              <a:rPr lang="fr-FR" b="1" dirty="0"/>
              <a:t>(i))</a:t>
            </a:r>
            <a:r>
              <a:rPr lang="fr-FR" dirty="0"/>
              <a:t> </a:t>
            </a:r>
            <a:r>
              <a:rPr lang="fr-FR" dirty="0" err="1"/>
              <a:t>adding</a:t>
            </a:r>
            <a:r>
              <a:rPr lang="fr-FR" dirty="0"/>
              <a:t> X(i.) variables in </a:t>
            </a:r>
            <a:r>
              <a:rPr lang="fr-FR" dirty="0" err="1"/>
              <a:t>random</a:t>
            </a:r>
            <a:r>
              <a:rPr lang="fr-FR" dirty="0"/>
              <a:t> </a:t>
            </a:r>
            <a:r>
              <a:rPr lang="fr-FR" dirty="0" err="1"/>
              <a:t>effects</a:t>
            </a:r>
            <a:r>
              <a:rPr lang="fr-FR" dirty="0"/>
              <a:t>.</a:t>
            </a:r>
          </a:p>
          <a:p>
            <a:pPr marL="0" indent="0">
              <a:buNone/>
            </a:pPr>
            <a:r>
              <a:rPr lang="fr-FR" dirty="0"/>
              <a:t>This corrects </a:t>
            </a:r>
            <a:r>
              <a:rPr lang="fr-FR" b="1" dirty="0" err="1"/>
              <a:t>omitted</a:t>
            </a:r>
            <a:r>
              <a:rPr lang="fr-FR" dirty="0"/>
              <a:t> variables X(i.) </a:t>
            </a:r>
            <a:r>
              <a:rPr lang="fr-FR" dirty="0" err="1"/>
              <a:t>bias</a:t>
            </a:r>
            <a:r>
              <a:rPr lang="fr-FR" dirty="0"/>
              <a:t> on the </a:t>
            </a:r>
            <a:r>
              <a:rPr lang="fr-FR" dirty="0" err="1"/>
              <a:t>parameter</a:t>
            </a:r>
            <a:r>
              <a:rPr lang="fr-FR" dirty="0"/>
              <a:t> of Z(i) in </a:t>
            </a:r>
            <a:r>
              <a:rPr lang="fr-FR" dirty="0" err="1"/>
              <a:t>random</a:t>
            </a:r>
            <a:r>
              <a:rPr lang="fr-FR" dirty="0"/>
              <a:t> </a:t>
            </a:r>
            <a:r>
              <a:rPr lang="fr-FR" dirty="0" err="1"/>
              <a:t>effects</a:t>
            </a:r>
            <a:r>
              <a:rPr lang="fr-FR" dirty="0"/>
              <a:t>.</a:t>
            </a:r>
            <a:br>
              <a:rPr lang="fr-FR" dirty="0"/>
            </a:br>
            <a:endParaRPr lang="fr-FR" dirty="0"/>
          </a:p>
          <a:p>
            <a:pPr marL="0" indent="0">
              <a:buNone/>
            </a:pPr>
            <a:r>
              <a:rPr lang="fr-FR" dirty="0"/>
              <a:t>But </a:t>
            </a:r>
            <a:r>
              <a:rPr lang="fr-FR" dirty="0" err="1"/>
              <a:t>what</a:t>
            </a:r>
            <a:r>
              <a:rPr lang="fr-FR" dirty="0"/>
              <a:t> </a:t>
            </a:r>
            <a:r>
              <a:rPr lang="fr-FR" dirty="0" err="1"/>
              <a:t>is</a:t>
            </a:r>
            <a:r>
              <a:rPr lang="fr-FR" dirty="0"/>
              <a:t>: </a:t>
            </a:r>
            <a:r>
              <a:rPr lang="fr-FR" b="1" dirty="0" err="1"/>
              <a:t>Cov</a:t>
            </a:r>
            <a:r>
              <a:rPr lang="fr-FR" b="1" dirty="0"/>
              <a:t>(z(i),</a:t>
            </a:r>
            <a:r>
              <a:rPr lang="el-GR" b="1" dirty="0"/>
              <a:t>α</a:t>
            </a:r>
            <a:r>
              <a:rPr lang="fr-FR" b="1" dirty="0"/>
              <a:t>(i))</a:t>
            </a:r>
            <a:r>
              <a:rPr lang="fr-FR" dirty="0"/>
              <a:t>:</a:t>
            </a:r>
          </a:p>
          <a:p>
            <a:pPr marL="0" indent="0">
              <a:buNone/>
            </a:pPr>
            <a:r>
              <a:rPr lang="fr-FR" dirty="0"/>
              <a:t>Education </a:t>
            </a:r>
            <a:r>
              <a:rPr lang="fr-FR" dirty="0" err="1"/>
              <a:t>level</a:t>
            </a:r>
            <a:r>
              <a:rPr lang="fr-FR" dirty="0"/>
              <a:t> </a:t>
            </a:r>
            <a:r>
              <a:rPr lang="fr-FR" b="1" dirty="0"/>
              <a:t>z(i) </a:t>
            </a:r>
            <a:r>
              <a:rPr lang="fr-FR" dirty="0" err="1"/>
              <a:t>is</a:t>
            </a:r>
            <a:r>
              <a:rPr lang="fr-FR" dirty="0"/>
              <a:t> </a:t>
            </a:r>
            <a:r>
              <a:rPr lang="fr-FR" dirty="0" err="1"/>
              <a:t>correlated</a:t>
            </a:r>
            <a:r>
              <a:rPr lang="fr-FR" dirty="0"/>
              <a:t> </a:t>
            </a:r>
            <a:r>
              <a:rPr lang="fr-FR" dirty="0" err="1"/>
              <a:t>with</a:t>
            </a:r>
            <a:r>
              <a:rPr lang="fr-FR" dirty="0"/>
              <a:t> </a:t>
            </a:r>
            <a:r>
              <a:rPr lang="fr-FR" dirty="0" err="1"/>
              <a:t>individual</a:t>
            </a:r>
            <a:r>
              <a:rPr lang="fr-FR" dirty="0"/>
              <a:t> (i) time-invariant </a:t>
            </a:r>
            <a:r>
              <a:rPr lang="fr-FR" dirty="0" err="1"/>
              <a:t>specificities</a:t>
            </a:r>
            <a:r>
              <a:rPr lang="fr-FR" dirty="0"/>
              <a:t>? </a:t>
            </a:r>
          </a:p>
        </p:txBody>
      </p:sp>
    </p:spTree>
    <p:extLst>
      <p:ext uri="{BB962C8B-B14F-4D97-AF65-F5344CB8AC3E}">
        <p14:creationId xmlns:p14="http://schemas.microsoft.com/office/powerpoint/2010/main" val="2544016177"/>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a:t>Z(i): </a:t>
            </a:r>
            <a:r>
              <a:rPr lang="fr-FR" sz="3200" dirty="0" err="1"/>
              <a:t>endogeneity</a:t>
            </a:r>
            <a:r>
              <a:rPr lang="fr-FR" sz="3200" dirty="0"/>
              <a:t> </a:t>
            </a:r>
            <a:r>
              <a:rPr lang="fr-FR" sz="3200" dirty="0" err="1"/>
              <a:t>bias</a:t>
            </a:r>
            <a:r>
              <a:rPr lang="fr-FR" sz="3200" dirty="0"/>
              <a:t> for </a:t>
            </a:r>
            <a:r>
              <a:rPr lang="fr-FR" sz="3200" dirty="0" err="1"/>
              <a:t>slope</a:t>
            </a:r>
            <a:r>
              <a:rPr lang="fr-FR" sz="3200" dirty="0"/>
              <a:t> </a:t>
            </a:r>
            <a:r>
              <a:rPr lang="el-GR" sz="3200" dirty="0"/>
              <a:t>γ</a:t>
            </a:r>
            <a:r>
              <a:rPr lang="fr-FR" sz="3200" dirty="0"/>
              <a:t> </a:t>
            </a:r>
            <a:br>
              <a:rPr lang="fr-FR" sz="3200" dirty="0"/>
            </a:br>
            <a:r>
              <a:rPr lang="fr-FR" sz="3200" dirty="0"/>
              <a:t>simple </a:t>
            </a:r>
            <a:r>
              <a:rPr lang="fr-FR" sz="3200" dirty="0" err="1"/>
              <a:t>regression</a:t>
            </a:r>
            <a:r>
              <a:rPr lang="fr-FR" sz="3200" dirty="0"/>
              <a:t> (2</a:t>
            </a:r>
            <a:r>
              <a:rPr lang="fr-FR" sz="3200" baseline="30000" dirty="0"/>
              <a:t>nd</a:t>
            </a:r>
            <a:r>
              <a:rPr lang="fr-FR" sz="3200" dirty="0"/>
              <a:t> </a:t>
            </a:r>
            <a:r>
              <a:rPr lang="fr-FR" sz="3200" dirty="0" err="1"/>
              <a:t>term</a:t>
            </a:r>
            <a:r>
              <a:rPr lang="fr-FR" sz="3200" dirty="0"/>
              <a:t>)</a:t>
            </a:r>
          </a:p>
        </p:txBody>
      </p:sp>
      <mc:AlternateContent xmlns:mc="http://schemas.openxmlformats.org/markup-compatibility/2006" xmlns:a14="http://schemas.microsoft.com/office/drawing/2010/main">
        <mc:Choice Requires="a14">
          <p:sp>
            <p:nvSpPr>
              <p:cNvPr id="3" name="Espace réservé du contenu 2"/>
              <p:cNvSpPr>
                <a:spLocks noGrp="1"/>
              </p:cNvSpPr>
              <p:nvPr>
                <p:ph idx="1"/>
              </p:nvPr>
            </p:nvSpPr>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r>
                        <a:rPr lang="el-GR" b="0" i="1" smtClean="0">
                          <a:latin typeface="Cambria Math"/>
                          <a:ea typeface="Cambria Math"/>
                        </a:rPr>
                        <m:t>𝛾</m:t>
                      </m:r>
                      <m:r>
                        <a:rPr lang="fr-FR" b="0" i="1" smtClean="0">
                          <a:latin typeface="Cambria Math"/>
                        </a:rPr>
                        <m:t>=</m:t>
                      </m:r>
                      <m:r>
                        <a:rPr lang="fr-FR" i="1">
                          <a:latin typeface="Cambria Math"/>
                        </a:rPr>
                        <m:t>𝑟</m:t>
                      </m:r>
                      <m:r>
                        <a:rPr lang="fr-FR" i="1">
                          <a:latin typeface="Cambria Math"/>
                        </a:rPr>
                        <m:t>(</m:t>
                      </m:r>
                      <m:sSub>
                        <m:sSubPr>
                          <m:ctrlPr>
                            <a:rPr lang="fr-FR" i="1">
                              <a:latin typeface="Cambria Math" panose="02040503050406030204" pitchFamily="18" charset="0"/>
                            </a:rPr>
                          </m:ctrlPr>
                        </m:sSubPr>
                        <m:e>
                          <m:r>
                            <a:rPr lang="fr-FR" b="0" i="1" smtClean="0">
                              <a:latin typeface="Cambria Math"/>
                            </a:rPr>
                            <m:t>𝑧</m:t>
                          </m:r>
                        </m:e>
                        <m:sub>
                          <m:r>
                            <a:rPr lang="fr-FR" i="1">
                              <a:latin typeface="Cambria Math"/>
                            </a:rPr>
                            <m:t>𝑖</m:t>
                          </m:r>
                        </m:sub>
                      </m:sSub>
                      <m:r>
                        <a:rPr lang="fr-FR" i="1">
                          <a:latin typeface="Cambria Math"/>
                        </a:rPr>
                        <m:t>,</m:t>
                      </m:r>
                      <m:sSub>
                        <m:sSubPr>
                          <m:ctrlPr>
                            <a:rPr lang="fr-FR" i="1">
                              <a:latin typeface="Cambria Math" panose="02040503050406030204" pitchFamily="18" charset="0"/>
                            </a:rPr>
                          </m:ctrlPr>
                        </m:sSubPr>
                        <m:e>
                          <m:r>
                            <a:rPr lang="fr-FR" b="0" i="1" smtClean="0">
                              <a:latin typeface="Cambria Math"/>
                              <a:ea typeface="Cambria Math"/>
                            </a:rPr>
                            <m:t>𝑦</m:t>
                          </m:r>
                        </m:e>
                        <m:sub>
                          <m:r>
                            <a:rPr lang="fr-FR" i="1">
                              <a:latin typeface="Cambria Math"/>
                            </a:rPr>
                            <m:t>𝑖</m:t>
                          </m:r>
                          <m:r>
                            <a:rPr lang="fr-FR" b="0" i="1" smtClean="0">
                              <a:latin typeface="Cambria Math"/>
                            </a:rPr>
                            <m:t>.</m:t>
                          </m:r>
                        </m:sub>
                      </m:sSub>
                      <m:r>
                        <a:rPr lang="fr-FR" i="1">
                          <a:latin typeface="Cambria Math"/>
                        </a:rPr>
                        <m:t>)</m:t>
                      </m:r>
                      <m:f>
                        <m:fPr>
                          <m:ctrlPr>
                            <a:rPr lang="fr-FR" i="1">
                              <a:latin typeface="Cambria Math" panose="02040503050406030204" pitchFamily="18" charset="0"/>
                            </a:rPr>
                          </m:ctrlPr>
                        </m:fPr>
                        <m:num>
                          <m:r>
                            <a:rPr lang="fr-FR" i="1">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b="0" i="1" smtClean="0">
                                  <a:latin typeface="Cambria Math"/>
                                </a:rPr>
                                <m:t>𝑦</m:t>
                              </m:r>
                            </m:e>
                            <m:sub>
                              <m:r>
                                <a:rPr lang="fr-FR" i="1">
                                  <a:latin typeface="Cambria Math"/>
                                </a:rPr>
                                <m:t>𝑖</m:t>
                              </m:r>
                              <m:r>
                                <a:rPr lang="fr-FR" b="0" i="1" smtClean="0">
                                  <a:latin typeface="Cambria Math"/>
                                </a:rPr>
                                <m:t>.</m:t>
                              </m:r>
                            </m:sub>
                          </m:sSub>
                          <m:r>
                            <a:rPr lang="fr-FR" i="1">
                              <a:latin typeface="Cambria Math"/>
                            </a:rPr>
                            <m:t>)</m:t>
                          </m:r>
                        </m:num>
                        <m:den>
                          <m:r>
                            <a:rPr lang="fr-FR" i="1">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b="0" i="1" smtClean="0">
                                  <a:latin typeface="Cambria Math"/>
                                </a:rPr>
                                <m:t>𝑧</m:t>
                              </m:r>
                            </m:e>
                            <m:sub>
                              <m:r>
                                <a:rPr lang="fr-FR" i="1">
                                  <a:latin typeface="Cambria Math"/>
                                </a:rPr>
                                <m:t>𝑖</m:t>
                              </m:r>
                            </m:sub>
                          </m:sSub>
                          <m:r>
                            <a:rPr lang="fr-FR" i="1">
                              <a:latin typeface="Cambria Math"/>
                            </a:rPr>
                            <m:t>)</m:t>
                          </m:r>
                        </m:den>
                      </m:f>
                      <m:r>
                        <a:rPr lang="fr-FR" b="0" i="1" smtClean="0">
                          <a:latin typeface="Cambria Math"/>
                        </a:rPr>
                        <m:t>+</m:t>
                      </m:r>
                      <m:r>
                        <a:rPr lang="fr-FR" b="0" i="1" smtClean="0">
                          <a:latin typeface="Cambria Math"/>
                        </a:rPr>
                        <m:t>𝑟</m:t>
                      </m:r>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𝑧</m:t>
                          </m:r>
                        </m:e>
                        <m:sub>
                          <m:r>
                            <a:rPr lang="fr-FR" b="0" i="1" smtClean="0">
                              <a:latin typeface="Cambria Math"/>
                            </a:rPr>
                            <m:t>𝑖</m:t>
                          </m:r>
                        </m:sub>
                      </m:sSub>
                      <m:r>
                        <a:rPr lang="fr-FR" b="0" i="1" smtClean="0">
                          <a:latin typeface="Cambria Math"/>
                        </a:rPr>
                        <m:t>,</m:t>
                      </m:r>
                      <m:sSub>
                        <m:sSubPr>
                          <m:ctrlPr>
                            <a:rPr lang="fr-FR" i="1">
                              <a:latin typeface="Cambria Math" panose="02040503050406030204" pitchFamily="18" charset="0"/>
                            </a:rPr>
                          </m:ctrlPr>
                        </m:sSubPr>
                        <m:e>
                          <m:r>
                            <a:rPr lang="fr-FR" i="1" smtClean="0">
                              <a:latin typeface="Cambria Math"/>
                              <a:ea typeface="Cambria Math"/>
                            </a:rPr>
                            <m:t>𝛼</m:t>
                          </m:r>
                        </m:e>
                        <m:sub>
                          <m:r>
                            <a:rPr lang="fr-FR" i="1">
                              <a:latin typeface="Cambria Math"/>
                            </a:rPr>
                            <m:t>𝑖</m:t>
                          </m:r>
                        </m:sub>
                      </m:sSub>
                      <m:r>
                        <a:rPr lang="fr-FR" b="0" i="1" smtClean="0">
                          <a:latin typeface="Cambria Math"/>
                        </a:rPr>
                        <m:t>)</m:t>
                      </m:r>
                      <m:f>
                        <m:fPr>
                          <m:ctrlPr>
                            <a:rPr lang="fr-FR" b="0" i="1" smtClean="0">
                              <a:latin typeface="Cambria Math" panose="02040503050406030204" pitchFamily="18" charset="0"/>
                            </a:rPr>
                          </m:ctrlPr>
                        </m:fPr>
                        <m:num>
                          <m:r>
                            <a:rPr lang="fr-FR" b="0" i="1" smtClean="0">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𝛼</m:t>
                              </m:r>
                            </m:e>
                            <m:sub>
                              <m:r>
                                <a:rPr lang="fr-FR" i="1">
                                  <a:latin typeface="Cambria Math"/>
                                </a:rPr>
                                <m:t>𝑖</m:t>
                              </m:r>
                            </m:sub>
                          </m:sSub>
                          <m:r>
                            <a:rPr lang="fr-FR" i="1">
                              <a:latin typeface="Cambria Math"/>
                            </a:rPr>
                            <m:t>)</m:t>
                          </m:r>
                        </m:num>
                        <m:den>
                          <m:r>
                            <a:rPr lang="fr-FR" i="1">
                              <a:latin typeface="Cambria Math"/>
                              <a:ea typeface="Cambria Math"/>
                            </a:rPr>
                            <m:t>𝜎</m:t>
                          </m:r>
                          <m:r>
                            <a:rPr lang="fr-FR" i="1">
                              <a:latin typeface="Cambria Math"/>
                            </a:rPr>
                            <m:t>(</m:t>
                          </m:r>
                          <m:sSub>
                            <m:sSubPr>
                              <m:ctrlPr>
                                <a:rPr lang="fr-FR" i="1">
                                  <a:latin typeface="Cambria Math" panose="02040503050406030204" pitchFamily="18" charset="0"/>
                                </a:rPr>
                              </m:ctrlPr>
                            </m:sSubPr>
                            <m:e>
                              <m:r>
                                <a:rPr lang="fr-FR" b="0" i="1" smtClean="0">
                                  <a:latin typeface="Cambria Math"/>
                                </a:rPr>
                                <m:t>𝑧</m:t>
                              </m:r>
                            </m:e>
                            <m:sub>
                              <m:r>
                                <a:rPr lang="fr-FR" i="1">
                                  <a:latin typeface="Cambria Math"/>
                                </a:rPr>
                                <m:t>𝑖</m:t>
                              </m:r>
                            </m:sub>
                          </m:sSub>
                          <m:r>
                            <a:rPr lang="fr-FR" i="1">
                              <a:latin typeface="Cambria Math"/>
                            </a:rPr>
                            <m:t>)</m:t>
                          </m:r>
                        </m:den>
                      </m:f>
                    </m:oMath>
                  </m:oMathPara>
                </a14:m>
                <a:endParaRPr lang="fr-FR" dirty="0"/>
              </a:p>
              <a:p>
                <a:pPr marL="0" indent="0">
                  <a:buNone/>
                </a:pPr>
                <a:r>
                  <a:rPr lang="fr-FR" dirty="0"/>
                  <a:t>The </a:t>
                </a:r>
                <a:r>
                  <a:rPr lang="fr-FR" dirty="0" err="1"/>
                  <a:t>bias</a:t>
                </a:r>
                <a:r>
                  <a:rPr lang="fr-FR" dirty="0"/>
                  <a:t> </a:t>
                </a:r>
                <a:r>
                  <a:rPr lang="fr-FR" dirty="0" err="1"/>
                  <a:t>is</a:t>
                </a:r>
                <a:r>
                  <a:rPr lang="fr-FR" dirty="0"/>
                  <a:t> </a:t>
                </a:r>
                <a:r>
                  <a:rPr lang="fr-FR" b="1" dirty="0" err="1"/>
                  <a:t>linear</a:t>
                </a:r>
                <a:r>
                  <a:rPr lang="fr-FR" dirty="0"/>
                  <a:t> </a:t>
                </a:r>
                <a:r>
                  <a:rPr lang="fr-FR" dirty="0" err="1"/>
                  <a:t>with</a:t>
                </a:r>
                <a:r>
                  <a:rPr lang="fr-FR" dirty="0"/>
                  <a:t> the standard </a:t>
                </a:r>
                <a:r>
                  <a:rPr lang="fr-FR" dirty="0" err="1"/>
                  <a:t>error</a:t>
                </a:r>
                <a:r>
                  <a:rPr lang="fr-FR" dirty="0"/>
                  <a:t> of the </a:t>
                </a:r>
                <a:r>
                  <a:rPr lang="fr-FR" dirty="0" err="1"/>
                  <a:t>random</a:t>
                </a:r>
                <a:r>
                  <a:rPr lang="fr-FR" dirty="0"/>
                  <a:t> </a:t>
                </a:r>
                <a:r>
                  <a:rPr lang="fr-FR" dirty="0" err="1"/>
                  <a:t>individual</a:t>
                </a:r>
                <a:r>
                  <a:rPr lang="fr-FR" dirty="0"/>
                  <a:t> </a:t>
                </a:r>
                <a:r>
                  <a:rPr lang="fr-FR" dirty="0" err="1"/>
                  <a:t>term</a:t>
                </a:r>
                <a:r>
                  <a:rPr lang="fr-FR" dirty="0"/>
                  <a:t> and </a:t>
                </a:r>
                <a:r>
                  <a:rPr lang="fr-FR" dirty="0" err="1"/>
                  <a:t>increases</a:t>
                </a:r>
                <a:r>
                  <a:rPr lang="fr-FR" dirty="0"/>
                  <a:t> </a:t>
                </a:r>
                <a:r>
                  <a:rPr lang="fr-FR" dirty="0" err="1"/>
                  <a:t>with</a:t>
                </a:r>
                <a:r>
                  <a:rPr lang="fr-FR" dirty="0"/>
                  <a:t> r(z(i), alpha(i)). </a:t>
                </a:r>
              </a:p>
              <a:p>
                <a:pPr marL="0" indent="0">
                  <a:buNone/>
                </a:pPr>
                <a:r>
                  <a:rPr lang="fr-FR" dirty="0"/>
                  <a:t>In multiple </a:t>
                </a:r>
                <a:r>
                  <a:rPr lang="fr-FR" dirty="0" err="1"/>
                  <a:t>regression</a:t>
                </a:r>
                <a:r>
                  <a:rPr lang="fr-FR" dirty="0"/>
                  <a:t>, cross </a:t>
                </a:r>
                <a:r>
                  <a:rPr lang="fr-FR" dirty="0" err="1"/>
                  <a:t>correlation</a:t>
                </a:r>
                <a:r>
                  <a:rPr lang="fr-FR" dirty="0"/>
                  <a:t> </a:t>
                </a:r>
                <a:r>
                  <a:rPr lang="fr-FR" dirty="0" err="1"/>
                  <a:t>between</a:t>
                </a:r>
                <a:r>
                  <a:rPr lang="fr-FR" dirty="0"/>
                  <a:t> </a:t>
                </a:r>
                <a:r>
                  <a:rPr lang="fr-FR" dirty="0" err="1"/>
                  <a:t>several</a:t>
                </a:r>
                <a:r>
                  <a:rPr lang="fr-FR" dirty="0"/>
                  <a:t> </a:t>
                </a:r>
                <a:r>
                  <a:rPr lang="fr-FR" dirty="0" err="1"/>
                  <a:t>endogenous</a:t>
                </a:r>
                <a:r>
                  <a:rPr lang="fr-FR" dirty="0"/>
                  <a:t> variables (X’X</a:t>
                </a:r>
                <a:r>
                  <a:rPr lang="fr-FR" baseline="30000" dirty="0"/>
                  <a:t>)-1</a:t>
                </a:r>
                <a:r>
                  <a:rPr lang="fr-FR" dirty="0"/>
                  <a:t>(X’</a:t>
                </a:r>
                <a:r>
                  <a:rPr lang="el-GR" dirty="0"/>
                  <a:t>α</a:t>
                </a:r>
                <a:r>
                  <a:rPr lang="fr-FR" dirty="0"/>
                  <a:t>) leads to a more </a:t>
                </a:r>
                <a:r>
                  <a:rPr lang="fr-FR" dirty="0" err="1"/>
                  <a:t>complicated</a:t>
                </a:r>
                <a:r>
                  <a:rPr lang="fr-FR" dirty="0"/>
                  <a:t> formulas for the </a:t>
                </a:r>
                <a:r>
                  <a:rPr lang="fr-FR" dirty="0" err="1"/>
                  <a:t>bias</a:t>
                </a:r>
                <a:r>
                  <a:rPr lang="fr-FR" dirty="0"/>
                  <a:t>. </a:t>
                </a:r>
              </a:p>
              <a:p>
                <a:pPr marL="0" indent="0">
                  <a:buNone/>
                </a:pPr>
                <a:endParaRPr lang="fr-FR" dirty="0"/>
              </a:p>
            </p:txBody>
          </p:sp>
        </mc:Choice>
        <mc:Fallback xmlns="">
          <p:sp>
            <p:nvSpPr>
              <p:cNvPr id="3" name="Espace réservé du contenu 2"/>
              <p:cNvSpPr>
                <a:spLocks noGrp="1" noRot="1" noChangeAspect="1" noMove="1" noResize="1" noEditPoints="1" noAdjustHandles="1" noChangeArrowheads="1" noChangeShapeType="1" noTextEdit="1"/>
              </p:cNvSpPr>
              <p:nvPr>
                <p:ph idx="1"/>
              </p:nvPr>
            </p:nvSpPr>
            <p:spPr>
              <a:blipFill rotWithShape="1">
                <a:blip r:embed="rId2"/>
                <a:stretch>
                  <a:fillRect l="-1852" b="-8491"/>
                </a:stretch>
              </a:blipFill>
            </p:spPr>
            <p:txBody>
              <a:bodyPr/>
              <a:lstStyle/>
              <a:p>
                <a:r>
                  <a:rPr lang="fr-FR">
                    <a:noFill/>
                  </a:rPr>
                  <a:t> </a:t>
                </a:r>
              </a:p>
            </p:txBody>
          </p:sp>
        </mc:Fallback>
      </mc:AlternateContent>
    </p:spTree>
    <p:extLst>
      <p:ext uri="{BB962C8B-B14F-4D97-AF65-F5344CB8AC3E}">
        <p14:creationId xmlns:p14="http://schemas.microsoft.com/office/powerpoint/2010/main" val="4035574432"/>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re 1"/>
          <p:cNvSpPr>
            <a:spLocks noGrp="1"/>
          </p:cNvSpPr>
          <p:nvPr>
            <p:ph type="title"/>
          </p:nvPr>
        </p:nvSpPr>
        <p:spPr/>
        <p:txBody>
          <a:bodyPr/>
          <a:lstStyle/>
          <a:p>
            <a:r>
              <a:rPr lang="fr-FR" altLang="fr-FR" dirty="0"/>
              <a:t>Hausman and Taylor </a:t>
            </a:r>
            <a:r>
              <a:rPr lang="fr-FR" altLang="fr-FR" dirty="0" err="1"/>
              <a:t>estimator</a:t>
            </a:r>
            <a:endParaRPr lang="fr-FR" altLang="fr-FR" dirty="0"/>
          </a:p>
        </p:txBody>
      </p:sp>
      <p:sp>
        <p:nvSpPr>
          <p:cNvPr id="74755" name="Espace réservé du contenu 2"/>
          <p:cNvSpPr>
            <a:spLocks noGrp="1"/>
          </p:cNvSpPr>
          <p:nvPr>
            <p:ph idx="1"/>
          </p:nvPr>
        </p:nvSpPr>
        <p:spPr/>
        <p:txBody>
          <a:bodyPr/>
          <a:lstStyle/>
          <a:p>
            <a:pPr marL="0" indent="0">
              <a:buFontTx/>
              <a:buNone/>
            </a:pPr>
            <a:r>
              <a:rPr lang="fr-FR" altLang="fr-FR" dirty="0"/>
              <a:t>It deals </a:t>
            </a:r>
            <a:r>
              <a:rPr lang="fr-FR" altLang="fr-FR" dirty="0" err="1"/>
              <a:t>with</a:t>
            </a:r>
            <a:r>
              <a:rPr lang="fr-FR" altLang="fr-FR" dirty="0"/>
              <a:t> the alpha(i) </a:t>
            </a:r>
            <a:r>
              <a:rPr lang="fr-FR" altLang="fr-FR" dirty="0" err="1"/>
              <a:t>endogeneity</a:t>
            </a:r>
            <a:r>
              <a:rPr lang="fr-FR" altLang="fr-FR" dirty="0"/>
              <a:t> of time invariant variables:</a:t>
            </a:r>
          </a:p>
          <a:p>
            <a:pPr marL="0" indent="0">
              <a:buFontTx/>
              <a:buNone/>
            </a:pPr>
            <a:r>
              <a:rPr lang="fr-FR" altLang="fr-FR" dirty="0" err="1"/>
              <a:t>Corr</a:t>
            </a:r>
            <a:r>
              <a:rPr lang="fr-FR" altLang="fr-FR" dirty="0"/>
              <a:t> ( z(i), alpha(i) )</a:t>
            </a:r>
          </a:p>
          <a:p>
            <a:pPr marL="0" indent="0">
              <a:buFontTx/>
              <a:buNone/>
            </a:pPr>
            <a:r>
              <a:rPr lang="fr-FR" altLang="fr-FR" u="sng" dirty="0" err="1"/>
              <a:t>Strong</a:t>
            </a:r>
            <a:r>
              <a:rPr lang="fr-FR" altLang="fr-FR" u="sng" dirty="0"/>
              <a:t> </a:t>
            </a:r>
            <a:r>
              <a:rPr lang="fr-FR" altLang="fr-FR" u="sng" dirty="0" err="1"/>
              <a:t>assumption</a:t>
            </a:r>
            <a:r>
              <a:rPr lang="fr-FR" altLang="fr-FR" u="sng" dirty="0"/>
              <a:t>: </a:t>
            </a:r>
          </a:p>
          <a:p>
            <a:pPr marL="0" indent="0">
              <a:buFontTx/>
              <a:buNone/>
            </a:pPr>
            <a:r>
              <a:rPr lang="fr-FR" altLang="fr-FR" dirty="0" err="1"/>
              <a:t>We</a:t>
            </a:r>
            <a:r>
              <a:rPr lang="fr-FR" altLang="fr-FR" dirty="0"/>
              <a:t> </a:t>
            </a:r>
            <a:r>
              <a:rPr lang="fr-FR" altLang="fr-FR" b="1" dirty="0"/>
              <a:t>know</a:t>
            </a:r>
            <a:r>
              <a:rPr lang="fr-FR" altLang="fr-FR" dirty="0"/>
              <a:t> </a:t>
            </a:r>
            <a:r>
              <a:rPr lang="fr-FR" altLang="fr-FR" dirty="0" err="1"/>
              <a:t>that</a:t>
            </a:r>
            <a:r>
              <a:rPr lang="fr-FR" altLang="fr-FR" dirty="0"/>
              <a:t> at least one of the x(i.) </a:t>
            </a:r>
            <a:r>
              <a:rPr lang="fr-FR" altLang="fr-FR" dirty="0" err="1"/>
              <a:t>is</a:t>
            </a:r>
            <a:r>
              <a:rPr lang="fr-FR" altLang="fr-FR" dirty="0"/>
              <a:t> </a:t>
            </a:r>
            <a:r>
              <a:rPr lang="fr-FR" altLang="fr-FR" b="1" dirty="0" err="1"/>
              <a:t>exogenous</a:t>
            </a:r>
            <a:r>
              <a:rPr lang="fr-FR" altLang="fr-FR" dirty="0"/>
              <a:t> and </a:t>
            </a:r>
            <a:r>
              <a:rPr lang="fr-FR" altLang="fr-FR" dirty="0" err="1"/>
              <a:t>can</a:t>
            </a:r>
            <a:r>
              <a:rPr lang="fr-FR" altLang="fr-FR" dirty="0"/>
              <a:t> </a:t>
            </a:r>
            <a:r>
              <a:rPr lang="fr-FR" altLang="fr-FR" dirty="0" err="1"/>
              <a:t>be</a:t>
            </a:r>
            <a:r>
              <a:rPr lang="fr-FR" altLang="fr-FR" dirty="0"/>
              <a:t> </a:t>
            </a:r>
            <a:r>
              <a:rPr lang="fr-FR" altLang="fr-FR" dirty="0" err="1"/>
              <a:t>used</a:t>
            </a:r>
            <a:r>
              <a:rPr lang="fr-FR" altLang="fr-FR" dirty="0"/>
              <a:t> as instrument for z(i), </a:t>
            </a:r>
            <a:r>
              <a:rPr lang="fr-FR" altLang="fr-FR" dirty="0" err="1"/>
              <a:t>while</a:t>
            </a:r>
            <a:r>
              <a:rPr lang="fr-FR" altLang="fr-FR" dirty="0"/>
              <a:t> </a:t>
            </a:r>
            <a:r>
              <a:rPr lang="fr-FR" altLang="fr-FR" b="1" dirty="0" err="1"/>
              <a:t>we</a:t>
            </a:r>
            <a:r>
              <a:rPr lang="fr-FR" altLang="fr-FR" b="1" dirty="0"/>
              <a:t> know</a:t>
            </a:r>
            <a:r>
              <a:rPr lang="fr-FR" altLang="fr-FR" dirty="0"/>
              <a:t> the </a:t>
            </a:r>
            <a:r>
              <a:rPr lang="fr-FR" altLang="fr-FR" dirty="0" err="1"/>
              <a:t>other</a:t>
            </a:r>
            <a:r>
              <a:rPr lang="fr-FR" altLang="fr-FR" dirty="0"/>
              <a:t> x(i.) are </a:t>
            </a:r>
            <a:r>
              <a:rPr lang="fr-FR" altLang="fr-FR" dirty="0" err="1"/>
              <a:t>endogenous</a:t>
            </a:r>
            <a:r>
              <a:rPr lang="fr-FR" altLang="fr-FR" dirty="0"/>
              <a:t>.</a:t>
            </a:r>
          </a:p>
        </p:txBody>
      </p:sp>
    </p:spTree>
    <p:extLst>
      <p:ext uri="{BB962C8B-B14F-4D97-AF65-F5344CB8AC3E}">
        <p14:creationId xmlns:p14="http://schemas.microsoft.com/office/powerpoint/2010/main" val="2024157874"/>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Weaknesses</a:t>
            </a:r>
            <a:r>
              <a:rPr lang="fr-FR" dirty="0"/>
              <a:t> of HT </a:t>
            </a:r>
          </a:p>
        </p:txBody>
      </p:sp>
      <p:sp>
        <p:nvSpPr>
          <p:cNvPr id="3" name="Espace réservé du contenu 2"/>
          <p:cNvSpPr>
            <a:spLocks noGrp="1"/>
          </p:cNvSpPr>
          <p:nvPr>
            <p:ph idx="1"/>
          </p:nvPr>
        </p:nvSpPr>
        <p:spPr/>
        <p:txBody>
          <a:bodyPr>
            <a:normAutofit fontScale="92500" lnSpcReduction="20000"/>
          </a:bodyPr>
          <a:lstStyle/>
          <a:p>
            <a:pPr marL="514350" indent="-514350">
              <a:buFont typeface="+mj-lt"/>
              <a:buAutoNum type="arabicPeriod"/>
            </a:pPr>
            <a:r>
              <a:rPr lang="fr-FR" altLang="fr-FR" dirty="0"/>
              <a:t>A </a:t>
            </a:r>
            <a:r>
              <a:rPr lang="fr-FR" altLang="fr-FR" dirty="0" err="1"/>
              <a:t>pre-test</a:t>
            </a:r>
            <a:r>
              <a:rPr lang="fr-FR" altLang="fr-FR" dirty="0"/>
              <a:t> </a:t>
            </a:r>
            <a:r>
              <a:rPr lang="fr-FR" altLang="fr-FR" dirty="0" err="1"/>
              <a:t>may</a:t>
            </a:r>
            <a:r>
              <a:rPr lang="fr-FR" altLang="fr-FR" dirty="0"/>
              <a:t> look at the </a:t>
            </a:r>
            <a:r>
              <a:rPr lang="fr-FR" altLang="fr-FR" dirty="0" err="1"/>
              <a:t>Mundlak</a:t>
            </a:r>
            <a:r>
              <a:rPr lang="fr-FR" altLang="fr-FR" dirty="0"/>
              <a:t> test </a:t>
            </a:r>
          </a:p>
          <a:p>
            <a:pPr marL="0" indent="0">
              <a:buNone/>
            </a:pPr>
            <a:r>
              <a:rPr lang="fr-FR" altLang="fr-FR" dirty="0" err="1"/>
              <a:t>bb-bw</a:t>
            </a:r>
            <a:r>
              <a:rPr lang="fr-FR" altLang="fr-FR" dirty="0"/>
              <a:t> for the x(i.): t&lt;2: x(i.) </a:t>
            </a:r>
            <a:r>
              <a:rPr lang="fr-FR" altLang="fr-FR" dirty="0" err="1"/>
              <a:t>exogenous</a:t>
            </a:r>
            <a:r>
              <a:rPr lang="fr-FR" altLang="fr-FR" dirty="0"/>
              <a:t>.</a:t>
            </a:r>
          </a:p>
          <a:p>
            <a:pPr marL="0" indent="0">
              <a:buNone/>
            </a:pPr>
            <a:r>
              <a:rPr lang="fr-FR" altLang="fr-FR" dirty="0"/>
              <a:t>2. Check if </a:t>
            </a:r>
            <a:r>
              <a:rPr lang="fr-FR" altLang="fr-FR" dirty="0" err="1"/>
              <a:t>weak</a:t>
            </a:r>
            <a:r>
              <a:rPr lang="fr-FR" altLang="fr-FR" dirty="0"/>
              <a:t> instrument: R2 of </a:t>
            </a:r>
            <a:r>
              <a:rPr lang="fr-FR" altLang="fr-FR" dirty="0" err="1"/>
              <a:t>correlation</a:t>
            </a:r>
            <a:r>
              <a:rPr lang="fr-FR" altLang="fr-FR" dirty="0"/>
              <a:t> of </a:t>
            </a:r>
            <a:r>
              <a:rPr lang="fr-FR" altLang="fr-FR" dirty="0" err="1"/>
              <a:t>exogenous</a:t>
            </a:r>
            <a:r>
              <a:rPr lang="fr-FR" altLang="fr-FR" dirty="0"/>
              <a:t> X(i.) </a:t>
            </a:r>
            <a:r>
              <a:rPr lang="fr-FR" altLang="fr-FR" dirty="0" err="1"/>
              <a:t>with</a:t>
            </a:r>
            <a:r>
              <a:rPr lang="fr-FR" altLang="fr-FR" dirty="0"/>
              <a:t> Z(i).</a:t>
            </a:r>
          </a:p>
          <a:p>
            <a:pPr marL="0" indent="0">
              <a:buNone/>
            </a:pPr>
            <a:r>
              <a:rPr lang="fr-FR" altLang="fr-FR" dirty="0"/>
              <a:t>3. Multiple </a:t>
            </a:r>
            <a:r>
              <a:rPr lang="fr-FR" altLang="fr-FR" dirty="0" err="1"/>
              <a:t>comparisons</a:t>
            </a:r>
            <a:r>
              <a:rPr lang="fr-FR" altLang="fr-FR" dirty="0"/>
              <a:t>. In the </a:t>
            </a:r>
            <a:r>
              <a:rPr lang="fr-FR" altLang="fr-FR" dirty="0" err="1"/>
              <a:t>returns</a:t>
            </a:r>
            <a:r>
              <a:rPr lang="fr-FR" altLang="fr-FR" dirty="0"/>
              <a:t> of </a:t>
            </a:r>
            <a:r>
              <a:rPr lang="fr-FR" altLang="fr-FR" dirty="0" err="1"/>
              <a:t>education</a:t>
            </a:r>
            <a:r>
              <a:rPr lang="fr-FR" altLang="fr-FR" dirty="0"/>
              <a:t> </a:t>
            </a:r>
            <a:r>
              <a:rPr lang="fr-FR" altLang="fr-FR" dirty="0" err="1"/>
              <a:t>example</a:t>
            </a:r>
            <a:r>
              <a:rPr lang="fr-FR" altLang="fr-FR" dirty="0"/>
              <a:t> in stata doc. for HT estimations: </a:t>
            </a:r>
            <a:r>
              <a:rPr lang="fr-FR" altLang="fr-FR" dirty="0" err="1"/>
              <a:t>there</a:t>
            </a:r>
            <a:r>
              <a:rPr lang="fr-FR" altLang="fr-FR" dirty="0"/>
              <a:t> are k=9 X(i.) for 1 variable to instrument, the </a:t>
            </a:r>
            <a:r>
              <a:rPr lang="fr-FR" altLang="fr-FR" dirty="0" err="1"/>
              <a:t>number</a:t>
            </a:r>
            <a:r>
              <a:rPr lang="fr-FR" altLang="fr-FR" dirty="0"/>
              <a:t> of </a:t>
            </a:r>
            <a:r>
              <a:rPr lang="fr-FR" altLang="fr-FR" dirty="0" err="1"/>
              <a:t>combinations</a:t>
            </a:r>
            <a:r>
              <a:rPr lang="fr-FR" altLang="fr-FR" dirty="0"/>
              <a:t> </a:t>
            </a:r>
            <a:r>
              <a:rPr lang="fr-FR" altLang="fr-FR" dirty="0" err="1"/>
              <a:t>is</a:t>
            </a:r>
            <a:r>
              <a:rPr lang="fr-FR" altLang="fr-FR" dirty="0"/>
              <a:t> </a:t>
            </a:r>
            <a:r>
              <a:rPr lang="fr-FR" altLang="fr-FR" dirty="0" err="1"/>
              <a:t>very</a:t>
            </a:r>
            <a:r>
              <a:rPr lang="fr-FR" altLang="fr-FR" dirty="0"/>
              <a:t> large (C,1,9).</a:t>
            </a:r>
          </a:p>
          <a:p>
            <a:pPr marL="0" indent="0">
              <a:buNone/>
            </a:pPr>
            <a:r>
              <a:rPr lang="fr-FR" altLang="fr-FR" dirty="0"/>
              <a:t> </a:t>
            </a:r>
          </a:p>
        </p:txBody>
      </p:sp>
    </p:spTree>
    <p:extLst>
      <p:ext uri="{BB962C8B-B14F-4D97-AF65-F5344CB8AC3E}">
        <p14:creationId xmlns:p14="http://schemas.microsoft.com/office/powerpoint/2010/main" val="3099224704"/>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re 1"/>
          <p:cNvSpPr>
            <a:spLocks noGrp="1"/>
          </p:cNvSpPr>
          <p:nvPr>
            <p:ph type="title"/>
          </p:nvPr>
        </p:nvSpPr>
        <p:spPr/>
        <p:txBody>
          <a:bodyPr/>
          <a:lstStyle/>
          <a:p>
            <a:r>
              <a:rPr lang="fr-FR" altLang="fr-FR" dirty="0" err="1"/>
              <a:t>Mundlak</a:t>
            </a:r>
            <a:r>
              <a:rPr lang="fr-FR" altLang="fr-FR" dirty="0"/>
              <a:t> </a:t>
            </a:r>
            <a:r>
              <a:rPr lang="fr-FR" altLang="fr-FR" dirty="0" err="1"/>
              <a:t>Pretest</a:t>
            </a:r>
            <a:r>
              <a:rPr lang="fr-FR" altLang="fr-FR" dirty="0"/>
              <a:t> of </a:t>
            </a:r>
            <a:r>
              <a:rPr lang="fr-FR" altLang="fr-FR" dirty="0" err="1"/>
              <a:t>exogeneity</a:t>
            </a:r>
            <a:r>
              <a:rPr lang="fr-FR" altLang="fr-FR" dirty="0"/>
              <a:t> </a:t>
            </a:r>
          </a:p>
        </p:txBody>
      </p:sp>
      <p:sp>
        <p:nvSpPr>
          <p:cNvPr id="73731" name="Espace réservé du contenu 2"/>
          <p:cNvSpPr>
            <a:spLocks noGrp="1"/>
          </p:cNvSpPr>
          <p:nvPr>
            <p:ph idx="1"/>
          </p:nvPr>
        </p:nvSpPr>
        <p:spPr/>
        <p:txBody>
          <a:bodyPr/>
          <a:lstStyle/>
          <a:p>
            <a:pPr marL="0" indent="0">
              <a:buFontTx/>
              <a:buNone/>
            </a:pPr>
            <a:r>
              <a:rPr lang="fr-FR" altLang="fr-FR" dirty="0"/>
              <a:t>Y(</a:t>
            </a:r>
            <a:r>
              <a:rPr lang="fr-FR" altLang="fr-FR" dirty="0" err="1"/>
              <a:t>it</a:t>
            </a:r>
            <a:r>
              <a:rPr lang="fr-FR" altLang="fr-FR" dirty="0"/>
              <a:t>) = </a:t>
            </a:r>
            <a:r>
              <a:rPr lang="el-GR" altLang="fr-FR" dirty="0"/>
              <a:t>β</a:t>
            </a:r>
            <a:r>
              <a:rPr lang="fr-FR" altLang="fr-FR" dirty="0"/>
              <a:t>w. X(</a:t>
            </a:r>
            <a:r>
              <a:rPr lang="fr-FR" altLang="fr-FR" dirty="0" err="1"/>
              <a:t>it</a:t>
            </a:r>
            <a:r>
              <a:rPr lang="fr-FR" altLang="fr-FR" dirty="0"/>
              <a:t>) + (</a:t>
            </a:r>
            <a:r>
              <a:rPr lang="el-GR" altLang="fr-FR" dirty="0"/>
              <a:t>β</a:t>
            </a:r>
            <a:r>
              <a:rPr lang="fr-FR" altLang="fr-FR" dirty="0"/>
              <a:t>b-</a:t>
            </a:r>
            <a:r>
              <a:rPr lang="el-GR" altLang="fr-FR" dirty="0"/>
              <a:t> β</a:t>
            </a:r>
            <a:r>
              <a:rPr lang="fr-FR" altLang="fr-FR" dirty="0"/>
              <a:t>w). X(i.) </a:t>
            </a:r>
          </a:p>
          <a:p>
            <a:pPr marL="0" indent="0">
              <a:buFontTx/>
              <a:buNone/>
            </a:pPr>
            <a:r>
              <a:rPr lang="fr-FR" altLang="fr-FR" dirty="0"/>
              <a:t>	+ </a:t>
            </a:r>
            <a:r>
              <a:rPr lang="el-GR" altLang="fr-FR" dirty="0"/>
              <a:t>γ</a:t>
            </a:r>
            <a:r>
              <a:rPr lang="fr-FR" altLang="fr-FR" dirty="0"/>
              <a:t>b. Z(i) + </a:t>
            </a:r>
            <a:r>
              <a:rPr lang="el-GR" altLang="fr-FR" dirty="0"/>
              <a:t>α</a:t>
            </a:r>
            <a:r>
              <a:rPr lang="fr-FR" altLang="fr-FR" dirty="0"/>
              <a:t>(i) + </a:t>
            </a:r>
            <a:r>
              <a:rPr lang="el-GR" altLang="fr-FR" dirty="0"/>
              <a:t>ε</a:t>
            </a:r>
            <a:r>
              <a:rPr lang="fr-FR" altLang="fr-FR" dirty="0"/>
              <a:t>(</a:t>
            </a:r>
            <a:r>
              <a:rPr lang="fr-FR" altLang="fr-FR" dirty="0" err="1"/>
              <a:t>it</a:t>
            </a:r>
            <a:r>
              <a:rPr lang="fr-FR" altLang="fr-FR" dirty="0"/>
              <a:t>)</a:t>
            </a:r>
          </a:p>
          <a:p>
            <a:pPr marL="0" indent="0">
              <a:buFontTx/>
              <a:buNone/>
            </a:pPr>
            <a:endParaRPr lang="fr-FR" altLang="fr-FR" dirty="0"/>
          </a:p>
          <a:p>
            <a:pPr marL="0" indent="0">
              <a:buFontTx/>
              <a:buNone/>
            </a:pPr>
            <a:r>
              <a:rPr lang="fr-FR" altLang="fr-FR" dirty="0"/>
              <a:t>If H0: (</a:t>
            </a:r>
            <a:r>
              <a:rPr lang="el-GR" altLang="fr-FR" dirty="0"/>
              <a:t>β</a:t>
            </a:r>
            <a:r>
              <a:rPr lang="fr-FR" altLang="fr-FR" dirty="0"/>
              <a:t>b-</a:t>
            </a:r>
            <a:r>
              <a:rPr lang="el-GR" altLang="fr-FR" dirty="0"/>
              <a:t> β</a:t>
            </a:r>
            <a:r>
              <a:rPr lang="fr-FR" altLang="fr-FR" dirty="0"/>
              <a:t>w)=0 not </a:t>
            </a:r>
            <a:r>
              <a:rPr lang="fr-FR" altLang="fr-FR" dirty="0" err="1"/>
              <a:t>rejected</a:t>
            </a:r>
            <a:r>
              <a:rPr lang="fr-FR" altLang="fr-FR" dirty="0"/>
              <a:t>, X(i.) </a:t>
            </a:r>
            <a:r>
              <a:rPr lang="fr-FR" altLang="fr-FR" dirty="0" err="1"/>
              <a:t>is</a:t>
            </a:r>
            <a:r>
              <a:rPr lang="fr-FR" altLang="fr-FR" dirty="0"/>
              <a:t> </a:t>
            </a:r>
            <a:r>
              <a:rPr lang="fr-FR" altLang="fr-FR" dirty="0" err="1"/>
              <a:t>exogenous</a:t>
            </a:r>
            <a:r>
              <a:rPr lang="fr-FR" altLang="fr-FR" dirty="0"/>
              <a:t> </a:t>
            </a:r>
            <a:r>
              <a:rPr lang="fr-FR" altLang="fr-FR" dirty="0" err="1"/>
              <a:t>with</a:t>
            </a:r>
            <a:r>
              <a:rPr lang="fr-FR" altLang="fr-FR" dirty="0"/>
              <a:t> respect to a(i).</a:t>
            </a:r>
          </a:p>
          <a:p>
            <a:pPr marL="0" indent="0">
              <a:buFontTx/>
              <a:buNone/>
            </a:pPr>
            <a:endParaRPr lang="fr-FR" altLang="fr-FR" dirty="0"/>
          </a:p>
          <a:p>
            <a:pPr marL="0" indent="0">
              <a:buFontTx/>
              <a:buNone/>
            </a:pPr>
            <a:r>
              <a:rPr lang="fr-FR" altLang="fr-FR" dirty="0" err="1"/>
              <a:t>Below</a:t>
            </a:r>
            <a:r>
              <a:rPr lang="fr-FR" altLang="fr-FR" dirty="0"/>
              <a:t>, </a:t>
            </a:r>
            <a:r>
              <a:rPr lang="fr-FR" altLang="fr-FR" dirty="0" err="1"/>
              <a:t>mpolicy</a:t>
            </a:r>
            <a:r>
              <a:rPr lang="fr-FR" altLang="fr-FR" dirty="0"/>
              <a:t> </a:t>
            </a:r>
            <a:r>
              <a:rPr lang="fr-FR" altLang="fr-FR" dirty="0" err="1"/>
              <a:t>may</a:t>
            </a:r>
            <a:r>
              <a:rPr lang="fr-FR" altLang="fr-FR" dirty="0"/>
              <a:t> </a:t>
            </a:r>
            <a:r>
              <a:rPr lang="fr-FR" altLang="fr-FR" dirty="0" err="1"/>
              <a:t>be</a:t>
            </a:r>
            <a:r>
              <a:rPr lang="fr-FR" altLang="fr-FR" dirty="0"/>
              <a:t> an instrument of </a:t>
            </a:r>
            <a:r>
              <a:rPr lang="fr-FR" altLang="fr-FR" dirty="0" err="1"/>
              <a:t>icrg</a:t>
            </a:r>
            <a:r>
              <a:rPr lang="fr-FR" altLang="fr-FR" dirty="0"/>
              <a:t> </a:t>
            </a:r>
            <a:r>
              <a:rPr lang="fr-FR" altLang="fr-FR" dirty="0" err="1"/>
              <a:t>measure</a:t>
            </a:r>
            <a:r>
              <a:rPr lang="fr-FR" altLang="fr-FR" dirty="0"/>
              <a:t> of corruption.</a:t>
            </a:r>
          </a:p>
        </p:txBody>
      </p:sp>
    </p:spTree>
    <p:extLst>
      <p:ext uri="{BB962C8B-B14F-4D97-AF65-F5344CB8AC3E}">
        <p14:creationId xmlns:p14="http://schemas.microsoft.com/office/powerpoint/2010/main" val="5492487"/>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36512" y="0"/>
            <a:ext cx="9144000" cy="677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fr-FR" altLang="fr-FR" sz="1800" dirty="0" err="1">
                <a:latin typeface="Times New Roman" pitchFamily="18" charset="0"/>
              </a:rPr>
              <a:t>Mundlak</a:t>
            </a:r>
            <a:r>
              <a:rPr lang="fr-FR" altLang="fr-FR" sz="1800" dirty="0">
                <a:latin typeface="Times New Roman" pitchFamily="18" charset="0"/>
              </a:rPr>
              <a:t> </a:t>
            </a:r>
            <a:r>
              <a:rPr lang="fr-FR" altLang="fr-FR" sz="1800" dirty="0" err="1">
                <a:latin typeface="Times New Roman" pitchFamily="18" charset="0"/>
              </a:rPr>
              <a:t>estimator</a:t>
            </a:r>
            <a:r>
              <a:rPr lang="fr-FR" altLang="fr-FR" sz="1800" dirty="0">
                <a:latin typeface="Times New Roman" pitchFamily="18" charset="0"/>
              </a:rPr>
              <a:t>: </a:t>
            </a:r>
            <a:r>
              <a:rPr lang="fr-FR" altLang="fr-FR" sz="1800" b="1" dirty="0">
                <a:latin typeface="Times New Roman" pitchFamily="18" charset="0"/>
              </a:rPr>
              <a:t>beta (B) – beta (W), beta(B) for time invariant: FOR BALANCED PANEL (</a:t>
            </a:r>
            <a:r>
              <a:rPr lang="fr-FR" altLang="fr-FR" sz="1800" b="1" dirty="0" err="1">
                <a:latin typeface="Times New Roman" pitchFamily="18" charset="0"/>
              </a:rPr>
              <a:t>weights</a:t>
            </a:r>
            <a:r>
              <a:rPr lang="fr-FR" altLang="fr-FR" sz="1800" b="1" dirty="0">
                <a:latin typeface="Times New Roman" pitchFamily="18" charset="0"/>
              </a:rPr>
              <a:t> in </a:t>
            </a:r>
            <a:r>
              <a:rPr lang="fr-FR" altLang="fr-FR" sz="1800" b="1" dirty="0" err="1">
                <a:latin typeface="Times New Roman" pitchFamily="18" charset="0"/>
              </a:rPr>
              <a:t>between</a:t>
            </a:r>
            <a:r>
              <a:rPr lang="fr-FR" altLang="fr-FR" sz="1800" b="1" dirty="0">
                <a:latin typeface="Times New Roman" pitchFamily="18" charset="0"/>
              </a:rPr>
              <a:t> for </a:t>
            </a:r>
            <a:r>
              <a:rPr lang="fr-FR" altLang="fr-FR" sz="1800" b="1" dirty="0" err="1">
                <a:latin typeface="Times New Roman" pitchFamily="18" charset="0"/>
              </a:rPr>
              <a:t>unbalanced</a:t>
            </a:r>
            <a:r>
              <a:rPr lang="fr-FR" altLang="fr-FR" sz="1800" b="1" dirty="0">
                <a:latin typeface="Times New Roman" pitchFamily="18" charset="0"/>
              </a:rPr>
              <a:t>?)</a:t>
            </a:r>
          </a:p>
          <a:p>
            <a:pPr eaLnBrk="1" hangingPunct="1">
              <a:spcBef>
                <a:spcPct val="0"/>
              </a:spcBef>
              <a:buFontTx/>
              <a:buNone/>
            </a:pP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gdpg</a:t>
            </a:r>
            <a:r>
              <a:rPr lang="fr-FR" altLang="fr-FR" sz="2000" dirty="0">
                <a:latin typeface="Times New Roman" pitchFamily="18" charset="0"/>
              </a:rPr>
              <a:t> |      </a:t>
            </a:r>
            <a:r>
              <a:rPr lang="fr-FR" altLang="fr-FR" sz="2000" dirty="0" err="1">
                <a:latin typeface="Times New Roman" pitchFamily="18" charset="0"/>
              </a:rPr>
              <a:t>Coef</a:t>
            </a:r>
            <a:r>
              <a:rPr lang="fr-FR" altLang="fr-FR" sz="2000" dirty="0">
                <a:latin typeface="Times New Roman" pitchFamily="18" charset="0"/>
              </a:rPr>
              <a:t>.   </a:t>
            </a:r>
            <a:r>
              <a:rPr lang="fr-FR" altLang="fr-FR" sz="2000" dirty="0" err="1">
                <a:latin typeface="Times New Roman" pitchFamily="18" charset="0"/>
              </a:rPr>
              <a:t>Std</a:t>
            </a:r>
            <a:r>
              <a:rPr lang="fr-FR" altLang="fr-FR" sz="2000" dirty="0">
                <a:latin typeface="Times New Roman" pitchFamily="18" charset="0"/>
              </a:rPr>
              <a:t>. </a:t>
            </a:r>
            <a:r>
              <a:rPr lang="fr-FR" altLang="fr-FR" sz="2000" dirty="0" err="1">
                <a:latin typeface="Times New Roman" pitchFamily="18" charset="0"/>
              </a:rPr>
              <a:t>Err</a:t>
            </a:r>
            <a:r>
              <a:rPr lang="fr-FR" altLang="fr-FR" sz="2000" dirty="0">
                <a:latin typeface="Times New Roman" pitchFamily="18" charset="0"/>
              </a:rPr>
              <a:t>.      z    P&gt;|z|     [95% </a:t>
            </a:r>
            <a:r>
              <a:rPr lang="fr-FR" altLang="fr-FR" sz="2000" dirty="0" err="1">
                <a:latin typeface="Times New Roman" pitchFamily="18" charset="0"/>
              </a:rPr>
              <a:t>Conf</a:t>
            </a:r>
            <a:r>
              <a:rPr lang="fr-FR" altLang="fr-FR" sz="2000" dirty="0">
                <a:latin typeface="Times New Roman" pitchFamily="18" charset="0"/>
              </a:rPr>
              <a:t>. </a:t>
            </a:r>
            <a:r>
              <a:rPr lang="fr-FR" altLang="fr-FR" sz="2000" dirty="0" err="1">
                <a:latin typeface="Times New Roman" pitchFamily="18" charset="0"/>
              </a:rPr>
              <a:t>Interval</a:t>
            </a: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policy</a:t>
            </a:r>
            <a:r>
              <a:rPr lang="fr-FR" altLang="fr-FR" sz="2000" dirty="0">
                <a:latin typeface="Times New Roman" pitchFamily="18" charset="0"/>
              </a:rPr>
              <a:t> |   </a:t>
            </a:r>
            <a:r>
              <a:rPr lang="fr-FR" altLang="fr-FR" sz="2000" b="1" dirty="0">
                <a:latin typeface="Times New Roman" pitchFamily="18" charset="0"/>
              </a:rPr>
              <a:t> .878318</a:t>
            </a:r>
            <a:r>
              <a:rPr lang="fr-FR" altLang="fr-FR" sz="2000" dirty="0">
                <a:latin typeface="Times New Roman" pitchFamily="18" charset="0"/>
              </a:rPr>
              <a:t>   .2079318     </a:t>
            </a:r>
            <a:r>
              <a:rPr lang="fr-FR" altLang="fr-FR" sz="2000" b="1" dirty="0">
                <a:latin typeface="Times New Roman" pitchFamily="18" charset="0"/>
              </a:rPr>
              <a:t>4.22</a:t>
            </a:r>
            <a:r>
              <a:rPr lang="fr-FR" altLang="fr-FR" sz="2000" dirty="0">
                <a:latin typeface="Times New Roman" pitchFamily="18" charset="0"/>
              </a:rPr>
              <a:t>   0.000     .4707792    1.285857</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lgdp</a:t>
            </a:r>
            <a:r>
              <a:rPr lang="fr-FR" altLang="fr-FR" sz="2000" dirty="0">
                <a:latin typeface="Times New Roman" pitchFamily="18" charset="0"/>
              </a:rPr>
              <a:t> |  </a:t>
            </a:r>
            <a:r>
              <a:rPr lang="fr-FR" altLang="fr-FR" sz="2000" b="1" dirty="0">
                <a:latin typeface="Times New Roman" pitchFamily="18" charset="0"/>
              </a:rPr>
              <a:t>-3.882033 </a:t>
            </a:r>
            <a:r>
              <a:rPr lang="fr-FR" altLang="fr-FR" sz="2000" dirty="0">
                <a:latin typeface="Times New Roman" pitchFamily="18" charset="0"/>
              </a:rPr>
              <a:t>   1.03924    </a:t>
            </a:r>
            <a:r>
              <a:rPr lang="fr-FR" altLang="fr-FR" sz="2000" b="1" dirty="0">
                <a:latin typeface="Times New Roman" pitchFamily="18" charset="0"/>
              </a:rPr>
              <a:t>-3.74</a:t>
            </a:r>
            <a:r>
              <a:rPr lang="fr-FR" altLang="fr-FR" sz="2000" dirty="0">
                <a:latin typeface="Times New Roman" pitchFamily="18" charset="0"/>
              </a:rPr>
              <a:t>   0.000    -5.918907   -1.845159</a:t>
            </a:r>
          </a:p>
          <a:p>
            <a:pPr eaLnBrk="1" hangingPunct="1">
              <a:spcBef>
                <a:spcPct val="0"/>
              </a:spcBef>
              <a:buFontTx/>
              <a:buNone/>
            </a:pPr>
            <a:r>
              <a:rPr lang="fr-FR" altLang="fr-FR" sz="2000" dirty="0">
                <a:latin typeface="Times New Roman" pitchFamily="18" charset="0"/>
              </a:rPr>
              <a:t>        m2_1 |  </a:t>
            </a:r>
            <a:r>
              <a:rPr lang="fr-FR" altLang="fr-FR" sz="2000" b="1" dirty="0">
                <a:latin typeface="Times New Roman" pitchFamily="18" charset="0"/>
              </a:rPr>
              <a:t> -.049506</a:t>
            </a:r>
            <a:r>
              <a:rPr lang="fr-FR" altLang="fr-FR" sz="2000" dirty="0">
                <a:latin typeface="Times New Roman" pitchFamily="18" charset="0"/>
              </a:rPr>
              <a:t>   .0227999    </a:t>
            </a:r>
            <a:r>
              <a:rPr lang="fr-FR" altLang="fr-FR" sz="2000" b="1" dirty="0">
                <a:latin typeface="Times New Roman" pitchFamily="18" charset="0"/>
              </a:rPr>
              <a:t>-2.17</a:t>
            </a:r>
            <a:r>
              <a:rPr lang="fr-FR" altLang="fr-FR" sz="2000" dirty="0">
                <a:latin typeface="Times New Roman" pitchFamily="18" charset="0"/>
              </a:rPr>
              <a:t>   0.030    -.0941929    -.004819</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mpolicy</a:t>
            </a:r>
            <a:r>
              <a:rPr lang="fr-FR" altLang="fr-FR" sz="2000" dirty="0">
                <a:latin typeface="Times New Roman" pitchFamily="18" charset="0"/>
              </a:rPr>
              <a:t> |    </a:t>
            </a:r>
            <a:r>
              <a:rPr lang="fr-FR" altLang="fr-FR" sz="2000" b="1" dirty="0">
                <a:solidFill>
                  <a:srgbClr val="00B050"/>
                </a:solidFill>
                <a:latin typeface="Times New Roman" pitchFamily="18" charset="0"/>
              </a:rPr>
              <a:t>.413422</a:t>
            </a:r>
            <a:r>
              <a:rPr lang="fr-FR" altLang="fr-FR" sz="2000" dirty="0">
                <a:latin typeface="Times New Roman" pitchFamily="18" charset="0"/>
              </a:rPr>
              <a:t>   .3574066     1.16   0.247    -.2870822    1.113926</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mlgdp</a:t>
            </a:r>
            <a:r>
              <a:rPr lang="fr-FR" altLang="fr-FR" sz="2000" dirty="0">
                <a:latin typeface="Times New Roman" pitchFamily="18" charset="0"/>
              </a:rPr>
              <a:t> |   </a:t>
            </a:r>
            <a:r>
              <a:rPr lang="fr-FR" altLang="fr-FR" sz="2000" b="1" dirty="0">
                <a:solidFill>
                  <a:srgbClr val="00B050"/>
                </a:solidFill>
                <a:latin typeface="Times New Roman" pitchFamily="18" charset="0"/>
              </a:rPr>
              <a:t>3.606534</a:t>
            </a:r>
            <a:r>
              <a:rPr lang="fr-FR" altLang="fr-FR" sz="2000" dirty="0">
                <a:latin typeface="Times New Roman" pitchFamily="18" charset="0"/>
              </a:rPr>
              <a:t>   1.125934     </a:t>
            </a:r>
            <a:r>
              <a:rPr lang="fr-FR" altLang="fr-FR" sz="2000" b="1" dirty="0">
                <a:solidFill>
                  <a:srgbClr val="00B050"/>
                </a:solidFill>
                <a:latin typeface="Times New Roman" pitchFamily="18" charset="0"/>
              </a:rPr>
              <a:t>3.20</a:t>
            </a:r>
            <a:r>
              <a:rPr lang="fr-FR" altLang="fr-FR" sz="2000" dirty="0">
                <a:latin typeface="Times New Roman" pitchFamily="18" charset="0"/>
              </a:rPr>
              <a:t>   0.001     1.399744    5.813323</a:t>
            </a:r>
          </a:p>
          <a:p>
            <a:pPr eaLnBrk="1" hangingPunct="1">
              <a:spcBef>
                <a:spcPct val="0"/>
              </a:spcBef>
              <a:buFontTx/>
              <a:buNone/>
            </a:pPr>
            <a:r>
              <a:rPr lang="fr-FR" altLang="fr-FR" sz="2000" dirty="0">
                <a:latin typeface="Times New Roman" pitchFamily="18" charset="0"/>
              </a:rPr>
              <a:t>       mm2_1 |  </a:t>
            </a:r>
            <a:r>
              <a:rPr lang="fr-FR" altLang="fr-FR" sz="2000" b="1" dirty="0">
                <a:solidFill>
                  <a:srgbClr val="00B050"/>
                </a:solidFill>
                <a:latin typeface="Times New Roman" pitchFamily="18" charset="0"/>
              </a:rPr>
              <a:t> .0766954</a:t>
            </a:r>
            <a:r>
              <a:rPr lang="fr-FR" altLang="fr-FR" sz="2000" dirty="0">
                <a:latin typeface="Times New Roman" pitchFamily="18" charset="0"/>
              </a:rPr>
              <a:t>   .0304941     </a:t>
            </a:r>
            <a:r>
              <a:rPr lang="fr-FR" altLang="fr-FR" sz="2000" b="1" dirty="0">
                <a:solidFill>
                  <a:srgbClr val="00B050"/>
                </a:solidFill>
                <a:latin typeface="Times New Roman" pitchFamily="18" charset="0"/>
              </a:rPr>
              <a:t>2.52</a:t>
            </a:r>
            <a:r>
              <a:rPr lang="fr-FR" altLang="fr-FR" sz="2000" dirty="0">
                <a:latin typeface="Times New Roman" pitchFamily="18" charset="0"/>
              </a:rPr>
              <a:t>   0.012      .016928    .1364628</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icrge</a:t>
            </a:r>
            <a:r>
              <a:rPr lang="fr-FR" altLang="fr-FR" sz="2000" dirty="0">
                <a:latin typeface="Times New Roman" pitchFamily="18" charset="0"/>
              </a:rPr>
              <a:t> |    </a:t>
            </a:r>
            <a:r>
              <a:rPr lang="fr-FR" altLang="fr-FR" sz="2000" dirty="0">
                <a:solidFill>
                  <a:srgbClr val="FF0000"/>
                </a:solidFill>
                <a:latin typeface="Times New Roman" pitchFamily="18" charset="0"/>
              </a:rPr>
              <a:t>.470856</a:t>
            </a:r>
            <a:r>
              <a:rPr lang="fr-FR" altLang="fr-FR" sz="2000" dirty="0">
                <a:latin typeface="Times New Roman" pitchFamily="18" charset="0"/>
              </a:rPr>
              <a:t>   .2050086     </a:t>
            </a:r>
            <a:r>
              <a:rPr lang="fr-FR" altLang="fr-FR" sz="2000" dirty="0">
                <a:solidFill>
                  <a:srgbClr val="FF0000"/>
                </a:solidFill>
                <a:latin typeface="Times New Roman" pitchFamily="18" charset="0"/>
              </a:rPr>
              <a:t>2.30</a:t>
            </a:r>
            <a:r>
              <a:rPr lang="fr-FR" altLang="fr-FR" sz="2000" dirty="0">
                <a:latin typeface="Times New Roman" pitchFamily="18" charset="0"/>
              </a:rPr>
              <a:t>   0.022     .0690466    .8726655</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ssa</a:t>
            </a:r>
            <a:r>
              <a:rPr lang="fr-FR" altLang="fr-FR" sz="2000" dirty="0">
                <a:latin typeface="Times New Roman" pitchFamily="18" charset="0"/>
              </a:rPr>
              <a:t> |    </a:t>
            </a:r>
            <a:r>
              <a:rPr lang="fr-FR" altLang="fr-FR" sz="2000" dirty="0">
                <a:solidFill>
                  <a:srgbClr val="FF0000"/>
                </a:solidFill>
                <a:latin typeface="Times New Roman" pitchFamily="18" charset="0"/>
              </a:rPr>
              <a:t>-1.1797 </a:t>
            </a:r>
            <a:r>
              <a:rPr lang="fr-FR" altLang="fr-FR" sz="2000" dirty="0">
                <a:latin typeface="Times New Roman" pitchFamily="18" charset="0"/>
              </a:rPr>
              <a:t>  .7126032    -1.66   0.098    -2.576376    .2169769</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easia</a:t>
            </a:r>
            <a:r>
              <a:rPr lang="fr-FR" altLang="fr-FR" sz="2000" dirty="0">
                <a:latin typeface="Times New Roman" pitchFamily="18" charset="0"/>
              </a:rPr>
              <a:t> |  </a:t>
            </a:r>
            <a:r>
              <a:rPr lang="fr-FR" altLang="fr-FR" sz="2000" dirty="0">
                <a:solidFill>
                  <a:srgbClr val="FF0000"/>
                </a:solidFill>
                <a:latin typeface="Times New Roman" pitchFamily="18" charset="0"/>
              </a:rPr>
              <a:t> .5661284</a:t>
            </a:r>
            <a:r>
              <a:rPr lang="fr-FR" altLang="fr-FR" sz="2000" dirty="0">
                <a:latin typeface="Times New Roman" pitchFamily="18" charset="0"/>
              </a:rPr>
              <a:t>   .8568978     0.66   0.509     -1.11336    2.245617</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ethnf</a:t>
            </a:r>
            <a:r>
              <a:rPr lang="fr-FR" altLang="fr-FR" sz="2000" dirty="0">
                <a:latin typeface="Times New Roman" pitchFamily="18" charset="0"/>
              </a:rPr>
              <a:t> |   </a:t>
            </a:r>
            <a:r>
              <a:rPr lang="fr-FR" altLang="fr-FR" sz="2000" dirty="0">
                <a:solidFill>
                  <a:srgbClr val="FF0000"/>
                </a:solidFill>
                <a:latin typeface="Times New Roman" pitchFamily="18" charset="0"/>
              </a:rPr>
              <a:t>-.002012</a:t>
            </a:r>
            <a:r>
              <a:rPr lang="fr-FR" altLang="fr-FR" sz="2000" dirty="0">
                <a:latin typeface="Times New Roman" pitchFamily="18" charset="0"/>
              </a:rPr>
              <a:t>   .0084419    -0.24   0.812    -.0185578    .0145339</a:t>
            </a:r>
          </a:p>
          <a:p>
            <a:pPr eaLnBrk="1" hangingPunct="1">
              <a:spcBef>
                <a:spcPct val="0"/>
              </a:spcBef>
              <a:buFontTx/>
              <a:buNone/>
            </a:pPr>
            <a:r>
              <a:rPr lang="fr-FR" altLang="fr-FR" sz="2000" dirty="0">
                <a:latin typeface="Times New Roman" pitchFamily="18" charset="0"/>
              </a:rPr>
              <a:t>       _cons |   -.811913   3.231572    -0.25   0.802    -7.145679    5.521853</a:t>
            </a:r>
          </a:p>
          <a:p>
            <a:pPr eaLnBrk="1" hangingPunct="1">
              <a:spcBef>
                <a:spcPct val="0"/>
              </a:spcBef>
              <a:buFontTx/>
              <a:buNone/>
            </a:pP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sigma_u</a:t>
            </a:r>
            <a:r>
              <a:rPr lang="fr-FR" altLang="fr-FR" sz="2000" dirty="0">
                <a:latin typeface="Times New Roman" pitchFamily="18" charset="0"/>
              </a:rPr>
              <a:t> |  .60621529</a:t>
            </a:r>
          </a:p>
          <a:p>
            <a:pPr eaLnBrk="1" hangingPunct="1">
              <a:spcBef>
                <a:spcPct val="0"/>
              </a:spcBef>
              <a:buFontTx/>
              <a:buNone/>
            </a:pPr>
            <a:r>
              <a:rPr lang="fr-FR" altLang="fr-FR" sz="2000" dirty="0">
                <a:latin typeface="Times New Roman" pitchFamily="18" charset="0"/>
              </a:rPr>
              <a:t>     </a:t>
            </a:r>
            <a:r>
              <a:rPr lang="fr-FR" altLang="fr-FR" sz="2000" dirty="0" err="1">
                <a:latin typeface="Times New Roman" pitchFamily="18" charset="0"/>
              </a:rPr>
              <a:t>sigma_e</a:t>
            </a:r>
            <a:r>
              <a:rPr lang="fr-FR" altLang="fr-FR" sz="2000" dirty="0">
                <a:latin typeface="Times New Roman" pitchFamily="18" charset="0"/>
              </a:rPr>
              <a:t> |  2.9596021</a:t>
            </a:r>
          </a:p>
          <a:p>
            <a:pPr eaLnBrk="1" hangingPunct="1">
              <a:spcBef>
                <a:spcPct val="0"/>
              </a:spcBef>
              <a:buFontTx/>
              <a:buNone/>
            </a:pPr>
            <a:r>
              <a:rPr lang="fr-FR" altLang="fr-FR" sz="2000" dirty="0">
                <a:latin typeface="Times New Roman" pitchFamily="18" charset="0"/>
              </a:rPr>
              <a:t>         rho |  .04026596   (fraction of variance due to </a:t>
            </a:r>
            <a:r>
              <a:rPr lang="fr-FR" altLang="fr-FR" sz="2000" dirty="0" err="1">
                <a:latin typeface="Times New Roman" pitchFamily="18" charset="0"/>
              </a:rPr>
              <a:t>u_i</a:t>
            </a:r>
            <a:r>
              <a:rPr lang="fr-FR" altLang="fr-FR" sz="2000" dirty="0">
                <a:latin typeface="Times New Roman" pitchFamily="18" charset="0"/>
              </a:rPr>
              <a:t>)</a:t>
            </a:r>
          </a:p>
          <a:p>
            <a:pPr eaLnBrk="1" hangingPunct="1">
              <a:spcBef>
                <a:spcPct val="0"/>
              </a:spcBef>
              <a:buFontTx/>
              <a:buNone/>
            </a:pPr>
            <a:r>
              <a:rPr lang="fr-FR" altLang="fr-FR" sz="2000" dirty="0">
                <a:latin typeface="Times New Roman" pitchFamily="18" charset="0"/>
              </a:rPr>
              <a:t>------------------------------------------------------------------------------</a:t>
            </a:r>
          </a:p>
          <a:p>
            <a:pPr eaLnBrk="1" hangingPunct="1">
              <a:spcBef>
                <a:spcPct val="0"/>
              </a:spcBef>
              <a:buFontTx/>
              <a:buNone/>
            </a:pPr>
            <a:endParaRPr lang="fr-FR" altLang="fr-FR" sz="1800" dirty="0">
              <a:latin typeface="Times New Roman" pitchFamily="18" charset="0"/>
            </a:endParaRPr>
          </a:p>
        </p:txBody>
      </p:sp>
    </p:spTree>
    <p:extLst>
      <p:ext uri="{BB962C8B-B14F-4D97-AF65-F5344CB8AC3E}">
        <p14:creationId xmlns:p14="http://schemas.microsoft.com/office/powerpoint/2010/main" val="1608288940"/>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Variation of Hausman Taylor</a:t>
            </a:r>
          </a:p>
        </p:txBody>
      </p:sp>
      <p:sp>
        <p:nvSpPr>
          <p:cNvPr id="3" name="Espace réservé du contenu 2"/>
          <p:cNvSpPr>
            <a:spLocks noGrp="1"/>
          </p:cNvSpPr>
          <p:nvPr>
            <p:ph idx="1"/>
          </p:nvPr>
        </p:nvSpPr>
        <p:spPr/>
        <p:txBody>
          <a:bodyPr/>
          <a:lstStyle/>
          <a:p>
            <a:pPr marL="0" indent="0">
              <a:buNone/>
            </a:pPr>
            <a:r>
              <a:rPr lang="fr-FR" dirty="0"/>
              <a:t>Default </a:t>
            </a:r>
            <a:r>
              <a:rPr lang="fr-FR" dirty="0" err="1"/>
              <a:t>does</a:t>
            </a:r>
            <a:r>
              <a:rPr lang="fr-FR" dirty="0"/>
              <a:t> not </a:t>
            </a:r>
            <a:r>
              <a:rPr lang="fr-FR" dirty="0" err="1"/>
              <a:t>includes</a:t>
            </a:r>
            <a:r>
              <a:rPr lang="fr-FR" dirty="0"/>
              <a:t> X(i.) as </a:t>
            </a:r>
            <a:r>
              <a:rPr lang="fr-FR" dirty="0" err="1"/>
              <a:t>regressors</a:t>
            </a:r>
            <a:r>
              <a:rPr lang="fr-FR" dirty="0"/>
              <a:t>.</a:t>
            </a:r>
          </a:p>
          <a:p>
            <a:pPr marL="0" indent="0">
              <a:buNone/>
            </a:pPr>
            <a:r>
              <a:rPr lang="fr-FR" dirty="0"/>
              <a:t>You </a:t>
            </a:r>
            <a:r>
              <a:rPr lang="fr-FR" dirty="0" err="1"/>
              <a:t>may</a:t>
            </a:r>
            <a:r>
              <a:rPr lang="fr-FR" dirty="0"/>
              <a:t> </a:t>
            </a:r>
            <a:r>
              <a:rPr lang="fr-FR" dirty="0" err="1"/>
              <a:t>include</a:t>
            </a:r>
            <a:r>
              <a:rPr lang="fr-FR" dirty="0"/>
              <a:t> the X(i.) </a:t>
            </a:r>
            <a:r>
              <a:rPr lang="fr-FR" dirty="0" err="1"/>
              <a:t>which</a:t>
            </a:r>
            <a:r>
              <a:rPr lang="fr-FR" dirty="0"/>
              <a:t> are not </a:t>
            </a:r>
            <a:r>
              <a:rPr lang="fr-FR" dirty="0" err="1"/>
              <a:t>exogenous</a:t>
            </a:r>
            <a:r>
              <a:rPr lang="fr-FR" dirty="0"/>
              <a:t> (</a:t>
            </a:r>
            <a:r>
              <a:rPr lang="fr-FR" dirty="0" err="1"/>
              <a:t>mlgdp</a:t>
            </a:r>
            <a:r>
              <a:rPr lang="fr-FR" dirty="0"/>
              <a:t> and mm2 in the </a:t>
            </a:r>
            <a:r>
              <a:rPr lang="fr-FR" dirty="0" err="1"/>
              <a:t>example</a:t>
            </a:r>
            <a:r>
              <a:rPr lang="fr-FR" dirty="0"/>
              <a:t>)</a:t>
            </a:r>
          </a:p>
          <a:p>
            <a:pPr marL="0" indent="0">
              <a:buNone/>
            </a:pPr>
            <a:r>
              <a:rPr lang="fr-FR" dirty="0"/>
              <a:t>But </a:t>
            </a:r>
            <a:r>
              <a:rPr lang="fr-FR" dirty="0" err="1"/>
              <a:t>you</a:t>
            </a:r>
            <a:r>
              <a:rPr lang="fr-FR" dirty="0"/>
              <a:t> </a:t>
            </a:r>
            <a:r>
              <a:rPr lang="fr-FR" dirty="0" err="1"/>
              <a:t>should</a:t>
            </a:r>
            <a:r>
              <a:rPr lang="fr-FR" dirty="0"/>
              <a:t> NOT </a:t>
            </a:r>
            <a:r>
              <a:rPr lang="fr-FR" dirty="0" err="1"/>
              <a:t>include</a:t>
            </a:r>
            <a:r>
              <a:rPr lang="fr-FR" dirty="0"/>
              <a:t> X(i.) </a:t>
            </a:r>
            <a:r>
              <a:rPr lang="fr-FR" dirty="0" err="1"/>
              <a:t>which</a:t>
            </a:r>
            <a:r>
              <a:rPr lang="fr-FR" dirty="0"/>
              <a:t> are </a:t>
            </a:r>
            <a:r>
              <a:rPr lang="fr-FR" dirty="0" err="1"/>
              <a:t>used</a:t>
            </a:r>
            <a:r>
              <a:rPr lang="fr-FR" dirty="0"/>
              <a:t> as instruments, </a:t>
            </a:r>
            <a:r>
              <a:rPr lang="fr-FR" dirty="0" err="1"/>
              <a:t>because</a:t>
            </a:r>
            <a:r>
              <a:rPr lang="fr-FR" dirty="0"/>
              <a:t> of </a:t>
            </a:r>
            <a:r>
              <a:rPr lang="fr-FR" dirty="0" err="1"/>
              <a:t>near-multicollinearity</a:t>
            </a:r>
            <a:r>
              <a:rPr lang="fr-FR" dirty="0"/>
              <a:t> </a:t>
            </a:r>
            <a:r>
              <a:rPr lang="fr-FR" dirty="0" err="1"/>
              <a:t>with</a:t>
            </a:r>
            <a:r>
              <a:rPr lang="fr-FR" dirty="0"/>
              <a:t> the </a:t>
            </a:r>
            <a:r>
              <a:rPr lang="fr-FR" dirty="0" err="1"/>
              <a:t>instrumented</a:t>
            </a:r>
            <a:r>
              <a:rPr lang="fr-FR" dirty="0"/>
              <a:t> Z(i) . </a:t>
            </a:r>
          </a:p>
        </p:txBody>
      </p:sp>
    </p:spTree>
    <p:extLst>
      <p:ext uri="{BB962C8B-B14F-4D97-AF65-F5344CB8AC3E}">
        <p14:creationId xmlns:p14="http://schemas.microsoft.com/office/powerpoint/2010/main" val="1778572419"/>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2018655"/>
          </a:xfrm>
        </p:spPr>
        <p:txBody>
          <a:bodyPr>
            <a:normAutofit fontScale="90000"/>
          </a:bodyPr>
          <a:lstStyle/>
          <a:p>
            <a:r>
              <a:rPr lang="fr-FR" dirty="0"/>
              <a:t>13: TWO WAY FIXED EFFECTS </a:t>
            </a:r>
            <a:r>
              <a:rPr lang="fr-FR" dirty="0" err="1"/>
              <a:t>tranformation</a:t>
            </a:r>
            <a:r>
              <a:rPr lang="fr-FR" dirty="0"/>
              <a:t>:</a:t>
            </a:r>
            <a:br>
              <a:rPr lang="fr-FR" dirty="0"/>
            </a:br>
            <a:r>
              <a:rPr lang="fr-FR" b="1" dirty="0">
                <a:solidFill>
                  <a:srgbClr val="00B050"/>
                </a:solidFill>
              </a:rPr>
              <a:t>X(</a:t>
            </a:r>
            <a:r>
              <a:rPr lang="fr-FR" b="1" dirty="0" err="1">
                <a:solidFill>
                  <a:srgbClr val="00B050"/>
                </a:solidFill>
              </a:rPr>
              <a:t>it</a:t>
            </a:r>
            <a:r>
              <a:rPr lang="fr-FR" b="1" dirty="0">
                <a:solidFill>
                  <a:srgbClr val="00B050"/>
                </a:solidFill>
              </a:rPr>
              <a:t>) - X(i.) - X(.t) + X(..)</a:t>
            </a:r>
            <a:br>
              <a:rPr lang="fr-FR" b="1" dirty="0">
                <a:solidFill>
                  <a:srgbClr val="00B050"/>
                </a:solidFill>
              </a:rPr>
            </a:br>
            <a:r>
              <a:rPr lang="fr-FR" dirty="0" err="1"/>
              <a:t>Fellow</a:t>
            </a:r>
            <a:r>
              <a:rPr lang="fr-FR" dirty="0"/>
              <a:t> of X(</a:t>
            </a:r>
            <a:r>
              <a:rPr lang="fr-FR" dirty="0" err="1"/>
              <a:t>i,t</a:t>
            </a:r>
            <a:r>
              <a:rPr lang="fr-FR" dirty="0"/>
              <a:t>) - X(i,t-1)</a:t>
            </a:r>
          </a:p>
        </p:txBody>
      </p:sp>
    </p:spTree>
    <p:extLst>
      <p:ext uri="{BB962C8B-B14F-4D97-AF65-F5344CB8AC3E}">
        <p14:creationId xmlns:p14="http://schemas.microsoft.com/office/powerpoint/2010/main" val="242445525"/>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Fixed</a:t>
            </a:r>
            <a:r>
              <a:rPr lang="fr-FR" dirty="0"/>
              <a:t> </a:t>
            </a:r>
            <a:r>
              <a:rPr lang="fr-FR" dirty="0" err="1"/>
              <a:t>effects</a:t>
            </a:r>
            <a:r>
              <a:rPr lang="fr-FR" dirty="0"/>
              <a:t> for </a:t>
            </a:r>
            <a:r>
              <a:rPr lang="fr-FR" dirty="0" err="1"/>
              <a:t>individuals</a:t>
            </a:r>
            <a:r>
              <a:rPr lang="fr-FR" dirty="0"/>
              <a:t> and for time: </a:t>
            </a:r>
            <a:r>
              <a:rPr lang="fr-FR" dirty="0" err="1"/>
              <a:t>different</a:t>
            </a:r>
            <a:r>
              <a:rPr lang="fr-FR" dirty="0"/>
              <a:t> options</a:t>
            </a:r>
          </a:p>
        </p:txBody>
      </p:sp>
      <p:sp>
        <p:nvSpPr>
          <p:cNvPr id="3" name="Espace réservé du contenu 2"/>
          <p:cNvSpPr>
            <a:spLocks noGrp="1"/>
          </p:cNvSpPr>
          <p:nvPr>
            <p:ph idx="1"/>
          </p:nvPr>
        </p:nvSpPr>
        <p:spPr/>
        <p:txBody>
          <a:bodyPr>
            <a:normAutofit lnSpcReduction="10000"/>
          </a:bodyPr>
          <a:lstStyle/>
          <a:p>
            <a:pPr marL="514350" indent="-514350">
              <a:buAutoNum type="arabicPeriod"/>
            </a:pPr>
            <a:r>
              <a:rPr lang="fr-FR" dirty="0"/>
              <a:t>OLS </a:t>
            </a:r>
            <a:r>
              <a:rPr lang="fr-FR" dirty="0" err="1"/>
              <a:t>including</a:t>
            </a:r>
            <a:r>
              <a:rPr lang="fr-FR" dirty="0"/>
              <a:t> </a:t>
            </a:r>
            <a:r>
              <a:rPr lang="fr-FR" dirty="0" err="1"/>
              <a:t>dummies</a:t>
            </a:r>
            <a:r>
              <a:rPr lang="fr-FR" dirty="0"/>
              <a:t> for </a:t>
            </a:r>
            <a:r>
              <a:rPr lang="fr-FR" dirty="0" err="1"/>
              <a:t>individuals</a:t>
            </a:r>
            <a:r>
              <a:rPr lang="fr-FR" dirty="0"/>
              <a:t> AND for </a:t>
            </a:r>
            <a:r>
              <a:rPr lang="fr-FR" dirty="0" err="1"/>
              <a:t>years</a:t>
            </a:r>
            <a:r>
              <a:rPr lang="fr-FR" dirty="0"/>
              <a:t> (or time index) but no </a:t>
            </a:r>
            <a:r>
              <a:rPr lang="fr-FR" dirty="0" err="1"/>
              <a:t>common</a:t>
            </a:r>
            <a:r>
              <a:rPr lang="fr-FR" dirty="0"/>
              <a:t> </a:t>
            </a:r>
            <a:r>
              <a:rPr lang="fr-FR" dirty="0" err="1"/>
              <a:t>intercept</a:t>
            </a:r>
            <a:r>
              <a:rPr lang="fr-FR" dirty="0"/>
              <a:t> and one </a:t>
            </a:r>
            <a:r>
              <a:rPr lang="fr-FR" dirty="0" err="1"/>
              <a:t>year</a:t>
            </a:r>
            <a:r>
              <a:rPr lang="fr-FR" dirty="0"/>
              <a:t> </a:t>
            </a:r>
            <a:r>
              <a:rPr lang="fr-FR" dirty="0" err="1"/>
              <a:t>removed</a:t>
            </a:r>
            <a:r>
              <a:rPr lang="fr-FR" dirty="0"/>
              <a:t> (</a:t>
            </a:r>
            <a:r>
              <a:rPr lang="fr-FR" dirty="0" err="1"/>
              <a:t>else</a:t>
            </a:r>
            <a:r>
              <a:rPr lang="fr-FR" dirty="0"/>
              <a:t> exact </a:t>
            </a:r>
            <a:r>
              <a:rPr lang="fr-FR" dirty="0" err="1"/>
              <a:t>collinearity</a:t>
            </a:r>
            <a:r>
              <a:rPr lang="fr-FR" dirty="0"/>
              <a:t>).</a:t>
            </a:r>
          </a:p>
          <a:p>
            <a:pPr marL="514350" indent="-514350">
              <a:buAutoNum type="arabicPeriod"/>
            </a:pPr>
            <a:r>
              <a:rPr lang="fr-FR" dirty="0" err="1"/>
              <a:t>Fixed</a:t>
            </a:r>
            <a:r>
              <a:rPr lang="fr-FR" dirty="0"/>
              <a:t> </a:t>
            </a:r>
            <a:r>
              <a:rPr lang="fr-FR" dirty="0" err="1"/>
              <a:t>effects</a:t>
            </a:r>
            <a:r>
              <a:rPr lang="fr-FR" dirty="0"/>
              <a:t>: «  </a:t>
            </a:r>
            <a:r>
              <a:rPr lang="fr-FR" dirty="0" err="1"/>
              <a:t>two-way</a:t>
            </a:r>
            <a:r>
              <a:rPr lang="fr-FR" dirty="0"/>
              <a:t> » option.</a:t>
            </a:r>
          </a:p>
          <a:p>
            <a:pPr marL="514350" indent="-514350">
              <a:buAutoNum type="arabicPeriod"/>
            </a:pPr>
            <a:r>
              <a:rPr lang="fr-FR" dirty="0"/>
              <a:t>OLS on </a:t>
            </a:r>
            <a:r>
              <a:rPr lang="fr-FR" dirty="0" err="1"/>
              <a:t>transformed</a:t>
            </a:r>
            <a:r>
              <a:rPr lang="fr-FR" dirty="0"/>
              <a:t> variables (dot </a:t>
            </a:r>
            <a:r>
              <a:rPr lang="fr-FR" dirty="0" err="1"/>
              <a:t>is</a:t>
            </a:r>
            <a:r>
              <a:rPr lang="fr-FR" dirty="0"/>
              <a:t> for </a:t>
            </a:r>
            <a:r>
              <a:rPr lang="fr-FR" dirty="0" err="1"/>
              <a:t>average</a:t>
            </a:r>
            <a:r>
              <a:rPr lang="fr-FR" dirty="0"/>
              <a:t> of </a:t>
            </a:r>
            <a:r>
              <a:rPr lang="fr-FR" dirty="0" err="1"/>
              <a:t>each</a:t>
            </a:r>
            <a:r>
              <a:rPr lang="fr-FR" dirty="0"/>
              <a:t> indices [</a:t>
            </a:r>
            <a:r>
              <a:rPr lang="fr-FR" dirty="0" err="1"/>
              <a:t>wrong</a:t>
            </a:r>
            <a:r>
              <a:rPr lang="fr-FR" dirty="0"/>
              <a:t> </a:t>
            </a:r>
            <a:r>
              <a:rPr lang="fr-FR" dirty="0" err="1"/>
              <a:t>degrees</a:t>
            </a:r>
            <a:r>
              <a:rPr lang="fr-FR" dirty="0"/>
              <a:t> of </a:t>
            </a:r>
            <a:r>
              <a:rPr lang="fr-FR" dirty="0" err="1"/>
              <a:t>freedom</a:t>
            </a:r>
            <a:r>
              <a:rPr lang="fr-FR" dirty="0"/>
              <a:t> for standard </a:t>
            </a:r>
            <a:r>
              <a:rPr lang="fr-FR" dirty="0" err="1"/>
              <a:t>errors</a:t>
            </a:r>
            <a:r>
              <a:rPr lang="fr-FR" dirty="0"/>
              <a:t>]:</a:t>
            </a:r>
          </a:p>
          <a:p>
            <a:pPr marL="0" indent="0">
              <a:buNone/>
            </a:pPr>
            <a:r>
              <a:rPr lang="fr-FR" dirty="0"/>
              <a:t>X(</a:t>
            </a:r>
            <a:r>
              <a:rPr lang="fr-FR" dirty="0" err="1"/>
              <a:t>it</a:t>
            </a:r>
            <a:r>
              <a:rPr lang="fr-FR" dirty="0"/>
              <a:t>)-X(i.)-X(.t)+X(..)</a:t>
            </a:r>
          </a:p>
          <a:p>
            <a:pPr marL="514350" indent="-514350">
              <a:buAutoNum type="arabicPeriod"/>
            </a:pPr>
            <a:endParaRPr lang="fr-FR" dirty="0"/>
          </a:p>
          <a:p>
            <a:pPr marL="514350" indent="-514350">
              <a:buAutoNum type="arabicPeriod"/>
            </a:pPr>
            <a:endParaRPr lang="fr-FR" dirty="0"/>
          </a:p>
        </p:txBody>
      </p:sp>
    </p:spTree>
    <p:extLst>
      <p:ext uri="{BB962C8B-B14F-4D97-AF65-F5344CB8AC3E}">
        <p14:creationId xmlns:p14="http://schemas.microsoft.com/office/powerpoint/2010/main" val="983034176"/>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Properties</a:t>
            </a:r>
            <a:endParaRPr lang="fr-FR" dirty="0"/>
          </a:p>
        </p:txBody>
      </p:sp>
      <p:sp>
        <p:nvSpPr>
          <p:cNvPr id="3" name="Espace réservé du contenu 2"/>
          <p:cNvSpPr>
            <a:spLocks noGrp="1"/>
          </p:cNvSpPr>
          <p:nvPr>
            <p:ph idx="1"/>
          </p:nvPr>
        </p:nvSpPr>
        <p:spPr/>
        <p:txBody>
          <a:bodyPr/>
          <a:lstStyle/>
          <a:p>
            <a:pPr marL="0" indent="0">
              <a:buNone/>
            </a:pPr>
            <a:r>
              <a:rPr lang="fr-FR" dirty="0" err="1"/>
              <a:t>Bivariate</a:t>
            </a:r>
            <a:r>
              <a:rPr lang="fr-FR" dirty="0"/>
              <a:t> graphs on </a:t>
            </a:r>
            <a:r>
              <a:rPr lang="fr-FR" dirty="0" err="1"/>
              <a:t>transformed</a:t>
            </a:r>
            <a:r>
              <a:rPr lang="fr-FR" dirty="0"/>
              <a:t> data:</a:t>
            </a:r>
          </a:p>
          <a:p>
            <a:pPr marL="0" indent="0">
              <a:buNone/>
            </a:pPr>
            <a:r>
              <a:rPr lang="fr-FR" dirty="0"/>
              <a:t>Y(</a:t>
            </a:r>
            <a:r>
              <a:rPr lang="fr-FR" dirty="0" err="1"/>
              <a:t>it</a:t>
            </a:r>
            <a:r>
              <a:rPr lang="fr-FR" dirty="0"/>
              <a:t>) - X(i.) - X(.t) + X(..)</a:t>
            </a:r>
          </a:p>
          <a:p>
            <a:pPr marL="0" indent="0">
              <a:buNone/>
            </a:pPr>
            <a:r>
              <a:rPr lang="fr-FR" dirty="0"/>
              <a:t>X(</a:t>
            </a:r>
            <a:r>
              <a:rPr lang="fr-FR" dirty="0" err="1"/>
              <a:t>it</a:t>
            </a:r>
            <a:r>
              <a:rPr lang="fr-FR" dirty="0"/>
              <a:t>) - X(i.) - X(.t) + X(..)</a:t>
            </a:r>
          </a:p>
          <a:p>
            <a:pPr marL="0" indent="0">
              <a:buNone/>
            </a:pPr>
            <a:r>
              <a:rPr lang="fr-FR" dirty="0" err="1"/>
              <a:t>Provides</a:t>
            </a:r>
            <a:r>
              <a:rPr lang="fr-FR" dirty="0"/>
              <a:t> the relevant insight for </a:t>
            </a:r>
            <a:r>
              <a:rPr lang="fr-FR" dirty="0" err="1"/>
              <a:t>remaining</a:t>
            </a:r>
            <a:r>
              <a:rPr lang="fr-FR" dirty="0"/>
              <a:t> </a:t>
            </a:r>
            <a:r>
              <a:rPr lang="fr-FR" dirty="0" err="1"/>
              <a:t>effects</a:t>
            </a:r>
            <a:r>
              <a:rPr lang="fr-FR" dirty="0"/>
              <a:t> of X on Y in </a:t>
            </a:r>
            <a:r>
              <a:rPr lang="fr-FR" dirty="0" err="1"/>
              <a:t>two</a:t>
            </a:r>
            <a:r>
              <a:rPr lang="fr-FR" dirty="0"/>
              <a:t> </a:t>
            </a:r>
            <a:r>
              <a:rPr lang="fr-FR" dirty="0" err="1"/>
              <a:t>way</a:t>
            </a:r>
            <a:r>
              <a:rPr lang="fr-FR" dirty="0"/>
              <a:t> </a:t>
            </a:r>
            <a:r>
              <a:rPr lang="fr-FR" dirty="0" err="1"/>
              <a:t>regression</a:t>
            </a:r>
            <a:r>
              <a:rPr lang="fr-FR" dirty="0"/>
              <a:t>.</a:t>
            </a:r>
          </a:p>
          <a:p>
            <a:pPr marL="0" indent="0">
              <a:buNone/>
            </a:pPr>
            <a:r>
              <a:rPr lang="fr-FR" dirty="0" err="1"/>
              <a:t>Degrees</a:t>
            </a:r>
            <a:r>
              <a:rPr lang="fr-FR" dirty="0"/>
              <a:t> of </a:t>
            </a:r>
            <a:r>
              <a:rPr lang="fr-FR" dirty="0" err="1"/>
              <a:t>freedom</a:t>
            </a:r>
            <a:r>
              <a:rPr lang="fr-FR" dirty="0"/>
              <a:t> for </a:t>
            </a:r>
            <a:r>
              <a:rPr lang="fr-FR" dirty="0" err="1"/>
              <a:t>regression</a:t>
            </a:r>
            <a:r>
              <a:rPr lang="fr-FR" dirty="0"/>
              <a:t>:</a:t>
            </a:r>
          </a:p>
          <a:p>
            <a:pPr marL="0" indent="0">
              <a:buNone/>
            </a:pPr>
            <a:r>
              <a:rPr lang="fr-FR" dirty="0"/>
              <a:t>NT – N – T + 1 – k, </a:t>
            </a:r>
            <a:r>
              <a:rPr lang="fr-FR" dirty="0" err="1"/>
              <a:t>when</a:t>
            </a:r>
            <a:r>
              <a:rPr lang="fr-FR" dirty="0"/>
              <a:t> the </a:t>
            </a:r>
            <a:r>
              <a:rPr lang="fr-FR" dirty="0" err="1"/>
              <a:t>number</a:t>
            </a:r>
            <a:r>
              <a:rPr lang="fr-FR" dirty="0"/>
              <a:t> of </a:t>
            </a:r>
            <a:r>
              <a:rPr lang="fr-FR" dirty="0" err="1"/>
              <a:t>explanatory</a:t>
            </a:r>
            <a:r>
              <a:rPr lang="fr-FR" dirty="0"/>
              <a:t> variables </a:t>
            </a:r>
            <a:r>
              <a:rPr lang="fr-FR" dirty="0" err="1"/>
              <a:t>is</a:t>
            </a:r>
            <a:r>
              <a:rPr lang="fr-FR" dirty="0"/>
              <a:t> </a:t>
            </a:r>
            <a:r>
              <a:rPr lang="fr-FR" dirty="0" err="1"/>
              <a:t>equal</a:t>
            </a:r>
            <a:r>
              <a:rPr lang="fr-FR" dirty="0"/>
              <a:t> to k.</a:t>
            </a:r>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2823131589"/>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Two</a:t>
            </a:r>
            <a:r>
              <a:rPr lang="fr-FR" dirty="0"/>
              <a:t> </a:t>
            </a:r>
            <a:r>
              <a:rPr lang="fr-FR" dirty="0" err="1"/>
              <a:t>way</a:t>
            </a:r>
            <a:r>
              <a:rPr lang="fr-FR" dirty="0"/>
              <a:t> </a:t>
            </a:r>
            <a:r>
              <a:rPr lang="fr-FR" dirty="0" err="1"/>
              <a:t>fixed</a:t>
            </a:r>
            <a:r>
              <a:rPr lang="fr-FR" dirty="0"/>
              <a:t> </a:t>
            </a:r>
            <a:r>
              <a:rPr lang="fr-FR" dirty="0" err="1"/>
              <a:t>effects</a:t>
            </a:r>
            <a:r>
              <a:rPr lang="fr-FR" dirty="0"/>
              <a:t> </a:t>
            </a:r>
            <a:br>
              <a:rPr lang="fr-FR" dirty="0"/>
            </a:br>
            <a:r>
              <a:rPr lang="fr-FR" dirty="0" err="1"/>
              <a:t>may</a:t>
            </a:r>
            <a:r>
              <a:rPr lang="fr-FR" dirty="0"/>
              <a:t> </a:t>
            </a:r>
            <a:r>
              <a:rPr lang="fr-FR" dirty="0" err="1"/>
              <a:t>explain</a:t>
            </a:r>
            <a:r>
              <a:rPr lang="fr-FR" dirty="0"/>
              <a:t> « </a:t>
            </a:r>
            <a:r>
              <a:rPr lang="fr-FR" dirty="0" err="1"/>
              <a:t>too</a:t>
            </a:r>
            <a:r>
              <a:rPr lang="fr-FR" dirty="0"/>
              <a:t> </a:t>
            </a:r>
            <a:r>
              <a:rPr lang="fr-FR" dirty="0" err="1"/>
              <a:t>much</a:t>
            </a:r>
            <a:r>
              <a:rPr lang="fr-FR" dirty="0"/>
              <a:t> » of R2</a:t>
            </a:r>
          </a:p>
        </p:txBody>
      </p:sp>
      <p:sp>
        <p:nvSpPr>
          <p:cNvPr id="3" name="Espace réservé du contenu 2"/>
          <p:cNvSpPr>
            <a:spLocks noGrp="1"/>
          </p:cNvSpPr>
          <p:nvPr>
            <p:ph idx="1"/>
          </p:nvPr>
        </p:nvSpPr>
        <p:spPr/>
        <p:txBody>
          <a:bodyPr/>
          <a:lstStyle/>
          <a:p>
            <a:pPr marL="0" indent="0">
              <a:buNone/>
            </a:pPr>
            <a:endParaRPr lang="fr-FR"/>
          </a:p>
          <a:p>
            <a:pPr marL="0" indent="0">
              <a:buNone/>
            </a:pPr>
            <a:r>
              <a:rPr lang="fr-FR"/>
              <a:t>The </a:t>
            </a:r>
            <a:r>
              <a:rPr lang="fr-FR" dirty="0"/>
              <a:t>R2 of a </a:t>
            </a:r>
            <a:r>
              <a:rPr lang="fr-FR" dirty="0" err="1"/>
              <a:t>regression</a:t>
            </a:r>
            <a:r>
              <a:rPr lang="fr-FR" dirty="0"/>
              <a:t> </a:t>
            </a:r>
            <a:r>
              <a:rPr lang="fr-FR" dirty="0" err="1"/>
              <a:t>with</a:t>
            </a:r>
            <a:r>
              <a:rPr lang="fr-FR" dirty="0"/>
              <a:t> </a:t>
            </a:r>
            <a:r>
              <a:rPr lang="fr-FR" dirty="0" err="1"/>
              <a:t>only</a:t>
            </a:r>
            <a:r>
              <a:rPr lang="fr-FR" dirty="0"/>
              <a:t> </a:t>
            </a:r>
            <a:r>
              <a:rPr lang="fr-FR" dirty="0" err="1"/>
              <a:t>fixed</a:t>
            </a:r>
            <a:r>
              <a:rPr lang="fr-FR" dirty="0"/>
              <a:t> and time </a:t>
            </a:r>
            <a:r>
              <a:rPr lang="fr-FR" dirty="0" err="1"/>
              <a:t>effects</a:t>
            </a:r>
            <a:r>
              <a:rPr lang="fr-FR" dirty="0"/>
              <a:t> </a:t>
            </a:r>
            <a:r>
              <a:rPr lang="fr-FR" dirty="0" err="1"/>
              <a:t>may</a:t>
            </a:r>
            <a:r>
              <a:rPr lang="fr-FR" dirty="0"/>
              <a:t> </a:t>
            </a:r>
            <a:r>
              <a:rPr lang="fr-FR" dirty="0" err="1"/>
              <a:t>be</a:t>
            </a:r>
            <a:r>
              <a:rPr lang="fr-FR" dirty="0"/>
              <a:t> </a:t>
            </a:r>
            <a:r>
              <a:rPr lang="fr-FR" dirty="0" err="1"/>
              <a:t>relatively</a:t>
            </a:r>
            <a:r>
              <a:rPr lang="fr-FR" dirty="0"/>
              <a:t> large.</a:t>
            </a:r>
          </a:p>
          <a:p>
            <a:pPr marL="0" indent="0">
              <a:buNone/>
            </a:pPr>
            <a:endParaRPr lang="fr-FR" dirty="0"/>
          </a:p>
          <a:p>
            <a:pPr marL="0" indent="0">
              <a:buNone/>
            </a:pPr>
            <a:r>
              <a:rPr lang="fr-FR" dirty="0"/>
              <a:t>The </a:t>
            </a:r>
            <a:r>
              <a:rPr lang="fr-FR" dirty="0" err="1"/>
              <a:t>remaining</a:t>
            </a:r>
            <a:r>
              <a:rPr lang="fr-FR" dirty="0"/>
              <a:t> </a:t>
            </a:r>
            <a:r>
              <a:rPr lang="fr-FR" dirty="0" err="1"/>
              <a:t>explanatory</a:t>
            </a:r>
            <a:r>
              <a:rPr lang="fr-FR" dirty="0"/>
              <a:t> variables </a:t>
            </a:r>
            <a:r>
              <a:rPr lang="fr-FR" dirty="0" err="1"/>
              <a:t>may</a:t>
            </a:r>
            <a:r>
              <a:rPr lang="fr-FR" dirty="0"/>
              <a:t> </a:t>
            </a:r>
            <a:r>
              <a:rPr lang="fr-FR" dirty="0" err="1"/>
              <a:t>add</a:t>
            </a:r>
            <a:r>
              <a:rPr lang="fr-FR" dirty="0"/>
              <a:t> </a:t>
            </a:r>
            <a:r>
              <a:rPr lang="fr-FR" dirty="0" err="1"/>
              <a:t>very</a:t>
            </a:r>
            <a:r>
              <a:rPr lang="fr-FR" dirty="0"/>
              <a:t> </a:t>
            </a:r>
            <a:r>
              <a:rPr lang="fr-FR" dirty="0" err="1"/>
              <a:t>little</a:t>
            </a:r>
            <a:r>
              <a:rPr lang="fr-FR" dirty="0"/>
              <a:t> to </a:t>
            </a:r>
            <a:r>
              <a:rPr lang="fr-FR" dirty="0" err="1"/>
              <a:t>this</a:t>
            </a:r>
            <a:r>
              <a:rPr lang="fr-FR" dirty="0"/>
              <a:t> R2.</a:t>
            </a:r>
          </a:p>
        </p:txBody>
      </p:sp>
    </p:spTree>
    <p:extLst>
      <p:ext uri="{BB962C8B-B14F-4D97-AF65-F5344CB8AC3E}">
        <p14:creationId xmlns:p14="http://schemas.microsoft.com/office/powerpoint/2010/main" val="2892347067"/>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2018655"/>
          </a:xfrm>
        </p:spPr>
        <p:txBody>
          <a:bodyPr>
            <a:normAutofit fontScale="90000"/>
          </a:bodyPr>
          <a:lstStyle/>
          <a:p>
            <a:r>
              <a:rPr lang="fr-FR" dirty="0"/>
              <a:t>14: </a:t>
            </a:r>
            <a:r>
              <a:rPr lang="fr-FR" sz="3600" dirty="0" err="1"/>
              <a:t>lagged</a:t>
            </a:r>
            <a:r>
              <a:rPr lang="fr-FR" sz="3600" dirty="0"/>
              <a:t> </a:t>
            </a:r>
            <a:r>
              <a:rPr lang="fr-FR" sz="3600" dirty="0" err="1"/>
              <a:t>dependent</a:t>
            </a:r>
            <a:r>
              <a:rPr lang="fr-FR" sz="3600" dirty="0"/>
              <a:t> variable </a:t>
            </a:r>
            <a:br>
              <a:rPr lang="fr-FR" sz="3600" dirty="0"/>
            </a:br>
            <a:r>
              <a:rPr lang="fr-FR" sz="3600" dirty="0"/>
              <a:t>(ARDL </a:t>
            </a:r>
            <a:r>
              <a:rPr lang="fr-FR" sz="3600" dirty="0" err="1"/>
              <a:t>dynamic</a:t>
            </a:r>
            <a:r>
              <a:rPr lang="fr-FR" sz="3600" dirty="0"/>
              <a:t> panel) </a:t>
            </a:r>
            <a:br>
              <a:rPr lang="fr-FR" sz="3600" dirty="0"/>
            </a:br>
            <a:r>
              <a:rPr lang="fr-FR" sz="3600" dirty="0"/>
              <a:t>First </a:t>
            </a:r>
            <a:r>
              <a:rPr lang="fr-FR" sz="3600" dirty="0" err="1"/>
              <a:t>differences</a:t>
            </a:r>
            <a:r>
              <a:rPr lang="fr-FR" sz="3600" dirty="0"/>
              <a:t> Anderson </a:t>
            </a:r>
            <a:r>
              <a:rPr lang="fr-FR" sz="3600" dirty="0" err="1"/>
              <a:t>Hsiao</a:t>
            </a:r>
            <a:r>
              <a:rPr lang="fr-FR" sz="3600" dirty="0"/>
              <a:t> (1981). </a:t>
            </a:r>
            <a:br>
              <a:rPr lang="fr-FR" sz="3600" dirty="0"/>
            </a:br>
            <a:r>
              <a:rPr lang="fr-FR" sz="3600" dirty="0"/>
              <a:t>GMM panel for T&lt;10 and N large</a:t>
            </a:r>
          </a:p>
        </p:txBody>
      </p:sp>
    </p:spTree>
    <p:extLst>
      <p:ext uri="{BB962C8B-B14F-4D97-AF65-F5344CB8AC3E}">
        <p14:creationId xmlns:p14="http://schemas.microsoft.com/office/powerpoint/2010/main" val="1179447694"/>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Auto-regressive</a:t>
            </a:r>
            <a:r>
              <a:rPr lang="fr-FR" dirty="0"/>
              <a:t> </a:t>
            </a:r>
            <a:r>
              <a:rPr lang="fr-FR" dirty="0" err="1"/>
              <a:t>distributed</a:t>
            </a:r>
            <a:r>
              <a:rPr lang="fr-FR" dirty="0"/>
              <a:t> </a:t>
            </a:r>
            <a:r>
              <a:rPr lang="fr-FR" dirty="0" err="1"/>
              <a:t>lag</a:t>
            </a:r>
            <a:r>
              <a:rPr lang="fr-FR" dirty="0"/>
              <a:t> model (ARDL), cf. time </a:t>
            </a:r>
            <a:r>
              <a:rPr lang="fr-FR" dirty="0" err="1"/>
              <a:t>series</a:t>
            </a:r>
            <a:r>
              <a:rPr lang="fr-FR" dirty="0"/>
              <a:t>.</a:t>
            </a:r>
            <a:endParaRPr lang="en-GB"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FR" dirty="0" err="1"/>
              <a:t>y</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y</a:t>
            </a:r>
            <a:r>
              <a:rPr lang="el-GR" dirty="0">
                <a:latin typeface="Cambria Math" panose="02040503050406030204" pitchFamily="18" charset="0"/>
                <a:ea typeface="Cambria Math" panose="02040503050406030204" pitchFamily="18" charset="0"/>
              </a:rPr>
              <a:t> </a:t>
            </a:r>
            <a:r>
              <a:rPr lang="fr-FR" dirty="0"/>
              <a:t>y</a:t>
            </a:r>
            <a:r>
              <a:rPr lang="fr-FR" baseline="-25000" dirty="0">
                <a:latin typeface="Cambria Math" panose="02040503050406030204" pitchFamily="18" charset="0"/>
                <a:ea typeface="Cambria Math" panose="02040503050406030204" pitchFamily="18" charset="0"/>
              </a:rPr>
              <a:t>i,t-1 </a:t>
            </a:r>
            <a:r>
              <a:rPr lang="fr-FR" dirty="0">
                <a:latin typeface="Cambria Math" panose="02040503050406030204" pitchFamily="18" charset="0"/>
                <a:ea typeface="Cambria Math" panose="02040503050406030204" pitchFamily="18" charset="0"/>
              </a:rPr>
              <a:t>+</a:t>
            </a:r>
            <a:r>
              <a:rPr lang="el-GR" dirty="0">
                <a:latin typeface="Cambria Math" panose="02040503050406030204" pitchFamily="18" charset="0"/>
                <a:ea typeface="Cambria Math" panose="02040503050406030204" pitchFamily="18" charset="0"/>
              </a:rPr>
              <a:t> β</a:t>
            </a:r>
            <a:r>
              <a:rPr lang="fr-FR" baseline="-25000" dirty="0">
                <a:latin typeface="Cambria Math" panose="02040503050406030204" pitchFamily="18" charset="0"/>
                <a:ea typeface="Cambria Math" panose="02040503050406030204" pitchFamily="18" charset="0"/>
              </a:rPr>
              <a:t>1</a:t>
            </a:r>
            <a:r>
              <a:rPr lang="el-GR" dirty="0">
                <a:latin typeface="Cambria Math" panose="02040503050406030204" pitchFamily="18" charset="0"/>
                <a:ea typeface="Cambria Math" panose="02040503050406030204" pitchFamily="18" charset="0"/>
              </a:rPr>
              <a:t> </a:t>
            </a:r>
            <a:r>
              <a:rPr lang="fr-FR" dirty="0" err="1">
                <a:latin typeface="Cambria Math" panose="02040503050406030204" pitchFamily="18" charset="0"/>
                <a:ea typeface="Cambria Math" panose="02040503050406030204" pitchFamily="18" charset="0"/>
              </a:rPr>
              <a:t>x</a:t>
            </a:r>
            <a:r>
              <a:rPr lang="fr-FR" baseline="-25000" dirty="0" err="1">
                <a:latin typeface="Cambria Math" panose="02040503050406030204" pitchFamily="18" charset="0"/>
                <a:ea typeface="Cambria Math" panose="02040503050406030204" pitchFamily="18" charset="0"/>
              </a:rPr>
              <a:t>i,t</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β</a:t>
            </a:r>
            <a:r>
              <a:rPr lang="fr-FR" baseline="-25000" dirty="0">
                <a:latin typeface="Cambria Math" panose="02040503050406030204" pitchFamily="18" charset="0"/>
                <a:ea typeface="Cambria Math" panose="02040503050406030204" pitchFamily="18" charset="0"/>
              </a:rPr>
              <a:t>2</a:t>
            </a:r>
            <a:r>
              <a:rPr lang="el-GR" dirty="0">
                <a:latin typeface="Cambria Math" panose="02040503050406030204" pitchFamily="18" charset="0"/>
                <a:ea typeface="Cambria Math" panose="02040503050406030204" pitchFamily="18" charset="0"/>
              </a:rPr>
              <a:t> </a:t>
            </a:r>
            <a:r>
              <a:rPr lang="fr-FR" dirty="0">
                <a:latin typeface="Cambria Math" panose="02040503050406030204" pitchFamily="18" charset="0"/>
                <a:ea typeface="Cambria Math" panose="02040503050406030204" pitchFamily="18" charset="0"/>
              </a:rPr>
              <a:t>x</a:t>
            </a:r>
            <a:r>
              <a:rPr lang="fr-FR" baseline="-25000" dirty="0">
                <a:latin typeface="Cambria Math" panose="02040503050406030204" pitchFamily="18" charset="0"/>
                <a:ea typeface="Cambria Math" panose="02040503050406030204" pitchFamily="18" charset="0"/>
              </a:rPr>
              <a:t>i,t-1</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α</a:t>
            </a:r>
            <a:r>
              <a:rPr lang="fr-FR" baseline="-25000" dirty="0">
                <a:latin typeface="Cambria Math" panose="02040503050406030204" pitchFamily="18" charset="0"/>
                <a:ea typeface="Cambria Math" panose="02040503050406030204" pitchFamily="18" charset="0"/>
              </a:rPr>
              <a:t>i </a:t>
            </a:r>
            <a:r>
              <a:rPr lang="fr-FR" dirty="0"/>
              <a:t>+ </a:t>
            </a:r>
            <a:r>
              <a:rPr lang="el-GR" dirty="0">
                <a:latin typeface="Cambria Math" panose="02040503050406030204" pitchFamily="18" charset="0"/>
                <a:ea typeface="Cambria Math" panose="02040503050406030204" pitchFamily="18" charset="0"/>
              </a:rPr>
              <a:t>α</a:t>
            </a:r>
            <a:r>
              <a:rPr lang="fr-FR" baseline="-25000" dirty="0">
                <a:latin typeface="Cambria Math" panose="02040503050406030204" pitchFamily="18" charset="0"/>
                <a:ea typeface="Cambria Math" panose="02040503050406030204" pitchFamily="18" charset="0"/>
              </a:rPr>
              <a:t>t </a:t>
            </a:r>
            <a:r>
              <a:rPr lang="fr-FR" dirty="0"/>
              <a:t>+ </a:t>
            </a:r>
            <a:r>
              <a:rPr lang="el-GR" dirty="0">
                <a:latin typeface="Cambria Math" panose="02040503050406030204" pitchFamily="18" charset="0"/>
                <a:ea typeface="Cambria Math" panose="02040503050406030204" pitchFamily="18" charset="0"/>
              </a:rPr>
              <a:t>ε</a:t>
            </a:r>
            <a:r>
              <a:rPr lang="fr-FR" baseline="-25000" dirty="0" err="1">
                <a:latin typeface="Cambria Math" panose="02040503050406030204" pitchFamily="18" charset="0"/>
                <a:ea typeface="Cambria Math" panose="02040503050406030204" pitchFamily="18" charset="0"/>
              </a:rPr>
              <a:t>it</a:t>
            </a:r>
            <a:endParaRPr lang="fr-FR" baseline="-25000" dirty="0">
              <a:latin typeface="Cambria Math" panose="02040503050406030204" pitchFamily="18" charset="0"/>
              <a:ea typeface="Cambria Math" panose="02040503050406030204" pitchFamily="18" charset="0"/>
            </a:endParaRPr>
          </a:p>
          <a:p>
            <a:pPr marL="0" indent="0">
              <a:buNone/>
            </a:pPr>
            <a:r>
              <a:rPr lang="fr-FR" dirty="0">
                <a:latin typeface="Cambria Math" panose="02040503050406030204" pitchFamily="18" charset="0"/>
                <a:ea typeface="Cambria Math" panose="02040503050406030204" pitchFamily="18" charset="0"/>
              </a:rPr>
              <a:t>|</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y</a:t>
            </a:r>
            <a:r>
              <a:rPr lang="fr-FR" dirty="0"/>
              <a:t>| &lt; 1 (test unit </a:t>
            </a:r>
            <a:r>
              <a:rPr lang="fr-FR" dirty="0" err="1"/>
              <a:t>root</a:t>
            </a:r>
            <a:r>
              <a:rPr lang="fr-FR" dirty="0"/>
              <a:t> </a:t>
            </a:r>
            <a:r>
              <a:rPr lang="fr-FR" dirty="0" err="1"/>
              <a:t>with</a:t>
            </a:r>
            <a:r>
              <a:rPr lang="fr-FR" dirty="0"/>
              <a:t> panel data unit </a:t>
            </a:r>
            <a:r>
              <a:rPr lang="fr-FR" dirty="0" err="1"/>
              <a:t>root</a:t>
            </a:r>
            <a:r>
              <a:rPr lang="fr-FR" dirty="0"/>
              <a:t> tests)</a:t>
            </a:r>
          </a:p>
          <a:p>
            <a:pPr marL="0" indent="0">
              <a:buNone/>
            </a:pPr>
            <a:endParaRPr lang="fr-FR" dirty="0"/>
          </a:p>
          <a:p>
            <a:pPr marL="0" indent="0">
              <a:buNone/>
            </a:pPr>
            <a:r>
              <a:rPr lang="fr-FR" dirty="0"/>
              <a:t>Impulse </a:t>
            </a:r>
            <a:r>
              <a:rPr lang="fr-FR" dirty="0" err="1"/>
              <a:t>response</a:t>
            </a:r>
            <a:r>
              <a:rPr lang="fr-FR" dirty="0"/>
              <a:t> </a:t>
            </a:r>
            <a:r>
              <a:rPr lang="fr-FR" dirty="0" err="1"/>
              <a:t>function</a:t>
            </a:r>
            <a:r>
              <a:rPr lang="fr-FR" dirty="0"/>
              <a:t> for 1 unit change of x:</a:t>
            </a:r>
          </a:p>
          <a:p>
            <a:pPr marL="0" indent="0">
              <a:buNone/>
            </a:pPr>
            <a:r>
              <a:rPr lang="fr-FR" dirty="0"/>
              <a:t>t=1: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a:t>
            </a:r>
          </a:p>
          <a:p>
            <a:pPr marL="0" indent="0">
              <a:buNone/>
            </a:pPr>
            <a:r>
              <a:rPr lang="fr-FR" dirty="0"/>
              <a:t>t=2: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y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β</a:t>
            </a:r>
            <a:r>
              <a:rPr lang="fr-FR" baseline="-25000" dirty="0">
                <a:latin typeface="Cambria Math" panose="02040503050406030204" pitchFamily="18" charset="0"/>
                <a:ea typeface="Cambria Math" panose="02040503050406030204" pitchFamily="18" charset="0"/>
              </a:rPr>
              <a:t>2</a:t>
            </a:r>
          </a:p>
          <a:p>
            <a:pPr marL="0" indent="0">
              <a:buNone/>
            </a:pPr>
            <a:r>
              <a:rPr lang="fr-FR" dirty="0"/>
              <a:t>t=3: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y </a:t>
            </a:r>
            <a:r>
              <a:rPr lang="fr-FR" baseline="30000" dirty="0">
                <a:latin typeface="Cambria Math" panose="02040503050406030204" pitchFamily="18" charset="0"/>
                <a:ea typeface="Cambria Math" panose="02040503050406030204" pitchFamily="18" charset="0"/>
              </a:rPr>
              <a:t>2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β</a:t>
            </a:r>
            <a:r>
              <a:rPr lang="fr-FR" baseline="-25000" dirty="0">
                <a:latin typeface="Cambria Math" panose="02040503050406030204" pitchFamily="18" charset="0"/>
                <a:ea typeface="Cambria Math" panose="02040503050406030204" pitchFamily="18" charset="0"/>
              </a:rPr>
              <a:t>y</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2</a:t>
            </a:r>
          </a:p>
          <a:p>
            <a:pPr marL="0" indent="0">
              <a:buNone/>
            </a:pPr>
            <a:r>
              <a:rPr lang="fr-FR" dirty="0"/>
              <a:t>t=4: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y </a:t>
            </a:r>
            <a:r>
              <a:rPr lang="fr-FR" baseline="30000" dirty="0">
                <a:latin typeface="Cambria Math" panose="02040503050406030204" pitchFamily="18" charset="0"/>
                <a:ea typeface="Cambria Math" panose="02040503050406030204" pitchFamily="18" charset="0"/>
              </a:rPr>
              <a:t>3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1</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β</a:t>
            </a:r>
            <a:r>
              <a:rPr lang="fr-FR" baseline="-25000" dirty="0">
                <a:latin typeface="Cambria Math" panose="02040503050406030204" pitchFamily="18" charset="0"/>
                <a:ea typeface="Cambria Math" panose="02040503050406030204" pitchFamily="18" charset="0"/>
              </a:rPr>
              <a:t>y </a:t>
            </a:r>
            <a:r>
              <a:rPr lang="fr-FR" baseline="30000" dirty="0">
                <a:latin typeface="Cambria Math" panose="02040503050406030204" pitchFamily="18" charset="0"/>
                <a:ea typeface="Cambria Math" panose="02040503050406030204" pitchFamily="18" charset="0"/>
              </a:rPr>
              <a:t>2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2</a:t>
            </a:r>
          </a:p>
          <a:p>
            <a:pPr marL="0" indent="0">
              <a:buNone/>
            </a:pPr>
            <a:endParaRPr lang="en-GB" dirty="0"/>
          </a:p>
        </p:txBody>
      </p:sp>
    </p:spTree>
    <p:extLst>
      <p:ext uri="{BB962C8B-B14F-4D97-AF65-F5344CB8AC3E}">
        <p14:creationId xmlns:p14="http://schemas.microsoft.com/office/powerpoint/2010/main" val="3872186436"/>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ARDL long </a:t>
            </a:r>
            <a:r>
              <a:rPr lang="fr-FR" dirty="0" err="1"/>
              <a:t>run</a:t>
            </a:r>
            <a:r>
              <a:rPr lang="fr-FR" dirty="0"/>
              <a:t> coefficient </a:t>
            </a:r>
            <a:br>
              <a:rPr lang="fr-FR" dirty="0"/>
            </a:br>
            <a:r>
              <a:rPr lang="fr-FR" dirty="0"/>
              <a:t>(cf. time </a:t>
            </a:r>
            <a:r>
              <a:rPr lang="fr-FR" dirty="0" err="1"/>
              <a:t>series</a:t>
            </a:r>
            <a:r>
              <a:rPr lang="fr-FR" dirty="0"/>
              <a:t>)</a:t>
            </a:r>
            <a:endParaRPr lang="en-GB" dirty="0"/>
          </a:p>
        </p:txBody>
      </p:sp>
      <p:sp>
        <p:nvSpPr>
          <p:cNvPr id="3" name="Espace réservé du contenu 2"/>
          <p:cNvSpPr>
            <a:spLocks noGrp="1"/>
          </p:cNvSpPr>
          <p:nvPr>
            <p:ph idx="1"/>
          </p:nvPr>
        </p:nvSpPr>
        <p:spPr/>
        <p:txBody>
          <a:bodyPr>
            <a:normAutofit fontScale="77500" lnSpcReduction="20000"/>
          </a:bodyPr>
          <a:lstStyle/>
          <a:p>
            <a:pPr marL="0" indent="0">
              <a:buNone/>
            </a:pPr>
            <a:r>
              <a:rPr lang="fr-FR" dirty="0" err="1"/>
              <a:t>Sum</a:t>
            </a:r>
            <a:r>
              <a:rPr lang="fr-FR" dirty="0"/>
              <a:t> </a:t>
            </a:r>
            <a:r>
              <a:rPr lang="fr-FR" dirty="0" err="1"/>
              <a:t>until</a:t>
            </a:r>
            <a:r>
              <a:rPr lang="fr-FR" dirty="0"/>
              <a:t> </a:t>
            </a:r>
            <a:r>
              <a:rPr lang="fr-FR" dirty="0" err="1"/>
              <a:t>infinity</a:t>
            </a:r>
            <a:r>
              <a:rPr lang="fr-FR" dirty="0"/>
              <a:t> over all the impulse </a:t>
            </a:r>
            <a:r>
              <a:rPr lang="fr-FR" dirty="0" err="1"/>
              <a:t>responses</a:t>
            </a:r>
            <a:r>
              <a:rPr lang="fr-FR" dirty="0"/>
              <a:t> for all </a:t>
            </a:r>
            <a:r>
              <a:rPr lang="fr-FR" dirty="0" err="1"/>
              <a:t>periods</a:t>
            </a:r>
            <a:r>
              <a:rPr lang="fr-FR" dirty="0"/>
              <a:t> of a </a:t>
            </a:r>
            <a:r>
              <a:rPr lang="fr-FR" dirty="0" err="1"/>
              <a:t>converging</a:t>
            </a:r>
            <a:r>
              <a:rPr lang="fr-FR" dirty="0"/>
              <a:t> </a:t>
            </a:r>
            <a:r>
              <a:rPr lang="fr-FR" dirty="0" err="1"/>
              <a:t>geometric</a:t>
            </a:r>
            <a:r>
              <a:rPr lang="fr-FR" dirty="0"/>
              <a:t> </a:t>
            </a:r>
            <a:r>
              <a:rPr lang="fr-FR" dirty="0" err="1"/>
              <a:t>series</a:t>
            </a:r>
            <a:r>
              <a:rPr lang="fr-FR" dirty="0"/>
              <a:t>:</a:t>
            </a:r>
          </a:p>
          <a:p>
            <a:pPr marL="0" indent="0">
              <a:buNone/>
            </a:pP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LT</a:t>
            </a:r>
            <a:r>
              <a:rPr lang="el-GR" b="1" dirty="0">
                <a:latin typeface="Cambria Math" panose="02040503050406030204" pitchFamily="18" charset="0"/>
                <a:ea typeface="Cambria Math" panose="02040503050406030204" pitchFamily="18" charset="0"/>
              </a:rPr>
              <a:t> </a:t>
            </a:r>
            <a:r>
              <a:rPr lang="fr-FR" b="1" dirty="0">
                <a:latin typeface="Cambria Math" panose="02040503050406030204" pitchFamily="18" charset="0"/>
                <a:ea typeface="Cambria Math" panose="02040503050406030204" pitchFamily="18" charset="0"/>
              </a:rPr>
              <a:t> = (</a:t>
            </a:r>
            <a:r>
              <a:rPr lang="fr-FR" b="1" baseline="-25000"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1</a:t>
            </a:r>
            <a:r>
              <a:rPr lang="fr-FR" b="1"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 β</a:t>
            </a:r>
            <a:r>
              <a:rPr lang="fr-FR" b="1" baseline="-25000" dirty="0">
                <a:latin typeface="Cambria Math" panose="02040503050406030204" pitchFamily="18" charset="0"/>
                <a:ea typeface="Cambria Math" panose="02040503050406030204" pitchFamily="18" charset="0"/>
              </a:rPr>
              <a:t>2</a:t>
            </a:r>
            <a:r>
              <a:rPr lang="fr-FR" b="1" dirty="0"/>
              <a:t>) / (1 - </a:t>
            </a: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y </a:t>
            </a:r>
            <a:r>
              <a:rPr lang="fr-FR" b="1" dirty="0"/>
              <a:t>)</a:t>
            </a:r>
            <a:r>
              <a:rPr lang="fr-FR" dirty="0"/>
              <a:t> </a:t>
            </a:r>
          </a:p>
          <a:p>
            <a:pPr marL="0" indent="0">
              <a:buNone/>
            </a:pPr>
            <a:endParaRPr lang="fr-FR" dirty="0"/>
          </a:p>
          <a:p>
            <a:pPr marL="0" indent="0">
              <a:buNone/>
            </a:pPr>
            <a:r>
              <a:rPr lang="fr-FR" dirty="0" err="1"/>
              <a:t>Without</a:t>
            </a:r>
            <a:r>
              <a:rPr lang="fr-FR" dirty="0"/>
              <a:t> </a:t>
            </a:r>
            <a:r>
              <a:rPr lang="fr-FR" dirty="0" err="1"/>
              <a:t>autoregressive</a:t>
            </a:r>
            <a:r>
              <a:rPr lang="fr-FR" dirty="0"/>
              <a:t> </a:t>
            </a:r>
            <a:r>
              <a:rPr lang="fr-FR" dirty="0" err="1"/>
              <a:t>term</a:t>
            </a:r>
            <a:r>
              <a:rPr lang="fr-FR" dirty="0"/>
              <a:t>: </a:t>
            </a:r>
            <a:r>
              <a:rPr lang="fr-FR" dirty="0" err="1"/>
              <a:t>classic</a:t>
            </a:r>
            <a:r>
              <a:rPr lang="fr-FR" dirty="0"/>
              <a:t> </a:t>
            </a:r>
            <a:r>
              <a:rPr lang="fr-FR" dirty="0" err="1"/>
              <a:t>numerical</a:t>
            </a:r>
            <a:r>
              <a:rPr lang="fr-FR" dirty="0"/>
              <a:t> </a:t>
            </a:r>
            <a:r>
              <a:rPr lang="fr-FR" dirty="0" err="1"/>
              <a:t>example</a:t>
            </a:r>
            <a:r>
              <a:rPr lang="fr-FR" dirty="0"/>
              <a:t>: </a:t>
            </a:r>
          </a:p>
          <a:p>
            <a:pPr marL="0" indent="0">
              <a:buNone/>
            </a:pP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1</a:t>
            </a:r>
            <a:r>
              <a:rPr lang="fr-FR" b="1" dirty="0">
                <a:latin typeface="Cambria Math" panose="02040503050406030204" pitchFamily="18" charset="0"/>
                <a:ea typeface="Cambria Math" panose="02040503050406030204" pitchFamily="18" charset="0"/>
              </a:rPr>
              <a:t> =1.4 (</a:t>
            </a:r>
            <a:r>
              <a:rPr lang="fr-FR" b="1" dirty="0" err="1">
                <a:latin typeface="Cambria Math" panose="02040503050406030204" pitchFamily="18" charset="0"/>
                <a:ea typeface="Cambria Math" panose="02040503050406030204" pitchFamily="18" charset="0"/>
              </a:rPr>
              <a:t>larger</a:t>
            </a:r>
            <a:r>
              <a:rPr lang="fr-FR" b="1" dirty="0">
                <a:latin typeface="Cambria Math" panose="02040503050406030204" pitchFamily="18" charset="0"/>
                <a:ea typeface="Cambria Math" panose="02040503050406030204" pitchFamily="18" charset="0"/>
              </a:rPr>
              <a:t> </a:t>
            </a:r>
            <a:r>
              <a:rPr lang="fr-FR" b="1" dirty="0" err="1">
                <a:latin typeface="Cambria Math" panose="02040503050406030204" pitchFamily="18" charset="0"/>
                <a:ea typeface="Cambria Math" panose="02040503050406030204" pitchFamily="18" charset="0"/>
              </a:rPr>
              <a:t>than</a:t>
            </a:r>
            <a:r>
              <a:rPr lang="fr-FR" b="1" dirty="0">
                <a:latin typeface="Cambria Math" panose="02040503050406030204" pitchFamily="18" charset="0"/>
                <a:ea typeface="Cambria Math" panose="02040503050406030204" pitchFamily="18" charset="0"/>
              </a:rPr>
              <a:t> a unit </a:t>
            </a:r>
            <a:r>
              <a:rPr lang="fr-FR" b="1" dirty="0" err="1">
                <a:latin typeface="Cambria Math" panose="02040503050406030204" pitchFamily="18" charset="0"/>
                <a:ea typeface="Cambria Math" panose="02040503050406030204" pitchFamily="18" charset="0"/>
              </a:rPr>
              <a:t>root</a:t>
            </a:r>
            <a:r>
              <a:rPr lang="fr-FR" b="1"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2</a:t>
            </a:r>
            <a:r>
              <a:rPr lang="fr-FR" b="1" dirty="0">
                <a:latin typeface="Cambria Math" panose="02040503050406030204" pitchFamily="18" charset="0"/>
                <a:ea typeface="Cambria Math" panose="02040503050406030204" pitchFamily="18" charset="0"/>
              </a:rPr>
              <a:t> = -0.5 (opposite </a:t>
            </a:r>
            <a:r>
              <a:rPr lang="fr-FR" b="1" dirty="0" err="1">
                <a:latin typeface="Cambria Math" panose="02040503050406030204" pitchFamily="18" charset="0"/>
                <a:ea typeface="Cambria Math" panose="02040503050406030204" pitchFamily="18" charset="0"/>
              </a:rPr>
              <a:t>sign</a:t>
            </a:r>
            <a:r>
              <a:rPr lang="fr-FR" b="1" dirty="0">
                <a:latin typeface="Cambria Math" panose="02040503050406030204" pitchFamily="18" charset="0"/>
                <a:ea typeface="Cambria Math" panose="02040503050406030204" pitchFamily="18" charset="0"/>
              </a:rPr>
              <a:t>)</a:t>
            </a:r>
            <a:endParaRPr lang="fr-FR" b="1" dirty="0"/>
          </a:p>
          <a:p>
            <a:pPr marL="0" indent="0">
              <a:buNone/>
            </a:pP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LT</a:t>
            </a:r>
            <a:r>
              <a:rPr lang="el-GR" b="1" dirty="0">
                <a:latin typeface="Cambria Math" panose="02040503050406030204" pitchFamily="18" charset="0"/>
                <a:ea typeface="Cambria Math" panose="02040503050406030204" pitchFamily="18" charset="0"/>
              </a:rPr>
              <a:t> </a:t>
            </a:r>
            <a:r>
              <a:rPr lang="fr-FR" b="1" dirty="0">
                <a:latin typeface="Cambria Math" panose="02040503050406030204" pitchFamily="18" charset="0"/>
                <a:ea typeface="Cambria Math" panose="02040503050406030204" pitchFamily="18" charset="0"/>
              </a:rPr>
              <a:t> = </a:t>
            </a: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1</a:t>
            </a:r>
            <a:r>
              <a:rPr lang="fr-FR" b="1"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 β</a:t>
            </a:r>
            <a:r>
              <a:rPr lang="fr-FR" b="1" baseline="-25000" dirty="0">
                <a:latin typeface="Cambria Math" panose="02040503050406030204" pitchFamily="18" charset="0"/>
                <a:ea typeface="Cambria Math" panose="02040503050406030204" pitchFamily="18" charset="0"/>
              </a:rPr>
              <a:t>2</a:t>
            </a:r>
            <a:r>
              <a:rPr lang="fr-FR" b="1" dirty="0">
                <a:latin typeface="Cambria Math" panose="02040503050406030204" pitchFamily="18" charset="0"/>
                <a:ea typeface="Cambria Math" panose="02040503050406030204" pitchFamily="18" charset="0"/>
              </a:rPr>
              <a:t> = 1.4  - 0.5  = 0.9  (</a:t>
            </a:r>
            <a:r>
              <a:rPr lang="fr-FR" b="1" dirty="0" err="1">
                <a:latin typeface="Cambria Math" panose="02040503050406030204" pitchFamily="18" charset="0"/>
                <a:ea typeface="Cambria Math" panose="02040503050406030204" pitchFamily="18" charset="0"/>
              </a:rPr>
              <a:t>lower</a:t>
            </a:r>
            <a:r>
              <a:rPr lang="fr-FR" b="1" dirty="0">
                <a:latin typeface="Cambria Math" panose="02040503050406030204" pitchFamily="18" charset="0"/>
                <a:ea typeface="Cambria Math" panose="02040503050406030204" pitchFamily="18" charset="0"/>
              </a:rPr>
              <a:t> or close to a unit </a:t>
            </a:r>
            <a:r>
              <a:rPr lang="fr-FR" b="1" dirty="0" err="1">
                <a:latin typeface="Cambria Math" panose="02040503050406030204" pitchFamily="18" charset="0"/>
                <a:ea typeface="Cambria Math" panose="02040503050406030204" pitchFamily="18" charset="0"/>
              </a:rPr>
              <a:t>root</a:t>
            </a:r>
            <a:r>
              <a:rPr lang="fr-FR" b="1" dirty="0">
                <a:latin typeface="Cambria Math" panose="02040503050406030204" pitchFamily="18" charset="0"/>
                <a:ea typeface="Cambria Math" panose="02040503050406030204" pitchFamily="18" charset="0"/>
              </a:rPr>
              <a:t>).</a:t>
            </a:r>
          </a:p>
          <a:p>
            <a:pPr marL="0" indent="0">
              <a:buNone/>
            </a:pPr>
            <a:endParaRPr lang="fr-FR" b="1" dirty="0">
              <a:latin typeface="Cambria Math" panose="02040503050406030204" pitchFamily="18" charset="0"/>
              <a:ea typeface="Cambria Math" panose="02040503050406030204" pitchFamily="18" charset="0"/>
            </a:endParaRPr>
          </a:p>
          <a:p>
            <a:pPr marL="0" indent="0">
              <a:buNone/>
            </a:pPr>
            <a:r>
              <a:rPr lang="fr-FR" dirty="0"/>
              <a:t>The standard </a:t>
            </a:r>
            <a:r>
              <a:rPr lang="fr-FR" dirty="0" err="1"/>
              <a:t>error</a:t>
            </a:r>
            <a:r>
              <a:rPr lang="fr-FR" dirty="0"/>
              <a:t> of the </a:t>
            </a:r>
            <a:r>
              <a:rPr lang="fr-FR" dirty="0" err="1"/>
              <a:t>estimated</a:t>
            </a:r>
            <a:r>
              <a:rPr lang="fr-FR" dirty="0"/>
              <a:t> </a:t>
            </a:r>
            <a:r>
              <a:rPr lang="fr-FR" dirty="0" err="1"/>
              <a:t>parameter</a:t>
            </a:r>
            <a:r>
              <a:rPr lang="fr-FR" dirty="0"/>
              <a:t> </a:t>
            </a: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LT </a:t>
            </a:r>
            <a:r>
              <a:rPr lang="fr-FR" dirty="0" err="1"/>
              <a:t>can</a:t>
            </a:r>
            <a:r>
              <a:rPr lang="fr-FR" dirty="0"/>
              <a:t> </a:t>
            </a:r>
            <a:r>
              <a:rPr lang="fr-FR" dirty="0" err="1"/>
              <a:t>be</a:t>
            </a:r>
            <a:r>
              <a:rPr lang="fr-FR" dirty="0"/>
              <a:t> </a:t>
            </a:r>
            <a:r>
              <a:rPr lang="fr-FR" dirty="0" err="1"/>
              <a:t>computed</a:t>
            </a:r>
            <a:r>
              <a:rPr lang="fr-FR" dirty="0"/>
              <a:t> by the </a:t>
            </a:r>
            <a:r>
              <a:rPr lang="fr-FR" dirty="0" err="1"/>
              <a:t>so-called</a:t>
            </a:r>
            <a:r>
              <a:rPr lang="fr-FR" dirty="0"/>
              <a:t> « </a:t>
            </a:r>
            <a:r>
              <a:rPr lang="fr-FR" b="1" dirty="0"/>
              <a:t>delta </a:t>
            </a:r>
            <a:r>
              <a:rPr lang="fr-FR" b="1" dirty="0" err="1"/>
              <a:t>method</a:t>
            </a:r>
            <a:r>
              <a:rPr lang="fr-FR" dirty="0"/>
              <a:t> ».</a:t>
            </a:r>
            <a:endParaRPr lang="fr-FR" baseline="-25000" dirty="0">
              <a:latin typeface="Cambria Math" panose="02040503050406030204" pitchFamily="18" charset="0"/>
              <a:ea typeface="Cambria Math" panose="02040503050406030204" pitchFamily="18" charset="0"/>
            </a:endParaRPr>
          </a:p>
          <a:p>
            <a:pPr marL="0" indent="0">
              <a:buNone/>
            </a:pPr>
            <a:r>
              <a:rPr lang="el-GR" dirty="0">
                <a:latin typeface="Cambria Math" panose="02040503050406030204" pitchFamily="18" charset="0"/>
                <a:ea typeface="Cambria Math" panose="02040503050406030204" pitchFamily="18" charset="0"/>
              </a:rPr>
              <a:t> </a:t>
            </a:r>
            <a:endParaRPr lang="fr-FR" baseline="-25000" dirty="0">
              <a:latin typeface="Cambria Math" panose="02040503050406030204" pitchFamily="18" charset="0"/>
              <a:ea typeface="Cambria Math" panose="02040503050406030204" pitchFamily="18" charset="0"/>
            </a:endParaRPr>
          </a:p>
          <a:p>
            <a:pPr marL="0" indent="0">
              <a:buNone/>
            </a:pPr>
            <a:endParaRPr lang="en-GB" dirty="0"/>
          </a:p>
        </p:txBody>
      </p:sp>
    </p:spTree>
    <p:extLst>
      <p:ext uri="{BB962C8B-B14F-4D97-AF65-F5344CB8AC3E}">
        <p14:creationId xmlns:p14="http://schemas.microsoft.com/office/powerpoint/2010/main" val="1146445877"/>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ARDL and </a:t>
            </a:r>
            <a:r>
              <a:rPr lang="fr-FR" dirty="0" err="1"/>
              <a:t>Error</a:t>
            </a:r>
            <a:r>
              <a:rPr lang="fr-FR" dirty="0"/>
              <a:t> correction model</a:t>
            </a:r>
            <a:endParaRPr lang="en-GB" dirty="0"/>
          </a:p>
        </p:txBody>
      </p:sp>
      <p:sp>
        <p:nvSpPr>
          <p:cNvPr id="3" name="Espace réservé du contenu 2"/>
          <p:cNvSpPr>
            <a:spLocks noGrp="1"/>
          </p:cNvSpPr>
          <p:nvPr>
            <p:ph idx="1"/>
          </p:nvPr>
        </p:nvSpPr>
        <p:spPr/>
        <p:txBody>
          <a:bodyPr/>
          <a:lstStyle/>
          <a:p>
            <a:pPr marL="0" indent="0">
              <a:buNone/>
            </a:pPr>
            <a:r>
              <a:rPr lang="fr-FR" dirty="0"/>
              <a:t>There </a:t>
            </a:r>
            <a:r>
              <a:rPr lang="fr-FR" dirty="0" err="1"/>
              <a:t>exist</a:t>
            </a:r>
            <a:r>
              <a:rPr lang="fr-FR" dirty="0"/>
              <a:t> an extension of </a:t>
            </a:r>
            <a:r>
              <a:rPr lang="fr-FR" dirty="0" err="1"/>
              <a:t>cointegration</a:t>
            </a:r>
            <a:r>
              <a:rPr lang="fr-FR" dirty="0"/>
              <a:t> to panel data due to </a:t>
            </a:r>
            <a:r>
              <a:rPr lang="fr-FR" dirty="0" err="1"/>
              <a:t>Pedroni</a:t>
            </a:r>
            <a:r>
              <a:rPr lang="fr-FR" dirty="0"/>
              <a:t>.</a:t>
            </a:r>
          </a:p>
          <a:p>
            <a:pPr marL="0" indent="0">
              <a:buNone/>
            </a:pPr>
            <a:r>
              <a:rPr lang="fr-FR" dirty="0"/>
              <a:t>An ARDL model </a:t>
            </a:r>
            <a:r>
              <a:rPr lang="fr-FR" dirty="0" err="1"/>
              <a:t>can</a:t>
            </a:r>
            <a:r>
              <a:rPr lang="fr-FR" dirty="0"/>
              <a:t> </a:t>
            </a:r>
            <a:r>
              <a:rPr lang="fr-FR" dirty="0" err="1"/>
              <a:t>always</a:t>
            </a:r>
            <a:r>
              <a:rPr lang="fr-FR" dirty="0"/>
              <a:t> </a:t>
            </a:r>
            <a:r>
              <a:rPr lang="fr-FR" dirty="0" err="1"/>
              <a:t>be</a:t>
            </a:r>
            <a:r>
              <a:rPr lang="fr-FR" dirty="0"/>
              <a:t> </a:t>
            </a:r>
            <a:r>
              <a:rPr lang="fr-FR" dirty="0" err="1"/>
              <a:t>rewritten</a:t>
            </a:r>
            <a:r>
              <a:rPr lang="fr-FR" dirty="0"/>
              <a:t> as an </a:t>
            </a:r>
            <a:r>
              <a:rPr lang="fr-FR" dirty="0" err="1"/>
              <a:t>error</a:t>
            </a:r>
            <a:r>
              <a:rPr lang="fr-FR" dirty="0"/>
              <a:t> correction model (</a:t>
            </a:r>
            <a:r>
              <a:rPr lang="fr-FR" dirty="0" err="1"/>
              <a:t>see</a:t>
            </a:r>
            <a:r>
              <a:rPr lang="fr-FR" dirty="0"/>
              <a:t> time </a:t>
            </a:r>
            <a:r>
              <a:rPr lang="fr-FR" dirty="0" err="1"/>
              <a:t>series</a:t>
            </a:r>
            <a:r>
              <a:rPr lang="fr-FR" dirty="0"/>
              <a:t> courses).</a:t>
            </a:r>
            <a:endParaRPr lang="en-GB" dirty="0"/>
          </a:p>
        </p:txBody>
      </p:sp>
    </p:spTree>
    <p:extLst>
      <p:ext uri="{BB962C8B-B14F-4D97-AF65-F5344CB8AC3E}">
        <p14:creationId xmlns:p14="http://schemas.microsoft.com/office/powerpoint/2010/main" val="2171466829"/>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Single </a:t>
            </a:r>
            <a:r>
              <a:rPr lang="fr-FR" dirty="0" err="1"/>
              <a:t>column</a:t>
            </a:r>
            <a:r>
              <a:rPr lang="fr-FR" dirty="0"/>
              <a:t> X(</a:t>
            </a:r>
            <a:r>
              <a:rPr lang="fr-FR" dirty="0" err="1"/>
              <a:t>i,t</a:t>
            </a:r>
            <a:r>
              <a:rPr lang="fr-FR" dirty="0"/>
              <a:t>)</a:t>
            </a:r>
            <a:br>
              <a:rPr lang="fr-FR" dirty="0"/>
            </a:br>
            <a:r>
              <a:rPr lang="fr-FR" dirty="0" err="1"/>
              <a:t>Lag</a:t>
            </a:r>
            <a:r>
              <a:rPr lang="fr-FR" dirty="0"/>
              <a:t> </a:t>
            </a:r>
            <a:r>
              <a:rPr lang="fr-FR" dirty="0" err="1"/>
              <a:t>operator</a:t>
            </a:r>
            <a:r>
              <a:rPr lang="fr-FR" dirty="0"/>
              <a:t> </a:t>
            </a:r>
            <a:r>
              <a:rPr lang="fr-FR" dirty="0" err="1"/>
              <a:t>does</a:t>
            </a:r>
            <a:r>
              <a:rPr lang="fr-FR" dirty="0"/>
              <a:t> not </a:t>
            </a:r>
            <a:r>
              <a:rPr lang="fr-FR" dirty="0" err="1"/>
              <a:t>work</a:t>
            </a:r>
            <a:endParaRPr lang="fr-FR" dirty="0"/>
          </a:p>
        </p:txBody>
      </p:sp>
      <p:sp>
        <p:nvSpPr>
          <p:cNvPr id="3" name="Espace réservé du contenu 2"/>
          <p:cNvSpPr>
            <a:spLocks noGrp="1"/>
          </p:cNvSpPr>
          <p:nvPr>
            <p:ph idx="1"/>
          </p:nvPr>
        </p:nvSpPr>
        <p:spPr/>
        <p:txBody>
          <a:bodyPr/>
          <a:lstStyle/>
          <a:p>
            <a:pPr marL="0" indent="0">
              <a:buNone/>
            </a:pPr>
            <a:r>
              <a:rPr lang="fr-FR" dirty="0"/>
              <a:t>Once </a:t>
            </a:r>
            <a:r>
              <a:rPr lang="fr-FR" dirty="0" err="1"/>
              <a:t>you</a:t>
            </a:r>
            <a:r>
              <a:rPr lang="fr-FR" dirty="0"/>
              <a:t> have a single </a:t>
            </a:r>
            <a:r>
              <a:rPr lang="fr-FR" dirty="0" err="1"/>
              <a:t>column</a:t>
            </a:r>
            <a:r>
              <a:rPr lang="fr-FR" dirty="0"/>
              <a:t> for all </a:t>
            </a:r>
            <a:r>
              <a:rPr lang="fr-FR" dirty="0" err="1"/>
              <a:t>individuals</a:t>
            </a:r>
            <a:r>
              <a:rPr lang="fr-FR" dirty="0"/>
              <a:t>: This </a:t>
            </a:r>
            <a:r>
              <a:rPr lang="fr-FR" dirty="0" err="1"/>
              <a:t>is</a:t>
            </a:r>
            <a:r>
              <a:rPr lang="fr-FR" dirty="0"/>
              <a:t> STACKED time </a:t>
            </a:r>
            <a:r>
              <a:rPr lang="fr-FR" dirty="0" err="1"/>
              <a:t>series</a:t>
            </a:r>
            <a:r>
              <a:rPr lang="fr-FR" dirty="0"/>
              <a:t>.</a:t>
            </a:r>
          </a:p>
          <a:p>
            <a:pPr marL="0" indent="0">
              <a:buNone/>
            </a:pPr>
            <a:endParaRPr lang="fr-FR" dirty="0"/>
          </a:p>
          <a:p>
            <a:pPr marL="0" indent="0">
              <a:buNone/>
            </a:pPr>
            <a:r>
              <a:rPr lang="fr-FR" dirty="0"/>
              <a:t>You </a:t>
            </a:r>
            <a:r>
              <a:rPr lang="fr-FR" dirty="0" err="1"/>
              <a:t>need</a:t>
            </a:r>
            <a:r>
              <a:rPr lang="fr-FR" dirty="0"/>
              <a:t> to have </a:t>
            </a:r>
            <a:r>
              <a:rPr lang="fr-FR" dirty="0" err="1"/>
              <a:t>special</a:t>
            </a:r>
            <a:r>
              <a:rPr lang="fr-FR" dirty="0"/>
              <a:t> code for the LAG </a:t>
            </a:r>
            <a:r>
              <a:rPr lang="fr-FR" dirty="0" err="1"/>
              <a:t>operator</a:t>
            </a:r>
            <a:r>
              <a:rPr lang="fr-FR" dirty="0"/>
              <a:t>: </a:t>
            </a:r>
            <a:r>
              <a:rPr lang="fr-FR" dirty="0" err="1"/>
              <a:t>why</a:t>
            </a:r>
            <a:r>
              <a:rPr lang="fr-FR" dirty="0"/>
              <a:t>? </a:t>
            </a:r>
            <a:r>
              <a:rPr lang="fr-FR" dirty="0" err="1"/>
              <a:t>Try</a:t>
            </a:r>
            <a:r>
              <a:rPr lang="fr-FR" dirty="0"/>
              <a:t> a 2x2 </a:t>
            </a:r>
            <a:r>
              <a:rPr lang="fr-FR" dirty="0" err="1"/>
              <a:t>example</a:t>
            </a:r>
            <a:r>
              <a:rPr lang="fr-FR" dirty="0"/>
              <a:t>.</a:t>
            </a:r>
          </a:p>
          <a:p>
            <a:pPr marL="0" indent="0">
              <a:buNone/>
            </a:pPr>
            <a:endParaRPr lang="fr-FR" dirty="0"/>
          </a:p>
          <a:p>
            <a:pPr marL="0" indent="0">
              <a:buNone/>
            </a:pPr>
            <a:r>
              <a:rPr lang="fr-FR" dirty="0" err="1"/>
              <a:t>Example</a:t>
            </a:r>
            <a:r>
              <a:rPr lang="fr-FR" dirty="0"/>
              <a:t> stata: </a:t>
            </a:r>
            <a:r>
              <a:rPr lang="fr-FR" dirty="0" err="1"/>
              <a:t>xt</a:t>
            </a:r>
            <a:r>
              <a:rPr lang="fr-FR" dirty="0"/>
              <a:t> command for all panel data instructions</a:t>
            </a:r>
          </a:p>
        </p:txBody>
      </p:sp>
    </p:spTree>
    <p:extLst>
      <p:ext uri="{BB962C8B-B14F-4D97-AF65-F5344CB8AC3E}">
        <p14:creationId xmlns:p14="http://schemas.microsoft.com/office/powerpoint/2010/main" val="259016879"/>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Lag</a:t>
            </a:r>
            <a:r>
              <a:rPr lang="fr-FR" dirty="0"/>
              <a:t> and </a:t>
            </a:r>
            <a:r>
              <a:rPr lang="fr-FR" dirty="0" err="1"/>
              <a:t>Dif</a:t>
            </a:r>
            <a:r>
              <a:rPr lang="fr-FR" dirty="0"/>
              <a:t> </a:t>
            </a:r>
            <a:r>
              <a:rPr lang="fr-FR" dirty="0" err="1"/>
              <a:t>operator</a:t>
            </a:r>
            <a:r>
              <a:rPr lang="fr-FR" dirty="0"/>
              <a:t>: </a:t>
            </a:r>
            <a:r>
              <a:rPr lang="fr-FR" dirty="0" err="1"/>
              <a:t>requires</a:t>
            </a:r>
            <a:r>
              <a:rPr lang="fr-FR" dirty="0"/>
              <a:t> </a:t>
            </a:r>
            <a:r>
              <a:rPr lang="fr-FR" dirty="0" err="1"/>
              <a:t>mentioning</a:t>
            </a:r>
            <a:r>
              <a:rPr lang="fr-FR" dirty="0"/>
              <a:t> </a:t>
            </a:r>
            <a:r>
              <a:rPr lang="fr-FR" dirty="0" err="1"/>
              <a:t>two</a:t>
            </a:r>
            <a:r>
              <a:rPr lang="fr-FR" dirty="0"/>
              <a:t> indices</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3553825565"/>
              </p:ext>
            </p:extLst>
          </p:nvPr>
        </p:nvGraphicFramePr>
        <p:xfrm>
          <a:off x="457200" y="1679024"/>
          <a:ext cx="8229600" cy="466344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0000"/>
                    </a:ext>
                  </a:extLst>
                </a:gridCol>
                <a:gridCol w="1604784">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892816">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r>
                        <a:rPr lang="fr-FR" sz="4000" b="1" dirty="0" err="1"/>
                        <a:t>Ident</a:t>
                      </a:r>
                      <a:endParaRPr lang="fr-FR" sz="4000" b="1" dirty="0"/>
                    </a:p>
                  </a:txBody>
                  <a:tcPr/>
                </a:tc>
                <a:tc>
                  <a:txBody>
                    <a:bodyPr/>
                    <a:lstStyle/>
                    <a:p>
                      <a:r>
                        <a:rPr lang="fr-FR" sz="4000" b="1" dirty="0" err="1"/>
                        <a:t>Year</a:t>
                      </a:r>
                      <a:endParaRPr lang="fr-FR" sz="4000" b="1" dirty="0"/>
                    </a:p>
                  </a:txBody>
                  <a:tcPr/>
                </a:tc>
                <a:tc>
                  <a:txBody>
                    <a:bodyPr/>
                    <a:lstStyle/>
                    <a:p>
                      <a:r>
                        <a:rPr lang="fr-FR" sz="4000" b="1" baseline="0" dirty="0"/>
                        <a:t>X(</a:t>
                      </a:r>
                      <a:r>
                        <a:rPr lang="fr-FR" sz="4000" b="1" baseline="0" dirty="0" err="1"/>
                        <a:t>it</a:t>
                      </a:r>
                      <a:r>
                        <a:rPr lang="fr-FR" sz="4000" b="1" baseline="0" dirty="0"/>
                        <a:t>)</a:t>
                      </a:r>
                      <a:endParaRPr lang="fr-FR" sz="4000" b="1" dirty="0"/>
                    </a:p>
                  </a:txBody>
                  <a:tcPr/>
                </a:tc>
                <a:tc>
                  <a:txBody>
                    <a:bodyPr/>
                    <a:lstStyle/>
                    <a:p>
                      <a:r>
                        <a:rPr lang="fr-FR" sz="2800" b="1" dirty="0" err="1"/>
                        <a:t>Lag</a:t>
                      </a:r>
                      <a:r>
                        <a:rPr lang="fr-FR" sz="2800" b="1" dirty="0"/>
                        <a:t>(X(t))</a:t>
                      </a:r>
                      <a:r>
                        <a:rPr lang="fr-FR" sz="2800" b="1" baseline="0" dirty="0"/>
                        <a:t> time </a:t>
                      </a:r>
                      <a:r>
                        <a:rPr lang="fr-FR" sz="2800" b="1" baseline="0" dirty="0" err="1"/>
                        <a:t>series</a:t>
                      </a:r>
                      <a:endParaRPr lang="fr-FR" sz="2800" b="1" dirty="0"/>
                    </a:p>
                  </a:txBody>
                  <a:tcPr/>
                </a:tc>
                <a:tc>
                  <a:txBody>
                    <a:bodyPr/>
                    <a:lstStyle/>
                    <a:p>
                      <a:r>
                        <a:rPr lang="fr-FR" b="1" dirty="0" err="1"/>
                        <a:t>Lag</a:t>
                      </a:r>
                      <a:r>
                        <a:rPr lang="fr-FR" b="1" dirty="0"/>
                        <a:t>(X(</a:t>
                      </a:r>
                      <a:r>
                        <a:rPr lang="fr-FR" b="1" dirty="0" err="1"/>
                        <a:t>it</a:t>
                      </a:r>
                      <a:r>
                        <a:rPr lang="fr-FR" b="1" dirty="0"/>
                        <a:t>))</a:t>
                      </a:r>
                    </a:p>
                    <a:p>
                      <a:r>
                        <a:rPr lang="fr-FR" b="1" dirty="0"/>
                        <a:t>=X(i,t-1)</a:t>
                      </a:r>
                    </a:p>
                    <a:p>
                      <a:r>
                        <a:rPr lang="fr-FR" b="1" dirty="0" err="1"/>
                        <a:t>Stacked</a:t>
                      </a:r>
                      <a:r>
                        <a:rPr lang="fr-FR" b="1" dirty="0"/>
                        <a:t> Panel</a:t>
                      </a:r>
                    </a:p>
                  </a:txBody>
                  <a:tcPr/>
                </a:tc>
                <a:extLst>
                  <a:ext uri="{0D108BD9-81ED-4DB2-BD59-A6C34878D82A}">
                    <a16:rowId xmlns:a16="http://schemas.microsoft.com/office/drawing/2014/main" val="10000"/>
                  </a:ext>
                </a:extLst>
              </a:tr>
              <a:tr h="370840">
                <a:tc>
                  <a:txBody>
                    <a:bodyPr/>
                    <a:lstStyle/>
                    <a:p>
                      <a:r>
                        <a:rPr lang="fr-FR" sz="4800" b="1" dirty="0"/>
                        <a:t>1</a:t>
                      </a:r>
                    </a:p>
                  </a:txBody>
                  <a:tcPr/>
                </a:tc>
                <a:tc>
                  <a:txBody>
                    <a:bodyPr/>
                    <a:lstStyle/>
                    <a:p>
                      <a:r>
                        <a:rPr lang="fr-FR" sz="4800" b="1" dirty="0"/>
                        <a:t>1</a:t>
                      </a:r>
                    </a:p>
                  </a:txBody>
                  <a:tcPr/>
                </a:tc>
                <a:tc>
                  <a:txBody>
                    <a:bodyPr/>
                    <a:lstStyle/>
                    <a:p>
                      <a:pPr algn="ctr"/>
                      <a:r>
                        <a:rPr lang="fr-FR" sz="4800" b="1" dirty="0"/>
                        <a:t>8</a:t>
                      </a:r>
                    </a:p>
                  </a:txBody>
                  <a:tcPr/>
                </a:tc>
                <a:tc>
                  <a:txBody>
                    <a:bodyPr/>
                    <a:lstStyle/>
                    <a:p>
                      <a:pPr algn="ctr"/>
                      <a:r>
                        <a:rPr lang="fr-FR" b="1" dirty="0"/>
                        <a:t>Dot (not </a:t>
                      </a:r>
                      <a:r>
                        <a:rPr lang="fr-FR" b="1" dirty="0" err="1"/>
                        <a:t>available</a:t>
                      </a:r>
                      <a:r>
                        <a:rPr lang="fr-FR" b="1" dirty="0"/>
                        <a:t>).</a:t>
                      </a:r>
                    </a:p>
                  </a:txBody>
                  <a:tcPr/>
                </a:tc>
                <a:tc>
                  <a:txBody>
                    <a:bodyPr/>
                    <a:lstStyle/>
                    <a:p>
                      <a:pPr algn="ctr"/>
                      <a:r>
                        <a:rPr lang="fr-FR" b="1" dirty="0"/>
                        <a:t>Dot (not </a:t>
                      </a:r>
                      <a:r>
                        <a:rPr lang="fr-FR" b="1" dirty="0" err="1"/>
                        <a:t>available</a:t>
                      </a:r>
                      <a:r>
                        <a:rPr lang="fr-FR" b="1" dirty="0"/>
                        <a:t>)</a:t>
                      </a:r>
                    </a:p>
                  </a:txBody>
                  <a:tcPr/>
                </a:tc>
                <a:extLst>
                  <a:ext uri="{0D108BD9-81ED-4DB2-BD59-A6C34878D82A}">
                    <a16:rowId xmlns:a16="http://schemas.microsoft.com/office/drawing/2014/main" val="10001"/>
                  </a:ext>
                </a:extLst>
              </a:tr>
              <a:tr h="370840">
                <a:tc>
                  <a:txBody>
                    <a:bodyPr/>
                    <a:lstStyle/>
                    <a:p>
                      <a:r>
                        <a:rPr lang="fr-FR" sz="4800" b="1" dirty="0"/>
                        <a:t>1</a:t>
                      </a:r>
                    </a:p>
                  </a:txBody>
                  <a:tcPr/>
                </a:tc>
                <a:tc>
                  <a:txBody>
                    <a:bodyPr/>
                    <a:lstStyle/>
                    <a:p>
                      <a:r>
                        <a:rPr lang="fr-FR" sz="4800" b="1" dirty="0"/>
                        <a:t>2</a:t>
                      </a:r>
                    </a:p>
                  </a:txBody>
                  <a:tcPr/>
                </a:tc>
                <a:tc>
                  <a:txBody>
                    <a:bodyPr/>
                    <a:lstStyle/>
                    <a:p>
                      <a:pPr algn="ctr"/>
                      <a:r>
                        <a:rPr lang="fr-FR" sz="4800" b="1" dirty="0"/>
                        <a:t>12</a:t>
                      </a:r>
                    </a:p>
                  </a:txBody>
                  <a:tcPr/>
                </a:tc>
                <a:tc>
                  <a:txBody>
                    <a:bodyPr/>
                    <a:lstStyle/>
                    <a:p>
                      <a:pPr algn="ctr"/>
                      <a:r>
                        <a:rPr lang="fr-FR" sz="4800" b="1" dirty="0"/>
                        <a:t>8</a:t>
                      </a:r>
                    </a:p>
                  </a:txBody>
                  <a:tcPr/>
                </a:tc>
                <a:tc>
                  <a:txBody>
                    <a:bodyPr/>
                    <a:lstStyle/>
                    <a:p>
                      <a:pPr algn="ctr"/>
                      <a:r>
                        <a:rPr lang="fr-FR" sz="4800" b="1" dirty="0"/>
                        <a:t>8</a:t>
                      </a:r>
                    </a:p>
                  </a:txBody>
                  <a:tcPr/>
                </a:tc>
                <a:extLst>
                  <a:ext uri="{0D108BD9-81ED-4DB2-BD59-A6C34878D82A}">
                    <a16:rowId xmlns:a16="http://schemas.microsoft.com/office/drawing/2014/main" val="10002"/>
                  </a:ext>
                </a:extLst>
              </a:tr>
              <a:tr h="370840">
                <a:tc>
                  <a:txBody>
                    <a:bodyPr/>
                    <a:lstStyle/>
                    <a:p>
                      <a:r>
                        <a:rPr lang="fr-FR" sz="4800" b="1" dirty="0"/>
                        <a:t>2</a:t>
                      </a:r>
                    </a:p>
                  </a:txBody>
                  <a:tcPr/>
                </a:tc>
                <a:tc>
                  <a:txBody>
                    <a:bodyPr/>
                    <a:lstStyle/>
                    <a:p>
                      <a:r>
                        <a:rPr lang="fr-FR" sz="4800" b="1" dirty="0"/>
                        <a:t>1</a:t>
                      </a:r>
                    </a:p>
                  </a:txBody>
                  <a:tcPr/>
                </a:tc>
                <a:tc>
                  <a:txBody>
                    <a:bodyPr/>
                    <a:lstStyle/>
                    <a:p>
                      <a:pPr algn="ctr"/>
                      <a:r>
                        <a:rPr lang="fr-FR" sz="4800" b="1" dirty="0"/>
                        <a:t>5</a:t>
                      </a:r>
                    </a:p>
                  </a:txBody>
                  <a:tcPr/>
                </a:tc>
                <a:tc>
                  <a:txBody>
                    <a:bodyPr/>
                    <a:lstStyle/>
                    <a:p>
                      <a:pPr algn="ctr"/>
                      <a:r>
                        <a:rPr lang="fr-FR" sz="4800" b="1" dirty="0">
                          <a:solidFill>
                            <a:srgbClr val="FF0000"/>
                          </a:solidFill>
                        </a:rPr>
                        <a:t>12</a:t>
                      </a:r>
                    </a:p>
                  </a:txBody>
                  <a:tcPr/>
                </a:tc>
                <a:tc>
                  <a:txBody>
                    <a:bodyPr/>
                    <a:lstStyle/>
                    <a:p>
                      <a:pPr algn="ctr"/>
                      <a:r>
                        <a:rPr lang="fr-FR" b="1" dirty="0">
                          <a:solidFill>
                            <a:srgbClr val="FF0000"/>
                          </a:solidFill>
                        </a:rPr>
                        <a:t>Dot (not </a:t>
                      </a:r>
                      <a:r>
                        <a:rPr lang="fr-FR" b="1" dirty="0" err="1">
                          <a:solidFill>
                            <a:srgbClr val="FF0000"/>
                          </a:solidFill>
                        </a:rPr>
                        <a:t>available</a:t>
                      </a:r>
                      <a:r>
                        <a:rPr lang="fr-FR" b="1" dirty="0">
                          <a:solidFill>
                            <a:srgbClr val="FF0000"/>
                          </a:solidFill>
                        </a:rPr>
                        <a:t>)</a:t>
                      </a:r>
                    </a:p>
                  </a:txBody>
                  <a:tcPr/>
                </a:tc>
                <a:extLst>
                  <a:ext uri="{0D108BD9-81ED-4DB2-BD59-A6C34878D82A}">
                    <a16:rowId xmlns:a16="http://schemas.microsoft.com/office/drawing/2014/main" val="10003"/>
                  </a:ext>
                </a:extLst>
              </a:tr>
              <a:tr h="370840">
                <a:tc>
                  <a:txBody>
                    <a:bodyPr/>
                    <a:lstStyle/>
                    <a:p>
                      <a:r>
                        <a:rPr lang="fr-FR" sz="4800" b="1" dirty="0"/>
                        <a:t>2</a:t>
                      </a:r>
                    </a:p>
                  </a:txBody>
                  <a:tcPr/>
                </a:tc>
                <a:tc>
                  <a:txBody>
                    <a:bodyPr/>
                    <a:lstStyle/>
                    <a:p>
                      <a:r>
                        <a:rPr lang="fr-FR" sz="4800" b="1" dirty="0"/>
                        <a:t>2</a:t>
                      </a:r>
                    </a:p>
                  </a:txBody>
                  <a:tcPr/>
                </a:tc>
                <a:tc>
                  <a:txBody>
                    <a:bodyPr/>
                    <a:lstStyle/>
                    <a:p>
                      <a:pPr algn="ctr"/>
                      <a:r>
                        <a:rPr lang="fr-FR" sz="4800" b="1" dirty="0"/>
                        <a:t>3</a:t>
                      </a:r>
                    </a:p>
                  </a:txBody>
                  <a:tcPr/>
                </a:tc>
                <a:tc>
                  <a:txBody>
                    <a:bodyPr/>
                    <a:lstStyle/>
                    <a:p>
                      <a:pPr algn="ctr"/>
                      <a:r>
                        <a:rPr lang="fr-FR" sz="4800" b="1" dirty="0"/>
                        <a:t>5</a:t>
                      </a:r>
                    </a:p>
                  </a:txBody>
                  <a:tcPr/>
                </a:tc>
                <a:tc>
                  <a:txBody>
                    <a:bodyPr/>
                    <a:lstStyle/>
                    <a:p>
                      <a:pPr algn="ctr"/>
                      <a:r>
                        <a:rPr lang="fr-FR" sz="4800" b="1" dirty="0"/>
                        <a:t>5</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7867443"/>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Several</a:t>
            </a:r>
            <a:r>
              <a:rPr lang="fr-FR" dirty="0"/>
              <a:t> tests of unit </a:t>
            </a:r>
            <a:r>
              <a:rPr lang="fr-FR" dirty="0" err="1"/>
              <a:t>roots</a:t>
            </a:r>
            <a:br>
              <a:rPr lang="fr-FR" dirty="0"/>
            </a:br>
            <a:r>
              <a:rPr lang="fr-FR" dirty="0"/>
              <a:t> for panel data</a:t>
            </a:r>
            <a:endParaRPr lang="en-GB" dirty="0"/>
          </a:p>
        </p:txBody>
      </p:sp>
      <p:sp>
        <p:nvSpPr>
          <p:cNvPr id="3" name="Espace réservé du contenu 2"/>
          <p:cNvSpPr>
            <a:spLocks noGrp="1"/>
          </p:cNvSpPr>
          <p:nvPr>
            <p:ph idx="1"/>
          </p:nvPr>
        </p:nvSpPr>
        <p:spPr/>
        <p:txBody>
          <a:bodyPr>
            <a:normAutofit fontScale="92500"/>
          </a:bodyPr>
          <a:lstStyle/>
          <a:p>
            <a:pPr marL="0" indent="0">
              <a:buNone/>
            </a:pPr>
            <a:r>
              <a:rPr lang="fr-FR" dirty="0" err="1"/>
              <a:t>Xtunitroot</a:t>
            </a:r>
            <a:r>
              <a:rPr lang="fr-FR" dirty="0"/>
              <a:t> (Stata)</a:t>
            </a:r>
          </a:p>
          <a:p>
            <a:pPr marL="0" indent="0" algn="just">
              <a:buNone/>
            </a:pPr>
            <a:r>
              <a:rPr lang="en-GB" dirty="0"/>
              <a:t>The Levin–Lin–Chu (2002), Harris–</a:t>
            </a:r>
            <a:r>
              <a:rPr lang="en-GB" dirty="0" err="1"/>
              <a:t>Tzavalis</a:t>
            </a:r>
            <a:r>
              <a:rPr lang="en-GB" dirty="0"/>
              <a:t> (1999), </a:t>
            </a:r>
            <a:r>
              <a:rPr lang="en-GB" dirty="0" err="1"/>
              <a:t>Breitung</a:t>
            </a:r>
            <a:r>
              <a:rPr lang="en-GB" dirty="0"/>
              <a:t> (2000; </a:t>
            </a:r>
            <a:r>
              <a:rPr lang="en-GB" dirty="0" err="1"/>
              <a:t>Breitung</a:t>
            </a:r>
            <a:r>
              <a:rPr lang="en-GB" dirty="0"/>
              <a:t> and Das 2005), </a:t>
            </a:r>
            <a:r>
              <a:rPr lang="en-GB" dirty="0" err="1"/>
              <a:t>Im</a:t>
            </a:r>
            <a:r>
              <a:rPr lang="en-GB" dirty="0"/>
              <a:t>–</a:t>
            </a:r>
            <a:r>
              <a:rPr lang="en-GB" dirty="0" err="1"/>
              <a:t>Pesaran</a:t>
            </a:r>
            <a:r>
              <a:rPr lang="en-GB" dirty="0"/>
              <a:t>–Shin (2003), and Fisher-type (Choi 2001) tests have as the null hypothesis that all the panels contain a unit root. </a:t>
            </a:r>
          </a:p>
          <a:p>
            <a:pPr marL="0" indent="0" algn="just">
              <a:buNone/>
            </a:pPr>
            <a:r>
              <a:rPr lang="en-GB" dirty="0"/>
              <a:t>The </a:t>
            </a:r>
            <a:r>
              <a:rPr lang="en-GB" dirty="0" err="1"/>
              <a:t>Hadri</a:t>
            </a:r>
            <a:r>
              <a:rPr lang="en-GB" dirty="0"/>
              <a:t> (2000) Lagrange multiplier (LM) test has as the null hypothesis that all the panels</a:t>
            </a:r>
          </a:p>
          <a:p>
            <a:pPr marL="0" indent="0" algn="just">
              <a:buNone/>
            </a:pPr>
            <a:r>
              <a:rPr lang="en-GB" dirty="0"/>
              <a:t>are (trend) stationary.</a:t>
            </a:r>
          </a:p>
        </p:txBody>
      </p:sp>
    </p:spTree>
    <p:extLst>
      <p:ext uri="{BB962C8B-B14F-4D97-AF65-F5344CB8AC3E}">
        <p14:creationId xmlns:p14="http://schemas.microsoft.com/office/powerpoint/2010/main" val="1989339355"/>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Nickell</a:t>
            </a:r>
            <a:r>
              <a:rPr lang="fr-FR" dirty="0"/>
              <a:t> (1981) </a:t>
            </a:r>
            <a:r>
              <a:rPr lang="fr-FR" dirty="0" err="1"/>
              <a:t>bias</a:t>
            </a:r>
            <a:r>
              <a:rPr lang="fr-FR" dirty="0"/>
              <a:t> of </a:t>
            </a:r>
            <a:r>
              <a:rPr lang="fr-FR" dirty="0" err="1"/>
              <a:t>lagged</a:t>
            </a:r>
            <a:r>
              <a:rPr lang="fr-FR" dirty="0"/>
              <a:t> </a:t>
            </a:r>
            <a:r>
              <a:rPr lang="fr-FR" dirty="0" err="1"/>
              <a:t>dependent</a:t>
            </a:r>
            <a:r>
              <a:rPr lang="fr-FR" dirty="0"/>
              <a:t> variable </a:t>
            </a:r>
            <a:r>
              <a:rPr lang="fr-FR" dirty="0" err="1"/>
              <a:t>with</a:t>
            </a:r>
            <a:r>
              <a:rPr lang="fr-FR" dirty="0"/>
              <a:t> </a:t>
            </a:r>
            <a:r>
              <a:rPr lang="fr-FR" dirty="0" err="1"/>
              <a:t>fixed</a:t>
            </a:r>
            <a:r>
              <a:rPr lang="fr-FR" dirty="0"/>
              <a:t> </a:t>
            </a:r>
            <a:r>
              <a:rPr lang="fr-FR" dirty="0" err="1"/>
              <a:t>effects</a:t>
            </a:r>
            <a:endParaRPr lang="en-GB" dirty="0"/>
          </a:p>
        </p:txBody>
      </p:sp>
      <p:sp>
        <p:nvSpPr>
          <p:cNvPr id="3" name="Espace réservé du contenu 2"/>
          <p:cNvSpPr>
            <a:spLocks noGrp="1"/>
          </p:cNvSpPr>
          <p:nvPr>
            <p:ph idx="1"/>
          </p:nvPr>
        </p:nvSpPr>
        <p:spPr/>
        <p:txBody>
          <a:bodyPr/>
          <a:lstStyle/>
          <a:p>
            <a:pPr marL="0" indent="0" algn="just">
              <a:buNone/>
            </a:pPr>
            <a:r>
              <a:rPr lang="fr-FR" dirty="0"/>
              <a:t>This </a:t>
            </a:r>
            <a:r>
              <a:rPr lang="fr-FR" dirty="0" err="1"/>
              <a:t>theoretically</a:t>
            </a:r>
            <a:r>
              <a:rPr lang="fr-FR" dirty="0"/>
              <a:t> </a:t>
            </a:r>
            <a:r>
              <a:rPr lang="fr-FR" dirty="0" err="1"/>
              <a:t>demonstrated</a:t>
            </a:r>
            <a:r>
              <a:rPr lang="fr-FR" dirty="0"/>
              <a:t> </a:t>
            </a:r>
            <a:r>
              <a:rPr lang="fr-FR" dirty="0" err="1"/>
              <a:t>bias</a:t>
            </a:r>
            <a:r>
              <a:rPr lang="fr-FR" dirty="0"/>
              <a:t> of the </a:t>
            </a:r>
            <a:r>
              <a:rPr lang="fr-FR" dirty="0" err="1"/>
              <a:t>estimated</a:t>
            </a:r>
            <a:r>
              <a:rPr lang="fr-FR" dirty="0"/>
              <a:t> </a:t>
            </a:r>
            <a:r>
              <a:rPr lang="fr-FR" dirty="0" err="1"/>
              <a:t>parameter</a:t>
            </a:r>
            <a:r>
              <a:rPr lang="fr-FR" dirty="0"/>
              <a:t> of the </a:t>
            </a:r>
            <a:r>
              <a:rPr lang="fr-FR" dirty="0" err="1"/>
              <a:t>lagged</a:t>
            </a:r>
            <a:r>
              <a:rPr lang="fr-FR" dirty="0"/>
              <a:t> </a:t>
            </a:r>
            <a:r>
              <a:rPr lang="fr-FR" dirty="0" err="1"/>
              <a:t>dependent</a:t>
            </a:r>
            <a:r>
              <a:rPr lang="fr-FR" dirty="0"/>
              <a:t> variable </a:t>
            </a:r>
            <a:r>
              <a:rPr lang="fr-FR" dirty="0" err="1"/>
              <a:t>is</a:t>
            </a:r>
            <a:r>
              <a:rPr lang="fr-FR" dirty="0"/>
              <a:t> </a:t>
            </a:r>
          </a:p>
          <a:p>
            <a:pPr algn="just">
              <a:buFontTx/>
              <a:buChar char="-"/>
            </a:pPr>
            <a:r>
              <a:rPr lang="fr-FR" dirty="0"/>
              <a:t>large for </a:t>
            </a:r>
            <a:r>
              <a:rPr lang="fr-FR" dirty="0" err="1"/>
              <a:t>small</a:t>
            </a:r>
            <a:r>
              <a:rPr lang="fr-FR" dirty="0"/>
              <a:t> T&lt;10</a:t>
            </a:r>
          </a:p>
          <a:p>
            <a:pPr algn="just">
              <a:buFontTx/>
              <a:buChar char="-"/>
            </a:pPr>
            <a:r>
              <a:rPr lang="fr-FR" dirty="0" err="1"/>
              <a:t>decreases</a:t>
            </a:r>
            <a:r>
              <a:rPr lang="fr-FR" dirty="0"/>
              <a:t> </a:t>
            </a:r>
            <a:r>
              <a:rPr lang="fr-FR" dirty="0" err="1"/>
              <a:t>with</a:t>
            </a:r>
            <a:r>
              <a:rPr lang="fr-FR" dirty="0"/>
              <a:t> T</a:t>
            </a:r>
          </a:p>
          <a:p>
            <a:pPr algn="just">
              <a:buFontTx/>
              <a:buChar char="-"/>
            </a:pPr>
            <a:r>
              <a:rPr lang="fr-FR" dirty="0" err="1"/>
              <a:t>is</a:t>
            </a:r>
            <a:r>
              <a:rPr lang="fr-FR" dirty="0"/>
              <a:t> </a:t>
            </a:r>
            <a:r>
              <a:rPr lang="fr-FR" dirty="0" err="1"/>
              <a:t>negligible</a:t>
            </a:r>
            <a:r>
              <a:rPr lang="fr-FR" dirty="0"/>
              <a:t> for large T&gt;30 or </a:t>
            </a:r>
            <a:r>
              <a:rPr lang="fr-FR" dirty="0" err="1"/>
              <a:t>even</a:t>
            </a:r>
            <a:r>
              <a:rPr lang="fr-FR" dirty="0"/>
              <a:t> T&gt;20.</a:t>
            </a:r>
            <a:endParaRPr lang="en-GB" dirty="0"/>
          </a:p>
        </p:txBody>
      </p:sp>
    </p:spTree>
    <p:extLst>
      <p:ext uri="{BB962C8B-B14F-4D97-AF65-F5344CB8AC3E}">
        <p14:creationId xmlns:p14="http://schemas.microsoft.com/office/powerpoint/2010/main" val="95683851"/>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DO the Anderson </a:t>
            </a:r>
            <a:r>
              <a:rPr lang="fr-FR" dirty="0" err="1"/>
              <a:t>Hsiao</a:t>
            </a:r>
            <a:r>
              <a:rPr lang="fr-FR" dirty="0"/>
              <a:t> (1981) </a:t>
            </a:r>
            <a:r>
              <a:rPr lang="fr-FR" dirty="0" err="1"/>
              <a:t>whatever</a:t>
            </a:r>
            <a:r>
              <a:rPr lang="fr-FR" dirty="0"/>
              <a:t> the value of T.</a:t>
            </a:r>
            <a:endParaRPr lang="en-GB"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FR" dirty="0"/>
              <a:t>First </a:t>
            </a:r>
            <a:r>
              <a:rPr lang="fr-FR" dirty="0" err="1"/>
              <a:t>differences</a:t>
            </a:r>
            <a:r>
              <a:rPr lang="fr-FR" dirty="0"/>
              <a:t> (</a:t>
            </a:r>
            <a:r>
              <a:rPr lang="fr-FR" dirty="0" err="1"/>
              <a:t>computed</a:t>
            </a:r>
            <a:r>
              <a:rPr lang="fr-FR" dirty="0"/>
              <a:t> in PANEL, </a:t>
            </a:r>
            <a:r>
              <a:rPr lang="fr-FR" dirty="0" err="1"/>
              <a:t>taking</a:t>
            </a:r>
            <a:r>
              <a:rPr lang="fr-FR" dirty="0"/>
              <a:t> </a:t>
            </a:r>
            <a:r>
              <a:rPr lang="fr-FR" dirty="0" err="1"/>
              <a:t>into</a:t>
            </a:r>
            <a:r>
              <a:rPr lang="fr-FR" dirty="0"/>
              <a:t> </a:t>
            </a:r>
            <a:r>
              <a:rPr lang="fr-FR" dirty="0" err="1"/>
              <a:t>account</a:t>
            </a:r>
            <a:r>
              <a:rPr lang="fr-FR" dirty="0"/>
              <a:t> the change of </a:t>
            </a:r>
            <a:r>
              <a:rPr lang="fr-FR" dirty="0" err="1"/>
              <a:t>individual</a:t>
            </a:r>
            <a:r>
              <a:rPr lang="fr-FR" dirty="0"/>
              <a:t>: check the output of </a:t>
            </a:r>
            <a:r>
              <a:rPr lang="fr-FR" dirty="0" err="1"/>
              <a:t>your</a:t>
            </a:r>
            <a:r>
              <a:rPr lang="fr-FR" dirty="0"/>
              <a:t> first </a:t>
            </a:r>
            <a:r>
              <a:rPr lang="fr-FR" dirty="0" err="1"/>
              <a:t>differences</a:t>
            </a:r>
            <a:r>
              <a:rPr lang="fr-FR" dirty="0"/>
              <a:t> at the change of </a:t>
            </a:r>
            <a:r>
              <a:rPr lang="fr-FR" dirty="0" err="1"/>
              <a:t>individuals</a:t>
            </a:r>
            <a:r>
              <a:rPr lang="fr-FR" dirty="0"/>
              <a:t>)</a:t>
            </a:r>
          </a:p>
          <a:p>
            <a:pPr marL="0" indent="0">
              <a:buNone/>
            </a:pPr>
            <a:r>
              <a:rPr lang="fr-FR" dirty="0"/>
              <a:t>For all the variables of the model (</a:t>
            </a:r>
            <a:r>
              <a:rPr lang="el-GR" dirty="0">
                <a:latin typeface="Cambria Math"/>
                <a:ea typeface="Cambria Math"/>
              </a:rPr>
              <a:t>Δ </a:t>
            </a:r>
            <a:r>
              <a:rPr lang="el-GR" dirty="0">
                <a:latin typeface="Cambria Math" panose="02040503050406030204" pitchFamily="18" charset="0"/>
                <a:ea typeface="Cambria Math" panose="02040503050406030204" pitchFamily="18" charset="0"/>
              </a:rPr>
              <a:t>α</a:t>
            </a:r>
            <a:r>
              <a:rPr lang="fr-FR" baseline="-25000" dirty="0">
                <a:latin typeface="Cambria Math" panose="02040503050406030204" pitchFamily="18" charset="0"/>
                <a:ea typeface="Cambria Math" panose="02040503050406030204" pitchFamily="18" charset="0"/>
              </a:rPr>
              <a:t>i</a:t>
            </a:r>
            <a:r>
              <a:rPr lang="el-GR" dirty="0">
                <a:latin typeface="Cambria Math"/>
                <a:ea typeface="Cambria Math"/>
              </a:rPr>
              <a:t> </a:t>
            </a:r>
            <a:r>
              <a:rPr lang="fr-FR" dirty="0">
                <a:latin typeface="Cambria Math"/>
                <a:ea typeface="Cambria Math"/>
              </a:rPr>
              <a:t>=0)</a:t>
            </a:r>
            <a:endParaRPr lang="fr-FR" dirty="0"/>
          </a:p>
          <a:p>
            <a:pPr marL="0" indent="0">
              <a:buNone/>
            </a:pPr>
            <a:r>
              <a:rPr lang="el-GR" dirty="0">
                <a:latin typeface="Cambria Math"/>
                <a:ea typeface="Cambria Math"/>
              </a:rPr>
              <a:t>Δ </a:t>
            </a:r>
            <a:r>
              <a:rPr lang="fr-FR" dirty="0" err="1"/>
              <a:t>y</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t>= </a:t>
            </a:r>
            <a:r>
              <a:rPr lang="el-GR" dirty="0">
                <a:latin typeface="Cambria Math" panose="02040503050406030204" pitchFamily="18" charset="0"/>
                <a:ea typeface="Cambria Math" panose="02040503050406030204" pitchFamily="18" charset="0"/>
              </a:rPr>
              <a:t>β</a:t>
            </a:r>
            <a:r>
              <a:rPr lang="fr-FR" baseline="-25000" dirty="0">
                <a:latin typeface="Cambria Math" panose="02040503050406030204" pitchFamily="18" charset="0"/>
                <a:ea typeface="Cambria Math" panose="02040503050406030204" pitchFamily="18" charset="0"/>
              </a:rPr>
              <a:t>y</a:t>
            </a:r>
            <a:r>
              <a:rPr lang="el-GR" dirty="0">
                <a:latin typeface="Cambria Math" panose="02040503050406030204" pitchFamily="18" charset="0"/>
                <a:ea typeface="Cambria Math" panose="02040503050406030204" pitchFamily="18" charset="0"/>
              </a:rPr>
              <a:t> </a:t>
            </a:r>
            <a:r>
              <a:rPr lang="el-GR" dirty="0">
                <a:latin typeface="Cambria Math"/>
                <a:ea typeface="Cambria Math"/>
              </a:rPr>
              <a:t>Δ </a:t>
            </a:r>
            <a:r>
              <a:rPr lang="fr-FR" dirty="0"/>
              <a:t>y</a:t>
            </a:r>
            <a:r>
              <a:rPr lang="fr-FR" baseline="-25000" dirty="0">
                <a:latin typeface="Cambria Math" panose="02040503050406030204" pitchFamily="18" charset="0"/>
                <a:ea typeface="Cambria Math" panose="02040503050406030204" pitchFamily="18" charset="0"/>
              </a:rPr>
              <a:t>i,t-1 </a:t>
            </a:r>
            <a:r>
              <a:rPr lang="fr-FR" dirty="0">
                <a:latin typeface="Cambria Math" panose="02040503050406030204" pitchFamily="18" charset="0"/>
                <a:ea typeface="Cambria Math" panose="02040503050406030204" pitchFamily="18" charset="0"/>
              </a:rPr>
              <a:t>+</a:t>
            </a:r>
            <a:r>
              <a:rPr lang="el-GR" dirty="0">
                <a:latin typeface="Cambria Math" panose="02040503050406030204" pitchFamily="18" charset="0"/>
                <a:ea typeface="Cambria Math" panose="02040503050406030204" pitchFamily="18" charset="0"/>
              </a:rPr>
              <a:t> β</a:t>
            </a:r>
            <a:r>
              <a:rPr lang="fr-FR" baseline="-25000" dirty="0">
                <a:latin typeface="Cambria Math" panose="02040503050406030204" pitchFamily="18" charset="0"/>
                <a:ea typeface="Cambria Math" panose="02040503050406030204" pitchFamily="18" charset="0"/>
              </a:rPr>
              <a:t>1</a:t>
            </a:r>
            <a:r>
              <a:rPr lang="el-GR" dirty="0">
                <a:latin typeface="Cambria Math" panose="02040503050406030204" pitchFamily="18" charset="0"/>
                <a:ea typeface="Cambria Math" panose="02040503050406030204" pitchFamily="18" charset="0"/>
              </a:rPr>
              <a:t> </a:t>
            </a:r>
            <a:r>
              <a:rPr lang="el-GR" dirty="0">
                <a:latin typeface="Cambria Math"/>
                <a:ea typeface="Cambria Math"/>
              </a:rPr>
              <a:t>Δ </a:t>
            </a:r>
            <a:r>
              <a:rPr lang="fr-FR" dirty="0" err="1">
                <a:latin typeface="Cambria Math" panose="02040503050406030204" pitchFamily="18" charset="0"/>
                <a:ea typeface="Cambria Math" panose="02040503050406030204" pitchFamily="18" charset="0"/>
              </a:rPr>
              <a:t>x</a:t>
            </a:r>
            <a:r>
              <a:rPr lang="fr-FR" baseline="-25000" dirty="0" err="1">
                <a:latin typeface="Cambria Math" panose="02040503050406030204" pitchFamily="18" charset="0"/>
                <a:ea typeface="Cambria Math" panose="02040503050406030204" pitchFamily="18" charset="0"/>
              </a:rPr>
              <a:t>i,t</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β</a:t>
            </a:r>
            <a:r>
              <a:rPr lang="fr-FR" baseline="-25000" dirty="0">
                <a:latin typeface="Cambria Math" panose="02040503050406030204" pitchFamily="18" charset="0"/>
                <a:ea typeface="Cambria Math" panose="02040503050406030204" pitchFamily="18" charset="0"/>
              </a:rPr>
              <a:t>2</a:t>
            </a:r>
            <a:r>
              <a:rPr lang="el-GR" dirty="0">
                <a:latin typeface="Cambria Math" panose="02040503050406030204" pitchFamily="18" charset="0"/>
                <a:ea typeface="Cambria Math" panose="02040503050406030204" pitchFamily="18" charset="0"/>
              </a:rPr>
              <a:t> </a:t>
            </a:r>
            <a:r>
              <a:rPr lang="el-GR" dirty="0">
                <a:latin typeface="Cambria Math"/>
                <a:ea typeface="Cambria Math"/>
              </a:rPr>
              <a:t>Δ </a:t>
            </a:r>
            <a:r>
              <a:rPr lang="fr-FR" dirty="0">
                <a:latin typeface="Cambria Math" panose="02040503050406030204" pitchFamily="18" charset="0"/>
                <a:ea typeface="Cambria Math" panose="02040503050406030204" pitchFamily="18" charset="0"/>
              </a:rPr>
              <a:t>x</a:t>
            </a:r>
            <a:r>
              <a:rPr lang="fr-FR" baseline="-25000" dirty="0">
                <a:latin typeface="Cambria Math" panose="02040503050406030204" pitchFamily="18" charset="0"/>
                <a:ea typeface="Cambria Math" panose="02040503050406030204" pitchFamily="18" charset="0"/>
              </a:rPr>
              <a:t>i,t-1</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a:t>
            </a:r>
            <a:r>
              <a:rPr lang="el-GR" strike="sngStrike" dirty="0">
                <a:solidFill>
                  <a:srgbClr val="00B050"/>
                </a:solidFill>
                <a:latin typeface="Cambria Math"/>
                <a:ea typeface="Cambria Math"/>
              </a:rPr>
              <a:t>Δ </a:t>
            </a:r>
            <a:r>
              <a:rPr lang="el-GR" strike="sngStrike" dirty="0">
                <a:solidFill>
                  <a:srgbClr val="00B050"/>
                </a:solidFill>
                <a:latin typeface="Cambria Math" panose="02040503050406030204" pitchFamily="18" charset="0"/>
                <a:ea typeface="Cambria Math" panose="02040503050406030204" pitchFamily="18" charset="0"/>
              </a:rPr>
              <a:t>α</a:t>
            </a:r>
            <a:r>
              <a:rPr lang="fr-FR" strike="sngStrike" baseline="-25000" dirty="0">
                <a:solidFill>
                  <a:srgbClr val="00B050"/>
                </a:solidFill>
                <a:latin typeface="Cambria Math" panose="02040503050406030204" pitchFamily="18" charset="0"/>
                <a:ea typeface="Cambria Math" panose="02040503050406030204" pitchFamily="18" charset="0"/>
              </a:rPr>
              <a:t>i</a:t>
            </a:r>
            <a:r>
              <a:rPr lang="fr-FR" baseline="-25000" dirty="0">
                <a:latin typeface="Cambria Math" panose="02040503050406030204" pitchFamily="18" charset="0"/>
                <a:ea typeface="Cambria Math" panose="02040503050406030204" pitchFamily="18" charset="0"/>
              </a:rPr>
              <a:t> </a:t>
            </a:r>
          </a:p>
          <a:p>
            <a:pPr marL="0" indent="0">
              <a:buNone/>
            </a:pPr>
            <a:r>
              <a:rPr lang="fr-FR" dirty="0"/>
              <a:t>+ </a:t>
            </a:r>
            <a:r>
              <a:rPr lang="el-GR" dirty="0">
                <a:latin typeface="Cambria Math"/>
                <a:ea typeface="Cambria Math"/>
              </a:rPr>
              <a:t>Δ </a:t>
            </a:r>
            <a:r>
              <a:rPr lang="el-GR" dirty="0">
                <a:latin typeface="Cambria Math" panose="02040503050406030204" pitchFamily="18" charset="0"/>
                <a:ea typeface="Cambria Math" panose="02040503050406030204" pitchFamily="18" charset="0"/>
              </a:rPr>
              <a:t>α</a:t>
            </a:r>
            <a:r>
              <a:rPr lang="fr-FR" baseline="-25000" dirty="0">
                <a:latin typeface="Cambria Math" panose="02040503050406030204" pitchFamily="18" charset="0"/>
                <a:ea typeface="Cambria Math" panose="02040503050406030204" pitchFamily="18" charset="0"/>
              </a:rPr>
              <a:t>t </a:t>
            </a:r>
            <a:r>
              <a:rPr lang="fr-FR" dirty="0"/>
              <a:t>+ </a:t>
            </a:r>
            <a:r>
              <a:rPr lang="el-GR" dirty="0">
                <a:latin typeface="Cambria Math"/>
                <a:ea typeface="Cambria Math"/>
              </a:rPr>
              <a:t>Δ </a:t>
            </a:r>
            <a:r>
              <a:rPr lang="el-GR" dirty="0">
                <a:latin typeface="Cambria Math" panose="02040503050406030204" pitchFamily="18" charset="0"/>
                <a:ea typeface="Cambria Math" panose="02040503050406030204" pitchFamily="18" charset="0"/>
              </a:rPr>
              <a:t>ε</a:t>
            </a:r>
            <a:r>
              <a:rPr lang="fr-FR" baseline="-25000" dirty="0" err="1">
                <a:latin typeface="Cambria Math" panose="02040503050406030204" pitchFamily="18" charset="0"/>
                <a:ea typeface="Cambria Math" panose="02040503050406030204" pitchFamily="18" charset="0"/>
              </a:rPr>
              <a:t>it</a:t>
            </a:r>
            <a:endParaRPr lang="fr-FR" baseline="-25000" dirty="0">
              <a:latin typeface="Cambria Math" panose="02040503050406030204" pitchFamily="18" charset="0"/>
              <a:ea typeface="Cambria Math" panose="02040503050406030204" pitchFamily="18" charset="0"/>
            </a:endParaRPr>
          </a:p>
          <a:p>
            <a:pPr marL="0" indent="0" algn="just">
              <a:buNone/>
            </a:pPr>
            <a:r>
              <a:rPr lang="fr-FR" dirty="0" err="1"/>
              <a:t>Instrumented</a:t>
            </a:r>
            <a:r>
              <a:rPr lang="fr-FR" dirty="0"/>
              <a:t> (IVREG) by </a:t>
            </a:r>
            <a:r>
              <a:rPr lang="fr-FR" dirty="0" err="1"/>
              <a:t>lagged</a:t>
            </a:r>
            <a:r>
              <a:rPr lang="fr-FR" dirty="0"/>
              <a:t> </a:t>
            </a:r>
            <a:r>
              <a:rPr lang="fr-FR" dirty="0" err="1"/>
              <a:t>levels</a:t>
            </a:r>
            <a:r>
              <a:rPr lang="fr-FR" dirty="0"/>
              <a:t> (or </a:t>
            </a:r>
            <a:r>
              <a:rPr lang="fr-FR" dirty="0" err="1"/>
              <a:t>lagged</a:t>
            </a:r>
            <a:r>
              <a:rPr lang="fr-FR" dirty="0"/>
              <a:t> </a:t>
            </a:r>
            <a:r>
              <a:rPr lang="fr-FR" dirty="0" err="1"/>
              <a:t>differences</a:t>
            </a:r>
            <a:r>
              <a:rPr lang="fr-FR" dirty="0"/>
              <a:t>) for all variables or AT LEAST the </a:t>
            </a:r>
            <a:r>
              <a:rPr lang="fr-FR" dirty="0" err="1"/>
              <a:t>lag</a:t>
            </a:r>
            <a:r>
              <a:rPr lang="fr-FR" dirty="0"/>
              <a:t> </a:t>
            </a:r>
            <a:r>
              <a:rPr lang="fr-FR" dirty="0" err="1"/>
              <a:t>Instrumented</a:t>
            </a:r>
            <a:r>
              <a:rPr lang="fr-FR" dirty="0"/>
              <a:t> (</a:t>
            </a:r>
            <a:r>
              <a:rPr lang="fr-FR" dirty="0" err="1"/>
              <a:t>Ivreg</a:t>
            </a:r>
            <a:r>
              <a:rPr lang="fr-FR" dirty="0"/>
              <a:t>) by </a:t>
            </a:r>
            <a:r>
              <a:rPr lang="fr-FR" dirty="0" err="1"/>
              <a:t>lagged</a:t>
            </a:r>
            <a:r>
              <a:rPr lang="fr-FR" dirty="0"/>
              <a:t> </a:t>
            </a:r>
            <a:r>
              <a:rPr lang="fr-FR" dirty="0" err="1"/>
              <a:t>levels</a:t>
            </a:r>
            <a:r>
              <a:rPr lang="fr-FR" dirty="0"/>
              <a:t> (or </a:t>
            </a:r>
            <a:r>
              <a:rPr lang="fr-FR" dirty="0" err="1"/>
              <a:t>lagged</a:t>
            </a:r>
            <a:r>
              <a:rPr lang="fr-FR" dirty="0"/>
              <a:t> </a:t>
            </a:r>
            <a:r>
              <a:rPr lang="fr-FR" dirty="0" err="1"/>
              <a:t>ged</a:t>
            </a:r>
            <a:r>
              <a:rPr lang="fr-FR" dirty="0"/>
              <a:t> </a:t>
            </a:r>
            <a:r>
              <a:rPr lang="fr-FR" dirty="0" err="1"/>
              <a:t>dependent</a:t>
            </a:r>
            <a:r>
              <a:rPr lang="fr-FR" dirty="0"/>
              <a:t> variable, </a:t>
            </a:r>
            <a:r>
              <a:rPr lang="fr-FR" dirty="0" err="1"/>
              <a:t>instrumented</a:t>
            </a:r>
            <a:r>
              <a:rPr lang="fr-FR" dirty="0"/>
              <a:t> by </a:t>
            </a:r>
            <a:r>
              <a:rPr lang="fr-FR" b="1" dirty="0"/>
              <a:t>y</a:t>
            </a:r>
            <a:r>
              <a:rPr lang="fr-FR" b="1" baseline="-25000" dirty="0">
                <a:latin typeface="Cambria Math" panose="02040503050406030204" pitchFamily="18" charset="0"/>
                <a:ea typeface="Cambria Math" panose="02040503050406030204" pitchFamily="18" charset="0"/>
              </a:rPr>
              <a:t>i,t-2</a:t>
            </a:r>
            <a:r>
              <a:rPr lang="fr-FR" dirty="0"/>
              <a:t> or </a:t>
            </a:r>
            <a:r>
              <a:rPr lang="fr-FR" dirty="0" err="1"/>
              <a:t>lagged</a:t>
            </a:r>
            <a:r>
              <a:rPr lang="fr-FR" dirty="0"/>
              <a:t> first </a:t>
            </a:r>
            <a:r>
              <a:rPr lang="fr-FR" dirty="0" err="1"/>
              <a:t>differences</a:t>
            </a:r>
            <a:r>
              <a:rPr lang="fr-FR" dirty="0"/>
              <a:t> </a:t>
            </a:r>
            <a:r>
              <a:rPr lang="fr-FR" b="1" dirty="0"/>
              <a:t>y</a:t>
            </a:r>
            <a:r>
              <a:rPr lang="fr-FR" b="1" baseline="-25000" dirty="0">
                <a:latin typeface="Cambria Math" panose="02040503050406030204" pitchFamily="18" charset="0"/>
                <a:ea typeface="Cambria Math" panose="02040503050406030204" pitchFamily="18" charset="0"/>
              </a:rPr>
              <a:t>i,t-2</a:t>
            </a:r>
            <a:r>
              <a:rPr lang="fr-FR" b="1" dirty="0"/>
              <a:t> -y</a:t>
            </a:r>
            <a:r>
              <a:rPr lang="fr-FR" b="1" baseline="-25000" dirty="0">
                <a:latin typeface="Cambria Math" panose="02040503050406030204" pitchFamily="18" charset="0"/>
                <a:ea typeface="Cambria Math" panose="02040503050406030204" pitchFamily="18" charset="0"/>
              </a:rPr>
              <a:t>i,t-3</a:t>
            </a:r>
            <a:r>
              <a:rPr lang="fr-FR" b="1" dirty="0"/>
              <a:t> (</a:t>
            </a:r>
            <a:r>
              <a:rPr lang="fr-FR" b="1" dirty="0" err="1"/>
              <a:t>you</a:t>
            </a:r>
            <a:r>
              <a:rPr lang="fr-FR" b="1" dirty="0"/>
              <a:t> </a:t>
            </a:r>
            <a:r>
              <a:rPr lang="fr-FR" b="1" dirty="0" err="1"/>
              <a:t>lose</a:t>
            </a:r>
            <a:r>
              <a:rPr lang="fr-FR" b="1" dirty="0"/>
              <a:t> 1 </a:t>
            </a:r>
            <a:r>
              <a:rPr lang="fr-FR" b="1" dirty="0" err="1"/>
              <a:t>period</a:t>
            </a:r>
            <a:r>
              <a:rPr lang="fr-FR" b="1" dirty="0"/>
              <a:t> of estimation </a:t>
            </a:r>
            <a:r>
              <a:rPr lang="fr-FR" b="1" dirty="0" err="1"/>
              <a:t>with</a:t>
            </a:r>
            <a:r>
              <a:rPr lang="fr-FR" b="1" dirty="0"/>
              <a:t> the </a:t>
            </a:r>
            <a:r>
              <a:rPr lang="fr-FR" b="1" dirty="0" err="1"/>
              <a:t>additional</a:t>
            </a:r>
            <a:r>
              <a:rPr lang="fr-FR" b="1" dirty="0"/>
              <a:t>  t-3)</a:t>
            </a:r>
            <a:endParaRPr lang="en-GB" dirty="0"/>
          </a:p>
        </p:txBody>
      </p:sp>
    </p:spTree>
    <p:extLst>
      <p:ext uri="{BB962C8B-B14F-4D97-AF65-F5344CB8AC3E}">
        <p14:creationId xmlns:p14="http://schemas.microsoft.com/office/powerpoint/2010/main" val="3908548562"/>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First </a:t>
            </a:r>
            <a:r>
              <a:rPr lang="fr-FR" dirty="0" err="1"/>
              <a:t>differences</a:t>
            </a:r>
            <a:r>
              <a:rPr lang="fr-FR" dirty="0"/>
              <a:t> (and </a:t>
            </a:r>
            <a:r>
              <a:rPr lang="fr-FR" dirty="0" err="1"/>
              <a:t>two</a:t>
            </a:r>
            <a:r>
              <a:rPr lang="fr-FR" dirty="0"/>
              <a:t> </a:t>
            </a:r>
            <a:r>
              <a:rPr lang="fr-FR" dirty="0" err="1"/>
              <a:t>way</a:t>
            </a:r>
            <a:r>
              <a:rPr lang="fr-FR" dirty="0"/>
              <a:t> </a:t>
            </a:r>
            <a:r>
              <a:rPr lang="fr-FR" dirty="0" err="1"/>
              <a:t>within</a:t>
            </a:r>
            <a:r>
              <a:rPr lang="fr-FR" dirty="0"/>
              <a:t> </a:t>
            </a:r>
            <a:r>
              <a:rPr lang="fr-FR" dirty="0" err="1"/>
              <a:t>fixed</a:t>
            </a:r>
            <a:r>
              <a:rPr lang="fr-FR" dirty="0"/>
              <a:t> </a:t>
            </a:r>
            <a:r>
              <a:rPr lang="fr-FR" dirty="0" err="1"/>
              <a:t>effect</a:t>
            </a:r>
            <a:r>
              <a:rPr lang="fr-FR" dirty="0"/>
              <a:t>) transformation.</a:t>
            </a:r>
            <a:endParaRPr lang="en-GB" dirty="0"/>
          </a:p>
        </p:txBody>
      </p:sp>
      <p:sp>
        <p:nvSpPr>
          <p:cNvPr id="3" name="Espace réservé du contenu 2"/>
          <p:cNvSpPr>
            <a:spLocks noGrp="1"/>
          </p:cNvSpPr>
          <p:nvPr>
            <p:ph idx="1"/>
          </p:nvPr>
        </p:nvSpPr>
        <p:spPr/>
        <p:txBody>
          <a:bodyPr/>
          <a:lstStyle/>
          <a:p>
            <a:pPr marL="514350" indent="-514350">
              <a:buAutoNum type="arabicParenBoth"/>
            </a:pPr>
            <a:r>
              <a:rPr lang="fr-FR" dirty="0" err="1"/>
              <a:t>Eliminates</a:t>
            </a:r>
            <a:r>
              <a:rPr lang="fr-FR" dirty="0"/>
              <a:t> cross section </a:t>
            </a:r>
            <a:r>
              <a:rPr lang="fr-FR" dirty="0" err="1"/>
              <a:t>endogeneity</a:t>
            </a:r>
            <a:endParaRPr lang="fr-FR" dirty="0"/>
          </a:p>
          <a:p>
            <a:pPr marL="0" indent="0">
              <a:buNone/>
            </a:pPr>
            <a:r>
              <a:rPr lang="fr-FR" dirty="0"/>
              <a:t>For </a:t>
            </a:r>
            <a:r>
              <a:rPr lang="fr-FR" dirty="0" err="1"/>
              <a:t>example</a:t>
            </a:r>
            <a:r>
              <a:rPr lang="fr-FR" dirty="0"/>
              <a:t>, </a:t>
            </a:r>
            <a:r>
              <a:rPr lang="fr-FR" dirty="0" err="1"/>
              <a:t>temperature</a:t>
            </a:r>
            <a:r>
              <a:rPr lang="fr-FR" dirty="0"/>
              <a:t> </a:t>
            </a:r>
            <a:r>
              <a:rPr lang="fr-FR" dirty="0" err="1"/>
              <a:t>is</a:t>
            </a:r>
            <a:r>
              <a:rPr lang="fr-FR" dirty="0"/>
              <a:t> </a:t>
            </a:r>
            <a:r>
              <a:rPr lang="fr-FR" dirty="0" err="1"/>
              <a:t>related</a:t>
            </a:r>
            <a:r>
              <a:rPr lang="fr-FR" dirty="0"/>
              <a:t> to time-invariant </a:t>
            </a:r>
            <a:r>
              <a:rPr lang="fr-FR" dirty="0" err="1"/>
              <a:t>geographic</a:t>
            </a:r>
            <a:r>
              <a:rPr lang="fr-FR" dirty="0"/>
              <a:t> </a:t>
            </a:r>
            <a:r>
              <a:rPr lang="fr-FR" dirty="0" err="1"/>
              <a:t>characteristics</a:t>
            </a:r>
            <a:r>
              <a:rPr lang="fr-FR" dirty="0"/>
              <a:t>.</a:t>
            </a:r>
          </a:p>
          <a:p>
            <a:pPr marL="0" indent="0">
              <a:buNone/>
            </a:pPr>
            <a:r>
              <a:rPr lang="fr-FR" dirty="0"/>
              <a:t>(2) </a:t>
            </a:r>
            <a:r>
              <a:rPr lang="fr-FR" dirty="0" err="1"/>
              <a:t>Eliminate</a:t>
            </a:r>
            <a:r>
              <a:rPr lang="fr-FR" dirty="0"/>
              <a:t> </a:t>
            </a:r>
            <a:r>
              <a:rPr lang="fr-FR" dirty="0" err="1"/>
              <a:t>deterministic</a:t>
            </a:r>
            <a:r>
              <a:rPr lang="fr-FR" dirty="0"/>
              <a:t> trend and unit </a:t>
            </a:r>
            <a:r>
              <a:rPr lang="fr-FR" dirty="0" err="1"/>
              <a:t>roots</a:t>
            </a:r>
            <a:r>
              <a:rPr lang="fr-FR" dirty="0"/>
              <a:t>.</a:t>
            </a:r>
          </a:p>
          <a:p>
            <a:pPr marL="0" indent="0">
              <a:buNone/>
            </a:pPr>
            <a:r>
              <a:rPr lang="fr-FR" dirty="0"/>
              <a:t>For </a:t>
            </a:r>
            <a:r>
              <a:rPr lang="fr-FR" dirty="0" err="1"/>
              <a:t>example</a:t>
            </a:r>
            <a:r>
              <a:rPr lang="fr-FR" dirty="0"/>
              <a:t>, </a:t>
            </a:r>
            <a:r>
              <a:rPr lang="fr-FR" dirty="0" err="1"/>
              <a:t>temperature</a:t>
            </a:r>
            <a:r>
              <a:rPr lang="fr-FR" dirty="0"/>
              <a:t> has a </a:t>
            </a:r>
            <a:r>
              <a:rPr lang="fr-FR" dirty="0" err="1"/>
              <a:t>deterministic</a:t>
            </a:r>
            <a:r>
              <a:rPr lang="fr-FR" dirty="0"/>
              <a:t> </a:t>
            </a:r>
            <a:r>
              <a:rPr lang="fr-FR" dirty="0" err="1"/>
              <a:t>upward</a:t>
            </a:r>
            <a:r>
              <a:rPr lang="fr-FR" dirty="0"/>
              <a:t> trend.</a:t>
            </a:r>
            <a:endParaRPr lang="en-GB" dirty="0"/>
          </a:p>
        </p:txBody>
      </p:sp>
    </p:spTree>
    <p:extLst>
      <p:ext uri="{BB962C8B-B14F-4D97-AF65-F5344CB8AC3E}">
        <p14:creationId xmlns:p14="http://schemas.microsoft.com/office/powerpoint/2010/main" val="1294055994"/>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Each</a:t>
            </a:r>
            <a:r>
              <a:rPr lang="fr-FR" dirty="0"/>
              <a:t> time </a:t>
            </a:r>
            <a:r>
              <a:rPr lang="fr-FR" dirty="0" err="1"/>
              <a:t>you</a:t>
            </a:r>
            <a:r>
              <a:rPr lang="fr-FR" dirty="0"/>
              <a:t> </a:t>
            </a:r>
            <a:r>
              <a:rPr lang="fr-FR" dirty="0" err="1"/>
              <a:t>add</a:t>
            </a:r>
            <a:r>
              <a:rPr lang="fr-FR" dirty="0"/>
              <a:t> a </a:t>
            </a:r>
            <a:r>
              <a:rPr lang="fr-FR" dirty="0" err="1"/>
              <a:t>lag</a:t>
            </a:r>
            <a:r>
              <a:rPr lang="fr-FR" dirty="0"/>
              <a:t> for the </a:t>
            </a:r>
            <a:r>
              <a:rPr lang="fr-FR" dirty="0" err="1"/>
              <a:t>specification</a:t>
            </a:r>
            <a:r>
              <a:rPr lang="fr-FR" dirty="0"/>
              <a:t> or the instrument</a:t>
            </a:r>
            <a:endParaRPr lang="en-GB" dirty="0"/>
          </a:p>
        </p:txBody>
      </p:sp>
      <p:sp>
        <p:nvSpPr>
          <p:cNvPr id="3" name="Espace réservé du contenu 2"/>
          <p:cNvSpPr>
            <a:spLocks noGrp="1"/>
          </p:cNvSpPr>
          <p:nvPr>
            <p:ph idx="1"/>
          </p:nvPr>
        </p:nvSpPr>
        <p:spPr/>
        <p:txBody>
          <a:bodyPr>
            <a:normAutofit fontScale="77500" lnSpcReduction="20000"/>
          </a:bodyPr>
          <a:lstStyle/>
          <a:p>
            <a:pPr marL="0" indent="0" algn="just">
              <a:buNone/>
            </a:pPr>
            <a:r>
              <a:rPr lang="fr-FR" dirty="0"/>
              <a:t>You </a:t>
            </a:r>
            <a:r>
              <a:rPr lang="fr-FR" dirty="0" err="1"/>
              <a:t>lose</a:t>
            </a:r>
            <a:r>
              <a:rPr lang="fr-FR" dirty="0"/>
              <a:t> one </a:t>
            </a:r>
            <a:r>
              <a:rPr lang="fr-FR" dirty="0" err="1"/>
              <a:t>additional</a:t>
            </a:r>
            <a:r>
              <a:rPr lang="fr-FR" dirty="0"/>
              <a:t> observation (date) for the </a:t>
            </a:r>
            <a:r>
              <a:rPr lang="fr-FR" dirty="0" err="1"/>
              <a:t>regression</a:t>
            </a:r>
            <a:r>
              <a:rPr lang="fr-FR" dirty="0"/>
              <a:t> in time </a:t>
            </a:r>
            <a:r>
              <a:rPr lang="fr-FR" dirty="0" err="1"/>
              <a:t>series</a:t>
            </a:r>
            <a:r>
              <a:rPr lang="fr-FR" dirty="0"/>
              <a:t>.</a:t>
            </a:r>
          </a:p>
          <a:p>
            <a:pPr marL="0" indent="0" algn="just">
              <a:buNone/>
            </a:pPr>
            <a:r>
              <a:rPr lang="fr-FR" dirty="0"/>
              <a:t>For panel data, </a:t>
            </a:r>
            <a:r>
              <a:rPr lang="fr-FR" dirty="0" err="1"/>
              <a:t>your</a:t>
            </a:r>
            <a:r>
              <a:rPr lang="fr-FR" dirty="0"/>
              <a:t> </a:t>
            </a:r>
            <a:r>
              <a:rPr lang="fr-FR" dirty="0" err="1"/>
              <a:t>lose</a:t>
            </a:r>
            <a:r>
              <a:rPr lang="fr-FR" dirty="0"/>
              <a:t> the full cross section of </a:t>
            </a:r>
            <a:r>
              <a:rPr lang="fr-FR" dirty="0" err="1"/>
              <a:t>this</a:t>
            </a:r>
            <a:r>
              <a:rPr lang="fr-FR" dirty="0"/>
              <a:t> </a:t>
            </a:r>
            <a:r>
              <a:rPr lang="fr-FR" dirty="0" err="1"/>
              <a:t>lost</a:t>
            </a:r>
            <a:r>
              <a:rPr lang="fr-FR" dirty="0"/>
              <a:t> </a:t>
            </a:r>
            <a:r>
              <a:rPr lang="fr-FR" dirty="0" err="1"/>
              <a:t>period</a:t>
            </a:r>
            <a:r>
              <a:rPr lang="fr-FR" dirty="0"/>
              <a:t>: </a:t>
            </a:r>
            <a:r>
              <a:rPr lang="fr-FR" dirty="0">
                <a:solidFill>
                  <a:srgbClr val="FF0000"/>
                </a:solidFill>
              </a:rPr>
              <a:t>N.1</a:t>
            </a:r>
          </a:p>
          <a:p>
            <a:pPr marL="0" indent="0" algn="just">
              <a:buNone/>
            </a:pPr>
            <a:r>
              <a:rPr lang="fr-FR" dirty="0"/>
              <a:t>If N=1 million observations, </a:t>
            </a:r>
            <a:r>
              <a:rPr lang="fr-FR" dirty="0" err="1"/>
              <a:t>you</a:t>
            </a:r>
            <a:r>
              <a:rPr lang="fr-FR" dirty="0"/>
              <a:t> </a:t>
            </a:r>
            <a:r>
              <a:rPr lang="fr-FR" dirty="0" err="1"/>
              <a:t>remove</a:t>
            </a:r>
            <a:r>
              <a:rPr lang="fr-FR" dirty="0"/>
              <a:t> 1 million observations.</a:t>
            </a:r>
          </a:p>
          <a:p>
            <a:pPr marL="0" indent="0" algn="just">
              <a:buNone/>
            </a:pPr>
            <a:r>
              <a:rPr lang="fr-FR" dirty="0" err="1"/>
              <a:t>Therefore</a:t>
            </a:r>
            <a:r>
              <a:rPr lang="fr-FR" dirty="0"/>
              <a:t>, </a:t>
            </a:r>
            <a:r>
              <a:rPr lang="fr-FR" dirty="0" err="1"/>
              <a:t>researcher</a:t>
            </a:r>
            <a:r>
              <a:rPr lang="fr-FR" dirty="0"/>
              <a:t> </a:t>
            </a:r>
            <a:r>
              <a:rPr lang="fr-FR" dirty="0" err="1"/>
              <a:t>prefer</a:t>
            </a:r>
            <a:r>
              <a:rPr lang="fr-FR" dirty="0"/>
              <a:t> to instrument </a:t>
            </a:r>
          </a:p>
          <a:p>
            <a:pPr marL="0" indent="0" algn="just">
              <a:buNone/>
            </a:pPr>
            <a:r>
              <a:rPr lang="el-GR" dirty="0">
                <a:latin typeface="Cambria Math"/>
                <a:ea typeface="Cambria Math"/>
              </a:rPr>
              <a:t>Δ </a:t>
            </a:r>
            <a:r>
              <a:rPr lang="fr-FR" dirty="0"/>
              <a:t>y</a:t>
            </a:r>
            <a:r>
              <a:rPr lang="fr-FR" baseline="-25000" dirty="0">
                <a:latin typeface="Cambria Math" panose="02040503050406030204" pitchFamily="18" charset="0"/>
                <a:ea typeface="Cambria Math" panose="02040503050406030204" pitchFamily="18" charset="0"/>
              </a:rPr>
              <a:t>i,t-1</a:t>
            </a:r>
            <a:r>
              <a:rPr lang="fr-FR" dirty="0"/>
              <a:t> by y</a:t>
            </a:r>
            <a:r>
              <a:rPr lang="fr-FR" baseline="-25000" dirty="0">
                <a:latin typeface="Cambria Math" panose="02040503050406030204" pitchFamily="18" charset="0"/>
                <a:ea typeface="Cambria Math" panose="02040503050406030204" pitchFamily="18" charset="0"/>
              </a:rPr>
              <a:t>i,t-2</a:t>
            </a:r>
            <a:r>
              <a:rPr lang="el-GR" dirty="0">
                <a:latin typeface="Cambria Math"/>
                <a:ea typeface="Cambria Math"/>
              </a:rPr>
              <a:t> </a:t>
            </a:r>
            <a:r>
              <a:rPr lang="fr-FR" dirty="0" err="1">
                <a:latin typeface="Cambria Math"/>
                <a:ea typeface="Cambria Math"/>
              </a:rPr>
              <a:t>instead</a:t>
            </a:r>
            <a:r>
              <a:rPr lang="fr-FR" dirty="0">
                <a:latin typeface="Cambria Math"/>
                <a:ea typeface="Cambria Math"/>
              </a:rPr>
              <a:t> of </a:t>
            </a:r>
            <a:r>
              <a:rPr lang="el-GR" dirty="0">
                <a:latin typeface="Cambria Math"/>
                <a:ea typeface="Cambria Math"/>
              </a:rPr>
              <a:t>Δ </a:t>
            </a:r>
            <a:r>
              <a:rPr lang="fr-FR" dirty="0"/>
              <a:t>y</a:t>
            </a:r>
            <a:r>
              <a:rPr lang="fr-FR" baseline="-25000" dirty="0">
                <a:latin typeface="Cambria Math" panose="02040503050406030204" pitchFamily="18" charset="0"/>
                <a:ea typeface="Cambria Math" panose="02040503050406030204" pitchFamily="18" charset="0"/>
              </a:rPr>
              <a:t>i,t-2</a:t>
            </a:r>
            <a:r>
              <a:rPr lang="el-GR" dirty="0">
                <a:latin typeface="Cambria Math"/>
                <a:ea typeface="Cambria Math"/>
              </a:rPr>
              <a:t> </a:t>
            </a:r>
            <a:r>
              <a:rPr lang="fr-FR" dirty="0">
                <a:latin typeface="Cambria Math"/>
                <a:ea typeface="Cambria Math"/>
              </a:rPr>
              <a:t>(in </a:t>
            </a:r>
            <a:r>
              <a:rPr lang="fr-FR" dirty="0" err="1">
                <a:latin typeface="Cambria Math"/>
                <a:ea typeface="Cambria Math"/>
              </a:rPr>
              <a:t>order</a:t>
            </a:r>
            <a:r>
              <a:rPr lang="fr-FR" dirty="0">
                <a:latin typeface="Cambria Math"/>
                <a:ea typeface="Cambria Math"/>
              </a:rPr>
              <a:t> to </a:t>
            </a:r>
            <a:r>
              <a:rPr lang="fr-FR" dirty="0" err="1">
                <a:latin typeface="Cambria Math"/>
                <a:ea typeface="Cambria Math"/>
              </a:rPr>
              <a:t>save</a:t>
            </a:r>
            <a:r>
              <a:rPr lang="fr-FR" dirty="0">
                <a:latin typeface="Cambria Math"/>
                <a:ea typeface="Cambria Math"/>
              </a:rPr>
              <a:t> one </a:t>
            </a:r>
            <a:r>
              <a:rPr lang="fr-FR" dirty="0" err="1">
                <a:latin typeface="Cambria Math"/>
                <a:ea typeface="Cambria Math"/>
              </a:rPr>
              <a:t>period</a:t>
            </a:r>
            <a:r>
              <a:rPr lang="fr-FR" dirty="0">
                <a:latin typeface="Cambria Math"/>
                <a:ea typeface="Cambria Math"/>
              </a:rPr>
              <a:t>)</a:t>
            </a:r>
          </a:p>
          <a:p>
            <a:pPr marL="0" indent="0" algn="just">
              <a:buNone/>
            </a:pPr>
            <a:r>
              <a:rPr lang="fr-FR" dirty="0" err="1">
                <a:latin typeface="Cambria Math"/>
                <a:ea typeface="Cambria Math"/>
              </a:rPr>
              <a:t>They</a:t>
            </a:r>
            <a:r>
              <a:rPr lang="fr-FR" dirty="0">
                <a:latin typeface="Cambria Math"/>
                <a:ea typeface="Cambria Math"/>
              </a:rPr>
              <a:t> </a:t>
            </a:r>
            <a:r>
              <a:rPr lang="fr-FR" dirty="0" err="1">
                <a:latin typeface="Cambria Math"/>
                <a:ea typeface="Cambria Math"/>
              </a:rPr>
              <a:t>keep</a:t>
            </a:r>
            <a:r>
              <a:rPr lang="fr-FR" dirty="0">
                <a:latin typeface="Cambria Math"/>
                <a:ea typeface="Cambria Math"/>
              </a:rPr>
              <a:t> the first </a:t>
            </a:r>
            <a:r>
              <a:rPr lang="fr-FR" dirty="0" err="1">
                <a:latin typeface="Cambria Math"/>
                <a:ea typeface="Cambria Math"/>
              </a:rPr>
              <a:t>difference</a:t>
            </a:r>
            <a:r>
              <a:rPr lang="fr-FR" dirty="0">
                <a:latin typeface="Cambria Math"/>
                <a:ea typeface="Cambria Math"/>
              </a:rPr>
              <a:t> instrument for </a:t>
            </a:r>
            <a:r>
              <a:rPr lang="fr-FR" dirty="0" err="1">
                <a:latin typeface="Cambria Math"/>
                <a:ea typeface="Cambria Math"/>
              </a:rPr>
              <a:t>robustness</a:t>
            </a:r>
            <a:r>
              <a:rPr lang="fr-FR" dirty="0">
                <a:latin typeface="Cambria Math"/>
                <a:ea typeface="Cambria Math"/>
              </a:rPr>
              <a:t> </a:t>
            </a:r>
            <a:r>
              <a:rPr lang="fr-FR" dirty="0" err="1">
                <a:latin typeface="Cambria Math"/>
                <a:ea typeface="Cambria Math"/>
              </a:rPr>
              <a:t>checks</a:t>
            </a:r>
            <a:r>
              <a:rPr lang="fr-FR" dirty="0">
                <a:latin typeface="Cambria Math"/>
                <a:ea typeface="Cambria Math"/>
              </a:rPr>
              <a:t>.  </a:t>
            </a:r>
            <a:r>
              <a:rPr lang="fr-FR" dirty="0" err="1">
                <a:latin typeface="Cambria Math"/>
                <a:ea typeface="Cambria Math"/>
              </a:rPr>
              <a:t>Surprisingly</a:t>
            </a:r>
            <a:r>
              <a:rPr lang="fr-FR" dirty="0">
                <a:latin typeface="Cambria Math"/>
                <a:ea typeface="Cambria Math"/>
              </a:rPr>
              <a:t>, the </a:t>
            </a:r>
            <a:r>
              <a:rPr lang="fr-FR" dirty="0" err="1">
                <a:latin typeface="Cambria Math"/>
                <a:ea typeface="Cambria Math"/>
              </a:rPr>
              <a:t>estimates</a:t>
            </a:r>
            <a:r>
              <a:rPr lang="fr-FR" dirty="0">
                <a:latin typeface="Cambria Math"/>
                <a:ea typeface="Cambria Math"/>
              </a:rPr>
              <a:t> </a:t>
            </a:r>
            <a:r>
              <a:rPr lang="fr-FR" dirty="0" err="1">
                <a:latin typeface="Cambria Math"/>
                <a:ea typeface="Cambria Math"/>
              </a:rPr>
              <a:t>may</a:t>
            </a:r>
            <a:r>
              <a:rPr lang="fr-FR" dirty="0">
                <a:latin typeface="Cambria Math"/>
                <a:ea typeface="Cambria Math"/>
              </a:rPr>
              <a:t> not </a:t>
            </a:r>
            <a:r>
              <a:rPr lang="fr-FR" dirty="0" err="1">
                <a:latin typeface="Cambria Math"/>
                <a:ea typeface="Cambria Math"/>
              </a:rPr>
              <a:t>differ</a:t>
            </a:r>
            <a:r>
              <a:rPr lang="fr-FR" dirty="0">
                <a:latin typeface="Cambria Math"/>
                <a:ea typeface="Cambria Math"/>
              </a:rPr>
              <a:t> a lot </a:t>
            </a:r>
            <a:r>
              <a:rPr lang="fr-FR" dirty="0" err="1">
                <a:latin typeface="Cambria Math"/>
                <a:ea typeface="Cambria Math"/>
              </a:rPr>
              <a:t>when</a:t>
            </a:r>
            <a:r>
              <a:rPr lang="fr-FR" dirty="0">
                <a:latin typeface="Cambria Math"/>
                <a:ea typeface="Cambria Math"/>
              </a:rPr>
              <a:t> </a:t>
            </a:r>
            <a:r>
              <a:rPr lang="fr-FR" dirty="0" err="1">
                <a:latin typeface="Cambria Math"/>
                <a:ea typeface="Cambria Math"/>
              </a:rPr>
              <a:t>instrumenting</a:t>
            </a:r>
            <a:r>
              <a:rPr lang="fr-FR" dirty="0">
                <a:latin typeface="Cambria Math"/>
                <a:ea typeface="Cambria Math"/>
              </a:rPr>
              <a:t> in </a:t>
            </a:r>
            <a:r>
              <a:rPr lang="fr-FR" dirty="0" err="1">
                <a:latin typeface="Cambria Math"/>
                <a:ea typeface="Cambria Math"/>
              </a:rPr>
              <a:t>levels</a:t>
            </a:r>
            <a:r>
              <a:rPr lang="fr-FR" dirty="0">
                <a:latin typeface="Cambria Math"/>
                <a:ea typeface="Cambria Math"/>
              </a:rPr>
              <a:t> or in first </a:t>
            </a:r>
            <a:r>
              <a:rPr lang="fr-FR" dirty="0" err="1">
                <a:latin typeface="Cambria Math"/>
                <a:ea typeface="Cambria Math"/>
              </a:rPr>
              <a:t>difference</a:t>
            </a:r>
            <a:r>
              <a:rPr lang="fr-FR" dirty="0">
                <a:latin typeface="Cambria Math"/>
                <a:ea typeface="Cambria Math"/>
              </a:rPr>
              <a:t> if one uses the </a:t>
            </a:r>
            <a:r>
              <a:rPr lang="fr-FR" dirty="0" err="1">
                <a:latin typeface="Cambria Math"/>
                <a:ea typeface="Cambria Math"/>
              </a:rPr>
              <a:t>same</a:t>
            </a:r>
            <a:r>
              <a:rPr lang="fr-FR" dirty="0">
                <a:latin typeface="Cambria Math"/>
                <a:ea typeface="Cambria Math"/>
              </a:rPr>
              <a:t> </a:t>
            </a:r>
            <a:r>
              <a:rPr lang="fr-FR" dirty="0" err="1">
                <a:latin typeface="Cambria Math"/>
                <a:ea typeface="Cambria Math"/>
              </a:rPr>
              <a:t>period</a:t>
            </a:r>
            <a:r>
              <a:rPr lang="fr-FR" dirty="0">
                <a:latin typeface="Cambria Math"/>
                <a:ea typeface="Cambria Math"/>
              </a:rPr>
              <a:t> of estimation.</a:t>
            </a:r>
            <a:endParaRPr lang="fr-FR" baseline="-25000" dirty="0">
              <a:latin typeface="Cambria Math" panose="02040503050406030204" pitchFamily="18" charset="0"/>
              <a:ea typeface="Cambria Math" panose="02040503050406030204" pitchFamily="18" charset="0"/>
            </a:endParaRPr>
          </a:p>
          <a:p>
            <a:pPr marL="0" indent="0">
              <a:buNone/>
            </a:pPr>
            <a:endParaRPr lang="en-GB" dirty="0"/>
          </a:p>
        </p:txBody>
      </p:sp>
    </p:spTree>
    <p:extLst>
      <p:ext uri="{BB962C8B-B14F-4D97-AF65-F5344CB8AC3E}">
        <p14:creationId xmlns:p14="http://schemas.microsoft.com/office/powerpoint/2010/main" val="1632462308"/>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dirty="0"/>
              <a:t>Descriptive </a:t>
            </a:r>
            <a:r>
              <a:rPr lang="fr-FR" sz="3600" dirty="0" err="1"/>
              <a:t>statistics</a:t>
            </a:r>
            <a:r>
              <a:rPr lang="fr-FR" sz="3600" dirty="0"/>
              <a:t> </a:t>
            </a:r>
            <a:r>
              <a:rPr lang="fr-FR" sz="3600" dirty="0" err="1"/>
              <a:t>should</a:t>
            </a:r>
            <a:r>
              <a:rPr lang="fr-FR" sz="3600" dirty="0"/>
              <a:t> </a:t>
            </a:r>
            <a:r>
              <a:rPr lang="fr-FR" sz="3600" dirty="0" err="1"/>
              <a:t>be</a:t>
            </a:r>
            <a:r>
              <a:rPr lang="fr-FR" sz="3600" dirty="0"/>
              <a:t> </a:t>
            </a:r>
            <a:r>
              <a:rPr lang="fr-FR" sz="3600" dirty="0" err="1"/>
              <a:t>done</a:t>
            </a:r>
            <a:r>
              <a:rPr lang="fr-FR" sz="3600" dirty="0"/>
              <a:t> on the </a:t>
            </a:r>
            <a:r>
              <a:rPr lang="fr-FR" sz="3600" dirty="0" err="1"/>
              <a:t>sample</a:t>
            </a:r>
            <a:r>
              <a:rPr lang="fr-FR" sz="3600" dirty="0"/>
              <a:t> of estimation:</a:t>
            </a:r>
            <a:endParaRPr lang="en-GB" sz="3600" dirty="0"/>
          </a:p>
        </p:txBody>
      </p:sp>
      <p:sp>
        <p:nvSpPr>
          <p:cNvPr id="3" name="Espace réservé du contenu 2"/>
          <p:cNvSpPr>
            <a:spLocks noGrp="1"/>
          </p:cNvSpPr>
          <p:nvPr>
            <p:ph idx="1"/>
          </p:nvPr>
        </p:nvSpPr>
        <p:spPr/>
        <p:txBody>
          <a:bodyPr>
            <a:normAutofit/>
          </a:bodyPr>
          <a:lstStyle/>
          <a:p>
            <a:pPr marL="0" indent="0">
              <a:buNone/>
            </a:pPr>
            <a:r>
              <a:rPr lang="fr-FR" dirty="0">
                <a:latin typeface="Cambria Math"/>
                <a:ea typeface="Cambria Math"/>
              </a:rPr>
              <a:t>For all </a:t>
            </a:r>
            <a:r>
              <a:rPr lang="fr-FR" dirty="0" err="1">
                <a:latin typeface="Cambria Math"/>
                <a:ea typeface="Cambria Math"/>
              </a:rPr>
              <a:t>these</a:t>
            </a:r>
            <a:r>
              <a:rPr lang="fr-FR" dirty="0">
                <a:latin typeface="Cambria Math"/>
                <a:ea typeface="Cambria Math"/>
              </a:rPr>
              <a:t> variables:</a:t>
            </a:r>
          </a:p>
          <a:p>
            <a:pPr marL="0" indent="0">
              <a:buNone/>
            </a:pPr>
            <a:r>
              <a:rPr lang="el-GR" dirty="0">
                <a:latin typeface="Cambria Math"/>
                <a:ea typeface="Cambria Math"/>
              </a:rPr>
              <a:t>Δ </a:t>
            </a:r>
            <a:r>
              <a:rPr lang="fr-FR" dirty="0" err="1"/>
              <a:t>y</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a:t>
            </a:r>
            <a:r>
              <a:rPr lang="el-GR" dirty="0">
                <a:latin typeface="Cambria Math"/>
                <a:ea typeface="Cambria Math"/>
              </a:rPr>
              <a:t>Δ </a:t>
            </a:r>
            <a:r>
              <a:rPr lang="fr-FR" dirty="0"/>
              <a:t>y</a:t>
            </a:r>
            <a:r>
              <a:rPr lang="fr-FR" baseline="-25000" dirty="0">
                <a:latin typeface="Cambria Math" panose="02040503050406030204" pitchFamily="18" charset="0"/>
                <a:ea typeface="Cambria Math" panose="02040503050406030204" pitchFamily="18" charset="0"/>
              </a:rPr>
              <a:t>i,t-1 </a:t>
            </a:r>
            <a:r>
              <a:rPr lang="el-GR" dirty="0">
                <a:latin typeface="Cambria Math"/>
                <a:ea typeface="Cambria Math"/>
              </a:rPr>
              <a:t>Δ </a:t>
            </a:r>
            <a:r>
              <a:rPr lang="fr-FR" dirty="0" err="1">
                <a:latin typeface="Cambria Math" panose="02040503050406030204" pitchFamily="18" charset="0"/>
                <a:ea typeface="Cambria Math" panose="02040503050406030204" pitchFamily="18" charset="0"/>
              </a:rPr>
              <a:t>x</a:t>
            </a:r>
            <a:r>
              <a:rPr lang="fr-FR" baseline="-25000" dirty="0" err="1">
                <a:latin typeface="Cambria Math" panose="02040503050406030204" pitchFamily="18" charset="0"/>
                <a:ea typeface="Cambria Math" panose="02040503050406030204" pitchFamily="18" charset="0"/>
              </a:rPr>
              <a:t>i,t</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a:t>
            </a:r>
            <a:r>
              <a:rPr lang="el-GR" dirty="0">
                <a:latin typeface="Cambria Math"/>
                <a:ea typeface="Cambria Math"/>
              </a:rPr>
              <a:t>Δ </a:t>
            </a:r>
            <a:r>
              <a:rPr lang="fr-FR" dirty="0">
                <a:latin typeface="Cambria Math" panose="02040503050406030204" pitchFamily="18" charset="0"/>
                <a:ea typeface="Cambria Math" panose="02040503050406030204" pitchFamily="18" charset="0"/>
              </a:rPr>
              <a:t>x</a:t>
            </a:r>
            <a:r>
              <a:rPr lang="fr-FR" baseline="-25000" dirty="0">
                <a:latin typeface="Cambria Math" panose="02040503050406030204" pitchFamily="18" charset="0"/>
                <a:ea typeface="Cambria Math" panose="02040503050406030204" pitchFamily="18" charset="0"/>
              </a:rPr>
              <a:t>i,t-1 </a:t>
            </a:r>
            <a:r>
              <a:rPr lang="fr-FR" dirty="0">
                <a:latin typeface="Cambria Math"/>
                <a:ea typeface="Cambria Math"/>
              </a:rPr>
              <a:t> </a:t>
            </a:r>
            <a:r>
              <a:rPr lang="fr-FR" dirty="0"/>
              <a:t>y</a:t>
            </a:r>
            <a:r>
              <a:rPr lang="fr-FR" baseline="-25000" dirty="0">
                <a:latin typeface="Cambria Math" panose="02040503050406030204" pitchFamily="18" charset="0"/>
                <a:ea typeface="Cambria Math" panose="02040503050406030204" pitchFamily="18" charset="0"/>
              </a:rPr>
              <a:t>i,t-2  </a:t>
            </a:r>
            <a:r>
              <a:rPr lang="fr-FR" dirty="0">
                <a:latin typeface="Cambria Math" panose="02040503050406030204" pitchFamily="18" charset="0"/>
                <a:ea typeface="Cambria Math" panose="02040503050406030204" pitchFamily="18" charset="0"/>
              </a:rPr>
              <a:t>x</a:t>
            </a:r>
            <a:r>
              <a:rPr lang="fr-FR" baseline="-25000" dirty="0">
                <a:latin typeface="Cambria Math" panose="02040503050406030204" pitchFamily="18" charset="0"/>
                <a:ea typeface="Cambria Math" panose="02040503050406030204" pitchFamily="18" charset="0"/>
              </a:rPr>
              <a:t>i,t-2</a:t>
            </a:r>
            <a:r>
              <a:rPr lang="fr-FR" dirty="0">
                <a:latin typeface="Cambria Math" panose="02040503050406030204" pitchFamily="18" charset="0"/>
                <a:ea typeface="Cambria Math" panose="02040503050406030204" pitchFamily="18" charset="0"/>
              </a:rPr>
              <a:t> </a:t>
            </a:r>
            <a:endParaRPr lang="fr-FR" baseline="-25000" dirty="0">
              <a:latin typeface="Cambria Math" panose="02040503050406030204" pitchFamily="18" charset="0"/>
              <a:ea typeface="Cambria Math" panose="02040503050406030204" pitchFamily="18" charset="0"/>
            </a:endParaRPr>
          </a:p>
          <a:p>
            <a:pPr marL="0" indent="0">
              <a:buNone/>
            </a:pPr>
            <a:r>
              <a:rPr lang="fr-FR" dirty="0"/>
              <a:t>For </a:t>
            </a:r>
            <a:r>
              <a:rPr lang="fr-FR" dirty="0" err="1"/>
              <a:t>univariate</a:t>
            </a:r>
            <a:r>
              <a:rPr lang="fr-FR" dirty="0"/>
              <a:t> </a:t>
            </a:r>
            <a:r>
              <a:rPr lang="fr-FR" dirty="0" err="1"/>
              <a:t>statistics</a:t>
            </a:r>
            <a:r>
              <a:rPr lang="fr-FR" dirty="0"/>
              <a:t> (</a:t>
            </a:r>
            <a:r>
              <a:rPr lang="fr-FR" dirty="0" err="1"/>
              <a:t>mean</a:t>
            </a:r>
            <a:r>
              <a:rPr lang="fr-FR" dirty="0"/>
              <a:t> </a:t>
            </a:r>
            <a:r>
              <a:rPr lang="fr-FR" dirty="0" err="1"/>
              <a:t>median</a:t>
            </a:r>
            <a:r>
              <a:rPr lang="fr-FR" dirty="0"/>
              <a:t> standard </a:t>
            </a:r>
            <a:r>
              <a:rPr lang="fr-FR" dirty="0" err="1"/>
              <a:t>error</a:t>
            </a:r>
            <a:r>
              <a:rPr lang="fr-FR" dirty="0"/>
              <a:t>,  </a:t>
            </a:r>
            <a:r>
              <a:rPr lang="fr-FR" dirty="0" err="1"/>
              <a:t>skewness</a:t>
            </a:r>
            <a:r>
              <a:rPr lang="fr-FR" dirty="0"/>
              <a:t>, </a:t>
            </a:r>
            <a:r>
              <a:rPr lang="fr-FR" dirty="0" err="1"/>
              <a:t>kurtosis</a:t>
            </a:r>
            <a:r>
              <a:rPr lang="fr-FR" dirty="0"/>
              <a:t>, min max).</a:t>
            </a:r>
          </a:p>
          <a:p>
            <a:pPr marL="0" indent="0">
              <a:buNone/>
            </a:pPr>
            <a:r>
              <a:rPr lang="fr-FR" dirty="0"/>
              <a:t>For </a:t>
            </a:r>
            <a:r>
              <a:rPr lang="fr-FR" dirty="0" err="1"/>
              <a:t>bivariate</a:t>
            </a:r>
            <a:r>
              <a:rPr lang="fr-FR" dirty="0"/>
              <a:t> simple </a:t>
            </a:r>
            <a:r>
              <a:rPr lang="fr-FR" dirty="0" err="1"/>
              <a:t>correlation</a:t>
            </a:r>
            <a:r>
              <a:rPr lang="fr-FR" dirty="0"/>
              <a:t> coefficients:</a:t>
            </a:r>
          </a:p>
          <a:p>
            <a:pPr marL="0" indent="0">
              <a:buNone/>
            </a:pPr>
            <a:r>
              <a:rPr lang="fr-FR" dirty="0"/>
              <a:t>The </a:t>
            </a:r>
            <a:r>
              <a:rPr lang="fr-FR" dirty="0" err="1"/>
              <a:t>correlation</a:t>
            </a:r>
            <a:r>
              <a:rPr lang="fr-FR" dirty="0"/>
              <a:t> </a:t>
            </a:r>
            <a:r>
              <a:rPr lang="fr-FR" dirty="0" err="1"/>
              <a:t>between</a:t>
            </a:r>
            <a:r>
              <a:rPr lang="fr-FR" dirty="0"/>
              <a:t> </a:t>
            </a:r>
            <a:r>
              <a:rPr lang="el-GR" dirty="0">
                <a:latin typeface="Cambria Math"/>
                <a:ea typeface="Cambria Math"/>
              </a:rPr>
              <a:t>Δ </a:t>
            </a:r>
            <a:r>
              <a:rPr lang="fr-FR" dirty="0"/>
              <a:t>y</a:t>
            </a:r>
            <a:r>
              <a:rPr lang="fr-FR" baseline="-25000" dirty="0">
                <a:latin typeface="Cambria Math" panose="02040503050406030204" pitchFamily="18" charset="0"/>
                <a:ea typeface="Cambria Math" panose="02040503050406030204" pitchFamily="18" charset="0"/>
              </a:rPr>
              <a:t>i,t-1 </a:t>
            </a:r>
            <a:r>
              <a:rPr lang="el-GR" dirty="0">
                <a:latin typeface="Cambria Math"/>
                <a:ea typeface="Cambria Math"/>
              </a:rPr>
              <a:t>Δ </a:t>
            </a:r>
            <a:r>
              <a:rPr lang="fr-FR" dirty="0" err="1">
                <a:latin typeface="Cambria Math" panose="02040503050406030204" pitchFamily="18" charset="0"/>
                <a:ea typeface="Cambria Math" panose="02040503050406030204" pitchFamily="18" charset="0"/>
              </a:rPr>
              <a:t>x</a:t>
            </a:r>
            <a:r>
              <a:rPr lang="fr-FR" baseline="-25000" dirty="0" err="1">
                <a:latin typeface="Cambria Math" panose="02040503050406030204" pitchFamily="18" charset="0"/>
                <a:ea typeface="Cambria Math" panose="02040503050406030204" pitchFamily="18" charset="0"/>
              </a:rPr>
              <a:t>i,t</a:t>
            </a:r>
            <a:r>
              <a:rPr lang="fr-FR" dirty="0">
                <a:latin typeface="Cambria Math" panose="02040503050406030204" pitchFamily="18" charset="0"/>
                <a:ea typeface="Cambria Math" panose="02040503050406030204" pitchFamily="18" charset="0"/>
              </a:rPr>
              <a:t> </a:t>
            </a:r>
            <a:r>
              <a:rPr lang="el-GR" dirty="0">
                <a:latin typeface="Cambria Math" panose="02040503050406030204" pitchFamily="18" charset="0"/>
                <a:ea typeface="Cambria Math" panose="02040503050406030204" pitchFamily="18" charset="0"/>
              </a:rPr>
              <a:t> </a:t>
            </a:r>
            <a:r>
              <a:rPr lang="el-GR" dirty="0">
                <a:latin typeface="Cambria Math"/>
                <a:ea typeface="Cambria Math"/>
              </a:rPr>
              <a:t>Δ </a:t>
            </a:r>
            <a:r>
              <a:rPr lang="fr-FR" dirty="0">
                <a:latin typeface="Cambria Math" panose="02040503050406030204" pitchFamily="18" charset="0"/>
                <a:ea typeface="Cambria Math" panose="02040503050406030204" pitchFamily="18" charset="0"/>
              </a:rPr>
              <a:t>x</a:t>
            </a:r>
            <a:r>
              <a:rPr lang="fr-FR" baseline="-25000" dirty="0">
                <a:latin typeface="Cambria Math" panose="02040503050406030204" pitchFamily="18" charset="0"/>
                <a:ea typeface="Cambria Math" panose="02040503050406030204" pitchFamily="18" charset="0"/>
              </a:rPr>
              <a:t>i,t-1 </a:t>
            </a:r>
            <a:r>
              <a:rPr lang="fr-FR" dirty="0">
                <a:latin typeface="Cambria Math"/>
                <a:ea typeface="Cambria Math"/>
              </a:rPr>
              <a:t> </a:t>
            </a:r>
          </a:p>
          <a:p>
            <a:pPr marL="0" indent="0">
              <a:buNone/>
            </a:pPr>
            <a:r>
              <a:rPr lang="fr-FR" dirty="0">
                <a:latin typeface="Cambria Math"/>
                <a:ea typeface="Cambria Math"/>
              </a:rPr>
              <a:t>and </a:t>
            </a:r>
            <a:r>
              <a:rPr lang="fr-FR" dirty="0"/>
              <a:t>y</a:t>
            </a:r>
            <a:r>
              <a:rPr lang="fr-FR" baseline="-25000" dirty="0">
                <a:latin typeface="Cambria Math" panose="02040503050406030204" pitchFamily="18" charset="0"/>
                <a:ea typeface="Cambria Math" panose="02040503050406030204" pitchFamily="18" charset="0"/>
              </a:rPr>
              <a:t>i,t-2  </a:t>
            </a:r>
            <a:r>
              <a:rPr lang="fr-FR" dirty="0">
                <a:latin typeface="Cambria Math" panose="02040503050406030204" pitchFamily="18" charset="0"/>
                <a:ea typeface="Cambria Math" panose="02040503050406030204" pitchFamily="18" charset="0"/>
              </a:rPr>
              <a:t>x</a:t>
            </a:r>
            <a:r>
              <a:rPr lang="fr-FR" baseline="-25000" dirty="0">
                <a:latin typeface="Cambria Math" panose="02040503050406030204" pitchFamily="18" charset="0"/>
                <a:ea typeface="Cambria Math" panose="02040503050406030204" pitchFamily="18" charset="0"/>
              </a:rPr>
              <a:t>i,t-2 </a:t>
            </a:r>
            <a:r>
              <a:rPr lang="fr-FR" dirty="0" err="1">
                <a:latin typeface="Cambria Math"/>
                <a:ea typeface="Cambria Math"/>
              </a:rPr>
              <a:t>is</a:t>
            </a:r>
            <a:r>
              <a:rPr lang="fr-FR" dirty="0">
                <a:latin typeface="Cambria Math"/>
                <a:ea typeface="Cambria Math"/>
              </a:rPr>
              <a:t> a </a:t>
            </a:r>
            <a:r>
              <a:rPr lang="fr-FR" dirty="0" err="1">
                <a:latin typeface="Cambria Math"/>
                <a:ea typeface="Cambria Math"/>
              </a:rPr>
              <a:t>preliminary</a:t>
            </a:r>
            <a:r>
              <a:rPr lang="fr-FR" dirty="0">
                <a:latin typeface="Cambria Math"/>
                <a:ea typeface="Cambria Math"/>
              </a:rPr>
              <a:t> check for </a:t>
            </a:r>
            <a:r>
              <a:rPr lang="fr-FR" dirty="0" err="1">
                <a:latin typeface="Cambria Math"/>
                <a:ea typeface="Cambria Math"/>
              </a:rPr>
              <a:t>weak</a:t>
            </a:r>
            <a:r>
              <a:rPr lang="fr-FR" dirty="0">
                <a:latin typeface="Cambria Math"/>
                <a:ea typeface="Cambria Math"/>
              </a:rPr>
              <a:t> or </a:t>
            </a:r>
            <a:r>
              <a:rPr lang="fr-FR" dirty="0" err="1">
                <a:latin typeface="Cambria Math"/>
                <a:ea typeface="Cambria Math"/>
              </a:rPr>
              <a:t>strong</a:t>
            </a:r>
            <a:r>
              <a:rPr lang="fr-FR" dirty="0">
                <a:latin typeface="Cambria Math"/>
                <a:ea typeface="Cambria Math"/>
              </a:rPr>
              <a:t> instruments.</a:t>
            </a:r>
            <a:endParaRPr lang="en-GB" dirty="0"/>
          </a:p>
        </p:txBody>
      </p:sp>
    </p:spTree>
    <p:extLst>
      <p:ext uri="{BB962C8B-B14F-4D97-AF65-F5344CB8AC3E}">
        <p14:creationId xmlns:p14="http://schemas.microsoft.com/office/powerpoint/2010/main" val="2711481255"/>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Strength</a:t>
            </a:r>
            <a:endParaRPr lang="fr-FR" dirty="0"/>
          </a:p>
        </p:txBody>
      </p:sp>
      <p:sp>
        <p:nvSpPr>
          <p:cNvPr id="3" name="Espace réservé du contenu 2"/>
          <p:cNvSpPr>
            <a:spLocks noGrp="1"/>
          </p:cNvSpPr>
          <p:nvPr>
            <p:ph idx="1"/>
          </p:nvPr>
        </p:nvSpPr>
        <p:spPr/>
        <p:txBody>
          <a:bodyPr/>
          <a:lstStyle/>
          <a:p>
            <a:pPr marL="514350" indent="-514350">
              <a:buAutoNum type="arabicPeriod"/>
            </a:pPr>
            <a:r>
              <a:rPr lang="fr-FR" dirty="0"/>
              <a:t>Correct </a:t>
            </a:r>
            <a:r>
              <a:rPr lang="fr-FR" dirty="0" err="1"/>
              <a:t>endogeneity</a:t>
            </a:r>
            <a:r>
              <a:rPr lang="fr-FR" dirty="0"/>
              <a:t> </a:t>
            </a:r>
            <a:r>
              <a:rPr lang="fr-FR" dirty="0" err="1"/>
              <a:t>bias</a:t>
            </a:r>
            <a:r>
              <a:rPr lang="fr-FR" dirty="0"/>
              <a:t> in </a:t>
            </a:r>
            <a:r>
              <a:rPr lang="fr-FR" dirty="0" err="1"/>
              <a:t>fixed</a:t>
            </a:r>
            <a:r>
              <a:rPr lang="fr-FR" dirty="0"/>
              <a:t> </a:t>
            </a:r>
            <a:r>
              <a:rPr lang="fr-FR" dirty="0" err="1"/>
              <a:t>effect</a:t>
            </a:r>
            <a:r>
              <a:rPr lang="fr-FR" dirty="0"/>
              <a:t> for </a:t>
            </a:r>
            <a:r>
              <a:rPr lang="fr-FR" dirty="0" err="1"/>
              <a:t>lagged</a:t>
            </a:r>
            <a:r>
              <a:rPr lang="fr-FR" dirty="0"/>
              <a:t> </a:t>
            </a:r>
            <a:r>
              <a:rPr lang="fr-FR" dirty="0" err="1"/>
              <a:t>dependent</a:t>
            </a:r>
            <a:r>
              <a:rPr lang="fr-FR" dirty="0"/>
              <a:t> variable large </a:t>
            </a:r>
            <a:r>
              <a:rPr lang="fr-FR" dirty="0" err="1"/>
              <a:t>when</a:t>
            </a:r>
            <a:r>
              <a:rPr lang="fr-FR" dirty="0"/>
              <a:t> T&lt;10, </a:t>
            </a:r>
            <a:r>
              <a:rPr lang="fr-FR" dirty="0" err="1"/>
              <a:t>small</a:t>
            </a:r>
            <a:r>
              <a:rPr lang="fr-FR" dirty="0"/>
              <a:t> </a:t>
            </a:r>
            <a:r>
              <a:rPr lang="fr-FR" dirty="0" err="1"/>
              <a:t>when</a:t>
            </a:r>
            <a:r>
              <a:rPr lang="fr-FR" dirty="0"/>
              <a:t> T&gt;30.</a:t>
            </a:r>
          </a:p>
          <a:p>
            <a:pPr marL="514350" indent="-514350">
              <a:buAutoNum type="arabicPeriod"/>
            </a:pPr>
            <a:r>
              <a:rPr lang="fr-FR" dirty="0"/>
              <a:t>Corrects </a:t>
            </a:r>
            <a:r>
              <a:rPr lang="fr-FR" dirty="0" err="1"/>
              <a:t>endogeneity</a:t>
            </a:r>
            <a:r>
              <a:rPr lang="fr-FR" dirty="0"/>
              <a:t> </a:t>
            </a:r>
            <a:r>
              <a:rPr lang="fr-FR" dirty="0" err="1"/>
              <a:t>bias</a:t>
            </a:r>
            <a:r>
              <a:rPr lang="fr-FR" dirty="0"/>
              <a:t> for all </a:t>
            </a:r>
            <a:r>
              <a:rPr lang="fr-FR" dirty="0" err="1"/>
              <a:t>other</a:t>
            </a:r>
            <a:r>
              <a:rPr lang="fr-FR" dirty="0"/>
              <a:t> </a:t>
            </a:r>
            <a:r>
              <a:rPr lang="fr-FR" dirty="0" err="1"/>
              <a:t>explanatory</a:t>
            </a:r>
            <a:r>
              <a:rPr lang="fr-FR" dirty="0"/>
              <a:t> variables and </a:t>
            </a:r>
            <a:r>
              <a:rPr lang="fr-FR" dirty="0" err="1"/>
              <a:t>their</a:t>
            </a:r>
            <a:r>
              <a:rPr lang="fr-FR" dirty="0"/>
              <a:t> </a:t>
            </a:r>
            <a:r>
              <a:rPr lang="fr-FR" dirty="0" err="1"/>
              <a:t>lags</a:t>
            </a:r>
            <a:r>
              <a:rPr lang="fr-FR" dirty="0"/>
              <a:t>.</a:t>
            </a:r>
          </a:p>
          <a:p>
            <a:pPr marL="514350" indent="-514350">
              <a:buAutoNum type="arabicPeriod"/>
            </a:pPr>
            <a:r>
              <a:rPr lang="fr-FR" dirty="0" err="1"/>
              <a:t>With</a:t>
            </a:r>
            <a:r>
              <a:rPr lang="fr-FR" dirty="0"/>
              <a:t> IVREG, </a:t>
            </a:r>
            <a:r>
              <a:rPr lang="fr-FR" dirty="0" err="1"/>
              <a:t>you</a:t>
            </a:r>
            <a:r>
              <a:rPr lang="fr-FR" dirty="0"/>
              <a:t> have </a:t>
            </a:r>
            <a:r>
              <a:rPr lang="fr-FR" dirty="0" err="1"/>
              <a:t>also</a:t>
            </a:r>
            <a:r>
              <a:rPr lang="fr-FR" dirty="0"/>
              <a:t> ALL the first stage </a:t>
            </a:r>
            <a:r>
              <a:rPr lang="fr-FR" dirty="0" err="1"/>
              <a:t>regressions</a:t>
            </a:r>
            <a:r>
              <a:rPr lang="fr-FR" dirty="0"/>
              <a:t> </a:t>
            </a:r>
            <a:r>
              <a:rPr lang="fr-FR" dirty="0" err="1"/>
              <a:t>that</a:t>
            </a:r>
            <a:r>
              <a:rPr lang="fr-FR" dirty="0"/>
              <a:t> </a:t>
            </a:r>
            <a:r>
              <a:rPr lang="fr-FR" dirty="0" err="1"/>
              <a:t>you</a:t>
            </a:r>
            <a:r>
              <a:rPr lang="fr-FR" dirty="0"/>
              <a:t> </a:t>
            </a:r>
            <a:r>
              <a:rPr lang="fr-FR" dirty="0" err="1"/>
              <a:t>can</a:t>
            </a:r>
            <a:r>
              <a:rPr lang="fr-FR" dirty="0"/>
              <a:t> show and </a:t>
            </a:r>
            <a:r>
              <a:rPr lang="fr-FR" dirty="0" err="1"/>
              <a:t>discuss</a:t>
            </a:r>
            <a:r>
              <a:rPr lang="fr-FR" dirty="0"/>
              <a:t> if </a:t>
            </a:r>
            <a:r>
              <a:rPr lang="fr-FR" dirty="0" err="1"/>
              <a:t>your</a:t>
            </a:r>
            <a:r>
              <a:rPr lang="fr-FR" dirty="0"/>
              <a:t> IV </a:t>
            </a:r>
            <a:r>
              <a:rPr lang="fr-FR" dirty="0" err="1"/>
              <a:t>is</a:t>
            </a:r>
            <a:r>
              <a:rPr lang="fr-FR" dirty="0"/>
              <a:t> a </a:t>
            </a:r>
            <a:r>
              <a:rPr lang="fr-FR" dirty="0" err="1"/>
              <a:t>weak</a:t>
            </a:r>
            <a:r>
              <a:rPr lang="fr-FR" dirty="0"/>
              <a:t> instrument.</a:t>
            </a:r>
          </a:p>
        </p:txBody>
      </p:sp>
    </p:spTree>
    <p:extLst>
      <p:ext uri="{BB962C8B-B14F-4D97-AF65-F5344CB8AC3E}">
        <p14:creationId xmlns:p14="http://schemas.microsoft.com/office/powerpoint/2010/main" val="4152482098"/>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ARDL Anderson </a:t>
            </a:r>
            <a:r>
              <a:rPr lang="fr-FR" dirty="0" err="1"/>
              <a:t>Hsiao</a:t>
            </a:r>
            <a:r>
              <a:rPr lang="fr-FR" dirty="0"/>
              <a:t> (1981)</a:t>
            </a:r>
            <a:endParaRPr lang="en-GB" dirty="0"/>
          </a:p>
        </p:txBody>
      </p:sp>
      <p:sp>
        <p:nvSpPr>
          <p:cNvPr id="3" name="Espace réservé du contenu 2"/>
          <p:cNvSpPr>
            <a:spLocks noGrp="1"/>
          </p:cNvSpPr>
          <p:nvPr>
            <p:ph idx="1"/>
          </p:nvPr>
        </p:nvSpPr>
        <p:spPr/>
        <p:txBody>
          <a:bodyPr/>
          <a:lstStyle/>
          <a:p>
            <a:pPr marL="0" indent="0">
              <a:buNone/>
            </a:pPr>
            <a:r>
              <a:rPr lang="fr-FR" dirty="0"/>
              <a:t>You </a:t>
            </a:r>
            <a:r>
              <a:rPr lang="fr-FR" dirty="0" err="1"/>
              <a:t>can</a:t>
            </a:r>
            <a:r>
              <a:rPr lang="fr-FR" dirty="0"/>
              <a:t> plot the impulse </a:t>
            </a:r>
            <a:r>
              <a:rPr lang="fr-FR" dirty="0" err="1"/>
              <a:t>response</a:t>
            </a:r>
            <a:r>
              <a:rPr lang="fr-FR" dirty="0"/>
              <a:t> </a:t>
            </a:r>
            <a:r>
              <a:rPr lang="fr-FR" dirty="0" err="1"/>
              <a:t>functions</a:t>
            </a:r>
            <a:r>
              <a:rPr lang="fr-FR" dirty="0"/>
              <a:t>.</a:t>
            </a:r>
          </a:p>
          <a:p>
            <a:pPr marL="0" indent="0">
              <a:buNone/>
            </a:pPr>
            <a:r>
              <a:rPr lang="fr-FR" dirty="0"/>
              <a:t>You have to </a:t>
            </a:r>
            <a:r>
              <a:rPr lang="fr-FR" dirty="0" err="1"/>
              <a:t>compute</a:t>
            </a:r>
            <a:r>
              <a:rPr lang="fr-FR" dirty="0"/>
              <a:t> the long </a:t>
            </a:r>
            <a:r>
              <a:rPr lang="fr-FR" dirty="0" err="1"/>
              <a:t>run</a:t>
            </a:r>
            <a:r>
              <a:rPr lang="fr-FR" dirty="0"/>
              <a:t> coefficients.</a:t>
            </a:r>
          </a:p>
          <a:p>
            <a:pPr marL="0" indent="0">
              <a:buNone/>
            </a:pPr>
            <a:r>
              <a:rPr lang="fr-FR" dirty="0" err="1"/>
              <a:t>Sometimes</a:t>
            </a:r>
            <a:r>
              <a:rPr lang="fr-FR" dirty="0"/>
              <a:t> the </a:t>
            </a:r>
            <a:r>
              <a:rPr lang="fr-FR" dirty="0" err="1"/>
              <a:t>estimated</a:t>
            </a:r>
            <a:r>
              <a:rPr lang="fr-FR" dirty="0"/>
              <a:t> </a:t>
            </a:r>
            <a:r>
              <a:rPr lang="fr-FR" dirty="0" err="1"/>
              <a:t>parameter</a:t>
            </a:r>
            <a:r>
              <a:rPr lang="fr-FR" dirty="0"/>
              <a:t> of the </a:t>
            </a:r>
            <a:r>
              <a:rPr lang="fr-FR" dirty="0" err="1"/>
              <a:t>lagged</a:t>
            </a:r>
            <a:r>
              <a:rPr lang="fr-FR" dirty="0"/>
              <a:t> </a:t>
            </a:r>
            <a:r>
              <a:rPr lang="fr-FR" dirty="0" err="1"/>
              <a:t>dependent</a:t>
            </a:r>
            <a:r>
              <a:rPr lang="fr-FR" dirty="0"/>
              <a:t> variable </a:t>
            </a:r>
            <a:r>
              <a:rPr lang="fr-FR" dirty="0" err="1"/>
              <a:t>is</a:t>
            </a:r>
            <a:r>
              <a:rPr lang="fr-FR" dirty="0"/>
              <a:t> </a:t>
            </a:r>
            <a:r>
              <a:rPr lang="fr-FR" dirty="0" err="1"/>
              <a:t>around</a:t>
            </a:r>
            <a:r>
              <a:rPr lang="fr-FR" dirty="0"/>
              <a:t> 1/3,</a:t>
            </a:r>
          </a:p>
          <a:p>
            <a:pPr marL="0" indent="0">
              <a:buNone/>
            </a:pPr>
            <a:r>
              <a:rPr lang="fr-FR" dirty="0"/>
              <a:t>The long </a:t>
            </a:r>
            <a:r>
              <a:rPr lang="fr-FR" dirty="0" err="1"/>
              <a:t>run</a:t>
            </a:r>
            <a:r>
              <a:rPr lang="fr-FR" dirty="0"/>
              <a:t> coefficient </a:t>
            </a:r>
            <a:r>
              <a:rPr lang="fr-FR" dirty="0" err="1"/>
              <a:t>denominator</a:t>
            </a:r>
            <a:r>
              <a:rPr lang="fr-FR" dirty="0"/>
              <a:t> </a:t>
            </a:r>
            <a:r>
              <a:rPr lang="fr-FR" dirty="0" err="1"/>
              <a:t>effect</a:t>
            </a:r>
            <a:r>
              <a:rPr lang="fr-FR" dirty="0"/>
              <a:t> multiplies the </a:t>
            </a:r>
            <a:r>
              <a:rPr lang="fr-FR" dirty="0" err="1"/>
              <a:t>sum</a:t>
            </a:r>
            <a:r>
              <a:rPr lang="fr-FR" dirty="0"/>
              <a:t> of short </a:t>
            </a:r>
            <a:r>
              <a:rPr lang="fr-FR" dirty="0" err="1"/>
              <a:t>run</a:t>
            </a:r>
            <a:r>
              <a:rPr lang="fr-FR" dirty="0"/>
              <a:t> coefficients by 3/2 = 1.5</a:t>
            </a:r>
          </a:p>
          <a:p>
            <a:pPr marL="0" indent="0">
              <a:buNone/>
            </a:pP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LT</a:t>
            </a:r>
            <a:r>
              <a:rPr lang="el-GR" b="1" dirty="0">
                <a:latin typeface="Cambria Math" panose="02040503050406030204" pitchFamily="18" charset="0"/>
                <a:ea typeface="Cambria Math" panose="02040503050406030204" pitchFamily="18" charset="0"/>
              </a:rPr>
              <a:t> </a:t>
            </a:r>
            <a:r>
              <a:rPr lang="fr-FR" b="1" dirty="0">
                <a:latin typeface="Cambria Math" panose="02040503050406030204" pitchFamily="18" charset="0"/>
                <a:ea typeface="Cambria Math" panose="02040503050406030204" pitchFamily="18" charset="0"/>
              </a:rPr>
              <a:t> = (</a:t>
            </a:r>
            <a:r>
              <a:rPr lang="fr-FR" b="1" baseline="-25000"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1</a:t>
            </a:r>
            <a:r>
              <a:rPr lang="fr-FR" b="1"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 β</a:t>
            </a:r>
            <a:r>
              <a:rPr lang="fr-FR" b="1" baseline="-25000" dirty="0">
                <a:latin typeface="Cambria Math" panose="02040503050406030204" pitchFamily="18" charset="0"/>
                <a:ea typeface="Cambria Math" panose="02040503050406030204" pitchFamily="18" charset="0"/>
              </a:rPr>
              <a:t>2</a:t>
            </a:r>
            <a:r>
              <a:rPr lang="fr-FR" b="1" dirty="0"/>
              <a:t>) / (1 - </a:t>
            </a: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y </a:t>
            </a:r>
            <a:r>
              <a:rPr lang="fr-FR" b="1" dirty="0"/>
              <a:t>)</a:t>
            </a:r>
            <a:r>
              <a:rPr lang="fr-FR" dirty="0"/>
              <a:t> = 1.5</a:t>
            </a:r>
            <a:r>
              <a:rPr lang="fr-FR" b="1" dirty="0">
                <a:latin typeface="Cambria Math" panose="02040503050406030204" pitchFamily="18" charset="0"/>
                <a:ea typeface="Cambria Math" panose="02040503050406030204" pitchFamily="18" charset="0"/>
              </a:rPr>
              <a:t> (</a:t>
            </a:r>
            <a:r>
              <a:rPr lang="fr-FR" b="1" baseline="-25000"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β</a:t>
            </a:r>
            <a:r>
              <a:rPr lang="fr-FR" b="1" baseline="-25000" dirty="0">
                <a:latin typeface="Cambria Math" panose="02040503050406030204" pitchFamily="18" charset="0"/>
                <a:ea typeface="Cambria Math" panose="02040503050406030204" pitchFamily="18" charset="0"/>
              </a:rPr>
              <a:t>1</a:t>
            </a:r>
            <a:r>
              <a:rPr lang="fr-FR" b="1"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 β</a:t>
            </a:r>
            <a:r>
              <a:rPr lang="fr-FR" b="1" baseline="-25000" dirty="0">
                <a:latin typeface="Cambria Math" panose="02040503050406030204" pitchFamily="18" charset="0"/>
                <a:ea typeface="Cambria Math" panose="02040503050406030204" pitchFamily="18" charset="0"/>
              </a:rPr>
              <a:t>2</a:t>
            </a:r>
            <a:r>
              <a:rPr lang="fr-FR" b="1" dirty="0"/>
              <a:t>).</a:t>
            </a:r>
            <a:r>
              <a:rPr lang="fr-FR" dirty="0"/>
              <a:t> </a:t>
            </a:r>
          </a:p>
          <a:p>
            <a:pPr marL="0" indent="0">
              <a:buNone/>
            </a:pPr>
            <a:endParaRPr lang="en-GB" dirty="0"/>
          </a:p>
        </p:txBody>
      </p:sp>
    </p:spTree>
    <p:extLst>
      <p:ext uri="{BB962C8B-B14F-4D97-AF65-F5344CB8AC3E}">
        <p14:creationId xmlns:p14="http://schemas.microsoft.com/office/powerpoint/2010/main" val="3572260587"/>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Additional</a:t>
            </a:r>
            <a:r>
              <a:rPr lang="fr-FR" dirty="0"/>
              <a:t> issues</a:t>
            </a:r>
            <a:endParaRPr lang="en-GB" dirty="0"/>
          </a:p>
        </p:txBody>
      </p:sp>
      <p:sp>
        <p:nvSpPr>
          <p:cNvPr id="3" name="Espace réservé du contenu 2"/>
          <p:cNvSpPr>
            <a:spLocks noGrp="1"/>
          </p:cNvSpPr>
          <p:nvPr>
            <p:ph idx="1"/>
          </p:nvPr>
        </p:nvSpPr>
        <p:spPr/>
        <p:txBody>
          <a:bodyPr>
            <a:normAutofit lnSpcReduction="10000"/>
          </a:bodyPr>
          <a:lstStyle/>
          <a:p>
            <a:pPr marL="514350" indent="-514350">
              <a:buAutoNum type="arabicParenBoth"/>
            </a:pPr>
            <a:r>
              <a:rPr lang="fr-FR" dirty="0"/>
              <a:t> Can I </a:t>
            </a:r>
            <a:r>
              <a:rPr lang="fr-FR" dirty="0" err="1"/>
              <a:t>add</a:t>
            </a:r>
            <a:r>
              <a:rPr lang="fr-FR" dirty="0"/>
              <a:t> </a:t>
            </a:r>
            <a:r>
              <a:rPr lang="fr-FR" dirty="0" err="1"/>
              <a:t>dummies</a:t>
            </a:r>
            <a:r>
              <a:rPr lang="fr-FR" dirty="0"/>
              <a:t> for </a:t>
            </a:r>
            <a:r>
              <a:rPr lang="fr-FR" dirty="0" err="1"/>
              <a:t>each</a:t>
            </a:r>
            <a:r>
              <a:rPr lang="fr-FR" dirty="0"/>
              <a:t> </a:t>
            </a:r>
            <a:r>
              <a:rPr lang="fr-FR" dirty="0" err="1"/>
              <a:t>period</a:t>
            </a:r>
            <a:r>
              <a:rPr lang="fr-FR" dirty="0"/>
              <a:t>: </a:t>
            </a:r>
            <a:r>
              <a:rPr lang="fr-FR" dirty="0" err="1"/>
              <a:t>yes</a:t>
            </a:r>
            <a:r>
              <a:rPr lang="fr-FR" dirty="0"/>
              <a:t>.</a:t>
            </a:r>
          </a:p>
          <a:p>
            <a:pPr marL="514350" indent="-514350">
              <a:buAutoNum type="arabicParenBoth"/>
            </a:pPr>
            <a:r>
              <a:rPr lang="fr-FR" dirty="0"/>
              <a:t> Can I </a:t>
            </a:r>
            <a:r>
              <a:rPr lang="fr-FR" dirty="0" err="1"/>
              <a:t>add</a:t>
            </a:r>
            <a:r>
              <a:rPr lang="fr-FR" dirty="0"/>
              <a:t> </a:t>
            </a:r>
            <a:r>
              <a:rPr lang="fr-FR" dirty="0" err="1"/>
              <a:t>dummies</a:t>
            </a:r>
            <a:r>
              <a:rPr lang="fr-FR" dirty="0"/>
              <a:t> for </a:t>
            </a:r>
            <a:r>
              <a:rPr lang="fr-FR" dirty="0" err="1"/>
              <a:t>each</a:t>
            </a:r>
            <a:r>
              <a:rPr lang="fr-FR" dirty="0"/>
              <a:t> quarter to </a:t>
            </a:r>
            <a:r>
              <a:rPr lang="fr-FR" dirty="0" err="1"/>
              <a:t>handle</a:t>
            </a:r>
            <a:r>
              <a:rPr lang="fr-FR" dirty="0"/>
              <a:t> </a:t>
            </a:r>
            <a:r>
              <a:rPr lang="fr-FR" dirty="0" err="1"/>
              <a:t>seasonality</a:t>
            </a:r>
            <a:r>
              <a:rPr lang="fr-FR" dirty="0"/>
              <a:t>: </a:t>
            </a:r>
            <a:r>
              <a:rPr lang="fr-FR" dirty="0" err="1"/>
              <a:t>yes</a:t>
            </a:r>
            <a:r>
              <a:rPr lang="fr-FR" dirty="0"/>
              <a:t>.</a:t>
            </a:r>
          </a:p>
          <a:p>
            <a:pPr marL="514350" indent="-514350">
              <a:buAutoNum type="arabicParenBoth"/>
            </a:pPr>
            <a:r>
              <a:rPr lang="fr-FR" dirty="0"/>
              <a:t> Can I </a:t>
            </a:r>
            <a:r>
              <a:rPr lang="fr-FR" dirty="0" err="1"/>
              <a:t>winsorise</a:t>
            </a:r>
            <a:r>
              <a:rPr lang="fr-FR" dirty="0"/>
              <a:t> data in </a:t>
            </a:r>
            <a:r>
              <a:rPr lang="fr-FR" dirty="0" err="1"/>
              <a:t>level</a:t>
            </a:r>
            <a:r>
              <a:rPr lang="fr-FR" dirty="0"/>
              <a:t> </a:t>
            </a:r>
            <a:r>
              <a:rPr lang="fr-FR" dirty="0" err="1"/>
              <a:t>then</a:t>
            </a:r>
            <a:r>
              <a:rPr lang="fr-FR" dirty="0"/>
              <a:t> </a:t>
            </a:r>
            <a:r>
              <a:rPr lang="fr-FR" dirty="0" err="1"/>
              <a:t>take</a:t>
            </a:r>
            <a:r>
              <a:rPr lang="fr-FR" dirty="0"/>
              <a:t> first </a:t>
            </a:r>
            <a:r>
              <a:rPr lang="fr-FR" dirty="0" err="1"/>
              <a:t>differences</a:t>
            </a:r>
            <a:r>
              <a:rPr lang="fr-FR" dirty="0"/>
              <a:t>: </a:t>
            </a:r>
            <a:r>
              <a:rPr lang="fr-FR" dirty="0" err="1"/>
              <a:t>better</a:t>
            </a:r>
            <a:r>
              <a:rPr lang="fr-FR" dirty="0"/>
              <a:t> to </a:t>
            </a:r>
            <a:r>
              <a:rPr lang="fr-FR" dirty="0" err="1"/>
              <a:t>take</a:t>
            </a:r>
            <a:r>
              <a:rPr lang="fr-FR" dirty="0"/>
              <a:t> FIRST </a:t>
            </a:r>
            <a:r>
              <a:rPr lang="fr-FR" b="1" dirty="0" err="1"/>
              <a:t>first</a:t>
            </a:r>
            <a:r>
              <a:rPr lang="fr-FR" b="1" dirty="0"/>
              <a:t> </a:t>
            </a:r>
            <a:r>
              <a:rPr lang="fr-FR" b="1" dirty="0" err="1"/>
              <a:t>differences</a:t>
            </a:r>
            <a:r>
              <a:rPr lang="fr-FR" dirty="0"/>
              <a:t> and </a:t>
            </a:r>
            <a:r>
              <a:rPr lang="fr-FR" dirty="0" err="1"/>
              <a:t>then</a:t>
            </a:r>
            <a:r>
              <a:rPr lang="fr-FR" dirty="0"/>
              <a:t> </a:t>
            </a:r>
            <a:r>
              <a:rPr lang="fr-FR" dirty="0" err="1"/>
              <a:t>winsorise</a:t>
            </a:r>
            <a:r>
              <a:rPr lang="fr-FR" dirty="0"/>
              <a:t> (cap data to an </a:t>
            </a:r>
            <a:r>
              <a:rPr lang="fr-FR" dirty="0" err="1"/>
              <a:t>upper</a:t>
            </a:r>
            <a:r>
              <a:rPr lang="fr-FR" dirty="0"/>
              <a:t> percentile value </a:t>
            </a:r>
            <a:r>
              <a:rPr lang="fr-FR" dirty="0" err="1"/>
              <a:t>when</a:t>
            </a:r>
            <a:r>
              <a:rPr lang="fr-FR" dirty="0"/>
              <a:t> </a:t>
            </a:r>
            <a:r>
              <a:rPr lang="fr-FR" dirty="0" err="1"/>
              <a:t>it</a:t>
            </a:r>
            <a:r>
              <a:rPr lang="fr-FR" dirty="0"/>
              <a:t> </a:t>
            </a:r>
            <a:r>
              <a:rPr lang="fr-FR" dirty="0" err="1"/>
              <a:t>is</a:t>
            </a:r>
            <a:r>
              <a:rPr lang="fr-FR" dirty="0"/>
              <a:t> </a:t>
            </a:r>
            <a:r>
              <a:rPr lang="fr-FR" dirty="0" err="1"/>
              <a:t>above</a:t>
            </a:r>
            <a:r>
              <a:rPr lang="fr-FR" dirty="0"/>
              <a:t> </a:t>
            </a:r>
            <a:r>
              <a:rPr lang="fr-FR" dirty="0" err="1"/>
              <a:t>this</a:t>
            </a:r>
            <a:r>
              <a:rPr lang="fr-FR" dirty="0"/>
              <a:t> percentile to </a:t>
            </a:r>
            <a:r>
              <a:rPr lang="fr-FR" dirty="0" err="1"/>
              <a:t>handle</a:t>
            </a:r>
            <a:r>
              <a:rPr lang="fr-FR" dirty="0"/>
              <a:t> </a:t>
            </a:r>
            <a:r>
              <a:rPr lang="fr-FR" dirty="0" err="1"/>
              <a:t>extreme</a:t>
            </a:r>
            <a:r>
              <a:rPr lang="fr-FR" dirty="0"/>
              <a:t> values; </a:t>
            </a:r>
            <a:r>
              <a:rPr lang="fr-FR" dirty="0" err="1"/>
              <a:t>from</a:t>
            </a:r>
            <a:r>
              <a:rPr lang="fr-FR" dirty="0"/>
              <a:t> a </a:t>
            </a:r>
            <a:r>
              <a:rPr lang="fr-FR" dirty="0" err="1"/>
              <a:t>statistician</a:t>
            </a:r>
            <a:r>
              <a:rPr lang="fr-FR" dirty="0"/>
              <a:t> </a:t>
            </a:r>
            <a:r>
              <a:rPr lang="fr-FR" dirty="0" err="1"/>
              <a:t>named</a:t>
            </a:r>
            <a:r>
              <a:rPr lang="fr-FR" dirty="0"/>
              <a:t> </a:t>
            </a:r>
            <a:r>
              <a:rPr lang="fr-FR" dirty="0" err="1"/>
              <a:t>Winsor</a:t>
            </a:r>
            <a:r>
              <a:rPr lang="fr-FR" dirty="0"/>
              <a:t>).</a:t>
            </a:r>
            <a:endParaRPr lang="en-GB" dirty="0"/>
          </a:p>
        </p:txBody>
      </p:sp>
    </p:spTree>
    <p:extLst>
      <p:ext uri="{BB962C8B-B14F-4D97-AF65-F5344CB8AC3E}">
        <p14:creationId xmlns:p14="http://schemas.microsoft.com/office/powerpoint/2010/main" val="2726534773"/>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What</a:t>
            </a:r>
            <a:r>
              <a:rPr lang="fr-FR" dirty="0"/>
              <a:t> about the first </a:t>
            </a:r>
            <a:r>
              <a:rPr lang="fr-FR" dirty="0" err="1"/>
              <a:t>differences</a:t>
            </a:r>
            <a:r>
              <a:rPr lang="fr-FR" dirty="0"/>
              <a:t> </a:t>
            </a:r>
            <a:br>
              <a:rPr lang="fr-FR" dirty="0"/>
            </a:br>
            <a:r>
              <a:rPr lang="fr-FR" dirty="0"/>
              <a:t>of a </a:t>
            </a:r>
            <a:r>
              <a:rPr lang="fr-FR" dirty="0" err="1"/>
              <a:t>dummy</a:t>
            </a:r>
            <a:r>
              <a:rPr lang="fr-FR" dirty="0"/>
              <a:t> variable?</a:t>
            </a:r>
            <a:endParaRPr lang="en-GB" dirty="0"/>
          </a:p>
        </p:txBody>
      </p:sp>
      <p:sp>
        <p:nvSpPr>
          <p:cNvPr id="3" name="Espace réservé du contenu 2"/>
          <p:cNvSpPr>
            <a:spLocks noGrp="1"/>
          </p:cNvSpPr>
          <p:nvPr>
            <p:ph idx="1"/>
          </p:nvPr>
        </p:nvSpPr>
        <p:spPr/>
        <p:txBody>
          <a:bodyPr/>
          <a:lstStyle/>
          <a:p>
            <a:pPr marL="0" indent="0">
              <a:buNone/>
            </a:pPr>
            <a:r>
              <a:rPr lang="fr-FR" dirty="0">
                <a:latin typeface="Cambria Math"/>
                <a:ea typeface="Cambria Math"/>
              </a:rPr>
              <a:t>If </a:t>
            </a:r>
            <a:r>
              <a:rPr lang="fr-FR" dirty="0" err="1">
                <a:latin typeface="Cambria Math"/>
                <a:ea typeface="Cambria Math"/>
              </a:rPr>
              <a:t>D</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a:ea typeface="Cambria Math"/>
              </a:rPr>
              <a:t> shift </a:t>
            </a:r>
            <a:r>
              <a:rPr lang="fr-FR" dirty="0" err="1">
                <a:latin typeface="Cambria Math"/>
                <a:ea typeface="Cambria Math"/>
              </a:rPr>
              <a:t>from</a:t>
            </a:r>
            <a:r>
              <a:rPr lang="fr-FR" dirty="0">
                <a:latin typeface="Cambria Math"/>
                <a:ea typeface="Cambria Math"/>
              </a:rPr>
              <a:t> 0 to 1: </a:t>
            </a:r>
          </a:p>
          <a:p>
            <a:pPr marL="0" indent="0">
              <a:buNone/>
            </a:pPr>
            <a:r>
              <a:rPr lang="el-GR" dirty="0">
                <a:latin typeface="Cambria Math"/>
                <a:ea typeface="Cambria Math"/>
              </a:rPr>
              <a:t>Δ </a:t>
            </a:r>
            <a:r>
              <a:rPr lang="fr-FR" dirty="0" err="1">
                <a:latin typeface="Cambria Math"/>
                <a:ea typeface="Cambria Math"/>
              </a:rPr>
              <a:t>D</a:t>
            </a:r>
            <a:r>
              <a:rPr lang="fr-FR" baseline="-25000" dirty="0" err="1">
                <a:latin typeface="Cambria Math" panose="02040503050406030204" pitchFamily="18" charset="0"/>
                <a:ea typeface="Cambria Math" panose="02040503050406030204" pitchFamily="18" charset="0"/>
              </a:rPr>
              <a:t>i,t</a:t>
            </a:r>
            <a:r>
              <a:rPr lang="fr-FR" dirty="0">
                <a:latin typeface="Cambria Math"/>
                <a:ea typeface="Cambria Math"/>
              </a:rPr>
              <a:t> =1 – 0  = 1</a:t>
            </a:r>
          </a:p>
          <a:p>
            <a:pPr marL="0" indent="0">
              <a:buNone/>
            </a:pPr>
            <a:r>
              <a:rPr lang="fr-FR" dirty="0">
                <a:latin typeface="Cambria Math"/>
                <a:ea typeface="Cambria Math"/>
              </a:rPr>
              <a:t>If </a:t>
            </a:r>
            <a:r>
              <a:rPr lang="fr-FR" dirty="0" err="1">
                <a:latin typeface="Cambria Math"/>
                <a:ea typeface="Cambria Math"/>
              </a:rPr>
              <a:t>D</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a:ea typeface="Cambria Math"/>
              </a:rPr>
              <a:t> </a:t>
            </a:r>
            <a:r>
              <a:rPr lang="fr-FR" dirty="0" err="1">
                <a:latin typeface="Cambria Math"/>
                <a:ea typeface="Cambria Math"/>
              </a:rPr>
              <a:t>remains</a:t>
            </a:r>
            <a:r>
              <a:rPr lang="fr-FR" dirty="0">
                <a:latin typeface="Cambria Math"/>
                <a:ea typeface="Cambria Math"/>
              </a:rPr>
              <a:t> 0 to 0 or 1 to 1: </a:t>
            </a:r>
          </a:p>
          <a:p>
            <a:pPr marL="0" indent="0">
              <a:buNone/>
            </a:pPr>
            <a:r>
              <a:rPr lang="el-GR" dirty="0">
                <a:latin typeface="Cambria Math"/>
                <a:ea typeface="Cambria Math"/>
              </a:rPr>
              <a:t>Δ </a:t>
            </a:r>
            <a:r>
              <a:rPr lang="fr-FR" dirty="0" err="1">
                <a:latin typeface="Cambria Math"/>
                <a:ea typeface="Cambria Math"/>
              </a:rPr>
              <a:t>D</a:t>
            </a:r>
            <a:r>
              <a:rPr lang="fr-FR" baseline="-25000" dirty="0" err="1">
                <a:latin typeface="Cambria Math" panose="02040503050406030204" pitchFamily="18" charset="0"/>
                <a:ea typeface="Cambria Math" panose="02040503050406030204" pitchFamily="18" charset="0"/>
              </a:rPr>
              <a:t>i,t</a:t>
            </a:r>
            <a:r>
              <a:rPr lang="fr-FR" dirty="0">
                <a:latin typeface="Cambria Math"/>
                <a:ea typeface="Cambria Math"/>
              </a:rPr>
              <a:t> =0 – 0  = 1-1 = 0</a:t>
            </a:r>
          </a:p>
          <a:p>
            <a:pPr marL="0" indent="0">
              <a:buNone/>
            </a:pPr>
            <a:r>
              <a:rPr lang="fr-FR" dirty="0">
                <a:latin typeface="Cambria Math"/>
                <a:ea typeface="Cambria Math"/>
              </a:rPr>
              <a:t>If </a:t>
            </a:r>
            <a:r>
              <a:rPr lang="fr-FR" dirty="0" err="1">
                <a:latin typeface="Cambria Math"/>
                <a:ea typeface="Cambria Math"/>
              </a:rPr>
              <a:t>D</a:t>
            </a:r>
            <a:r>
              <a:rPr lang="fr-FR" baseline="-25000" dirty="0" err="1">
                <a:latin typeface="Cambria Math" panose="02040503050406030204" pitchFamily="18" charset="0"/>
                <a:ea typeface="Cambria Math" panose="02040503050406030204" pitchFamily="18" charset="0"/>
              </a:rPr>
              <a:t>i,t</a:t>
            </a:r>
            <a:r>
              <a:rPr lang="fr-FR" baseline="-25000" dirty="0">
                <a:latin typeface="Cambria Math" panose="02040503050406030204" pitchFamily="18" charset="0"/>
                <a:ea typeface="Cambria Math" panose="02040503050406030204" pitchFamily="18" charset="0"/>
              </a:rPr>
              <a:t> </a:t>
            </a:r>
            <a:r>
              <a:rPr lang="fr-FR" dirty="0">
                <a:latin typeface="Cambria Math"/>
                <a:ea typeface="Cambria Math"/>
              </a:rPr>
              <a:t> shift </a:t>
            </a:r>
            <a:r>
              <a:rPr lang="fr-FR" dirty="0" err="1">
                <a:latin typeface="Cambria Math"/>
                <a:ea typeface="Cambria Math"/>
              </a:rPr>
              <a:t>from</a:t>
            </a:r>
            <a:r>
              <a:rPr lang="fr-FR" dirty="0">
                <a:latin typeface="Cambria Math"/>
                <a:ea typeface="Cambria Math"/>
              </a:rPr>
              <a:t> 1 to 0: </a:t>
            </a:r>
          </a:p>
          <a:p>
            <a:pPr marL="0" indent="0">
              <a:buNone/>
            </a:pPr>
            <a:r>
              <a:rPr lang="el-GR" dirty="0">
                <a:latin typeface="Cambria Math"/>
                <a:ea typeface="Cambria Math"/>
              </a:rPr>
              <a:t>Δ </a:t>
            </a:r>
            <a:r>
              <a:rPr lang="fr-FR" dirty="0" err="1">
                <a:latin typeface="Cambria Math"/>
                <a:ea typeface="Cambria Math"/>
              </a:rPr>
              <a:t>D</a:t>
            </a:r>
            <a:r>
              <a:rPr lang="fr-FR" baseline="-25000" dirty="0" err="1">
                <a:latin typeface="Cambria Math" panose="02040503050406030204" pitchFamily="18" charset="0"/>
                <a:ea typeface="Cambria Math" panose="02040503050406030204" pitchFamily="18" charset="0"/>
              </a:rPr>
              <a:t>i,t</a:t>
            </a:r>
            <a:r>
              <a:rPr lang="fr-FR" dirty="0">
                <a:latin typeface="Cambria Math"/>
                <a:ea typeface="Cambria Math"/>
              </a:rPr>
              <a:t> =0 – 1  = -1</a:t>
            </a:r>
          </a:p>
          <a:p>
            <a:pPr marL="0" indent="0">
              <a:buNone/>
            </a:pPr>
            <a:r>
              <a:rPr lang="fr-FR" b="1" dirty="0" err="1">
                <a:latin typeface="Cambria Math"/>
                <a:ea typeface="Cambria Math"/>
              </a:rPr>
              <a:t>Therefore</a:t>
            </a:r>
            <a:r>
              <a:rPr lang="fr-FR" b="1" dirty="0">
                <a:latin typeface="Cambria Math"/>
                <a:ea typeface="Cambria Math"/>
              </a:rPr>
              <a:t>, </a:t>
            </a:r>
            <a:r>
              <a:rPr lang="fr-FR" b="1" dirty="0" err="1">
                <a:latin typeface="Cambria Math"/>
                <a:ea typeface="Cambria Math"/>
              </a:rPr>
              <a:t>it</a:t>
            </a:r>
            <a:r>
              <a:rPr lang="fr-FR" b="1" dirty="0">
                <a:latin typeface="Cambria Math"/>
                <a:ea typeface="Cambria Math"/>
              </a:rPr>
              <a:t> has </a:t>
            </a:r>
            <a:r>
              <a:rPr lang="fr-FR" b="1" dirty="0" err="1">
                <a:latin typeface="Cambria Math"/>
                <a:ea typeface="Cambria Math"/>
              </a:rPr>
              <a:t>three</a:t>
            </a:r>
            <a:r>
              <a:rPr lang="fr-FR" b="1" dirty="0">
                <a:latin typeface="Cambria Math"/>
                <a:ea typeface="Cambria Math"/>
              </a:rPr>
              <a:t> values (-1, 0, 1).</a:t>
            </a:r>
            <a:endParaRPr lang="fr-FR" dirty="0">
              <a:latin typeface="Cambria Math"/>
              <a:ea typeface="Cambria Math"/>
            </a:endParaRPr>
          </a:p>
          <a:p>
            <a:pPr marL="0" indent="0">
              <a:buNone/>
            </a:pPr>
            <a:endParaRPr lang="en-GB" dirty="0"/>
          </a:p>
        </p:txBody>
      </p:sp>
    </p:spTree>
    <p:extLst>
      <p:ext uri="{BB962C8B-B14F-4D97-AF65-F5344CB8AC3E}">
        <p14:creationId xmlns:p14="http://schemas.microsoft.com/office/powerpoint/2010/main" val="2729458317"/>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14B: The </a:t>
            </a:r>
            <a:r>
              <a:rPr lang="fr-FR" dirty="0" err="1"/>
              <a:t>rise</a:t>
            </a:r>
            <a:r>
              <a:rPr lang="fr-FR" dirty="0"/>
              <a:t> and </a:t>
            </a:r>
            <a:r>
              <a:rPr lang="fr-FR" dirty="0" err="1"/>
              <a:t>fall</a:t>
            </a:r>
            <a:r>
              <a:rPr lang="fr-FR" dirty="0"/>
              <a:t> of GMM </a:t>
            </a:r>
            <a:r>
              <a:rPr lang="fr-FR" dirty="0" err="1"/>
              <a:t>dynamic</a:t>
            </a:r>
            <a:r>
              <a:rPr lang="fr-FR" dirty="0"/>
              <a:t> panel data </a:t>
            </a:r>
            <a:r>
              <a:rPr lang="fr-FR" dirty="0" err="1"/>
              <a:t>estimator</a:t>
            </a:r>
            <a:endParaRPr lang="en-GB" dirty="0"/>
          </a:p>
        </p:txBody>
      </p:sp>
    </p:spTree>
    <p:extLst>
      <p:ext uri="{BB962C8B-B14F-4D97-AF65-F5344CB8AC3E}">
        <p14:creationId xmlns:p14="http://schemas.microsoft.com/office/powerpoint/2010/main" val="1893411880"/>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You </a:t>
            </a:r>
            <a:r>
              <a:rPr lang="fr-FR" dirty="0" err="1"/>
              <a:t>should</a:t>
            </a:r>
            <a:r>
              <a:rPr lang="fr-FR" dirty="0"/>
              <a:t> report the NUMBER of instruments in </a:t>
            </a:r>
            <a:r>
              <a:rPr lang="fr-FR" dirty="0" err="1"/>
              <a:t>your</a:t>
            </a:r>
            <a:r>
              <a:rPr lang="fr-FR" dirty="0"/>
              <a:t> tables</a:t>
            </a:r>
            <a:endParaRPr lang="en-GB" dirty="0"/>
          </a:p>
        </p:txBody>
      </p:sp>
      <p:sp>
        <p:nvSpPr>
          <p:cNvPr id="3" name="Espace réservé du contenu 2"/>
          <p:cNvSpPr>
            <a:spLocks noGrp="1"/>
          </p:cNvSpPr>
          <p:nvPr>
            <p:ph idx="1"/>
          </p:nvPr>
        </p:nvSpPr>
        <p:spPr/>
        <p:txBody>
          <a:bodyPr/>
          <a:lstStyle/>
          <a:p>
            <a:pPr marL="0" indent="0">
              <a:buNone/>
            </a:pPr>
            <a:r>
              <a:rPr lang="fr-FR" b="1" dirty="0"/>
              <a:t>It </a:t>
            </a:r>
            <a:r>
              <a:rPr lang="fr-FR" b="1" dirty="0" err="1"/>
              <a:t>is</a:t>
            </a:r>
            <a:r>
              <a:rPr lang="fr-FR" b="1" dirty="0"/>
              <a:t> not </a:t>
            </a:r>
            <a:r>
              <a:rPr lang="fr-FR" b="1" dirty="0" err="1"/>
              <a:t>worth</a:t>
            </a:r>
            <a:r>
              <a:rPr lang="fr-FR" b="1" dirty="0"/>
              <a:t> </a:t>
            </a:r>
            <a:r>
              <a:rPr lang="fr-FR" b="1" dirty="0" err="1"/>
              <a:t>reading</a:t>
            </a:r>
            <a:r>
              <a:rPr lang="fr-FR" b="1" dirty="0"/>
              <a:t> a </a:t>
            </a:r>
            <a:r>
              <a:rPr lang="fr-FR" b="1" dirty="0" err="1"/>
              <a:t>paper</a:t>
            </a:r>
            <a:r>
              <a:rPr lang="fr-FR" b="1" dirty="0"/>
              <a:t> </a:t>
            </a:r>
          </a:p>
          <a:p>
            <a:pPr marL="0" indent="0">
              <a:buNone/>
            </a:pPr>
            <a:r>
              <a:rPr lang="fr-FR" dirty="0" err="1"/>
              <a:t>which</a:t>
            </a:r>
            <a:r>
              <a:rPr lang="fr-FR" dirty="0"/>
              <a:t> uses GMM for panel </a:t>
            </a:r>
            <a:r>
              <a:rPr lang="fr-FR" dirty="0" err="1"/>
              <a:t>which</a:t>
            </a:r>
            <a:r>
              <a:rPr lang="fr-FR" dirty="0"/>
              <a:t> </a:t>
            </a:r>
            <a:r>
              <a:rPr lang="fr-FR" dirty="0" err="1"/>
              <a:t>does</a:t>
            </a:r>
            <a:r>
              <a:rPr lang="fr-FR" dirty="0"/>
              <a:t> not report the </a:t>
            </a:r>
            <a:r>
              <a:rPr lang="fr-FR" dirty="0" err="1"/>
              <a:t>number</a:t>
            </a:r>
            <a:r>
              <a:rPr lang="fr-FR" dirty="0"/>
              <a:t> of instruments for </a:t>
            </a:r>
            <a:r>
              <a:rPr lang="fr-FR" dirty="0" err="1"/>
              <a:t>each</a:t>
            </a:r>
            <a:r>
              <a:rPr lang="fr-FR" dirty="0"/>
              <a:t> </a:t>
            </a:r>
            <a:r>
              <a:rPr lang="fr-FR" dirty="0" err="1"/>
              <a:t>regression</a:t>
            </a:r>
            <a:r>
              <a:rPr lang="fr-FR" dirty="0"/>
              <a:t>, </a:t>
            </a:r>
            <a:r>
              <a:rPr lang="fr-FR" dirty="0" err="1"/>
              <a:t>besides</a:t>
            </a:r>
            <a:r>
              <a:rPr lang="fr-FR" dirty="0"/>
              <a:t> </a:t>
            </a:r>
          </a:p>
          <a:p>
            <a:pPr>
              <a:buFontTx/>
              <a:buChar char="-"/>
            </a:pPr>
            <a:r>
              <a:rPr lang="fr-FR" dirty="0"/>
              <a:t>the </a:t>
            </a:r>
            <a:r>
              <a:rPr lang="fr-FR" dirty="0" err="1"/>
              <a:t>number</a:t>
            </a:r>
            <a:r>
              <a:rPr lang="fr-FR" dirty="0"/>
              <a:t> of observations NT, </a:t>
            </a:r>
          </a:p>
          <a:p>
            <a:pPr>
              <a:buFontTx/>
              <a:buChar char="-"/>
            </a:pPr>
            <a:r>
              <a:rPr lang="fr-FR" dirty="0"/>
              <a:t>the </a:t>
            </a:r>
            <a:r>
              <a:rPr lang="fr-FR" dirty="0" err="1"/>
              <a:t>number</a:t>
            </a:r>
            <a:r>
              <a:rPr lang="fr-FR" dirty="0"/>
              <a:t> of </a:t>
            </a:r>
            <a:r>
              <a:rPr lang="fr-FR" dirty="0" err="1"/>
              <a:t>individuals</a:t>
            </a:r>
            <a:r>
              <a:rPr lang="fr-FR" dirty="0"/>
              <a:t> N</a:t>
            </a:r>
          </a:p>
          <a:p>
            <a:pPr>
              <a:buFontTx/>
              <a:buChar char="-"/>
            </a:pPr>
            <a:r>
              <a:rPr lang="fr-FR" dirty="0"/>
              <a:t>the </a:t>
            </a:r>
            <a:r>
              <a:rPr lang="fr-FR" dirty="0" err="1"/>
              <a:t>average</a:t>
            </a:r>
            <a:r>
              <a:rPr lang="fr-FR" dirty="0"/>
              <a:t> </a:t>
            </a:r>
            <a:r>
              <a:rPr lang="fr-FR" dirty="0" err="1"/>
              <a:t>number</a:t>
            </a:r>
            <a:r>
              <a:rPr lang="fr-FR" dirty="0"/>
              <a:t> of time dimension per </a:t>
            </a:r>
            <a:r>
              <a:rPr lang="fr-FR" dirty="0" err="1"/>
              <a:t>individual</a:t>
            </a:r>
            <a:r>
              <a:rPr lang="fr-FR" dirty="0"/>
              <a:t> NT/N.</a:t>
            </a:r>
            <a:endParaRPr lang="en-GB" dirty="0"/>
          </a:p>
        </p:txBody>
      </p:sp>
    </p:spTree>
    <p:extLst>
      <p:ext uri="{BB962C8B-B14F-4D97-AF65-F5344CB8AC3E}">
        <p14:creationId xmlns:p14="http://schemas.microsoft.com/office/powerpoint/2010/main" val="2560781289"/>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For T&lt;10 </a:t>
            </a:r>
            <a:r>
              <a:rPr lang="fr-FR" dirty="0" err="1"/>
              <a:t>only</a:t>
            </a:r>
            <a:r>
              <a:rPr lang="fr-FR" dirty="0"/>
              <a:t>, GMM first </a:t>
            </a:r>
            <a:r>
              <a:rPr lang="fr-FR" dirty="0" err="1"/>
              <a:t>differences</a:t>
            </a:r>
            <a:r>
              <a:rPr lang="fr-FR" dirty="0"/>
              <a:t> and GMM system</a:t>
            </a:r>
            <a:endParaRPr lang="en-GB" dirty="0"/>
          </a:p>
        </p:txBody>
      </p:sp>
      <p:sp>
        <p:nvSpPr>
          <p:cNvPr id="3" name="Espace réservé du contenu 2"/>
          <p:cNvSpPr>
            <a:spLocks noGrp="1"/>
          </p:cNvSpPr>
          <p:nvPr>
            <p:ph idx="1"/>
          </p:nvPr>
        </p:nvSpPr>
        <p:spPr/>
        <p:txBody>
          <a:bodyPr>
            <a:normAutofit lnSpcReduction="10000"/>
          </a:bodyPr>
          <a:lstStyle/>
          <a:p>
            <a:pPr marL="0" indent="0">
              <a:buNone/>
            </a:pPr>
            <a:r>
              <a:rPr lang="fr-FR" sz="2800" dirty="0"/>
              <a:t>GMM FD panel uses all </a:t>
            </a:r>
            <a:r>
              <a:rPr lang="fr-FR" sz="2800" dirty="0" err="1"/>
              <a:t>available</a:t>
            </a:r>
            <a:r>
              <a:rPr lang="fr-FR" sz="2800" dirty="0"/>
              <a:t> </a:t>
            </a:r>
            <a:r>
              <a:rPr lang="fr-FR" sz="2800" dirty="0" err="1"/>
              <a:t>lags</a:t>
            </a:r>
            <a:r>
              <a:rPr lang="fr-FR" sz="2800" dirty="0"/>
              <a:t> in LEVELS:</a:t>
            </a:r>
          </a:p>
          <a:p>
            <a:pPr marL="0" indent="0">
              <a:buNone/>
            </a:pPr>
            <a:r>
              <a:rPr lang="fr-FR" sz="2800" dirty="0" err="1"/>
              <a:t>Period</a:t>
            </a:r>
            <a:r>
              <a:rPr lang="fr-FR" sz="2800" dirty="0"/>
              <a:t> 10 (last): lag2 to </a:t>
            </a:r>
            <a:r>
              <a:rPr lang="fr-FR" sz="2800" dirty="0" err="1"/>
              <a:t>lag</a:t>
            </a:r>
            <a:r>
              <a:rPr lang="fr-FR" sz="2800" dirty="0"/>
              <a:t> 10 (8 instruments)</a:t>
            </a:r>
          </a:p>
          <a:p>
            <a:pPr marL="0" indent="0">
              <a:buNone/>
            </a:pPr>
            <a:r>
              <a:rPr lang="fr-FR" sz="2800" dirty="0" err="1"/>
              <a:t>Period</a:t>
            </a:r>
            <a:r>
              <a:rPr lang="fr-FR" sz="2800" dirty="0"/>
              <a:t> 9: lag2 to lag9 (7 instrument for 1 variable)</a:t>
            </a:r>
          </a:p>
          <a:p>
            <a:pPr marL="0" indent="0">
              <a:buNone/>
            </a:pPr>
            <a:r>
              <a:rPr lang="fr-FR" sz="2800" dirty="0" err="1"/>
              <a:t>Period</a:t>
            </a:r>
            <a:r>
              <a:rPr lang="fr-FR" sz="2800" dirty="0"/>
              <a:t> 8: lag2 to lag8 (6 instruments for 1 variable)</a:t>
            </a:r>
          </a:p>
          <a:p>
            <a:pPr marL="0" indent="0">
              <a:buNone/>
            </a:pPr>
            <a:r>
              <a:rPr lang="fr-FR" sz="2800" dirty="0"/>
              <a:t>Total: 36 instruments times K variables.</a:t>
            </a:r>
          </a:p>
          <a:p>
            <a:pPr marL="0" indent="0" algn="just">
              <a:buNone/>
            </a:pPr>
            <a:r>
              <a:rPr lang="fr-FR" sz="2800" dirty="0"/>
              <a:t>It uses </a:t>
            </a:r>
            <a:r>
              <a:rPr lang="fr-FR" sz="2800" b="1" dirty="0" err="1"/>
              <a:t>too</a:t>
            </a:r>
            <a:r>
              <a:rPr lang="fr-FR" sz="2800" b="1" dirty="0"/>
              <a:t> </a:t>
            </a:r>
            <a:r>
              <a:rPr lang="fr-FR" sz="2800" b="1" dirty="0" err="1"/>
              <a:t>many</a:t>
            </a:r>
            <a:r>
              <a:rPr lang="fr-FR" sz="2800" b="1" dirty="0"/>
              <a:t> instruments</a:t>
            </a:r>
            <a:r>
              <a:rPr lang="fr-FR" sz="2800" dirty="0"/>
              <a:t> </a:t>
            </a:r>
            <a:r>
              <a:rPr lang="fr-FR" sz="2800" dirty="0" err="1"/>
              <a:t>which</a:t>
            </a:r>
            <a:r>
              <a:rPr lang="fr-FR" sz="2800" dirty="0"/>
              <a:t> are </a:t>
            </a:r>
            <a:r>
              <a:rPr lang="fr-FR" sz="2800" dirty="0" err="1"/>
              <a:t>highly</a:t>
            </a:r>
            <a:r>
              <a:rPr lang="fr-FR" sz="2800" dirty="0"/>
              <a:t> </a:t>
            </a:r>
            <a:r>
              <a:rPr lang="fr-FR" sz="2800" dirty="0" err="1"/>
              <a:t>correlated</a:t>
            </a:r>
            <a:r>
              <a:rPr lang="fr-FR" sz="2800" dirty="0"/>
              <a:t> </a:t>
            </a:r>
            <a:r>
              <a:rPr lang="fr-FR" sz="2800" dirty="0" err="1"/>
              <a:t>together</a:t>
            </a:r>
            <a:r>
              <a:rPr lang="fr-FR" sz="2800" dirty="0"/>
              <a:t> and </a:t>
            </a:r>
            <a:r>
              <a:rPr lang="fr-FR" sz="2800" dirty="0" err="1"/>
              <a:t>with</a:t>
            </a:r>
            <a:r>
              <a:rPr lang="fr-FR" sz="2800" dirty="0"/>
              <a:t> a </a:t>
            </a:r>
            <a:r>
              <a:rPr lang="fr-FR" sz="2800" dirty="0" err="1"/>
              <a:t>weak</a:t>
            </a:r>
            <a:r>
              <a:rPr lang="fr-FR" sz="2800" dirty="0"/>
              <a:t> </a:t>
            </a:r>
            <a:r>
              <a:rPr lang="fr-FR" sz="2800" dirty="0" err="1"/>
              <a:t>correlation</a:t>
            </a:r>
            <a:r>
              <a:rPr lang="fr-FR" sz="2800" dirty="0"/>
              <a:t> </a:t>
            </a:r>
            <a:r>
              <a:rPr lang="fr-FR" sz="2800" dirty="0" err="1"/>
              <a:t>with</a:t>
            </a:r>
            <a:r>
              <a:rPr lang="fr-FR" sz="2800" dirty="0"/>
              <a:t> the variables to </a:t>
            </a:r>
            <a:r>
              <a:rPr lang="fr-FR" sz="2800" dirty="0" err="1"/>
              <a:t>be</a:t>
            </a:r>
            <a:r>
              <a:rPr lang="fr-FR" sz="2800" dirty="0"/>
              <a:t> </a:t>
            </a:r>
            <a:r>
              <a:rPr lang="fr-FR" sz="2800" dirty="0" err="1"/>
              <a:t>instrumented</a:t>
            </a:r>
            <a:r>
              <a:rPr lang="fr-FR" sz="2800" dirty="0"/>
              <a:t>.</a:t>
            </a:r>
          </a:p>
          <a:p>
            <a:pPr marL="0" indent="0" algn="just">
              <a:buNone/>
            </a:pPr>
            <a:r>
              <a:rPr lang="fr-FR" sz="2800" dirty="0"/>
              <a:t>No first stage </a:t>
            </a:r>
            <a:r>
              <a:rPr lang="fr-FR" sz="2800" dirty="0" err="1"/>
              <a:t>regression</a:t>
            </a:r>
            <a:r>
              <a:rPr lang="fr-FR" sz="2800" dirty="0"/>
              <a:t> </a:t>
            </a:r>
            <a:r>
              <a:rPr lang="fr-FR" sz="2800" dirty="0" err="1"/>
              <a:t>is</a:t>
            </a:r>
            <a:r>
              <a:rPr lang="fr-FR" sz="2800" dirty="0"/>
              <a:t> </a:t>
            </a:r>
            <a:r>
              <a:rPr lang="fr-FR" sz="2800" dirty="0" err="1"/>
              <a:t>available</a:t>
            </a:r>
            <a:r>
              <a:rPr lang="fr-FR" sz="2800" dirty="0"/>
              <a:t> </a:t>
            </a:r>
            <a:r>
              <a:rPr lang="fr-FR" sz="2800" dirty="0" err="1"/>
              <a:t>from</a:t>
            </a:r>
            <a:r>
              <a:rPr lang="fr-FR" sz="2800" dirty="0"/>
              <a:t> the softwares to check for </a:t>
            </a:r>
            <a:r>
              <a:rPr lang="fr-FR" sz="2800" dirty="0" err="1"/>
              <a:t>weak</a:t>
            </a:r>
            <a:r>
              <a:rPr lang="fr-FR" sz="2800" dirty="0"/>
              <a:t> instruments.  </a:t>
            </a:r>
            <a:endParaRPr lang="en-GB" sz="2800" dirty="0"/>
          </a:p>
        </p:txBody>
      </p:sp>
    </p:spTree>
    <p:extLst>
      <p:ext uri="{BB962C8B-B14F-4D97-AF65-F5344CB8AC3E}">
        <p14:creationId xmlns:p14="http://schemas.microsoft.com/office/powerpoint/2010/main" val="1794937482"/>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Trade-off for </a:t>
            </a:r>
            <a:r>
              <a:rPr lang="fr-FR" dirty="0" err="1"/>
              <a:t>lags</a:t>
            </a:r>
            <a:r>
              <a:rPr lang="fr-FR" dirty="0"/>
              <a:t> as instrumental variables</a:t>
            </a:r>
            <a:endParaRPr lang="en-GB" dirty="0"/>
          </a:p>
        </p:txBody>
      </p:sp>
      <p:sp>
        <p:nvSpPr>
          <p:cNvPr id="3" name="Espace réservé du contenu 2"/>
          <p:cNvSpPr>
            <a:spLocks noGrp="1"/>
          </p:cNvSpPr>
          <p:nvPr>
            <p:ph idx="1"/>
          </p:nvPr>
        </p:nvSpPr>
        <p:spPr/>
        <p:txBody>
          <a:bodyPr>
            <a:normAutofit fontScale="92500"/>
          </a:bodyPr>
          <a:lstStyle/>
          <a:p>
            <a:pPr marL="0" indent="0" algn="just">
              <a:buNone/>
            </a:pPr>
            <a:r>
              <a:rPr lang="fr-FR" dirty="0"/>
              <a:t>The more </a:t>
            </a:r>
            <a:r>
              <a:rPr lang="fr-FR" dirty="0" err="1"/>
              <a:t>remote</a:t>
            </a:r>
            <a:r>
              <a:rPr lang="fr-FR" dirty="0"/>
              <a:t> the </a:t>
            </a:r>
            <a:r>
              <a:rPr lang="fr-FR" dirty="0" err="1"/>
              <a:t>lag</a:t>
            </a:r>
            <a:r>
              <a:rPr lang="fr-FR" dirty="0"/>
              <a:t>(t-</a:t>
            </a:r>
            <a:r>
              <a:rPr lang="fr-FR" b="1" dirty="0"/>
              <a:t>m</a:t>
            </a:r>
            <a:r>
              <a:rPr lang="fr-FR" dirty="0"/>
              <a:t>), the </a:t>
            </a:r>
            <a:r>
              <a:rPr lang="fr-FR" dirty="0" err="1"/>
              <a:t>less</a:t>
            </a:r>
            <a:r>
              <a:rPr lang="fr-FR" dirty="0"/>
              <a:t> </a:t>
            </a:r>
            <a:r>
              <a:rPr lang="fr-FR" dirty="0" err="1"/>
              <a:t>it</a:t>
            </a:r>
            <a:r>
              <a:rPr lang="fr-FR" dirty="0"/>
              <a:t> </a:t>
            </a:r>
            <a:r>
              <a:rPr lang="fr-FR" dirty="0" err="1"/>
              <a:t>is</a:t>
            </a:r>
            <a:r>
              <a:rPr lang="fr-FR" dirty="0"/>
              <a:t> </a:t>
            </a:r>
            <a:r>
              <a:rPr lang="fr-FR" dirty="0" err="1"/>
              <a:t>correlated</a:t>
            </a:r>
            <a:r>
              <a:rPr lang="fr-FR" dirty="0"/>
              <a:t> </a:t>
            </a:r>
            <a:r>
              <a:rPr lang="fr-FR" dirty="0" err="1"/>
              <a:t>with</a:t>
            </a:r>
            <a:r>
              <a:rPr lang="fr-FR" dirty="0"/>
              <a:t> </a:t>
            </a:r>
            <a:r>
              <a:rPr lang="fr-FR" dirty="0" err="1"/>
              <a:t>current</a:t>
            </a:r>
            <a:r>
              <a:rPr lang="fr-FR" dirty="0"/>
              <a:t> </a:t>
            </a:r>
            <a:r>
              <a:rPr lang="fr-FR" dirty="0" err="1"/>
              <a:t>disturbances</a:t>
            </a:r>
            <a:r>
              <a:rPr lang="fr-FR" dirty="0"/>
              <a:t> at date t: </a:t>
            </a:r>
            <a:r>
              <a:rPr lang="fr-FR" dirty="0" err="1"/>
              <a:t>it</a:t>
            </a:r>
            <a:r>
              <a:rPr lang="fr-FR" dirty="0"/>
              <a:t> </a:t>
            </a:r>
            <a:r>
              <a:rPr lang="fr-FR" dirty="0" err="1"/>
              <a:t>is</a:t>
            </a:r>
            <a:r>
              <a:rPr lang="fr-FR" dirty="0"/>
              <a:t> </a:t>
            </a:r>
            <a:r>
              <a:rPr lang="fr-FR" b="1" dirty="0"/>
              <a:t>« more » </a:t>
            </a:r>
            <a:r>
              <a:rPr lang="fr-FR" b="1" dirty="0" err="1"/>
              <a:t>exogenous</a:t>
            </a:r>
            <a:r>
              <a:rPr lang="fr-FR" b="1" dirty="0"/>
              <a:t>.</a:t>
            </a:r>
          </a:p>
          <a:p>
            <a:pPr marL="0" indent="0" algn="just">
              <a:buNone/>
            </a:pPr>
            <a:r>
              <a:rPr lang="fr-FR" dirty="0" err="1"/>
              <a:t>However</a:t>
            </a:r>
            <a:r>
              <a:rPr lang="fr-FR" dirty="0"/>
              <a:t>, </a:t>
            </a:r>
            <a:r>
              <a:rPr lang="fr-FR" dirty="0" err="1"/>
              <a:t>it</a:t>
            </a:r>
            <a:r>
              <a:rPr lang="fr-FR" dirty="0"/>
              <a:t> </a:t>
            </a:r>
            <a:r>
              <a:rPr lang="fr-FR" dirty="0" err="1"/>
              <a:t>is</a:t>
            </a:r>
            <a:r>
              <a:rPr lang="fr-FR" dirty="0"/>
              <a:t> </a:t>
            </a:r>
            <a:r>
              <a:rPr lang="fr-FR" dirty="0" err="1"/>
              <a:t>less</a:t>
            </a:r>
            <a:r>
              <a:rPr lang="fr-FR" dirty="0"/>
              <a:t> </a:t>
            </a:r>
            <a:r>
              <a:rPr lang="fr-FR" dirty="0" err="1"/>
              <a:t>correlated</a:t>
            </a:r>
            <a:r>
              <a:rPr lang="fr-FR" dirty="0"/>
              <a:t> to the </a:t>
            </a:r>
            <a:r>
              <a:rPr lang="fr-FR" dirty="0" err="1"/>
              <a:t>explanatory</a:t>
            </a:r>
            <a:r>
              <a:rPr lang="fr-FR" dirty="0"/>
              <a:t> variable x(t) to </a:t>
            </a:r>
            <a:r>
              <a:rPr lang="fr-FR" dirty="0" err="1"/>
              <a:t>be</a:t>
            </a:r>
            <a:r>
              <a:rPr lang="fr-FR" dirty="0"/>
              <a:t> </a:t>
            </a:r>
            <a:r>
              <a:rPr lang="fr-FR" dirty="0" err="1"/>
              <a:t>instrumented</a:t>
            </a:r>
            <a:r>
              <a:rPr lang="fr-FR" dirty="0"/>
              <a:t>: </a:t>
            </a:r>
            <a:r>
              <a:rPr lang="fr-FR" dirty="0" err="1"/>
              <a:t>it</a:t>
            </a:r>
            <a:r>
              <a:rPr lang="fr-FR" dirty="0"/>
              <a:t> </a:t>
            </a:r>
            <a:r>
              <a:rPr lang="fr-FR" dirty="0" err="1"/>
              <a:t>is</a:t>
            </a:r>
            <a:r>
              <a:rPr lang="fr-FR" dirty="0"/>
              <a:t> </a:t>
            </a:r>
            <a:r>
              <a:rPr lang="fr-FR" b="1" dirty="0"/>
              <a:t>« </a:t>
            </a:r>
            <a:r>
              <a:rPr lang="fr-FR" b="1" dirty="0" err="1"/>
              <a:t>weaker</a:t>
            </a:r>
            <a:r>
              <a:rPr lang="fr-FR" b="1" dirty="0"/>
              <a:t> ».</a:t>
            </a:r>
          </a:p>
          <a:p>
            <a:pPr marL="0" indent="0" algn="just">
              <a:buNone/>
            </a:pPr>
            <a:r>
              <a:rPr lang="fr-FR" dirty="0"/>
              <a:t>And if all the </a:t>
            </a:r>
            <a:r>
              <a:rPr lang="fr-FR" dirty="0" err="1"/>
              <a:t>other</a:t>
            </a:r>
            <a:r>
              <a:rPr lang="fr-FR" dirty="0"/>
              <a:t> </a:t>
            </a:r>
            <a:r>
              <a:rPr lang="fr-FR" dirty="0" err="1"/>
              <a:t>earlier</a:t>
            </a:r>
            <a:r>
              <a:rPr lang="fr-FR" dirty="0"/>
              <a:t> </a:t>
            </a:r>
            <a:r>
              <a:rPr lang="fr-FR" dirty="0" err="1"/>
              <a:t>lags</a:t>
            </a:r>
            <a:r>
              <a:rPr lang="fr-FR" dirty="0"/>
              <a:t> are </a:t>
            </a:r>
            <a:r>
              <a:rPr lang="fr-FR" dirty="0" err="1"/>
              <a:t>also</a:t>
            </a:r>
            <a:r>
              <a:rPr lang="fr-FR" dirty="0"/>
              <a:t> </a:t>
            </a:r>
            <a:r>
              <a:rPr lang="fr-FR" dirty="0" err="1"/>
              <a:t>used</a:t>
            </a:r>
            <a:r>
              <a:rPr lang="fr-FR" dirty="0"/>
              <a:t>, </a:t>
            </a:r>
            <a:r>
              <a:rPr lang="fr-FR" dirty="0" err="1"/>
              <a:t>its</a:t>
            </a:r>
            <a:r>
              <a:rPr lang="fr-FR" dirty="0"/>
              <a:t> partial </a:t>
            </a:r>
            <a:r>
              <a:rPr lang="fr-FR" dirty="0" err="1"/>
              <a:t>correlation</a:t>
            </a:r>
            <a:r>
              <a:rPr lang="fr-FR" dirty="0"/>
              <a:t> contribution to the </a:t>
            </a:r>
            <a:r>
              <a:rPr lang="fr-FR" dirty="0" err="1"/>
              <a:t>explanatory</a:t>
            </a:r>
            <a:r>
              <a:rPr lang="fr-FR" dirty="0"/>
              <a:t> variable </a:t>
            </a:r>
            <a:r>
              <a:rPr lang="fr-FR" dirty="0" err="1"/>
              <a:t>is</a:t>
            </a:r>
            <a:r>
              <a:rPr lang="fr-FR" dirty="0"/>
              <a:t> </a:t>
            </a:r>
            <a:r>
              <a:rPr lang="fr-FR" dirty="0" err="1"/>
              <a:t>even</a:t>
            </a:r>
            <a:r>
              <a:rPr lang="fr-FR" dirty="0"/>
              <a:t> </a:t>
            </a:r>
            <a:r>
              <a:rPr lang="fr-FR" dirty="0" err="1"/>
              <a:t>smaller</a:t>
            </a:r>
            <a:r>
              <a:rPr lang="fr-FR" dirty="0"/>
              <a:t> (</a:t>
            </a:r>
            <a:r>
              <a:rPr lang="fr-FR" dirty="0" err="1"/>
              <a:t>weaker</a:t>
            </a:r>
            <a:r>
              <a:rPr lang="fr-FR" dirty="0"/>
              <a:t>) </a:t>
            </a:r>
            <a:r>
              <a:rPr lang="fr-FR" dirty="0" err="1"/>
              <a:t>than</a:t>
            </a:r>
            <a:r>
              <a:rPr lang="fr-FR" dirty="0"/>
              <a:t> </a:t>
            </a:r>
            <a:r>
              <a:rPr lang="fr-FR" dirty="0" err="1"/>
              <a:t>used</a:t>
            </a:r>
            <a:r>
              <a:rPr lang="fr-FR" dirty="0"/>
              <a:t> </a:t>
            </a:r>
            <a:r>
              <a:rPr lang="fr-FR" dirty="0" err="1"/>
              <a:t>alone</a:t>
            </a:r>
            <a:r>
              <a:rPr lang="fr-FR" dirty="0"/>
              <a:t>. </a:t>
            </a:r>
            <a:endParaRPr lang="en-GB" dirty="0"/>
          </a:p>
        </p:txBody>
      </p:sp>
    </p:spTree>
    <p:extLst>
      <p:ext uri="{BB962C8B-B14F-4D97-AF65-F5344CB8AC3E}">
        <p14:creationId xmlns:p14="http://schemas.microsoft.com/office/powerpoint/2010/main" val="3278051754"/>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Arrelano</a:t>
            </a:r>
            <a:r>
              <a:rPr lang="fr-FR" dirty="0"/>
              <a:t> Bond (1989) GMM first </a:t>
            </a:r>
            <a:r>
              <a:rPr lang="fr-FR" dirty="0" err="1"/>
              <a:t>differences</a:t>
            </a:r>
            <a:endParaRPr lang="en-GB" dirty="0"/>
          </a:p>
        </p:txBody>
      </p:sp>
      <p:sp>
        <p:nvSpPr>
          <p:cNvPr id="3" name="Espace réservé du contenu 2"/>
          <p:cNvSpPr>
            <a:spLocks noGrp="1"/>
          </p:cNvSpPr>
          <p:nvPr>
            <p:ph idx="1"/>
          </p:nvPr>
        </p:nvSpPr>
        <p:spPr/>
        <p:txBody>
          <a:bodyPr>
            <a:normAutofit fontScale="85000" lnSpcReduction="10000"/>
          </a:bodyPr>
          <a:lstStyle/>
          <a:p>
            <a:pPr marL="0" indent="0">
              <a:buNone/>
            </a:pPr>
            <a:r>
              <a:rPr lang="fr-FR" dirty="0" err="1"/>
              <a:t>Their</a:t>
            </a:r>
            <a:r>
              <a:rPr lang="fr-FR" dirty="0"/>
              <a:t> </a:t>
            </a:r>
            <a:r>
              <a:rPr lang="fr-FR" dirty="0" err="1"/>
              <a:t>idea</a:t>
            </a:r>
            <a:r>
              <a:rPr lang="fr-FR" dirty="0"/>
              <a:t> </a:t>
            </a:r>
            <a:r>
              <a:rPr lang="fr-FR" dirty="0" err="1"/>
              <a:t>was</a:t>
            </a:r>
            <a:r>
              <a:rPr lang="fr-FR" dirty="0"/>
              <a:t> to </a:t>
            </a:r>
            <a:r>
              <a:rPr lang="fr-FR" dirty="0" err="1"/>
              <a:t>improve</a:t>
            </a:r>
            <a:r>
              <a:rPr lang="fr-FR" dirty="0"/>
              <a:t> the </a:t>
            </a:r>
            <a:r>
              <a:rPr lang="fr-FR" dirty="0" err="1"/>
              <a:t>efficiency</a:t>
            </a:r>
            <a:r>
              <a:rPr lang="fr-FR" dirty="0"/>
              <a:t> of Anderson </a:t>
            </a:r>
            <a:r>
              <a:rPr lang="fr-FR" dirty="0" err="1"/>
              <a:t>Hsiao</a:t>
            </a:r>
            <a:r>
              <a:rPr lang="fr-FR" dirty="0"/>
              <a:t> (1981) </a:t>
            </a:r>
            <a:r>
              <a:rPr lang="fr-FR" dirty="0" err="1"/>
              <a:t>using</a:t>
            </a:r>
            <a:r>
              <a:rPr lang="fr-FR" dirty="0"/>
              <a:t> ALL </a:t>
            </a:r>
            <a:r>
              <a:rPr lang="fr-FR" dirty="0" err="1"/>
              <a:t>available</a:t>
            </a:r>
            <a:r>
              <a:rPr lang="fr-FR" dirty="0"/>
              <a:t> </a:t>
            </a:r>
            <a:r>
              <a:rPr lang="fr-FR" dirty="0" err="1"/>
              <a:t>lags</a:t>
            </a:r>
            <a:r>
              <a:rPr lang="fr-FR" dirty="0"/>
              <a:t>.</a:t>
            </a:r>
          </a:p>
          <a:p>
            <a:pPr marL="0" indent="0">
              <a:buNone/>
            </a:pPr>
            <a:r>
              <a:rPr lang="fr-FR" b="1" dirty="0"/>
              <a:t>In 1989, </a:t>
            </a:r>
            <a:r>
              <a:rPr lang="fr-FR" b="1" dirty="0" err="1"/>
              <a:t>they</a:t>
            </a:r>
            <a:r>
              <a:rPr lang="fr-FR" b="1" dirty="0"/>
              <a:t> </a:t>
            </a:r>
            <a:r>
              <a:rPr lang="fr-FR" b="1" dirty="0" err="1"/>
              <a:t>focused</a:t>
            </a:r>
            <a:r>
              <a:rPr lang="fr-FR" b="1" dirty="0"/>
              <a:t> </a:t>
            </a:r>
            <a:r>
              <a:rPr lang="fr-FR" b="1" dirty="0" err="1"/>
              <a:t>only</a:t>
            </a:r>
            <a:r>
              <a:rPr lang="fr-FR" b="1" dirty="0"/>
              <a:t> on </a:t>
            </a:r>
            <a:r>
              <a:rPr lang="fr-FR" b="1" dirty="0" err="1"/>
              <a:t>exogeneity</a:t>
            </a:r>
            <a:r>
              <a:rPr lang="fr-FR" b="1" dirty="0"/>
              <a:t> </a:t>
            </a:r>
            <a:r>
              <a:rPr lang="fr-FR" b="1" dirty="0" err="1"/>
              <a:t>pre-test</a:t>
            </a:r>
            <a:r>
              <a:rPr lang="fr-FR" b="1" dirty="0"/>
              <a:t> </a:t>
            </a:r>
            <a:r>
              <a:rPr lang="fr-FR" b="1" dirty="0" err="1"/>
              <a:t>using</a:t>
            </a:r>
            <a:r>
              <a:rPr lang="fr-FR" b="1" dirty="0"/>
              <a:t> </a:t>
            </a:r>
            <a:r>
              <a:rPr lang="fr-FR" b="1" dirty="0" err="1"/>
              <a:t>Sargan</a:t>
            </a:r>
            <a:r>
              <a:rPr lang="fr-FR" b="1" dirty="0"/>
              <a:t> test= over-</a:t>
            </a:r>
            <a:r>
              <a:rPr lang="fr-FR" b="1" dirty="0" err="1"/>
              <a:t>identifying</a:t>
            </a:r>
            <a:r>
              <a:rPr lang="fr-FR" b="1" dirty="0"/>
              <a:t> restriction test = J-test. </a:t>
            </a:r>
            <a:r>
              <a:rPr lang="fr-FR" b="1" dirty="0" err="1"/>
              <a:t>Then</a:t>
            </a:r>
            <a:r>
              <a:rPr lang="fr-FR" b="1" dirty="0"/>
              <a:t> </a:t>
            </a:r>
            <a:r>
              <a:rPr lang="fr-FR" b="1" dirty="0" err="1"/>
              <a:t>remote</a:t>
            </a:r>
            <a:r>
              <a:rPr lang="fr-FR" b="1" dirty="0"/>
              <a:t> </a:t>
            </a:r>
            <a:r>
              <a:rPr lang="fr-FR" b="1" dirty="0" err="1"/>
              <a:t>lags</a:t>
            </a:r>
            <a:r>
              <a:rPr lang="fr-FR" b="1" dirty="0"/>
              <a:t> </a:t>
            </a:r>
            <a:r>
              <a:rPr lang="fr-FR" b="1" dirty="0" err="1"/>
              <a:t>always</a:t>
            </a:r>
            <a:r>
              <a:rPr lang="fr-FR" b="1" dirty="0"/>
              <a:t> </a:t>
            </a:r>
            <a:r>
              <a:rPr lang="fr-FR" b="1" dirty="0" err="1"/>
              <a:t>improved</a:t>
            </a:r>
            <a:r>
              <a:rPr lang="fr-FR" b="1" dirty="0"/>
              <a:t> the </a:t>
            </a:r>
            <a:r>
              <a:rPr lang="fr-FR" b="1" dirty="0" err="1"/>
              <a:t>exogeneity</a:t>
            </a:r>
            <a:r>
              <a:rPr lang="fr-FR" b="1" dirty="0"/>
              <a:t> tests of the set of instruments.</a:t>
            </a:r>
          </a:p>
          <a:p>
            <a:pPr marL="0" indent="0">
              <a:buNone/>
            </a:pPr>
            <a:r>
              <a:rPr lang="fr-FR" dirty="0" err="1"/>
              <a:t>Around</a:t>
            </a:r>
            <a:r>
              <a:rPr lang="fr-FR" dirty="0"/>
              <a:t> 2000, the </a:t>
            </a:r>
            <a:r>
              <a:rPr lang="fr-FR" dirty="0" err="1"/>
              <a:t>literature</a:t>
            </a:r>
            <a:r>
              <a:rPr lang="fr-FR" dirty="0"/>
              <a:t> </a:t>
            </a:r>
            <a:r>
              <a:rPr lang="fr-FR" dirty="0" err="1"/>
              <a:t>woke</a:t>
            </a:r>
            <a:r>
              <a:rPr lang="fr-FR" dirty="0"/>
              <a:t> up </a:t>
            </a:r>
            <a:r>
              <a:rPr lang="fr-FR" dirty="0" err="1"/>
              <a:t>again</a:t>
            </a:r>
            <a:r>
              <a:rPr lang="fr-FR" dirty="0"/>
              <a:t> </a:t>
            </a:r>
            <a:r>
              <a:rPr lang="fr-FR" dirty="0" err="1"/>
              <a:t>with</a:t>
            </a:r>
            <a:r>
              <a:rPr lang="fr-FR" dirty="0"/>
              <a:t> </a:t>
            </a:r>
            <a:r>
              <a:rPr lang="fr-FR" dirty="0" err="1"/>
              <a:t>weak</a:t>
            </a:r>
            <a:r>
              <a:rPr lang="fr-FR" dirty="0"/>
              <a:t> instrument tests (not </a:t>
            </a:r>
            <a:r>
              <a:rPr lang="fr-FR" dirty="0" err="1"/>
              <a:t>only</a:t>
            </a:r>
            <a:r>
              <a:rPr lang="fr-FR" dirty="0"/>
              <a:t> for panel data), </a:t>
            </a:r>
            <a:r>
              <a:rPr lang="fr-FR" dirty="0" err="1"/>
              <a:t>including</a:t>
            </a:r>
            <a:r>
              <a:rPr lang="fr-FR" dirty="0"/>
              <a:t> </a:t>
            </a:r>
            <a:r>
              <a:rPr lang="fr-FR" dirty="0" err="1"/>
              <a:t>Kleinberger</a:t>
            </a:r>
            <a:r>
              <a:rPr lang="fr-FR" dirty="0"/>
              <a:t> Paap test, Stock-</a:t>
            </a:r>
            <a:r>
              <a:rPr lang="fr-FR" dirty="0" err="1"/>
              <a:t>Yogo</a:t>
            </a:r>
            <a:r>
              <a:rPr lang="fr-FR" dirty="0"/>
              <a:t> test: </a:t>
            </a:r>
            <a:r>
              <a:rPr lang="fr-FR" dirty="0" err="1"/>
              <a:t>this</a:t>
            </a:r>
            <a:r>
              <a:rPr lang="fr-FR" dirty="0"/>
              <a:t> </a:t>
            </a:r>
            <a:r>
              <a:rPr lang="fr-FR" dirty="0" err="1"/>
              <a:t>paved</a:t>
            </a:r>
            <a:r>
              <a:rPr lang="fr-FR" dirty="0"/>
              <a:t> the </a:t>
            </a:r>
            <a:r>
              <a:rPr lang="fr-FR" dirty="0" err="1"/>
              <a:t>way</a:t>
            </a:r>
            <a:r>
              <a:rPr lang="fr-FR" dirty="0"/>
              <a:t> to destroy </a:t>
            </a:r>
            <a:r>
              <a:rPr lang="fr-FR" dirty="0" err="1"/>
              <a:t>slowly</a:t>
            </a:r>
            <a:r>
              <a:rPr lang="fr-FR" dirty="0"/>
              <a:t> the </a:t>
            </a:r>
            <a:r>
              <a:rPr lang="fr-FR" dirty="0" err="1"/>
              <a:t>credibility</a:t>
            </a:r>
            <a:r>
              <a:rPr lang="fr-FR" dirty="0"/>
              <a:t> of GMM FD.</a:t>
            </a:r>
          </a:p>
          <a:p>
            <a:pPr marL="0" indent="0">
              <a:buNone/>
            </a:pPr>
            <a:endParaRPr lang="en-GB" dirty="0"/>
          </a:p>
        </p:txBody>
      </p:sp>
    </p:spTree>
    <p:extLst>
      <p:ext uri="{BB962C8B-B14F-4D97-AF65-F5344CB8AC3E}">
        <p14:creationId xmlns:p14="http://schemas.microsoft.com/office/powerpoint/2010/main" val="2606225388"/>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latin typeface="Times New Roman" panose="02020603050405020304" pitchFamily="18" charset="0"/>
                <a:cs typeface="Times New Roman" panose="02020603050405020304" pitchFamily="18" charset="0"/>
              </a:rPr>
              <a:t>You </a:t>
            </a:r>
            <a:r>
              <a:rPr lang="fr-FR" sz="3600" dirty="0" err="1">
                <a:latin typeface="Times New Roman" panose="02020603050405020304" pitchFamily="18" charset="0"/>
                <a:cs typeface="Times New Roman" panose="02020603050405020304" pitchFamily="18" charset="0"/>
              </a:rPr>
              <a:t>may</a:t>
            </a:r>
            <a:r>
              <a:rPr lang="fr-FR" sz="3600" dirty="0">
                <a:latin typeface="Times New Roman" panose="02020603050405020304" pitchFamily="18" charset="0"/>
                <a:cs typeface="Times New Roman" panose="02020603050405020304" pitchFamily="18" charset="0"/>
              </a:rPr>
              <a:t> </a:t>
            </a:r>
            <a:r>
              <a:rPr lang="fr-FR" sz="3600" dirty="0" err="1">
                <a:latin typeface="Times New Roman" panose="02020603050405020304" pitchFamily="18" charset="0"/>
                <a:cs typeface="Times New Roman" panose="02020603050405020304" pitchFamily="18" charset="0"/>
              </a:rPr>
              <a:t>be</a:t>
            </a:r>
            <a:r>
              <a:rPr lang="fr-FR" sz="3600" dirty="0">
                <a:latin typeface="Times New Roman" panose="02020603050405020304" pitchFamily="18" charset="0"/>
                <a:cs typeface="Times New Roman" panose="02020603050405020304" pitchFamily="18" charset="0"/>
              </a:rPr>
              <a:t> happy </a:t>
            </a:r>
            <a:r>
              <a:rPr lang="fr-FR" sz="3600" dirty="0" err="1">
                <a:latin typeface="Times New Roman" panose="02020603050405020304" pitchFamily="18" charset="0"/>
                <a:cs typeface="Times New Roman" panose="02020603050405020304" pitchFamily="18" charset="0"/>
              </a:rPr>
              <a:t>when</a:t>
            </a:r>
            <a:r>
              <a:rPr lang="fr-FR" sz="3600" dirty="0">
                <a:latin typeface="Times New Roman" panose="02020603050405020304" pitchFamily="18" charset="0"/>
                <a:cs typeface="Times New Roman" panose="02020603050405020304" pitchFamily="18" charset="0"/>
              </a:rPr>
              <a:t> </a:t>
            </a:r>
            <a:r>
              <a:rPr lang="fr-FR" sz="3600" dirty="0" err="1">
                <a:latin typeface="Times New Roman" panose="02020603050405020304" pitchFamily="18" charset="0"/>
                <a:cs typeface="Times New Roman" panose="02020603050405020304" pitchFamily="18" charset="0"/>
              </a:rPr>
              <a:t>rejecting</a:t>
            </a:r>
            <a:r>
              <a:rPr lang="fr-FR" sz="3600" dirty="0">
                <a:latin typeface="Times New Roman" panose="02020603050405020304" pitchFamily="18" charset="0"/>
                <a:cs typeface="Times New Roman" panose="02020603050405020304" pitchFamily="18" charset="0"/>
              </a:rPr>
              <a:t> the </a:t>
            </a:r>
            <a:r>
              <a:rPr lang="fr-FR" sz="3600" dirty="0" err="1">
                <a:latin typeface="Times New Roman" panose="02020603050405020304" pitchFamily="18" charset="0"/>
                <a:cs typeface="Times New Roman" panose="02020603050405020304" pitchFamily="18" charset="0"/>
              </a:rPr>
              <a:t>null</a:t>
            </a:r>
            <a:r>
              <a:rPr lang="fr-FR" sz="3600" dirty="0">
                <a:latin typeface="Times New Roman" panose="02020603050405020304" pitchFamily="18" charset="0"/>
                <a:cs typeface="Times New Roman" panose="02020603050405020304" pitchFamily="18" charset="0"/>
              </a:rPr>
              <a:t> or </a:t>
            </a:r>
            <a:r>
              <a:rPr lang="fr-FR" sz="3600" b="1" dirty="0" err="1">
                <a:latin typeface="Times New Roman" panose="02020603050405020304" pitchFamily="18" charset="0"/>
                <a:cs typeface="Times New Roman" panose="02020603050405020304" pitchFamily="18" charset="0"/>
              </a:rPr>
              <a:t>sometimes</a:t>
            </a:r>
            <a:r>
              <a:rPr lang="fr-FR" sz="3600" dirty="0">
                <a:latin typeface="Times New Roman" panose="02020603050405020304" pitchFamily="18" charset="0"/>
                <a:cs typeface="Times New Roman" panose="02020603050405020304" pitchFamily="18" charset="0"/>
              </a:rPr>
              <a:t> </a:t>
            </a:r>
            <a:r>
              <a:rPr lang="fr-FR" sz="3600" dirty="0" err="1">
                <a:latin typeface="Times New Roman" panose="02020603050405020304" pitchFamily="18" charset="0"/>
                <a:cs typeface="Times New Roman" panose="02020603050405020304" pitchFamily="18" charset="0"/>
              </a:rPr>
              <a:t>when</a:t>
            </a:r>
            <a:r>
              <a:rPr lang="fr-FR" sz="3600" dirty="0">
                <a:latin typeface="Times New Roman" panose="02020603050405020304" pitchFamily="18" charset="0"/>
                <a:cs typeface="Times New Roman" panose="02020603050405020304" pitchFamily="18" charset="0"/>
              </a:rPr>
              <a:t> not </a:t>
            </a:r>
            <a:r>
              <a:rPr lang="fr-FR" sz="3600" dirty="0" err="1">
                <a:latin typeface="Times New Roman" panose="02020603050405020304" pitchFamily="18" charset="0"/>
                <a:cs typeface="Times New Roman" panose="02020603050405020304" pitchFamily="18" charset="0"/>
              </a:rPr>
              <a:t>rejecting</a:t>
            </a:r>
            <a:r>
              <a:rPr lang="fr-FR" sz="3600" dirty="0">
                <a:latin typeface="Times New Roman" panose="02020603050405020304" pitchFamily="18" charset="0"/>
                <a:cs typeface="Times New Roman" panose="02020603050405020304" pitchFamily="18" charset="0"/>
              </a:rPr>
              <a:t> the </a:t>
            </a:r>
            <a:r>
              <a:rPr lang="fr-FR" sz="3600" dirty="0" err="1">
                <a:latin typeface="Times New Roman" panose="02020603050405020304" pitchFamily="18" charset="0"/>
                <a:cs typeface="Times New Roman" panose="02020603050405020304" pitchFamily="18" charset="0"/>
              </a:rPr>
              <a:t>null</a:t>
            </a:r>
            <a:r>
              <a:rPr lang="fr-FR" sz="3600" dirty="0">
                <a:latin typeface="Times New Roman" panose="02020603050405020304" pitchFamily="18" charset="0"/>
                <a:cs typeface="Times New Roman" panose="02020603050405020304" pitchFamily="18" charset="0"/>
              </a:rPr>
              <a:t>.</a:t>
            </a:r>
            <a:endParaRPr lang="en-GB" sz="3600"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p:txBody>
          <a:bodyPr/>
          <a:lstStyle/>
          <a:p>
            <a:pPr marL="0" indent="0" algn="just">
              <a:buNone/>
            </a:pPr>
            <a:r>
              <a:rPr lang="fr-FR" sz="2600" dirty="0" err="1"/>
              <a:t>When</a:t>
            </a:r>
            <a:r>
              <a:rPr lang="fr-FR" sz="2600" dirty="0"/>
              <a:t> </a:t>
            </a:r>
            <a:r>
              <a:rPr lang="fr-FR" sz="2600" dirty="0" err="1"/>
              <a:t>having</a:t>
            </a:r>
            <a:r>
              <a:rPr lang="fr-FR" sz="2600" dirty="0"/>
              <a:t> to </a:t>
            </a:r>
            <a:r>
              <a:rPr lang="fr-FR" sz="2600" dirty="0" err="1"/>
              <a:t>apply</a:t>
            </a:r>
            <a:r>
              <a:rPr lang="fr-FR" sz="2600" dirty="0"/>
              <a:t> a new test, check </a:t>
            </a:r>
            <a:r>
              <a:rPr lang="fr-FR" sz="2600" dirty="0" err="1"/>
              <a:t>what</a:t>
            </a:r>
            <a:r>
              <a:rPr lang="fr-FR" sz="2600" dirty="0"/>
              <a:t> </a:t>
            </a:r>
            <a:r>
              <a:rPr lang="fr-FR" sz="2600" dirty="0" err="1"/>
              <a:t>is</a:t>
            </a:r>
            <a:r>
              <a:rPr lang="fr-FR" sz="2600" dirty="0"/>
              <a:t> the </a:t>
            </a:r>
            <a:r>
              <a:rPr lang="fr-FR" sz="2600" dirty="0" err="1"/>
              <a:t>null</a:t>
            </a:r>
            <a:r>
              <a:rPr lang="fr-FR" sz="2600" dirty="0"/>
              <a:t> </a:t>
            </a:r>
            <a:r>
              <a:rPr lang="fr-FR" sz="2600" dirty="0" err="1"/>
              <a:t>hypothesis</a:t>
            </a:r>
            <a:r>
              <a:rPr lang="fr-FR" sz="2600" dirty="0"/>
              <a:t> and check </a:t>
            </a:r>
            <a:r>
              <a:rPr lang="fr-FR" sz="2600" dirty="0" err="1"/>
              <a:t>what</a:t>
            </a:r>
            <a:r>
              <a:rPr lang="fr-FR" sz="2600" dirty="0"/>
              <a:t> </a:t>
            </a:r>
            <a:r>
              <a:rPr lang="fr-FR" sz="2600" dirty="0" err="1"/>
              <a:t>is</a:t>
            </a:r>
            <a:r>
              <a:rPr lang="fr-FR" sz="2600" dirty="0"/>
              <a:t> the </a:t>
            </a:r>
            <a:r>
              <a:rPr lang="fr-FR" sz="2600" dirty="0" err="1"/>
              <a:t>outcome</a:t>
            </a:r>
            <a:r>
              <a:rPr lang="fr-FR" sz="2600" dirty="0"/>
              <a:t> of the test </a:t>
            </a:r>
            <a:r>
              <a:rPr lang="fr-FR" sz="2600" dirty="0" err="1"/>
              <a:t>which</a:t>
            </a:r>
            <a:r>
              <a:rPr lang="fr-FR" sz="2600" dirty="0"/>
              <a:t> </a:t>
            </a:r>
            <a:r>
              <a:rPr lang="fr-FR" sz="2600" dirty="0" err="1"/>
              <a:t>is</a:t>
            </a:r>
            <a:r>
              <a:rPr lang="fr-FR" sz="2600" dirty="0"/>
              <a:t> </a:t>
            </a:r>
            <a:r>
              <a:rPr lang="fr-FR" sz="2600" dirty="0" err="1"/>
              <a:t>helpful</a:t>
            </a:r>
            <a:r>
              <a:rPr lang="fr-FR" sz="2600" dirty="0"/>
              <a:t> for </a:t>
            </a:r>
            <a:r>
              <a:rPr lang="fr-FR" sz="2600" dirty="0" err="1"/>
              <a:t>you</a:t>
            </a:r>
            <a:r>
              <a:rPr lang="fr-FR" sz="2600" dirty="0"/>
              <a:t> in </a:t>
            </a:r>
            <a:r>
              <a:rPr lang="fr-FR" sz="2600" dirty="0" err="1"/>
              <a:t>your</a:t>
            </a:r>
            <a:r>
              <a:rPr lang="fr-FR" sz="2600" dirty="0"/>
              <a:t> </a:t>
            </a:r>
            <a:r>
              <a:rPr lang="fr-FR" sz="2600" dirty="0" err="1"/>
              <a:t>study</a:t>
            </a:r>
            <a:r>
              <a:rPr lang="fr-FR" sz="2600" dirty="0"/>
              <a:t>:</a:t>
            </a:r>
          </a:p>
          <a:p>
            <a:pPr marL="0" indent="0" algn="just">
              <a:buNone/>
            </a:pPr>
            <a:r>
              <a:rPr lang="fr-FR" sz="2600" b="1" dirty="0" err="1"/>
              <a:t>Reject</a:t>
            </a:r>
            <a:r>
              <a:rPr lang="fr-FR" sz="2600" b="1" dirty="0"/>
              <a:t> the </a:t>
            </a:r>
            <a:r>
              <a:rPr lang="fr-FR" sz="2600" b="1" dirty="0" err="1"/>
              <a:t>null</a:t>
            </a:r>
            <a:r>
              <a:rPr lang="fr-FR" sz="2600" b="1" dirty="0"/>
              <a:t> (p&lt;5%)</a:t>
            </a:r>
            <a:r>
              <a:rPr lang="fr-FR" sz="2600" dirty="0"/>
              <a:t>: You </a:t>
            </a:r>
            <a:r>
              <a:rPr lang="fr-FR" sz="2600" dirty="0" err="1"/>
              <a:t>enjoy</a:t>
            </a:r>
            <a:r>
              <a:rPr lang="fr-FR" sz="2600" dirty="0"/>
              <a:t> </a:t>
            </a:r>
            <a:r>
              <a:rPr lang="fr-FR" sz="2600" dirty="0" err="1"/>
              <a:t>parameters</a:t>
            </a:r>
            <a:r>
              <a:rPr lang="fr-FR" sz="2600" dirty="0"/>
              <a:t> </a:t>
            </a:r>
            <a:r>
              <a:rPr lang="fr-FR" sz="2600" dirty="0" err="1"/>
              <a:t>different</a:t>
            </a:r>
            <a:r>
              <a:rPr lang="fr-FR" sz="2600" dirty="0"/>
              <a:t> </a:t>
            </a:r>
            <a:r>
              <a:rPr lang="fr-FR" sz="2600" dirty="0" err="1"/>
              <a:t>from</a:t>
            </a:r>
            <a:r>
              <a:rPr lang="fr-FR" sz="2600" dirty="0"/>
              <a:t> </a:t>
            </a:r>
            <a:r>
              <a:rPr lang="fr-FR" sz="2600" dirty="0" err="1"/>
              <a:t>zero</a:t>
            </a:r>
            <a:r>
              <a:rPr lang="fr-FR" sz="2600" dirty="0"/>
              <a:t> or </a:t>
            </a:r>
            <a:r>
              <a:rPr lang="fr-FR" sz="2600" dirty="0" err="1"/>
              <a:t>different</a:t>
            </a:r>
            <a:r>
              <a:rPr lang="fr-FR" sz="2600" dirty="0"/>
              <a:t> </a:t>
            </a:r>
            <a:r>
              <a:rPr lang="fr-FR" sz="2600" dirty="0" err="1"/>
              <a:t>between</a:t>
            </a:r>
            <a:r>
              <a:rPr lang="fr-FR" sz="2600" dirty="0"/>
              <a:t> groups, </a:t>
            </a:r>
            <a:r>
              <a:rPr lang="fr-FR" sz="2600" dirty="0" err="1"/>
              <a:t>means</a:t>
            </a:r>
            <a:r>
              <a:rPr lang="fr-FR" sz="2600" dirty="0"/>
              <a:t> to </a:t>
            </a:r>
            <a:r>
              <a:rPr lang="fr-FR" sz="2600" dirty="0" err="1"/>
              <a:t>be</a:t>
            </a:r>
            <a:r>
              <a:rPr lang="fr-FR" sz="2600" dirty="0"/>
              <a:t> </a:t>
            </a:r>
            <a:r>
              <a:rPr lang="fr-FR" sz="2600" dirty="0" err="1"/>
              <a:t>different</a:t>
            </a:r>
            <a:r>
              <a:rPr lang="fr-FR" sz="2600" dirty="0"/>
              <a:t> </a:t>
            </a:r>
            <a:r>
              <a:rPr lang="fr-FR" sz="2600" dirty="0" err="1"/>
              <a:t>between</a:t>
            </a:r>
            <a:r>
              <a:rPr lang="fr-FR" sz="2600" dirty="0"/>
              <a:t> groups, </a:t>
            </a:r>
            <a:r>
              <a:rPr lang="fr-FR" sz="2600" dirty="0" err="1"/>
              <a:t>rejecting</a:t>
            </a:r>
            <a:r>
              <a:rPr lang="fr-FR" sz="2600" dirty="0"/>
              <a:t> unit </a:t>
            </a:r>
            <a:r>
              <a:rPr lang="fr-FR" sz="2600" dirty="0" err="1"/>
              <a:t>roots</a:t>
            </a:r>
            <a:r>
              <a:rPr lang="fr-FR" sz="2600" dirty="0"/>
              <a:t>.</a:t>
            </a:r>
          </a:p>
          <a:p>
            <a:pPr marL="0" indent="0" algn="just">
              <a:buNone/>
            </a:pPr>
            <a:r>
              <a:rPr lang="fr-FR" sz="2600" b="1" dirty="0"/>
              <a:t>Do not </a:t>
            </a:r>
            <a:r>
              <a:rPr lang="fr-FR" sz="2600" b="1" dirty="0" err="1"/>
              <a:t>reject</a:t>
            </a:r>
            <a:r>
              <a:rPr lang="fr-FR" sz="2600" b="1" dirty="0"/>
              <a:t> the </a:t>
            </a:r>
            <a:r>
              <a:rPr lang="fr-FR" sz="2600" b="1" dirty="0" err="1"/>
              <a:t>null</a:t>
            </a:r>
            <a:r>
              <a:rPr lang="fr-FR" sz="2600" b="1" dirty="0"/>
              <a:t> (p&gt;5%)</a:t>
            </a:r>
            <a:r>
              <a:rPr lang="fr-FR" sz="2600" dirty="0"/>
              <a:t>: You </a:t>
            </a:r>
            <a:r>
              <a:rPr lang="fr-FR" sz="2600" dirty="0" err="1"/>
              <a:t>enjoy</a:t>
            </a:r>
            <a:r>
              <a:rPr lang="fr-FR" sz="2600" dirty="0"/>
              <a:t> </a:t>
            </a:r>
            <a:r>
              <a:rPr lang="fr-FR" sz="2600" dirty="0" err="1"/>
              <a:t>normality</a:t>
            </a:r>
            <a:r>
              <a:rPr lang="fr-FR" sz="2600" dirty="0"/>
              <a:t>, the </a:t>
            </a:r>
            <a:r>
              <a:rPr lang="fr-FR" sz="2600" dirty="0" err="1"/>
              <a:t>exogeneity</a:t>
            </a:r>
            <a:r>
              <a:rPr lang="fr-FR" sz="2600" dirty="0"/>
              <a:t> of the instruments E(X</a:t>
            </a:r>
            <a:r>
              <a:rPr lang="el-GR" sz="2600" dirty="0"/>
              <a:t>ε</a:t>
            </a:r>
            <a:r>
              <a:rPr lang="fr-FR" sz="2600" dirty="0"/>
              <a:t>), </a:t>
            </a:r>
            <a:r>
              <a:rPr lang="fr-FR" sz="2600" dirty="0" err="1"/>
              <a:t>you</a:t>
            </a:r>
            <a:r>
              <a:rPr lang="fr-FR" sz="2600" dirty="0"/>
              <a:t> </a:t>
            </a:r>
            <a:r>
              <a:rPr lang="fr-FR" sz="2600" dirty="0" err="1"/>
              <a:t>may</a:t>
            </a:r>
            <a:r>
              <a:rPr lang="fr-FR" sz="2600" dirty="0"/>
              <a:t> </a:t>
            </a:r>
            <a:r>
              <a:rPr lang="fr-FR" sz="2600" dirty="0" err="1"/>
              <a:t>enjoy</a:t>
            </a:r>
            <a:r>
              <a:rPr lang="fr-FR" sz="2600" dirty="0"/>
              <a:t> unit </a:t>
            </a:r>
            <a:r>
              <a:rPr lang="fr-FR" sz="2600" dirty="0" err="1"/>
              <a:t>root</a:t>
            </a:r>
            <a:r>
              <a:rPr lang="fr-FR" sz="2600" dirty="0"/>
              <a:t> (</a:t>
            </a:r>
            <a:r>
              <a:rPr lang="fr-FR" sz="2600" dirty="0" err="1"/>
              <a:t>auto-correlation</a:t>
            </a:r>
            <a:r>
              <a:rPr lang="fr-FR" sz="2600" dirty="0"/>
              <a:t> </a:t>
            </a:r>
            <a:r>
              <a:rPr lang="fr-FR" sz="2600" dirty="0" err="1"/>
              <a:t>equal</a:t>
            </a:r>
            <a:r>
              <a:rPr lang="fr-FR" sz="2600" dirty="0"/>
              <a:t> to one) for </a:t>
            </a:r>
            <a:r>
              <a:rPr lang="fr-FR" sz="2600" dirty="0" err="1"/>
              <a:t>co-integration</a:t>
            </a:r>
            <a:r>
              <a:rPr lang="fr-FR" sz="2600" dirty="0"/>
              <a:t>.</a:t>
            </a:r>
            <a:endParaRPr lang="en-GB" sz="2600" dirty="0"/>
          </a:p>
        </p:txBody>
      </p:sp>
      <p:sp>
        <p:nvSpPr>
          <p:cNvPr id="4" name="Espace réservé du numéro de diapositive 3"/>
          <p:cNvSpPr>
            <a:spLocks noGrp="1"/>
          </p:cNvSpPr>
          <p:nvPr>
            <p:ph type="sldNum" sz="quarter" idx="12"/>
          </p:nvPr>
        </p:nvSpPr>
        <p:spPr/>
        <p:txBody>
          <a:bodyPr/>
          <a:lstStyle/>
          <a:p>
            <a:pPr>
              <a:defRPr/>
            </a:pPr>
            <a:fld id="{86DD4220-C733-4E5C-81C4-006614250366}" type="slidenum">
              <a:rPr lang="fr-FR" smtClean="0"/>
              <a:pPr>
                <a:defRPr/>
              </a:pPr>
              <a:t>398</a:t>
            </a:fld>
            <a:endParaRPr lang="fr-FR"/>
          </a:p>
        </p:txBody>
      </p:sp>
    </p:spTree>
    <p:extLst>
      <p:ext uri="{BB962C8B-B14F-4D97-AF65-F5344CB8AC3E}">
        <p14:creationId xmlns:p14="http://schemas.microsoft.com/office/powerpoint/2010/main" val="3610323455"/>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a:lstStyle/>
          <a:p>
            <a:r>
              <a:rPr lang="fr-FR" dirty="0" err="1"/>
              <a:t>Happiness</a:t>
            </a:r>
            <a:r>
              <a:rPr lang="fr-FR" dirty="0"/>
              <a:t> </a:t>
            </a:r>
            <a:r>
              <a:rPr lang="fr-FR" dirty="0" err="1"/>
              <a:t>criterion</a:t>
            </a:r>
            <a:endParaRPr lang="en-GB" dirty="0"/>
          </a:p>
        </p:txBody>
      </p:sp>
      <p:sp>
        <p:nvSpPr>
          <p:cNvPr id="3" name="Espace réservé du numéro de diapositive 2"/>
          <p:cNvSpPr>
            <a:spLocks noGrp="1"/>
          </p:cNvSpPr>
          <p:nvPr>
            <p:ph type="sldNum" sz="quarter" idx="12"/>
          </p:nvPr>
        </p:nvSpPr>
        <p:spPr/>
        <p:txBody>
          <a:bodyPr/>
          <a:lstStyle/>
          <a:p>
            <a:pPr>
              <a:defRPr/>
            </a:pPr>
            <a:fld id="{8B09E75E-7367-452C-907C-DF2AB706C7CA}" type="slidenum">
              <a:rPr lang="fr-FR" smtClean="0"/>
              <a:pPr>
                <a:defRPr/>
              </a:pPr>
              <a:t>399</a:t>
            </a:fld>
            <a:endParaRPr lang="fr-FR"/>
          </a:p>
        </p:txBody>
      </p:sp>
      <p:graphicFrame>
        <p:nvGraphicFramePr>
          <p:cNvPr id="6" name="Espace réservé du contenu 5"/>
          <p:cNvGraphicFramePr>
            <a:graphicFrameLocks noGrp="1"/>
          </p:cNvGraphicFramePr>
          <p:nvPr>
            <p:ph idx="4294967295"/>
            <p:extLst>
              <p:ext uri="{D42A27DB-BD31-4B8C-83A1-F6EECF244321}">
                <p14:modId xmlns:p14="http://schemas.microsoft.com/office/powerpoint/2010/main" val="583196187"/>
              </p:ext>
            </p:extLst>
          </p:nvPr>
        </p:nvGraphicFramePr>
        <p:xfrm>
          <a:off x="107504" y="1556792"/>
          <a:ext cx="8749480" cy="5184575"/>
        </p:xfrm>
        <a:graphic>
          <a:graphicData uri="http://schemas.openxmlformats.org/drawingml/2006/table">
            <a:tbl>
              <a:tblPr firstRow="1" bandRow="1">
                <a:tableStyleId>{5940675A-B579-460E-94D1-54222C63F5DA}</a:tableStyleId>
              </a:tblPr>
              <a:tblGrid>
                <a:gridCol w="2187370">
                  <a:extLst>
                    <a:ext uri="{9D8B030D-6E8A-4147-A177-3AD203B41FA5}">
                      <a16:colId xmlns:a16="http://schemas.microsoft.com/office/drawing/2014/main" val="20000"/>
                    </a:ext>
                  </a:extLst>
                </a:gridCol>
                <a:gridCol w="1922267">
                  <a:extLst>
                    <a:ext uri="{9D8B030D-6E8A-4147-A177-3AD203B41FA5}">
                      <a16:colId xmlns:a16="http://schemas.microsoft.com/office/drawing/2014/main" val="20001"/>
                    </a:ext>
                  </a:extLst>
                </a:gridCol>
                <a:gridCol w="2452473">
                  <a:extLst>
                    <a:ext uri="{9D8B030D-6E8A-4147-A177-3AD203B41FA5}">
                      <a16:colId xmlns:a16="http://schemas.microsoft.com/office/drawing/2014/main" val="20002"/>
                    </a:ext>
                  </a:extLst>
                </a:gridCol>
                <a:gridCol w="2187370">
                  <a:extLst>
                    <a:ext uri="{9D8B030D-6E8A-4147-A177-3AD203B41FA5}">
                      <a16:colId xmlns:a16="http://schemas.microsoft.com/office/drawing/2014/main" val="20003"/>
                    </a:ext>
                  </a:extLst>
                </a:gridCol>
              </a:tblGrid>
              <a:tr h="579179">
                <a:tc>
                  <a:txBody>
                    <a:bodyPr/>
                    <a:lstStyle/>
                    <a:p>
                      <a:pPr algn="ctr"/>
                      <a:endParaRPr lang="en-GB" dirty="0"/>
                    </a:p>
                  </a:txBody>
                  <a:tcPr/>
                </a:tc>
                <a:tc>
                  <a:txBody>
                    <a:bodyPr/>
                    <a:lstStyle/>
                    <a:p>
                      <a:pPr algn="ctr"/>
                      <a:r>
                        <a:rPr lang="fr-FR" dirty="0"/>
                        <a:t>Test</a:t>
                      </a:r>
                      <a:endParaRPr lang="en-GB" dirty="0"/>
                    </a:p>
                  </a:txBody>
                  <a:tcPr/>
                </a:tc>
                <a:tc>
                  <a:txBody>
                    <a:bodyPr/>
                    <a:lstStyle/>
                    <a:p>
                      <a:pPr algn="ctr"/>
                      <a:r>
                        <a:rPr lang="fr-FR" b="1" dirty="0"/>
                        <a:t>Do</a:t>
                      </a:r>
                      <a:r>
                        <a:rPr lang="fr-FR" b="1" baseline="0" dirty="0"/>
                        <a:t> not </a:t>
                      </a:r>
                      <a:r>
                        <a:rPr lang="fr-FR" b="1" baseline="0" dirty="0" err="1"/>
                        <a:t>reject</a:t>
                      </a:r>
                      <a:r>
                        <a:rPr lang="fr-FR" b="1" baseline="0" dirty="0"/>
                        <a:t> the </a:t>
                      </a:r>
                      <a:r>
                        <a:rPr lang="fr-FR" b="1" baseline="0" dirty="0" err="1"/>
                        <a:t>null</a:t>
                      </a:r>
                      <a:r>
                        <a:rPr lang="fr-FR" b="1" baseline="0" dirty="0"/>
                        <a:t> p&gt;5%</a:t>
                      </a:r>
                      <a:endParaRPr lang="en-GB" b="1" dirty="0"/>
                    </a:p>
                  </a:txBody>
                  <a:tcPr/>
                </a:tc>
                <a:tc>
                  <a:txBody>
                    <a:bodyPr/>
                    <a:lstStyle/>
                    <a:p>
                      <a:pPr algn="ctr"/>
                      <a:r>
                        <a:rPr lang="fr-FR" b="1" dirty="0" err="1"/>
                        <a:t>Reject</a:t>
                      </a:r>
                      <a:r>
                        <a:rPr lang="fr-FR" b="1" dirty="0"/>
                        <a:t> the </a:t>
                      </a:r>
                      <a:r>
                        <a:rPr lang="fr-FR" b="1" dirty="0" err="1"/>
                        <a:t>null</a:t>
                      </a:r>
                      <a:r>
                        <a:rPr lang="fr-FR" b="1" dirty="0"/>
                        <a:t> p&lt;5%</a:t>
                      </a:r>
                      <a:endParaRPr lang="en-GB" b="1" dirty="0"/>
                    </a:p>
                  </a:txBody>
                  <a:tcPr/>
                </a:tc>
                <a:extLst>
                  <a:ext uri="{0D108BD9-81ED-4DB2-BD59-A6C34878D82A}">
                    <a16:rowId xmlns:a16="http://schemas.microsoft.com/office/drawing/2014/main" val="10000"/>
                  </a:ext>
                </a:extLst>
              </a:tr>
              <a:tr h="386119">
                <a:tc>
                  <a:txBody>
                    <a:bodyPr/>
                    <a:lstStyle/>
                    <a:p>
                      <a:pPr algn="ctr"/>
                      <a:r>
                        <a:rPr lang="fr-FR" dirty="0"/>
                        <a:t>y=</a:t>
                      </a:r>
                      <a:r>
                        <a:rPr lang="el-GR" dirty="0"/>
                        <a:t>β</a:t>
                      </a:r>
                      <a:r>
                        <a:rPr lang="fr-FR" dirty="0"/>
                        <a:t>x+</a:t>
                      </a:r>
                      <a:r>
                        <a:rPr lang="el-GR" dirty="0"/>
                        <a:t>ε</a:t>
                      </a:r>
                      <a:endParaRPr lang="en-GB" dirty="0"/>
                    </a:p>
                  </a:txBody>
                  <a:tcPr/>
                </a:tc>
                <a:tc>
                  <a:txBody>
                    <a:bodyPr/>
                    <a:lstStyle/>
                    <a:p>
                      <a:pPr algn="ctr"/>
                      <a:r>
                        <a:rPr lang="fr-FR" dirty="0" err="1"/>
                        <a:t>Student</a:t>
                      </a:r>
                      <a:endParaRPr lang="en-GB" dirty="0"/>
                    </a:p>
                  </a:txBody>
                  <a:tcPr/>
                </a:tc>
                <a:tc>
                  <a:txBody>
                    <a:bodyPr/>
                    <a:lstStyle/>
                    <a:p>
                      <a:pPr algn="ctr"/>
                      <a:r>
                        <a:rPr lang="el-GR" dirty="0"/>
                        <a:t>β</a:t>
                      </a:r>
                      <a:r>
                        <a:rPr lang="fr-FR" dirty="0"/>
                        <a:t>=0</a:t>
                      </a:r>
                      <a:endParaRPr lang="en-GB" dirty="0"/>
                    </a:p>
                  </a:txBody>
                  <a:tcPr/>
                </a:tc>
                <a:tc>
                  <a:txBody>
                    <a:bodyPr/>
                    <a:lstStyle/>
                    <a:p>
                      <a:pPr algn="ctr"/>
                      <a:r>
                        <a:rPr lang="fr-FR" b="1" dirty="0">
                          <a:solidFill>
                            <a:srgbClr val="00B050"/>
                          </a:solidFill>
                        </a:rPr>
                        <a:t>Happy: « </a:t>
                      </a:r>
                      <a:r>
                        <a:rPr lang="fr-FR" b="1" dirty="0" err="1">
                          <a:solidFill>
                            <a:srgbClr val="00B050"/>
                          </a:solidFill>
                        </a:rPr>
                        <a:t>effect</a:t>
                      </a:r>
                      <a:r>
                        <a:rPr lang="fr-FR" b="1" dirty="0">
                          <a:solidFill>
                            <a:srgbClr val="00B050"/>
                          </a:solidFill>
                        </a:rPr>
                        <a:t> »</a:t>
                      </a:r>
                      <a:endParaRPr lang="en-GB" b="1" dirty="0">
                        <a:solidFill>
                          <a:srgbClr val="00B050"/>
                        </a:solidFill>
                      </a:endParaRPr>
                    </a:p>
                  </a:txBody>
                  <a:tcPr/>
                </a:tc>
                <a:extLst>
                  <a:ext uri="{0D108BD9-81ED-4DB2-BD59-A6C34878D82A}">
                    <a16:rowId xmlns:a16="http://schemas.microsoft.com/office/drawing/2014/main" val="10001"/>
                  </a:ext>
                </a:extLst>
              </a:tr>
              <a:tr h="326878">
                <a:tc>
                  <a:txBody>
                    <a:bodyPr/>
                    <a:lstStyle/>
                    <a:p>
                      <a:pPr algn="ctr"/>
                      <a:r>
                        <a:rPr lang="fr-FR" dirty="0"/>
                        <a:t>x1</a:t>
                      </a:r>
                      <a:r>
                        <a:rPr lang="fr-FR" baseline="0" dirty="0"/>
                        <a:t> and x2</a:t>
                      </a:r>
                      <a:endParaRPr lang="en-GB" dirty="0"/>
                    </a:p>
                  </a:txBody>
                  <a:tcPr/>
                </a:tc>
                <a:tc>
                  <a:txBody>
                    <a:bodyPr/>
                    <a:lstStyle/>
                    <a:p>
                      <a:pPr algn="ctr"/>
                      <a:r>
                        <a:rPr lang="fr-FR" dirty="0" err="1"/>
                        <a:t>Student</a:t>
                      </a:r>
                      <a:endParaRPr lang="en-GB" dirty="0"/>
                    </a:p>
                  </a:txBody>
                  <a:tcPr/>
                </a:tc>
                <a:tc>
                  <a:txBody>
                    <a:bodyPr/>
                    <a:lstStyle/>
                    <a:p>
                      <a:pPr algn="ctr"/>
                      <a:r>
                        <a:rPr lang="fr-FR" dirty="0"/>
                        <a:t>m1=m2</a:t>
                      </a:r>
                      <a:endParaRPr lang="en-GB" dirty="0"/>
                    </a:p>
                  </a:txBody>
                  <a:tcPr/>
                </a:tc>
                <a:tc>
                  <a:txBody>
                    <a:bodyPr/>
                    <a:lstStyle/>
                    <a:p>
                      <a:pPr algn="ctr"/>
                      <a:r>
                        <a:rPr lang="fr-FR" b="1" dirty="0">
                          <a:solidFill>
                            <a:srgbClr val="00B050"/>
                          </a:solidFill>
                        </a:rPr>
                        <a:t>Happy: </a:t>
                      </a:r>
                      <a:r>
                        <a:rPr lang="fr-FR" b="1" dirty="0" err="1">
                          <a:solidFill>
                            <a:srgbClr val="00B050"/>
                          </a:solidFill>
                        </a:rPr>
                        <a:t>difference</a:t>
                      </a:r>
                      <a:r>
                        <a:rPr lang="fr-FR" b="1" dirty="0">
                          <a:solidFill>
                            <a:srgbClr val="00B050"/>
                          </a:solidFill>
                        </a:rPr>
                        <a:t>.</a:t>
                      </a:r>
                      <a:endParaRPr lang="en-GB" b="1" dirty="0">
                        <a:solidFill>
                          <a:srgbClr val="00B050"/>
                        </a:solidFill>
                      </a:endParaRPr>
                    </a:p>
                  </a:txBody>
                  <a:tcPr/>
                </a:tc>
                <a:extLst>
                  <a:ext uri="{0D108BD9-81ED-4DB2-BD59-A6C34878D82A}">
                    <a16:rowId xmlns:a16="http://schemas.microsoft.com/office/drawing/2014/main" val="10002"/>
                  </a:ext>
                </a:extLst>
              </a:tr>
              <a:tr h="381007">
                <a:tc>
                  <a:txBody>
                    <a:bodyPr/>
                    <a:lstStyle/>
                    <a:p>
                      <a:pPr algn="ctr"/>
                      <a:r>
                        <a:rPr lang="fr-FR" dirty="0"/>
                        <a:t>x(t)=</a:t>
                      </a:r>
                      <a:r>
                        <a:rPr lang="el-GR" dirty="0"/>
                        <a:t>β</a:t>
                      </a:r>
                      <a:r>
                        <a:rPr lang="fr-FR" dirty="0"/>
                        <a:t>x(t-1)+</a:t>
                      </a:r>
                      <a:r>
                        <a:rPr lang="el-GR" dirty="0"/>
                        <a:t>ε</a:t>
                      </a:r>
                      <a:r>
                        <a:rPr lang="fr-FR" dirty="0"/>
                        <a:t>(t)</a:t>
                      </a:r>
                      <a:endParaRPr lang="en-GB" dirty="0"/>
                    </a:p>
                  </a:txBody>
                  <a:tcPr/>
                </a:tc>
                <a:tc>
                  <a:txBody>
                    <a:bodyPr/>
                    <a:lstStyle/>
                    <a:p>
                      <a:pPr algn="ctr"/>
                      <a:r>
                        <a:rPr lang="fr-FR" dirty="0"/>
                        <a:t>Unit</a:t>
                      </a:r>
                      <a:r>
                        <a:rPr lang="fr-FR" baseline="0" dirty="0"/>
                        <a:t> </a:t>
                      </a:r>
                      <a:r>
                        <a:rPr lang="fr-FR" baseline="0" dirty="0" err="1"/>
                        <a:t>root</a:t>
                      </a:r>
                      <a:endParaRPr lang="en-GB" dirty="0"/>
                    </a:p>
                  </a:txBody>
                  <a:tcPr/>
                </a:tc>
                <a:tc>
                  <a:txBody>
                    <a:bodyPr/>
                    <a:lstStyle/>
                    <a:p>
                      <a:pPr algn="ctr"/>
                      <a:r>
                        <a:rPr lang="el-GR" dirty="0"/>
                        <a:t>β</a:t>
                      </a:r>
                      <a:r>
                        <a:rPr lang="fr-FR" dirty="0"/>
                        <a:t>=1</a:t>
                      </a:r>
                      <a:endParaRPr lang="en-GB" dirty="0"/>
                    </a:p>
                  </a:txBody>
                  <a:tcPr/>
                </a:tc>
                <a:tc>
                  <a:txBody>
                    <a:bodyPr/>
                    <a:lstStyle/>
                    <a:p>
                      <a:pPr algn="ctr"/>
                      <a:r>
                        <a:rPr lang="fr-FR" b="1" dirty="0">
                          <a:solidFill>
                            <a:srgbClr val="00B050"/>
                          </a:solidFill>
                        </a:rPr>
                        <a:t>|</a:t>
                      </a:r>
                      <a:r>
                        <a:rPr lang="el-GR" b="1" dirty="0">
                          <a:solidFill>
                            <a:srgbClr val="00B050"/>
                          </a:solidFill>
                        </a:rPr>
                        <a:t>β</a:t>
                      </a:r>
                      <a:r>
                        <a:rPr lang="fr-FR" b="1" dirty="0">
                          <a:solidFill>
                            <a:srgbClr val="00B050"/>
                          </a:solidFill>
                        </a:rPr>
                        <a:t>|&lt;1, Happy </a:t>
                      </a:r>
                      <a:r>
                        <a:rPr lang="fr-FR" b="1" dirty="0" err="1">
                          <a:solidFill>
                            <a:srgbClr val="00B050"/>
                          </a:solidFill>
                        </a:rPr>
                        <a:t>stationary</a:t>
                      </a:r>
                      <a:endParaRPr lang="en-GB" b="1" dirty="0">
                        <a:solidFill>
                          <a:srgbClr val="00B050"/>
                        </a:solidFill>
                      </a:endParaRPr>
                    </a:p>
                  </a:txBody>
                  <a:tcPr/>
                </a:tc>
                <a:extLst>
                  <a:ext uri="{0D108BD9-81ED-4DB2-BD59-A6C34878D82A}">
                    <a16:rowId xmlns:a16="http://schemas.microsoft.com/office/drawing/2014/main" val="10003"/>
                  </a:ext>
                </a:extLst>
              </a:tr>
              <a:tr h="579179">
                <a:tc>
                  <a:txBody>
                    <a:bodyPr/>
                    <a:lstStyle/>
                    <a:p>
                      <a:pPr algn="ctr"/>
                      <a:r>
                        <a:rPr lang="fr-FR" dirty="0"/>
                        <a:t>x normal</a:t>
                      </a:r>
                      <a:endParaRPr lang="en-GB" dirty="0"/>
                    </a:p>
                  </a:txBody>
                  <a:tcPr/>
                </a:tc>
                <a:tc>
                  <a:txBody>
                    <a:bodyPr/>
                    <a:lstStyle/>
                    <a:p>
                      <a:pPr algn="ctr"/>
                      <a:r>
                        <a:rPr lang="fr-FR" dirty="0"/>
                        <a:t>Sktest-chi2</a:t>
                      </a:r>
                      <a:r>
                        <a:rPr lang="fr-FR" baseline="0" dirty="0"/>
                        <a:t> </a:t>
                      </a:r>
                      <a:r>
                        <a:rPr lang="fr-FR" dirty="0"/>
                        <a:t>Kolmogorov,</a:t>
                      </a:r>
                      <a:r>
                        <a:rPr lang="fr-FR" baseline="0" dirty="0"/>
                        <a:t> etc.</a:t>
                      </a:r>
                      <a:endParaRPr lang="en-GB" dirty="0"/>
                    </a:p>
                  </a:txBody>
                  <a:tcPr/>
                </a:tc>
                <a:tc>
                  <a:txBody>
                    <a:bodyPr/>
                    <a:lstStyle/>
                    <a:p>
                      <a:pPr algn="ctr"/>
                      <a:r>
                        <a:rPr lang="fr-FR" b="1" dirty="0">
                          <a:solidFill>
                            <a:srgbClr val="00B050"/>
                          </a:solidFill>
                        </a:rPr>
                        <a:t>x normal: Happy</a:t>
                      </a:r>
                      <a:endParaRPr lang="en-GB" b="1" dirty="0">
                        <a:solidFill>
                          <a:srgbClr val="00B050"/>
                        </a:solidFill>
                      </a:endParaRPr>
                    </a:p>
                  </a:txBody>
                  <a:tcPr/>
                </a:tc>
                <a:tc>
                  <a:txBody>
                    <a:bodyPr/>
                    <a:lstStyle/>
                    <a:p>
                      <a:pPr algn="ctr"/>
                      <a:r>
                        <a:rPr lang="fr-FR" dirty="0"/>
                        <a:t>x</a:t>
                      </a:r>
                      <a:r>
                        <a:rPr lang="fr-FR" baseline="0" dirty="0"/>
                        <a:t> not normal</a:t>
                      </a:r>
                      <a:endParaRPr lang="en-GB" dirty="0"/>
                    </a:p>
                  </a:txBody>
                  <a:tcPr/>
                </a:tc>
                <a:extLst>
                  <a:ext uri="{0D108BD9-81ED-4DB2-BD59-A6C34878D82A}">
                    <a16:rowId xmlns:a16="http://schemas.microsoft.com/office/drawing/2014/main" val="10004"/>
                  </a:ext>
                </a:extLst>
              </a:tr>
              <a:tr h="836591">
                <a:tc>
                  <a:txBody>
                    <a:bodyPr/>
                    <a:lstStyle/>
                    <a:p>
                      <a:pPr algn="ctr"/>
                      <a:r>
                        <a:rPr lang="fr-FR" dirty="0" err="1"/>
                        <a:t>Exogenous</a:t>
                      </a:r>
                      <a:r>
                        <a:rPr lang="fr-FR" baseline="0" dirty="0"/>
                        <a:t> instruments, </a:t>
                      </a:r>
                    </a:p>
                    <a:p>
                      <a:pPr algn="ctr"/>
                      <a:r>
                        <a:rPr lang="fr-FR" baseline="0" dirty="0"/>
                        <a:t>GMM panel</a:t>
                      </a:r>
                      <a:endParaRPr lang="en-GB" dirty="0"/>
                    </a:p>
                  </a:txBody>
                  <a:tcPr/>
                </a:tc>
                <a:tc>
                  <a:txBody>
                    <a:bodyPr/>
                    <a:lstStyle/>
                    <a:p>
                      <a:pPr algn="ctr"/>
                      <a:r>
                        <a:rPr lang="fr-FR" dirty="0" err="1"/>
                        <a:t>Sargan</a:t>
                      </a:r>
                      <a:r>
                        <a:rPr lang="fr-FR" dirty="0"/>
                        <a:t>=J=over-</a:t>
                      </a:r>
                      <a:r>
                        <a:rPr lang="fr-FR" dirty="0" err="1"/>
                        <a:t>idenitifying</a:t>
                      </a:r>
                      <a:r>
                        <a:rPr lang="fr-FR" baseline="0" dirty="0"/>
                        <a:t> restrictions</a:t>
                      </a:r>
                      <a:endParaRPr lang="en-GB" dirty="0"/>
                    </a:p>
                  </a:txBody>
                  <a:tcPr/>
                </a:tc>
                <a:tc>
                  <a:txBody>
                    <a:bodyPr/>
                    <a:lstStyle/>
                    <a:p>
                      <a:pPr algn="ctr"/>
                      <a:r>
                        <a:rPr lang="fr-FR" b="1" dirty="0">
                          <a:solidFill>
                            <a:srgbClr val="00B050"/>
                          </a:solidFill>
                        </a:rPr>
                        <a:t>E([x(t-1),x(t-2)],</a:t>
                      </a:r>
                      <a:r>
                        <a:rPr lang="el-GR" b="1" dirty="0">
                          <a:solidFill>
                            <a:srgbClr val="00B050"/>
                          </a:solidFill>
                        </a:rPr>
                        <a:t>ε</a:t>
                      </a:r>
                      <a:r>
                        <a:rPr lang="fr-FR" b="1" dirty="0">
                          <a:solidFill>
                            <a:srgbClr val="00B050"/>
                          </a:solidFill>
                        </a:rPr>
                        <a:t>)=0</a:t>
                      </a:r>
                    </a:p>
                    <a:p>
                      <a:pPr algn="ctr"/>
                      <a:r>
                        <a:rPr lang="fr-FR" b="1" dirty="0">
                          <a:solidFill>
                            <a:srgbClr val="00B050"/>
                          </a:solidFill>
                        </a:rPr>
                        <a:t>Happy</a:t>
                      </a:r>
                      <a:endParaRPr lang="en-GB" b="1" dirty="0">
                        <a:solidFill>
                          <a:srgbClr val="00B050"/>
                        </a:solidFill>
                      </a:endParaRPr>
                    </a:p>
                  </a:txBody>
                  <a:tcPr/>
                </a:tc>
                <a:tc>
                  <a:txBody>
                    <a:bodyPr/>
                    <a:lstStyle/>
                    <a:p>
                      <a:pPr algn="ctr"/>
                      <a:r>
                        <a:rPr lang="fr-FR" dirty="0" err="1"/>
                        <a:t>Endogenous</a:t>
                      </a:r>
                      <a:r>
                        <a:rPr lang="fr-FR" baseline="0" dirty="0"/>
                        <a:t> instruments: </a:t>
                      </a:r>
                      <a:r>
                        <a:rPr lang="fr-FR" baseline="0" dirty="0" err="1"/>
                        <a:t>fail</a:t>
                      </a:r>
                      <a:r>
                        <a:rPr lang="fr-FR" baseline="0" dirty="0"/>
                        <a:t>.</a:t>
                      </a:r>
                      <a:endParaRPr lang="en-GB" dirty="0"/>
                    </a:p>
                  </a:txBody>
                  <a:tcPr/>
                </a:tc>
                <a:extLst>
                  <a:ext uri="{0D108BD9-81ED-4DB2-BD59-A6C34878D82A}">
                    <a16:rowId xmlns:a16="http://schemas.microsoft.com/office/drawing/2014/main" val="10005"/>
                  </a:ext>
                </a:extLst>
              </a:tr>
              <a:tr h="579179">
                <a:tc>
                  <a:txBody>
                    <a:bodyPr/>
                    <a:lstStyle/>
                    <a:p>
                      <a:pPr algn="ctr"/>
                      <a:r>
                        <a:rPr lang="fr-FR" dirty="0" err="1"/>
                        <a:t>My</a:t>
                      </a:r>
                      <a:r>
                        <a:rPr lang="fr-FR" dirty="0"/>
                        <a:t> instruments</a:t>
                      </a:r>
                      <a:r>
                        <a:rPr lang="fr-FR" baseline="0" dirty="0"/>
                        <a:t> are </a:t>
                      </a:r>
                      <a:r>
                        <a:rPr lang="fr-FR" baseline="0" dirty="0" err="1"/>
                        <a:t>better</a:t>
                      </a:r>
                      <a:r>
                        <a:rPr lang="fr-FR" baseline="0" dirty="0"/>
                        <a:t> </a:t>
                      </a:r>
                      <a:r>
                        <a:rPr lang="fr-FR" baseline="0" dirty="0" err="1"/>
                        <a:t>than</a:t>
                      </a:r>
                      <a:r>
                        <a:rPr lang="fr-FR" baseline="0" dirty="0"/>
                        <a:t> OLS?</a:t>
                      </a:r>
                      <a:endParaRPr lang="en-GB" dirty="0"/>
                    </a:p>
                  </a:txBody>
                  <a:tcPr/>
                </a:tc>
                <a:tc>
                  <a:txBody>
                    <a:bodyPr/>
                    <a:lstStyle/>
                    <a:p>
                      <a:pPr algn="ctr"/>
                      <a:r>
                        <a:rPr lang="fr-FR" dirty="0"/>
                        <a:t>Hausman IV </a:t>
                      </a:r>
                      <a:r>
                        <a:rPr lang="fr-FR" dirty="0" err="1"/>
                        <a:t>with</a:t>
                      </a:r>
                      <a:r>
                        <a:rPr lang="fr-FR" dirty="0"/>
                        <a:t> Chi2</a:t>
                      </a:r>
                      <a:endParaRPr lang="en-GB"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dirty="0"/>
                        <a:t>β</a:t>
                      </a:r>
                      <a:r>
                        <a:rPr lang="fr-FR" dirty="0"/>
                        <a:t>(OLS)=</a:t>
                      </a:r>
                      <a:r>
                        <a:rPr lang="el-GR" dirty="0"/>
                        <a:t>β</a:t>
                      </a:r>
                      <a:r>
                        <a:rPr lang="fr-FR" dirty="0"/>
                        <a:t>(IV)</a:t>
                      </a:r>
                    </a:p>
                    <a:p>
                      <a:pPr marL="0" marR="0" indent="0" algn="ctr" defTabSz="914400" rtl="0" eaLnBrk="1" fontAlgn="auto" latinLnBrk="0" hangingPunct="1">
                        <a:lnSpc>
                          <a:spcPct val="100000"/>
                        </a:lnSpc>
                        <a:spcBef>
                          <a:spcPts val="0"/>
                        </a:spcBef>
                        <a:spcAft>
                          <a:spcPts val="0"/>
                        </a:spcAft>
                        <a:buClrTx/>
                        <a:buSzTx/>
                        <a:buFontTx/>
                        <a:buNone/>
                        <a:tabLst/>
                        <a:defRPr/>
                      </a:pPr>
                      <a:r>
                        <a:rPr lang="fr-FR" dirty="0" err="1"/>
                        <a:t>Choose</a:t>
                      </a:r>
                      <a:r>
                        <a:rPr lang="fr-FR" dirty="0"/>
                        <a:t> OLS.</a:t>
                      </a:r>
                      <a:endParaRPr lang="en-GB" dirty="0"/>
                    </a:p>
                  </a:txBody>
                  <a:tcPr/>
                </a:tc>
                <a:tc>
                  <a:txBody>
                    <a:bodyPr/>
                    <a:lstStyle/>
                    <a:p>
                      <a:pPr algn="ctr"/>
                      <a:r>
                        <a:rPr lang="el-GR" b="1" dirty="0">
                          <a:solidFill>
                            <a:srgbClr val="00B050"/>
                          </a:solidFill>
                        </a:rPr>
                        <a:t>β</a:t>
                      </a:r>
                      <a:r>
                        <a:rPr lang="fr-FR" b="1" dirty="0">
                          <a:solidFill>
                            <a:srgbClr val="00B050"/>
                          </a:solidFill>
                        </a:rPr>
                        <a:t>(OLS)=</a:t>
                      </a:r>
                      <a:r>
                        <a:rPr lang="el-GR" b="1" dirty="0">
                          <a:solidFill>
                            <a:srgbClr val="00B050"/>
                          </a:solidFill>
                        </a:rPr>
                        <a:t>β</a:t>
                      </a:r>
                      <a:r>
                        <a:rPr lang="fr-FR" b="1" dirty="0">
                          <a:solidFill>
                            <a:srgbClr val="00B050"/>
                          </a:solidFill>
                        </a:rPr>
                        <a:t>(IV)+</a:t>
                      </a:r>
                      <a:r>
                        <a:rPr lang="fr-FR" b="1" dirty="0" err="1">
                          <a:solidFill>
                            <a:srgbClr val="00B050"/>
                          </a:solidFill>
                        </a:rPr>
                        <a:t>bias</a:t>
                      </a:r>
                      <a:r>
                        <a:rPr lang="fr-FR" b="1" dirty="0">
                          <a:solidFill>
                            <a:srgbClr val="00B050"/>
                          </a:solidFill>
                        </a:rPr>
                        <a:t>: </a:t>
                      </a:r>
                      <a:r>
                        <a:rPr lang="fr-FR" b="1" dirty="0" err="1">
                          <a:solidFill>
                            <a:srgbClr val="00B050"/>
                          </a:solidFill>
                        </a:rPr>
                        <a:t>choose</a:t>
                      </a:r>
                      <a:r>
                        <a:rPr lang="fr-FR" b="1" dirty="0">
                          <a:solidFill>
                            <a:srgbClr val="00B050"/>
                          </a:solidFill>
                        </a:rPr>
                        <a:t> IV: happy</a:t>
                      </a:r>
                      <a:endParaRPr lang="en-GB" b="1" dirty="0">
                        <a:solidFill>
                          <a:srgbClr val="00B050"/>
                        </a:solidFill>
                      </a:endParaRPr>
                    </a:p>
                  </a:txBody>
                  <a:tcPr/>
                </a:tc>
                <a:extLst>
                  <a:ext uri="{0D108BD9-81ED-4DB2-BD59-A6C34878D82A}">
                    <a16:rowId xmlns:a16="http://schemas.microsoft.com/office/drawing/2014/main" val="10006"/>
                  </a:ext>
                </a:extLst>
              </a:tr>
              <a:tr h="957976">
                <a:tc>
                  <a:txBody>
                    <a:bodyPr/>
                    <a:lstStyle/>
                    <a:p>
                      <a:pPr algn="ctr"/>
                      <a:r>
                        <a:rPr lang="fr-FR" dirty="0"/>
                        <a:t>Panel </a:t>
                      </a:r>
                      <a:r>
                        <a:rPr lang="fr-FR" dirty="0" err="1"/>
                        <a:t>fixed</a:t>
                      </a:r>
                      <a:r>
                        <a:rPr lang="fr-FR" dirty="0"/>
                        <a:t> </a:t>
                      </a:r>
                      <a:r>
                        <a:rPr lang="fr-FR" dirty="0" err="1"/>
                        <a:t>effects</a:t>
                      </a:r>
                      <a:r>
                        <a:rPr lang="fr-FR" dirty="0"/>
                        <a:t> (</a:t>
                      </a:r>
                      <a:r>
                        <a:rPr lang="fr-FR" dirty="0" err="1"/>
                        <a:t>particular</a:t>
                      </a:r>
                      <a:r>
                        <a:rPr lang="fr-FR" baseline="0" dirty="0"/>
                        <a:t> </a:t>
                      </a:r>
                      <a:r>
                        <a:rPr lang="fr-FR" dirty="0"/>
                        <a:t>IV) &gt;</a:t>
                      </a:r>
                      <a:r>
                        <a:rPr lang="fr-FR" baseline="0" dirty="0"/>
                        <a:t> </a:t>
                      </a:r>
                      <a:r>
                        <a:rPr lang="fr-FR" baseline="0" dirty="0" err="1"/>
                        <a:t>random</a:t>
                      </a:r>
                      <a:r>
                        <a:rPr lang="fr-FR" baseline="0" dirty="0"/>
                        <a:t> </a:t>
                      </a:r>
                      <a:r>
                        <a:rPr lang="fr-FR" baseline="0" dirty="0" err="1"/>
                        <a:t>effects</a:t>
                      </a:r>
                      <a:endParaRPr lang="en-GB" dirty="0"/>
                    </a:p>
                  </a:txBody>
                  <a:tcPr/>
                </a:tc>
                <a:tc>
                  <a:txBody>
                    <a:bodyPr/>
                    <a:lstStyle/>
                    <a:p>
                      <a:pPr algn="ctr"/>
                      <a:r>
                        <a:rPr lang="fr-FR" dirty="0"/>
                        <a:t>Hausman IV </a:t>
                      </a:r>
                      <a:r>
                        <a:rPr lang="fr-FR" dirty="0" err="1"/>
                        <a:t>with</a:t>
                      </a:r>
                      <a:r>
                        <a:rPr lang="fr-FR" dirty="0"/>
                        <a:t> Chi2</a:t>
                      </a:r>
                      <a:endParaRPr lang="en-GB"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dirty="0"/>
                        <a:t>β</a:t>
                      </a:r>
                      <a:r>
                        <a:rPr lang="fr-FR" dirty="0"/>
                        <a:t>(RE)=</a:t>
                      </a:r>
                      <a:r>
                        <a:rPr lang="el-GR" dirty="0"/>
                        <a:t>β</a:t>
                      </a:r>
                      <a:r>
                        <a:rPr lang="fr-FR" dirty="0"/>
                        <a:t>(FE)</a:t>
                      </a:r>
                    </a:p>
                    <a:p>
                      <a:pPr marL="0" marR="0" indent="0" algn="ctr" defTabSz="914400" rtl="0" eaLnBrk="1" fontAlgn="auto" latinLnBrk="0" hangingPunct="1">
                        <a:lnSpc>
                          <a:spcPct val="100000"/>
                        </a:lnSpc>
                        <a:spcBef>
                          <a:spcPts val="0"/>
                        </a:spcBef>
                        <a:spcAft>
                          <a:spcPts val="0"/>
                        </a:spcAft>
                        <a:buClrTx/>
                        <a:buSzTx/>
                        <a:buFontTx/>
                        <a:buNone/>
                        <a:tabLst/>
                        <a:defRPr/>
                      </a:pPr>
                      <a:r>
                        <a:rPr lang="fr-FR" dirty="0" err="1"/>
                        <a:t>Choose</a:t>
                      </a:r>
                      <a:r>
                        <a:rPr lang="fr-FR" dirty="0"/>
                        <a:t> RE</a:t>
                      </a:r>
                      <a:endParaRPr lang="en-GB" dirty="0"/>
                    </a:p>
                  </a:txBody>
                  <a:tcPr/>
                </a:tc>
                <a:tc>
                  <a:txBody>
                    <a:bodyPr/>
                    <a:lstStyle/>
                    <a:p>
                      <a:pPr algn="ctr"/>
                      <a:r>
                        <a:rPr lang="el-GR" b="1" dirty="0">
                          <a:solidFill>
                            <a:srgbClr val="00B050"/>
                          </a:solidFill>
                        </a:rPr>
                        <a:t>β</a:t>
                      </a:r>
                      <a:r>
                        <a:rPr lang="fr-FR" b="1" dirty="0">
                          <a:solidFill>
                            <a:srgbClr val="00B050"/>
                          </a:solidFill>
                        </a:rPr>
                        <a:t>(RE)=</a:t>
                      </a:r>
                      <a:r>
                        <a:rPr lang="el-GR" b="1" dirty="0">
                          <a:solidFill>
                            <a:srgbClr val="00B050"/>
                          </a:solidFill>
                        </a:rPr>
                        <a:t>β</a:t>
                      </a:r>
                      <a:r>
                        <a:rPr lang="fr-FR" b="1" dirty="0">
                          <a:solidFill>
                            <a:srgbClr val="00B050"/>
                          </a:solidFill>
                        </a:rPr>
                        <a:t>(FE)+</a:t>
                      </a:r>
                      <a:r>
                        <a:rPr lang="fr-FR" b="1" dirty="0" err="1">
                          <a:solidFill>
                            <a:srgbClr val="00B050"/>
                          </a:solidFill>
                        </a:rPr>
                        <a:t>bias</a:t>
                      </a:r>
                      <a:r>
                        <a:rPr lang="fr-FR" b="1" dirty="0">
                          <a:solidFill>
                            <a:srgbClr val="00B050"/>
                          </a:solidFill>
                        </a:rPr>
                        <a:t>: </a:t>
                      </a:r>
                      <a:r>
                        <a:rPr lang="fr-FR" b="1" dirty="0" err="1">
                          <a:solidFill>
                            <a:srgbClr val="00B050"/>
                          </a:solidFill>
                        </a:rPr>
                        <a:t>choose</a:t>
                      </a:r>
                      <a:r>
                        <a:rPr lang="fr-FR" b="1" dirty="0">
                          <a:solidFill>
                            <a:srgbClr val="00B050"/>
                          </a:solidFill>
                        </a:rPr>
                        <a:t> FE: happy</a:t>
                      </a:r>
                      <a:endParaRPr lang="en-GB" b="1" dirty="0">
                        <a:solidFill>
                          <a:srgbClr val="00B050"/>
                        </a:solidFill>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90102289"/>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u numéro de diapositive 2"/>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AED9F02E-42EE-4AB9-BD5F-B74C8267E159}" type="slidenum">
              <a:rPr lang="fr-FR" altLang="fr-FR" sz="1400" smtClean="0"/>
              <a:pPr eaLnBrk="1" hangingPunct="1">
                <a:spcBef>
                  <a:spcPct val="0"/>
                </a:spcBef>
                <a:buFontTx/>
                <a:buNone/>
              </a:pPr>
              <a:t>400</a:t>
            </a:fld>
            <a:endParaRPr lang="fr-FR" altLang="fr-FR" sz="1400"/>
          </a:p>
        </p:txBody>
      </p:sp>
      <p:pic>
        <p:nvPicPr>
          <p:cNvPr id="17411" name="Picture 2" descr="http://labs.geog.uvic.ca/geog226/images/Lab6/img_1chi_rul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1138"/>
            <a:ext cx="6121400" cy="425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8" y="4581525"/>
            <a:ext cx="6107112" cy="227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95735003"/>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re 2"/>
          <p:cNvSpPr>
            <a:spLocks noGrp="1"/>
          </p:cNvSpPr>
          <p:nvPr>
            <p:ph type="title"/>
          </p:nvPr>
        </p:nvSpPr>
        <p:spPr/>
        <p:txBody>
          <a:bodyPr>
            <a:normAutofit fontScale="90000"/>
          </a:bodyPr>
          <a:lstStyle/>
          <a:p>
            <a:r>
              <a:rPr lang="fr-FR" altLang="fr-FR" sz="3600" dirty="0"/>
              <a:t>p&lt;0.05 (</a:t>
            </a:r>
            <a:r>
              <a:rPr lang="fr-FR" altLang="fr-FR" sz="3600" b="1" dirty="0"/>
              <a:t>t&gt;2</a:t>
            </a:r>
            <a:r>
              <a:rPr lang="fr-FR" altLang="fr-FR" sz="3600" dirty="0"/>
              <a:t> or </a:t>
            </a:r>
            <a:r>
              <a:rPr lang="fr-FR" altLang="fr-FR" sz="3600" b="1" dirty="0"/>
              <a:t>t&lt;-2</a:t>
            </a:r>
            <a:r>
              <a:rPr lang="fr-FR" altLang="fr-FR" sz="3600" dirty="0"/>
              <a:t>) versus </a:t>
            </a:r>
            <a:br>
              <a:rPr lang="fr-FR" altLang="fr-FR" sz="3600" dirty="0"/>
            </a:br>
            <a:r>
              <a:rPr lang="fr-FR" altLang="fr-FR" sz="3600" dirty="0"/>
              <a:t>p&gt;0.05 and </a:t>
            </a:r>
            <a:r>
              <a:rPr lang="fr-FR" altLang="fr-FR" sz="3600" dirty="0">
                <a:solidFill>
                  <a:srgbClr val="008000"/>
                </a:solidFill>
              </a:rPr>
              <a:t>0</a:t>
            </a:r>
            <a:r>
              <a:rPr lang="fr-FR" altLang="fr-FR" sz="3600" dirty="0"/>
              <a:t>≤</a:t>
            </a:r>
            <a:r>
              <a:rPr lang="fr-FR" altLang="fr-FR" sz="3600" b="1" dirty="0"/>
              <a:t>X</a:t>
            </a:r>
            <a:r>
              <a:rPr lang="fr-FR" altLang="fr-FR" sz="3600" b="1" baseline="30000" dirty="0"/>
              <a:t>2</a:t>
            </a:r>
            <a:r>
              <a:rPr lang="fr-FR" altLang="fr-FR" sz="3600" dirty="0"/>
              <a:t>&lt;</a:t>
            </a:r>
            <a:r>
              <a:rPr lang="fr-FR" altLang="fr-FR" sz="3600" b="1" dirty="0"/>
              <a:t>X</a:t>
            </a:r>
            <a:r>
              <a:rPr lang="fr-FR" altLang="fr-FR" sz="3600" b="1" baseline="30000" dirty="0"/>
              <a:t>2</a:t>
            </a:r>
            <a:r>
              <a:rPr lang="fr-FR" altLang="fr-FR" sz="3600" b="1" dirty="0"/>
              <a:t>(5%) </a:t>
            </a:r>
            <a:r>
              <a:rPr lang="fr-FR" altLang="fr-FR" sz="3600" b="1" dirty="0" err="1"/>
              <a:t>threshold</a:t>
            </a:r>
            <a:endParaRPr lang="fr-FR" altLang="fr-FR" sz="3600" dirty="0"/>
          </a:p>
        </p:txBody>
      </p:sp>
      <p:sp>
        <p:nvSpPr>
          <p:cNvPr id="14339" name="Espace réservé du contenu 3"/>
          <p:cNvSpPr>
            <a:spLocks noGrp="1"/>
          </p:cNvSpPr>
          <p:nvPr>
            <p:ph idx="1"/>
          </p:nvPr>
        </p:nvSpPr>
        <p:spPr/>
        <p:txBody>
          <a:bodyPr>
            <a:normAutofit lnSpcReduction="10000"/>
          </a:bodyPr>
          <a:lstStyle/>
          <a:p>
            <a:pPr marL="0" indent="0">
              <a:buFontTx/>
              <a:buNone/>
            </a:pPr>
            <a:r>
              <a:rPr lang="fr-FR" altLang="fr-FR" dirty="0"/>
              <a:t>For </a:t>
            </a:r>
            <a:r>
              <a:rPr lang="fr-FR" altLang="fr-FR" b="1" dirty="0" err="1"/>
              <a:t>Student’s</a:t>
            </a:r>
            <a:r>
              <a:rPr lang="fr-FR" altLang="fr-FR" b="1" dirty="0"/>
              <a:t> « t-test »</a:t>
            </a:r>
            <a:r>
              <a:rPr lang="fr-FR" altLang="fr-FR" dirty="0"/>
              <a:t> on </a:t>
            </a:r>
            <a:r>
              <a:rPr lang="fr-FR" altLang="fr-FR" dirty="0" err="1"/>
              <a:t>parameters</a:t>
            </a:r>
            <a:r>
              <a:rPr lang="fr-FR" altLang="fr-FR" dirty="0"/>
              <a:t>: </a:t>
            </a:r>
            <a:r>
              <a:rPr lang="fr-FR" altLang="fr-FR" dirty="0" err="1"/>
              <a:t>researchers</a:t>
            </a:r>
            <a:r>
              <a:rPr lang="fr-FR" altLang="fr-FR" dirty="0"/>
              <a:t> </a:t>
            </a:r>
            <a:r>
              <a:rPr lang="fr-FR" altLang="fr-FR" b="1" dirty="0" err="1">
                <a:solidFill>
                  <a:schemeClr val="accent2"/>
                </a:solidFill>
              </a:rPr>
              <a:t>enjoys</a:t>
            </a:r>
            <a:r>
              <a:rPr lang="fr-FR" altLang="fr-FR" dirty="0"/>
              <a:t> REJECTING the </a:t>
            </a:r>
            <a:r>
              <a:rPr lang="fr-FR" altLang="fr-FR" dirty="0" err="1"/>
              <a:t>null</a:t>
            </a:r>
            <a:r>
              <a:rPr lang="fr-FR" altLang="fr-FR" dirty="0"/>
              <a:t> </a:t>
            </a:r>
            <a:r>
              <a:rPr lang="fr-FR" altLang="fr-FR" dirty="0" err="1"/>
              <a:t>that</a:t>
            </a:r>
            <a:r>
              <a:rPr lang="fr-FR" altLang="fr-FR" dirty="0"/>
              <a:t> </a:t>
            </a:r>
            <a:r>
              <a:rPr lang="fr-FR" altLang="fr-FR" dirty="0" err="1"/>
              <a:t>parameters</a:t>
            </a:r>
            <a:r>
              <a:rPr lang="fr-FR" altLang="fr-FR" dirty="0"/>
              <a:t> are </a:t>
            </a:r>
            <a:r>
              <a:rPr lang="fr-FR" altLang="fr-FR" dirty="0" err="1"/>
              <a:t>zero</a:t>
            </a:r>
            <a:r>
              <a:rPr lang="fr-FR" altLang="fr-FR" dirty="0"/>
              <a:t>: H0: </a:t>
            </a:r>
            <a:r>
              <a:rPr lang="el-GR" altLang="fr-FR" dirty="0"/>
              <a:t>β</a:t>
            </a:r>
            <a:r>
              <a:rPr lang="fr-FR" altLang="fr-FR" dirty="0"/>
              <a:t>=0 </a:t>
            </a:r>
            <a:r>
              <a:rPr lang="fr-FR" altLang="fr-FR" dirty="0" err="1"/>
              <a:t>with</a:t>
            </a:r>
            <a:r>
              <a:rPr lang="fr-FR" altLang="fr-FR" dirty="0"/>
              <a:t> </a:t>
            </a:r>
          </a:p>
          <a:p>
            <a:pPr marL="0" indent="0">
              <a:buFontTx/>
              <a:buNone/>
            </a:pPr>
            <a:r>
              <a:rPr lang="fr-FR" altLang="fr-FR" dirty="0">
                <a:solidFill>
                  <a:srgbClr val="00B050"/>
                </a:solidFill>
              </a:rPr>
              <a:t>p-value=</a:t>
            </a:r>
            <a:r>
              <a:rPr lang="fr-FR" altLang="fr-FR" dirty="0" err="1">
                <a:solidFill>
                  <a:srgbClr val="00B050"/>
                </a:solidFill>
              </a:rPr>
              <a:t>proba</a:t>
            </a:r>
            <a:r>
              <a:rPr lang="fr-FR" altLang="fr-FR" dirty="0">
                <a:solidFill>
                  <a:srgbClr val="00B050"/>
                </a:solidFill>
              </a:rPr>
              <a:t>(type 1 </a:t>
            </a:r>
            <a:r>
              <a:rPr lang="fr-FR" altLang="fr-FR" dirty="0" err="1">
                <a:solidFill>
                  <a:srgbClr val="00B050"/>
                </a:solidFill>
              </a:rPr>
              <a:t>error</a:t>
            </a:r>
            <a:r>
              <a:rPr lang="fr-FR" altLang="fr-FR" dirty="0">
                <a:solidFill>
                  <a:srgbClr val="00B050"/>
                </a:solidFill>
              </a:rPr>
              <a:t>)</a:t>
            </a:r>
          </a:p>
          <a:p>
            <a:pPr marL="0" indent="0">
              <a:buFontTx/>
              <a:buNone/>
            </a:pPr>
            <a:r>
              <a:rPr lang="fr-FR" altLang="fr-FR" dirty="0">
                <a:solidFill>
                  <a:srgbClr val="00B050"/>
                </a:solidFill>
              </a:rPr>
              <a:t>=</a:t>
            </a:r>
            <a:r>
              <a:rPr lang="fr-FR" altLang="fr-FR" dirty="0" err="1">
                <a:solidFill>
                  <a:srgbClr val="00B050"/>
                </a:solidFill>
              </a:rPr>
              <a:t>proba</a:t>
            </a:r>
            <a:r>
              <a:rPr lang="fr-FR" altLang="fr-FR" dirty="0">
                <a:solidFill>
                  <a:srgbClr val="00B050"/>
                </a:solidFill>
              </a:rPr>
              <a:t>(</a:t>
            </a:r>
            <a:r>
              <a:rPr lang="fr-FR" altLang="fr-FR" dirty="0" err="1">
                <a:solidFill>
                  <a:srgbClr val="00B050"/>
                </a:solidFill>
              </a:rPr>
              <a:t>rejecting</a:t>
            </a:r>
            <a:r>
              <a:rPr lang="fr-FR" altLang="fr-FR" dirty="0">
                <a:solidFill>
                  <a:srgbClr val="00B050"/>
                </a:solidFill>
              </a:rPr>
              <a:t> H0 | H0 </a:t>
            </a:r>
            <a:r>
              <a:rPr lang="fr-FR" altLang="fr-FR" dirty="0" err="1">
                <a:solidFill>
                  <a:srgbClr val="00B050"/>
                </a:solidFill>
              </a:rPr>
              <a:t>true</a:t>
            </a:r>
            <a:r>
              <a:rPr lang="fr-FR" altLang="fr-FR" dirty="0">
                <a:solidFill>
                  <a:srgbClr val="00B050"/>
                </a:solidFill>
              </a:rPr>
              <a:t>)&lt;0.05.</a:t>
            </a:r>
            <a:endParaRPr lang="fr-FR" altLang="fr-FR" dirty="0"/>
          </a:p>
          <a:p>
            <a:pPr marL="0" indent="0">
              <a:buFontTx/>
              <a:buNone/>
            </a:pPr>
            <a:r>
              <a:rPr lang="fr-FR" altLang="fr-FR" dirty="0"/>
              <a:t>For </a:t>
            </a:r>
            <a:r>
              <a:rPr lang="fr-FR" altLang="fr-FR" b="1" dirty="0"/>
              <a:t>Chi-2 tests</a:t>
            </a:r>
            <a:r>
              <a:rPr lang="fr-FR" altLang="fr-FR" dirty="0"/>
              <a:t>, (</a:t>
            </a:r>
            <a:r>
              <a:rPr lang="fr-FR" altLang="fr-FR" dirty="0" err="1"/>
              <a:t>independance</a:t>
            </a:r>
            <a:r>
              <a:rPr lang="fr-FR" altLang="fr-FR" dirty="0"/>
              <a:t>, </a:t>
            </a:r>
            <a:r>
              <a:rPr lang="fr-FR" altLang="fr-FR" dirty="0" err="1"/>
              <a:t>normality</a:t>
            </a:r>
            <a:r>
              <a:rPr lang="fr-FR" altLang="fr-FR" dirty="0"/>
              <a:t> or </a:t>
            </a:r>
            <a:r>
              <a:rPr lang="fr-FR" altLang="fr-FR" dirty="0" err="1"/>
              <a:t>exogeneity</a:t>
            </a:r>
            <a:r>
              <a:rPr lang="fr-FR" altLang="fr-FR" dirty="0"/>
              <a:t> H0: E(x.</a:t>
            </a:r>
            <a:r>
              <a:rPr lang="el-GR" altLang="fr-FR" dirty="0"/>
              <a:t>ε</a:t>
            </a:r>
            <a:r>
              <a:rPr lang="fr-FR" altLang="fr-FR" dirty="0"/>
              <a:t>)=0): </a:t>
            </a:r>
            <a:r>
              <a:rPr lang="fr-FR" altLang="fr-FR" dirty="0" err="1"/>
              <a:t>researchers</a:t>
            </a:r>
            <a:r>
              <a:rPr lang="fr-FR" altLang="fr-FR" dirty="0"/>
              <a:t> </a:t>
            </a:r>
            <a:r>
              <a:rPr lang="fr-FR" altLang="fr-FR" dirty="0" err="1"/>
              <a:t>often</a:t>
            </a:r>
            <a:r>
              <a:rPr lang="fr-FR" altLang="fr-FR" dirty="0"/>
              <a:t> </a:t>
            </a:r>
            <a:r>
              <a:rPr lang="fr-FR" altLang="fr-FR" b="1" dirty="0" err="1">
                <a:solidFill>
                  <a:schemeClr val="accent2"/>
                </a:solidFill>
              </a:rPr>
              <a:t>enjoys</a:t>
            </a:r>
            <a:r>
              <a:rPr lang="fr-FR" altLang="fr-FR" dirty="0"/>
              <a:t> </a:t>
            </a:r>
            <a:r>
              <a:rPr lang="fr-FR" altLang="fr-FR" b="1" dirty="0">
                <a:solidFill>
                  <a:srgbClr val="FF0000"/>
                </a:solidFill>
              </a:rPr>
              <a:t>NOT</a:t>
            </a:r>
            <a:r>
              <a:rPr lang="fr-FR" altLang="fr-FR" dirty="0"/>
              <a:t> REJECTING the </a:t>
            </a:r>
            <a:r>
              <a:rPr lang="fr-FR" altLang="fr-FR" dirty="0" err="1"/>
              <a:t>null</a:t>
            </a:r>
            <a:r>
              <a:rPr lang="fr-FR" altLang="fr-FR" dirty="0"/>
              <a:t> </a:t>
            </a:r>
            <a:r>
              <a:rPr lang="fr-FR" altLang="fr-FR" dirty="0" err="1"/>
              <a:t>hypothesis</a:t>
            </a:r>
            <a:r>
              <a:rPr lang="fr-FR" altLang="fr-FR" dirty="0"/>
              <a:t> (</a:t>
            </a:r>
            <a:r>
              <a:rPr lang="fr-FR" altLang="fr-FR" dirty="0">
                <a:solidFill>
                  <a:srgbClr val="00B050"/>
                </a:solidFill>
              </a:rPr>
              <a:t>p&gt;0.05</a:t>
            </a:r>
            <a:r>
              <a:rPr lang="fr-FR" altLang="fr-FR" dirty="0"/>
              <a:t> and X</a:t>
            </a:r>
            <a:r>
              <a:rPr lang="fr-FR" altLang="fr-FR" baseline="30000" dirty="0"/>
              <a:t>2</a:t>
            </a:r>
            <a:r>
              <a:rPr lang="fr-FR" altLang="fr-FR" dirty="0"/>
              <a:t>&lt; </a:t>
            </a:r>
            <a:r>
              <a:rPr lang="fr-FR" altLang="fr-FR" dirty="0" err="1"/>
              <a:t>threshold</a:t>
            </a:r>
            <a:r>
              <a:rPr lang="fr-FR" altLang="fr-FR" dirty="0"/>
              <a:t>)</a:t>
            </a:r>
          </a:p>
        </p:txBody>
      </p:sp>
      <p:sp>
        <p:nvSpPr>
          <p:cNvPr id="14340" name="Espace réservé du numéro de diapositive 1"/>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22C418C4-AC40-47B3-A750-DBCCCD82B96C}" type="slidenum">
              <a:rPr lang="fr-FR" altLang="fr-FR" sz="1400" smtClean="0"/>
              <a:pPr eaLnBrk="1" hangingPunct="1">
                <a:spcBef>
                  <a:spcPct val="0"/>
                </a:spcBef>
                <a:buFontTx/>
                <a:buNone/>
              </a:pPr>
              <a:t>401</a:t>
            </a:fld>
            <a:endParaRPr lang="fr-FR" altLang="fr-FR" sz="1400"/>
          </a:p>
        </p:txBody>
      </p:sp>
    </p:spTree>
    <p:extLst>
      <p:ext uri="{BB962C8B-B14F-4D97-AF65-F5344CB8AC3E}">
        <p14:creationId xmlns:p14="http://schemas.microsoft.com/office/powerpoint/2010/main" val="443714748"/>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Sargan</a:t>
            </a:r>
            <a:r>
              <a:rPr lang="fr-FR" dirty="0"/>
              <a:t> test</a:t>
            </a:r>
            <a:endParaRPr lang="en-GB" dirty="0"/>
          </a:p>
        </p:txBody>
      </p:sp>
      <p:sp>
        <p:nvSpPr>
          <p:cNvPr id="3" name="Espace réservé du contenu 2"/>
          <p:cNvSpPr>
            <a:spLocks noGrp="1"/>
          </p:cNvSpPr>
          <p:nvPr>
            <p:ph idx="1"/>
          </p:nvPr>
        </p:nvSpPr>
        <p:spPr/>
        <p:txBody>
          <a:bodyPr>
            <a:normAutofit fontScale="70000" lnSpcReduction="20000"/>
          </a:bodyPr>
          <a:lstStyle/>
          <a:p>
            <a:pPr marL="0" indent="0" algn="just">
              <a:buNone/>
            </a:pPr>
            <a:r>
              <a:rPr lang="en-GB" dirty="0" err="1"/>
              <a:t>xtabond</a:t>
            </a:r>
            <a:r>
              <a:rPr lang="en-GB" dirty="0"/>
              <a:t> — Arellano–Bond linear dynamic panel-data estimation. After </a:t>
            </a:r>
            <a:r>
              <a:rPr lang="en-GB" dirty="0" err="1"/>
              <a:t>xtabond</a:t>
            </a:r>
            <a:r>
              <a:rPr lang="en-GB" dirty="0"/>
              <a:t>, </a:t>
            </a:r>
            <a:r>
              <a:rPr lang="en-GB" dirty="0" err="1"/>
              <a:t>estat</a:t>
            </a:r>
            <a:r>
              <a:rPr lang="en-GB" dirty="0"/>
              <a:t> </a:t>
            </a:r>
            <a:r>
              <a:rPr lang="en-GB" dirty="0" err="1"/>
              <a:t>sargan</a:t>
            </a:r>
            <a:r>
              <a:rPr lang="en-GB" dirty="0"/>
              <a:t> reports the </a:t>
            </a:r>
            <a:r>
              <a:rPr lang="en-GB" dirty="0" err="1"/>
              <a:t>Sargan</a:t>
            </a:r>
            <a:r>
              <a:rPr lang="en-GB" dirty="0"/>
              <a:t> test of </a:t>
            </a:r>
            <a:r>
              <a:rPr lang="en-GB" dirty="0" err="1"/>
              <a:t>overidentifying</a:t>
            </a:r>
            <a:r>
              <a:rPr lang="en-GB" dirty="0"/>
              <a:t> restrictions.</a:t>
            </a:r>
          </a:p>
          <a:p>
            <a:pPr marL="0" indent="0" algn="just">
              <a:buNone/>
            </a:pPr>
            <a:r>
              <a:rPr lang="en-GB" b="1" dirty="0"/>
              <a:t>. </a:t>
            </a:r>
            <a:r>
              <a:rPr lang="en-GB" b="1" dirty="0" err="1"/>
              <a:t>estat</a:t>
            </a:r>
            <a:r>
              <a:rPr lang="en-GB" b="1" dirty="0"/>
              <a:t> </a:t>
            </a:r>
            <a:r>
              <a:rPr lang="en-GB" b="1" dirty="0" err="1"/>
              <a:t>sargan</a:t>
            </a:r>
            <a:endParaRPr lang="en-GB" b="1" dirty="0"/>
          </a:p>
          <a:p>
            <a:pPr marL="0" indent="0" algn="just">
              <a:buNone/>
            </a:pPr>
            <a:r>
              <a:rPr lang="en-GB" dirty="0"/>
              <a:t>H0: </a:t>
            </a:r>
            <a:r>
              <a:rPr lang="en-GB" dirty="0" err="1"/>
              <a:t>Overidentifying</a:t>
            </a:r>
            <a:r>
              <a:rPr lang="en-GB" dirty="0"/>
              <a:t> restrictions are valid</a:t>
            </a:r>
          </a:p>
          <a:p>
            <a:pPr marL="0" indent="0" algn="just">
              <a:buNone/>
            </a:pPr>
            <a:r>
              <a:rPr lang="en-GB" dirty="0"/>
              <a:t>chi2(25) = 65.81806  (for 25 instruments), </a:t>
            </a:r>
            <a:r>
              <a:rPr lang="en-GB" b="1" dirty="0"/>
              <a:t>relatively FAR from zero</a:t>
            </a:r>
            <a:r>
              <a:rPr lang="en-GB" dirty="0"/>
              <a:t>, measuring the distance to the null hypothesis.</a:t>
            </a:r>
          </a:p>
          <a:p>
            <a:pPr marL="0" indent="0" algn="just">
              <a:buNone/>
            </a:pPr>
            <a:r>
              <a:rPr lang="en-GB" dirty="0" err="1"/>
              <a:t>Prob</a:t>
            </a:r>
            <a:r>
              <a:rPr lang="en-GB" dirty="0"/>
              <a:t> &gt; chi2 = 0.0000 &lt;&lt;&lt;5% (p-value below 5%).</a:t>
            </a:r>
          </a:p>
          <a:p>
            <a:pPr marL="0" indent="0" algn="just">
              <a:buNone/>
            </a:pPr>
            <a:r>
              <a:rPr lang="pt-BR" dirty="0">
                <a:latin typeface="Cambria Math" panose="02040503050406030204" pitchFamily="18" charset="0"/>
                <a:ea typeface="Cambria Math" panose="02040503050406030204" pitchFamily="18" charset="0"/>
              </a:rPr>
              <a:t>⇒ </a:t>
            </a:r>
            <a:r>
              <a:rPr lang="fr-FR" b="1" dirty="0"/>
              <a:t>STRONG EVIDENCE AGAINST</a:t>
            </a:r>
            <a:r>
              <a:rPr lang="fr-FR" dirty="0"/>
              <a:t> THE NULL </a:t>
            </a:r>
            <a:r>
              <a:rPr lang="fr-FR" dirty="0" err="1"/>
              <a:t>hypothesis</a:t>
            </a:r>
            <a:r>
              <a:rPr lang="fr-FR" dirty="0"/>
              <a:t> </a:t>
            </a:r>
            <a:r>
              <a:rPr lang="fr-FR" dirty="0" err="1"/>
              <a:t>that</a:t>
            </a:r>
            <a:r>
              <a:rPr lang="fr-FR" dirty="0"/>
              <a:t> the instruments of </a:t>
            </a:r>
            <a:r>
              <a:rPr lang="fr-FR" dirty="0" err="1"/>
              <a:t>this</a:t>
            </a:r>
            <a:r>
              <a:rPr lang="fr-FR" dirty="0"/>
              <a:t> </a:t>
            </a:r>
            <a:r>
              <a:rPr lang="fr-FR" dirty="0" err="1"/>
              <a:t>regression</a:t>
            </a:r>
            <a:r>
              <a:rPr lang="fr-FR" dirty="0"/>
              <a:t> are </a:t>
            </a:r>
            <a:r>
              <a:rPr lang="fr-FR" dirty="0" err="1"/>
              <a:t>exogenous</a:t>
            </a:r>
            <a:r>
              <a:rPr lang="fr-FR" dirty="0"/>
              <a:t>.</a:t>
            </a:r>
          </a:p>
          <a:p>
            <a:pPr marL="0" indent="0" algn="just">
              <a:buNone/>
            </a:pPr>
            <a:r>
              <a:rPr lang="pt-BR" dirty="0">
                <a:latin typeface="Cambria Math" panose="02040503050406030204" pitchFamily="18" charset="0"/>
                <a:ea typeface="Cambria Math" panose="02040503050406030204" pitchFamily="18" charset="0"/>
              </a:rPr>
              <a:t>⇒ You are </a:t>
            </a:r>
            <a:r>
              <a:rPr lang="pt-BR" b="1" dirty="0">
                <a:latin typeface="Cambria Math" panose="02040503050406030204" pitchFamily="18" charset="0"/>
                <a:ea typeface="Cambria Math" panose="02040503050406030204" pitchFamily="18" charset="0"/>
              </a:rPr>
              <a:t>UNHAPPY</a:t>
            </a:r>
            <a:r>
              <a:rPr lang="pt-BR" dirty="0">
                <a:latin typeface="Cambria Math" panose="02040503050406030204" pitchFamily="18" charset="0"/>
                <a:ea typeface="Cambria Math" panose="02040503050406030204" pitchFamily="18" charset="0"/>
              </a:rPr>
              <a:t>  because you need to try another set of instruments.</a:t>
            </a:r>
          </a:p>
          <a:p>
            <a:pPr marL="0" indent="0" algn="just">
              <a:buNone/>
            </a:pPr>
            <a:r>
              <a:rPr lang="pt-BR" dirty="0">
                <a:latin typeface="Cambria Math" panose="02040503050406030204" pitchFamily="18" charset="0"/>
                <a:ea typeface="Cambria Math" panose="02040503050406030204" pitchFamily="18" charset="0"/>
              </a:rPr>
              <a:t>(Once, a candidate for a position in Paris1 interpreted all her Sargan tests the other way round in her job market paper).</a:t>
            </a:r>
            <a:endParaRPr lang="en-GB" dirty="0"/>
          </a:p>
        </p:txBody>
      </p:sp>
    </p:spTree>
    <p:extLst>
      <p:ext uri="{BB962C8B-B14F-4D97-AF65-F5344CB8AC3E}">
        <p14:creationId xmlns:p14="http://schemas.microsoft.com/office/powerpoint/2010/main" val="2322594783"/>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Difference</a:t>
            </a:r>
            <a:r>
              <a:rPr lang="fr-FR" dirty="0"/>
              <a:t> of </a:t>
            </a:r>
            <a:r>
              <a:rPr lang="fr-FR" dirty="0" err="1"/>
              <a:t>Sargan</a:t>
            </a:r>
            <a:r>
              <a:rPr lang="fr-FR" dirty="0"/>
              <a:t> test</a:t>
            </a:r>
            <a:br>
              <a:rPr lang="fr-FR" dirty="0"/>
            </a:br>
            <a:r>
              <a:rPr lang="fr-FR" dirty="0"/>
              <a:t>(due to Hansen)</a:t>
            </a:r>
            <a:endParaRPr lang="en-GB" dirty="0"/>
          </a:p>
        </p:txBody>
      </p:sp>
      <p:sp>
        <p:nvSpPr>
          <p:cNvPr id="3" name="Espace réservé du contenu 2"/>
          <p:cNvSpPr>
            <a:spLocks noGrp="1"/>
          </p:cNvSpPr>
          <p:nvPr>
            <p:ph idx="1"/>
          </p:nvPr>
        </p:nvSpPr>
        <p:spPr/>
        <p:txBody>
          <a:bodyPr>
            <a:normAutofit fontScale="92500" lnSpcReduction="20000"/>
          </a:bodyPr>
          <a:lstStyle/>
          <a:p>
            <a:pPr marL="0" indent="0">
              <a:buNone/>
            </a:pPr>
            <a:r>
              <a:rPr lang="fr-FR" dirty="0"/>
              <a:t>You </a:t>
            </a:r>
            <a:r>
              <a:rPr lang="fr-FR" dirty="0" err="1"/>
              <a:t>need</a:t>
            </a:r>
            <a:r>
              <a:rPr lang="fr-FR" dirty="0"/>
              <a:t> to have a </a:t>
            </a:r>
            <a:r>
              <a:rPr lang="fr-FR" dirty="0" err="1"/>
              <a:t>subset</a:t>
            </a:r>
            <a:r>
              <a:rPr lang="fr-FR" dirty="0"/>
              <a:t> A of instrument </a:t>
            </a:r>
            <a:r>
              <a:rPr lang="fr-FR" dirty="0" err="1"/>
              <a:t>which</a:t>
            </a:r>
            <a:r>
              <a:rPr lang="fr-FR" dirty="0"/>
              <a:t> </a:t>
            </a:r>
            <a:r>
              <a:rPr lang="fr-FR" dirty="0" err="1"/>
              <a:t>is</a:t>
            </a:r>
            <a:r>
              <a:rPr lang="fr-FR" dirty="0"/>
              <a:t> </a:t>
            </a:r>
            <a:r>
              <a:rPr lang="fr-FR" dirty="0" err="1"/>
              <a:t>very</a:t>
            </a:r>
            <a:r>
              <a:rPr lang="fr-FR" dirty="0"/>
              <a:t> </a:t>
            </a:r>
            <a:r>
              <a:rPr lang="fr-FR" dirty="0" err="1"/>
              <a:t>exogenous</a:t>
            </a:r>
            <a:r>
              <a:rPr lang="fr-FR" dirty="0"/>
              <a:t> (</a:t>
            </a:r>
            <a:r>
              <a:rPr lang="fr-FR" b="1" dirty="0" err="1"/>
              <a:t>you</a:t>
            </a:r>
            <a:r>
              <a:rPr lang="fr-FR" b="1" dirty="0"/>
              <a:t> </a:t>
            </a:r>
            <a:r>
              <a:rPr lang="fr-FR" b="1" dirty="0" err="1"/>
              <a:t>need</a:t>
            </a:r>
            <a:r>
              <a:rPr lang="fr-FR" b="1" dirty="0"/>
              <a:t> a </a:t>
            </a:r>
            <a:r>
              <a:rPr lang="fr-FR" b="1" dirty="0" err="1"/>
              <a:t>Sargan</a:t>
            </a:r>
            <a:r>
              <a:rPr lang="fr-FR" b="1" dirty="0"/>
              <a:t> </a:t>
            </a:r>
            <a:r>
              <a:rPr lang="fr-FR" b="1" dirty="0" err="1"/>
              <a:t>pre-test</a:t>
            </a:r>
            <a:r>
              <a:rPr lang="fr-FR" dirty="0"/>
              <a:t>).</a:t>
            </a:r>
          </a:p>
          <a:p>
            <a:pPr marL="0" indent="0">
              <a:buNone/>
            </a:pPr>
            <a:r>
              <a:rPr lang="fr-FR" dirty="0" err="1"/>
              <a:t>Then</a:t>
            </a:r>
            <a:r>
              <a:rPr lang="fr-FR" dirty="0"/>
              <a:t> </a:t>
            </a:r>
            <a:r>
              <a:rPr lang="fr-FR" dirty="0" err="1"/>
              <a:t>you</a:t>
            </a:r>
            <a:r>
              <a:rPr lang="fr-FR" dirty="0"/>
              <a:t> test if the </a:t>
            </a:r>
            <a:r>
              <a:rPr lang="fr-FR" dirty="0" err="1"/>
              <a:t>additional</a:t>
            </a:r>
            <a:r>
              <a:rPr lang="fr-FR" dirty="0"/>
              <a:t> instrument B </a:t>
            </a:r>
            <a:r>
              <a:rPr lang="fr-FR" dirty="0" err="1"/>
              <a:t>can</a:t>
            </a:r>
            <a:r>
              <a:rPr lang="fr-FR" dirty="0"/>
              <a:t> </a:t>
            </a:r>
            <a:r>
              <a:rPr lang="fr-FR" dirty="0" err="1"/>
              <a:t>be</a:t>
            </a:r>
            <a:r>
              <a:rPr lang="fr-FR" dirty="0"/>
              <a:t> </a:t>
            </a:r>
            <a:r>
              <a:rPr lang="fr-FR" dirty="0" err="1"/>
              <a:t>added</a:t>
            </a:r>
            <a:r>
              <a:rPr lang="fr-FR" dirty="0"/>
              <a:t> for </a:t>
            </a:r>
            <a:r>
              <a:rPr lang="fr-FR" dirty="0" err="1"/>
              <a:t>form</a:t>
            </a:r>
            <a:r>
              <a:rPr lang="fr-FR" dirty="0"/>
              <a:t> the </a:t>
            </a:r>
            <a:r>
              <a:rPr lang="fr-FR" dirty="0" err="1"/>
              <a:t>sub</a:t>
            </a:r>
            <a:r>
              <a:rPr lang="fr-FR" dirty="0"/>
              <a:t>-set A</a:t>
            </a:r>
            <a:r>
              <a:rPr lang="pt-BR" dirty="0">
                <a:latin typeface="Cambria Math" panose="02040503050406030204" pitchFamily="18" charset="0"/>
                <a:ea typeface="Cambria Math" panose="02040503050406030204" pitchFamily="18" charset="0"/>
              </a:rPr>
              <a:t>⋃</a:t>
            </a:r>
            <a:r>
              <a:rPr lang="fr-FR" dirty="0"/>
              <a:t>B.</a:t>
            </a:r>
          </a:p>
          <a:p>
            <a:pPr marL="0" indent="0">
              <a:buNone/>
            </a:pPr>
            <a:r>
              <a:rPr lang="fr-FR" dirty="0"/>
              <a:t>BUT if </a:t>
            </a:r>
            <a:r>
              <a:rPr lang="fr-FR" dirty="0" err="1"/>
              <a:t>your</a:t>
            </a:r>
            <a:r>
              <a:rPr lang="fr-FR" dirty="0"/>
              <a:t> </a:t>
            </a:r>
            <a:r>
              <a:rPr lang="fr-FR" dirty="0" err="1"/>
              <a:t>subset</a:t>
            </a:r>
            <a:r>
              <a:rPr lang="fr-FR" dirty="0"/>
              <a:t> A </a:t>
            </a:r>
            <a:r>
              <a:rPr lang="fr-FR" dirty="0" err="1"/>
              <a:t>includes</a:t>
            </a:r>
            <a:r>
              <a:rPr lang="fr-FR" dirty="0"/>
              <a:t> </a:t>
            </a:r>
            <a:r>
              <a:rPr lang="fr-FR" dirty="0" err="1"/>
              <a:t>some</a:t>
            </a:r>
            <a:r>
              <a:rPr lang="fr-FR" dirty="0"/>
              <a:t> </a:t>
            </a:r>
            <a:r>
              <a:rPr lang="fr-FR" dirty="0" err="1"/>
              <a:t>very</a:t>
            </a:r>
            <a:r>
              <a:rPr lang="fr-FR" dirty="0"/>
              <a:t> </a:t>
            </a:r>
            <a:r>
              <a:rPr lang="fr-FR" dirty="0" err="1"/>
              <a:t>endogenous</a:t>
            </a:r>
            <a:r>
              <a:rPr lang="fr-FR" dirty="0"/>
              <a:t> instrument, </a:t>
            </a:r>
            <a:r>
              <a:rPr lang="fr-FR" dirty="0" err="1"/>
              <a:t>you</a:t>
            </a:r>
            <a:r>
              <a:rPr lang="fr-FR" dirty="0"/>
              <a:t> </a:t>
            </a:r>
            <a:r>
              <a:rPr lang="fr-FR" dirty="0" err="1"/>
              <a:t>will</a:t>
            </a:r>
            <a:r>
              <a:rPr lang="fr-FR" dirty="0"/>
              <a:t> </a:t>
            </a:r>
            <a:r>
              <a:rPr lang="fr-FR" dirty="0" err="1"/>
              <a:t>accept</a:t>
            </a:r>
            <a:r>
              <a:rPr lang="fr-FR" dirty="0"/>
              <a:t> to </a:t>
            </a:r>
            <a:r>
              <a:rPr lang="fr-FR" dirty="0" err="1"/>
              <a:t>add</a:t>
            </a:r>
            <a:r>
              <a:rPr lang="fr-FR" dirty="0"/>
              <a:t> </a:t>
            </a:r>
            <a:r>
              <a:rPr lang="fr-FR" dirty="0" err="1"/>
              <a:t>another</a:t>
            </a:r>
            <a:r>
              <a:rPr lang="fr-FR" dirty="0"/>
              <a:t> </a:t>
            </a:r>
            <a:r>
              <a:rPr lang="fr-FR" dirty="0" err="1"/>
              <a:t>endogenous</a:t>
            </a:r>
            <a:r>
              <a:rPr lang="fr-FR" dirty="0"/>
              <a:t> instrument B in the </a:t>
            </a:r>
            <a:r>
              <a:rPr lang="fr-FR" dirty="0" err="1"/>
              <a:t>family</a:t>
            </a:r>
            <a:r>
              <a:rPr lang="fr-FR" dirty="0"/>
              <a:t> A</a:t>
            </a:r>
            <a:r>
              <a:rPr lang="pt-BR" dirty="0">
                <a:latin typeface="Cambria Math" panose="02040503050406030204" pitchFamily="18" charset="0"/>
                <a:ea typeface="Cambria Math" panose="02040503050406030204" pitchFamily="18" charset="0"/>
              </a:rPr>
              <a:t>⋃</a:t>
            </a:r>
            <a:r>
              <a:rPr lang="fr-FR" dirty="0"/>
              <a:t>B. </a:t>
            </a:r>
          </a:p>
          <a:p>
            <a:pPr marL="0" indent="0">
              <a:buNone/>
            </a:pPr>
            <a:r>
              <a:rPr lang="fr-FR" b="1" dirty="0"/>
              <a:t>So </a:t>
            </a:r>
            <a:r>
              <a:rPr lang="fr-FR" b="1" dirty="0" err="1"/>
              <a:t>be</a:t>
            </a:r>
            <a:r>
              <a:rPr lang="fr-FR" b="1" dirty="0"/>
              <a:t> CAUTIOUS, </a:t>
            </a:r>
            <a:r>
              <a:rPr lang="fr-FR" b="1" dirty="0" err="1"/>
              <a:t>those</a:t>
            </a:r>
            <a:r>
              <a:rPr lang="fr-FR" b="1" dirty="0"/>
              <a:t> tests are </a:t>
            </a:r>
            <a:r>
              <a:rPr lang="fr-FR" b="1" dirty="0" err="1"/>
              <a:t>automatically</a:t>
            </a:r>
            <a:r>
              <a:rPr lang="fr-FR" b="1" dirty="0"/>
              <a:t> </a:t>
            </a:r>
            <a:r>
              <a:rPr lang="fr-FR" b="1" dirty="0" err="1"/>
              <a:t>proposed</a:t>
            </a:r>
            <a:r>
              <a:rPr lang="fr-FR" b="1" dirty="0"/>
              <a:t> in Stata </a:t>
            </a:r>
            <a:r>
              <a:rPr lang="fr-FR" b="1" dirty="0" err="1"/>
              <a:t>interverting</a:t>
            </a:r>
            <a:r>
              <a:rPr lang="fr-FR" b="1" dirty="0"/>
              <a:t> A and B WITHOUT </a:t>
            </a:r>
            <a:r>
              <a:rPr lang="fr-FR" b="1" dirty="0" err="1"/>
              <a:t>pre-testing</a:t>
            </a:r>
            <a:r>
              <a:rPr lang="fr-FR" b="1" dirty="0"/>
              <a:t> ifs A or B </a:t>
            </a:r>
            <a:r>
              <a:rPr lang="fr-FR" b="1" dirty="0" err="1"/>
              <a:t>is</a:t>
            </a:r>
            <a:r>
              <a:rPr lang="fr-FR" b="1" dirty="0"/>
              <a:t> </a:t>
            </a:r>
            <a:r>
              <a:rPr lang="fr-FR" b="1" dirty="0" err="1"/>
              <a:t>exogenous</a:t>
            </a:r>
            <a:r>
              <a:rPr lang="fr-FR" b="1" dirty="0"/>
              <a:t>.</a:t>
            </a:r>
            <a:endParaRPr lang="en-GB" b="1" dirty="0"/>
          </a:p>
        </p:txBody>
      </p:sp>
    </p:spTree>
    <p:extLst>
      <p:ext uri="{BB962C8B-B14F-4D97-AF65-F5344CB8AC3E}">
        <p14:creationId xmlns:p14="http://schemas.microsoft.com/office/powerpoint/2010/main" val="3226206432"/>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GMM system doubles the </a:t>
            </a:r>
            <a:r>
              <a:rPr lang="fr-FR" dirty="0" err="1"/>
              <a:t>number</a:t>
            </a:r>
            <a:r>
              <a:rPr lang="fr-FR" dirty="0"/>
              <a:t> of </a:t>
            </a:r>
            <a:r>
              <a:rPr lang="fr-FR" dirty="0" err="1"/>
              <a:t>equations</a:t>
            </a:r>
            <a:r>
              <a:rPr lang="fr-FR" dirty="0"/>
              <a:t> and of </a:t>
            </a:r>
            <a:r>
              <a:rPr lang="fr-FR" dirty="0" err="1"/>
              <a:t>instrumetns</a:t>
            </a:r>
            <a:endParaRPr lang="fr-FR" dirty="0"/>
          </a:p>
        </p:txBody>
      </p:sp>
      <p:sp>
        <p:nvSpPr>
          <p:cNvPr id="3" name="Espace réservé du contenu 2"/>
          <p:cNvSpPr>
            <a:spLocks noGrp="1"/>
          </p:cNvSpPr>
          <p:nvPr>
            <p:ph idx="1"/>
          </p:nvPr>
        </p:nvSpPr>
        <p:spPr/>
        <p:txBody>
          <a:bodyPr/>
          <a:lstStyle/>
          <a:p>
            <a:pPr marL="0" indent="0">
              <a:buNone/>
            </a:pPr>
            <a:r>
              <a:rPr lang="fr-FR" dirty="0"/>
              <a:t>GMM system:</a:t>
            </a:r>
          </a:p>
          <a:p>
            <a:pPr marL="0" indent="0">
              <a:buNone/>
            </a:pPr>
            <a:r>
              <a:rPr lang="fr-FR" dirty="0"/>
              <a:t>Instrument first </a:t>
            </a:r>
            <a:r>
              <a:rPr lang="fr-FR" dirty="0" err="1"/>
              <a:t>differences</a:t>
            </a:r>
            <a:r>
              <a:rPr lang="fr-FR" dirty="0"/>
              <a:t> by </a:t>
            </a:r>
            <a:r>
              <a:rPr lang="fr-FR" dirty="0" err="1"/>
              <a:t>lagged</a:t>
            </a:r>
            <a:r>
              <a:rPr lang="fr-FR" dirty="0"/>
              <a:t> </a:t>
            </a:r>
            <a:r>
              <a:rPr lang="fr-FR" dirty="0" err="1"/>
              <a:t>levels</a:t>
            </a:r>
            <a:endParaRPr lang="fr-FR" dirty="0"/>
          </a:p>
          <a:p>
            <a:pPr marL="0" indent="0">
              <a:buNone/>
            </a:pPr>
            <a:r>
              <a:rPr lang="fr-FR" dirty="0"/>
              <a:t>(GMM first </a:t>
            </a:r>
            <a:r>
              <a:rPr lang="fr-FR" dirty="0" err="1"/>
              <a:t>differences</a:t>
            </a:r>
            <a:r>
              <a:rPr lang="fr-FR" dirty="0"/>
              <a:t>).</a:t>
            </a:r>
          </a:p>
          <a:p>
            <a:pPr marL="0" indent="0">
              <a:buNone/>
            </a:pPr>
            <a:r>
              <a:rPr lang="fr-FR" dirty="0"/>
              <a:t>AND </a:t>
            </a:r>
          </a:p>
          <a:p>
            <a:pPr marL="0" indent="0">
              <a:buNone/>
            </a:pPr>
            <a:r>
              <a:rPr lang="fr-FR" dirty="0"/>
              <a:t>Instrument </a:t>
            </a:r>
            <a:r>
              <a:rPr lang="fr-FR" dirty="0" err="1"/>
              <a:t>levels</a:t>
            </a:r>
            <a:r>
              <a:rPr lang="fr-FR" dirty="0"/>
              <a:t> by </a:t>
            </a:r>
            <a:r>
              <a:rPr lang="fr-FR" dirty="0" err="1"/>
              <a:t>lagged</a:t>
            </a:r>
            <a:r>
              <a:rPr lang="fr-FR" dirty="0"/>
              <a:t> first </a:t>
            </a:r>
            <a:r>
              <a:rPr lang="fr-FR" dirty="0" err="1"/>
              <a:t>differences</a:t>
            </a:r>
            <a:r>
              <a:rPr lang="fr-FR" dirty="0"/>
              <a:t>.</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4245487501"/>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Weaknesses</a:t>
            </a:r>
            <a:r>
              <a:rPr lang="fr-FR" dirty="0"/>
              <a:t> of GMM</a:t>
            </a:r>
          </a:p>
        </p:txBody>
      </p:sp>
      <p:sp>
        <p:nvSpPr>
          <p:cNvPr id="3" name="Espace réservé du contenu 2"/>
          <p:cNvSpPr>
            <a:spLocks noGrp="1"/>
          </p:cNvSpPr>
          <p:nvPr>
            <p:ph idx="1"/>
          </p:nvPr>
        </p:nvSpPr>
        <p:spPr/>
        <p:txBody>
          <a:bodyPr>
            <a:normAutofit fontScale="85000" lnSpcReduction="10000"/>
          </a:bodyPr>
          <a:lstStyle/>
          <a:p>
            <a:pPr marL="0" indent="0" algn="just">
              <a:buNone/>
            </a:pPr>
            <a:r>
              <a:rPr lang="fr-FR" dirty="0" err="1"/>
              <a:t>Weak</a:t>
            </a:r>
            <a:r>
              <a:rPr lang="fr-FR" dirty="0"/>
              <a:t> instruments: If unit </a:t>
            </a:r>
            <a:r>
              <a:rPr lang="fr-FR" dirty="0" err="1"/>
              <a:t>root</a:t>
            </a:r>
            <a:r>
              <a:rPr lang="fr-FR" dirty="0"/>
              <a:t> but not </a:t>
            </a:r>
            <a:r>
              <a:rPr lang="fr-FR" dirty="0" err="1"/>
              <a:t>only</a:t>
            </a:r>
            <a:r>
              <a:rPr lang="fr-FR" dirty="0"/>
              <a:t>, </a:t>
            </a:r>
            <a:r>
              <a:rPr lang="fr-FR" dirty="0" err="1"/>
              <a:t>lagged</a:t>
            </a:r>
            <a:r>
              <a:rPr lang="fr-FR" dirty="0"/>
              <a:t> </a:t>
            </a:r>
            <a:r>
              <a:rPr lang="fr-FR" dirty="0" err="1"/>
              <a:t>levels</a:t>
            </a:r>
            <a:r>
              <a:rPr lang="fr-FR" dirty="0"/>
              <a:t> are </a:t>
            </a:r>
            <a:r>
              <a:rPr lang="fr-FR" dirty="0" err="1"/>
              <a:t>weakly</a:t>
            </a:r>
            <a:r>
              <a:rPr lang="fr-FR" dirty="0"/>
              <a:t> </a:t>
            </a:r>
            <a:r>
              <a:rPr lang="fr-FR" dirty="0" err="1"/>
              <a:t>correlated</a:t>
            </a:r>
            <a:r>
              <a:rPr lang="fr-FR" dirty="0"/>
              <a:t> </a:t>
            </a:r>
            <a:r>
              <a:rPr lang="fr-FR" dirty="0" err="1"/>
              <a:t>with</a:t>
            </a:r>
            <a:r>
              <a:rPr lang="fr-FR" dirty="0"/>
              <a:t> first </a:t>
            </a:r>
            <a:r>
              <a:rPr lang="fr-FR" dirty="0" err="1"/>
              <a:t>differences</a:t>
            </a:r>
            <a:r>
              <a:rPr lang="fr-FR" dirty="0"/>
              <a:t> and </a:t>
            </a:r>
            <a:r>
              <a:rPr lang="fr-FR" dirty="0" err="1"/>
              <a:t>conversely</a:t>
            </a:r>
            <a:r>
              <a:rPr lang="fr-FR" dirty="0"/>
              <a:t>.</a:t>
            </a:r>
          </a:p>
          <a:p>
            <a:pPr marL="0" indent="0" algn="just">
              <a:buNone/>
            </a:pPr>
            <a:r>
              <a:rPr lang="fr-FR" dirty="0" err="1"/>
              <a:t>Exogeneity</a:t>
            </a:r>
            <a:r>
              <a:rPr lang="fr-FR" dirty="0"/>
              <a:t> test </a:t>
            </a:r>
            <a:r>
              <a:rPr lang="fr-FR" dirty="0" err="1"/>
              <a:t>biased</a:t>
            </a:r>
            <a:r>
              <a:rPr lang="fr-FR" dirty="0"/>
              <a:t> </a:t>
            </a:r>
            <a:r>
              <a:rPr lang="fr-FR" dirty="0" err="1"/>
              <a:t>with</a:t>
            </a:r>
            <a:r>
              <a:rPr lang="fr-FR" dirty="0"/>
              <a:t> </a:t>
            </a:r>
            <a:r>
              <a:rPr lang="fr-FR" dirty="0" err="1"/>
              <a:t>too</a:t>
            </a:r>
            <a:r>
              <a:rPr lang="fr-FR" dirty="0"/>
              <a:t> </a:t>
            </a:r>
            <a:r>
              <a:rPr lang="fr-FR" dirty="0" err="1"/>
              <a:t>many</a:t>
            </a:r>
            <a:r>
              <a:rPr lang="fr-FR" dirty="0"/>
              <a:t> instruments (instruments are </a:t>
            </a:r>
            <a:r>
              <a:rPr lang="fr-FR" dirty="0" err="1"/>
              <a:t>counter</a:t>
            </a:r>
            <a:r>
              <a:rPr lang="fr-FR" dirty="0"/>
              <a:t> by </a:t>
            </a:r>
            <a:r>
              <a:rPr lang="fr-FR" dirty="0" err="1"/>
              <a:t>period</a:t>
            </a:r>
            <a:r>
              <a:rPr lang="fr-FR" dirty="0"/>
              <a:t>: m </a:t>
            </a:r>
            <a:r>
              <a:rPr lang="fr-FR" dirty="0" err="1"/>
              <a:t>lags</a:t>
            </a:r>
            <a:r>
              <a:rPr lang="fr-FR" dirty="0"/>
              <a:t> x T-3 </a:t>
            </a:r>
            <a:r>
              <a:rPr lang="fr-FR" dirty="0" err="1"/>
              <a:t>periods</a:t>
            </a:r>
            <a:r>
              <a:rPr lang="fr-FR" dirty="0"/>
              <a:t> x k </a:t>
            </a:r>
            <a:r>
              <a:rPr lang="fr-FR" dirty="0" err="1"/>
              <a:t>explanatory</a:t>
            </a:r>
            <a:r>
              <a:rPr lang="fr-FR" dirty="0"/>
              <a:t> variables </a:t>
            </a:r>
            <a:r>
              <a:rPr lang="fr-FR" dirty="0" err="1"/>
              <a:t>with</a:t>
            </a:r>
            <a:r>
              <a:rPr lang="fr-FR" dirty="0"/>
              <a:t> </a:t>
            </a:r>
            <a:r>
              <a:rPr lang="fr-FR" dirty="0" err="1"/>
              <a:t>lags</a:t>
            </a:r>
            <a:r>
              <a:rPr lang="fr-FR" dirty="0"/>
              <a:t>+ 1 </a:t>
            </a:r>
            <a:r>
              <a:rPr lang="fr-FR" dirty="0" err="1"/>
              <a:t>lagged</a:t>
            </a:r>
            <a:r>
              <a:rPr lang="fr-FR" dirty="0"/>
              <a:t> </a:t>
            </a:r>
            <a:r>
              <a:rPr lang="fr-FR" dirty="0" err="1"/>
              <a:t>dependent</a:t>
            </a:r>
            <a:r>
              <a:rPr lang="fr-FR" dirty="0"/>
              <a:t> variables) : 800 instruments for NT=1000 observations </a:t>
            </a:r>
            <a:r>
              <a:rPr lang="fr-FR" dirty="0" err="1"/>
              <a:t>may</a:t>
            </a:r>
            <a:r>
              <a:rPr lang="fr-FR" dirty="0"/>
              <a:t> </a:t>
            </a:r>
            <a:r>
              <a:rPr lang="fr-FR" dirty="0" err="1"/>
              <a:t>happen</a:t>
            </a:r>
            <a:r>
              <a:rPr lang="fr-FR" dirty="0"/>
              <a:t>. </a:t>
            </a:r>
          </a:p>
          <a:p>
            <a:pPr marL="0" indent="0" algn="just">
              <a:buNone/>
            </a:pPr>
            <a:r>
              <a:rPr lang="fr-FR" dirty="0"/>
              <a:t>A (</a:t>
            </a:r>
            <a:r>
              <a:rPr lang="fr-FR" dirty="0" err="1"/>
              <a:t>weak</a:t>
            </a:r>
            <a:r>
              <a:rPr lang="fr-FR" dirty="0"/>
              <a:t>) </a:t>
            </a:r>
            <a:r>
              <a:rPr lang="fr-FR" dirty="0" err="1"/>
              <a:t>rule</a:t>
            </a:r>
            <a:r>
              <a:rPr lang="fr-FR" dirty="0"/>
              <a:t> of </a:t>
            </a:r>
            <a:r>
              <a:rPr lang="fr-FR" dirty="0" err="1"/>
              <a:t>thumb</a:t>
            </a:r>
            <a:r>
              <a:rPr lang="fr-FR" dirty="0"/>
              <a:t> </a:t>
            </a:r>
            <a:r>
              <a:rPr lang="fr-FR" dirty="0" err="1"/>
              <a:t>is</a:t>
            </a:r>
            <a:r>
              <a:rPr lang="fr-FR" dirty="0"/>
              <a:t> </a:t>
            </a:r>
            <a:r>
              <a:rPr lang="fr-FR" dirty="0" err="1"/>
              <a:t>that</a:t>
            </a:r>
            <a:r>
              <a:rPr lang="fr-FR" dirty="0"/>
              <a:t> the </a:t>
            </a:r>
            <a:r>
              <a:rPr lang="fr-FR" dirty="0" err="1"/>
              <a:t>number</a:t>
            </a:r>
            <a:r>
              <a:rPr lang="fr-FR" dirty="0"/>
              <a:t> of instruments </a:t>
            </a:r>
            <a:r>
              <a:rPr lang="fr-FR" dirty="0" err="1"/>
              <a:t>should</a:t>
            </a:r>
            <a:r>
              <a:rPr lang="fr-FR" dirty="0"/>
              <a:t> </a:t>
            </a:r>
            <a:r>
              <a:rPr lang="fr-FR" dirty="0" err="1"/>
              <a:t>be</a:t>
            </a:r>
            <a:r>
              <a:rPr lang="fr-FR" dirty="0"/>
              <a:t> at least </a:t>
            </a:r>
            <a:r>
              <a:rPr lang="fr-FR" dirty="0" err="1"/>
              <a:t>below</a:t>
            </a:r>
            <a:r>
              <a:rPr lang="fr-FR" dirty="0"/>
              <a:t> N. But </a:t>
            </a:r>
            <a:r>
              <a:rPr lang="fr-FR" dirty="0" err="1"/>
              <a:t>what</a:t>
            </a:r>
            <a:r>
              <a:rPr lang="fr-FR" dirty="0"/>
              <a:t> </a:t>
            </a:r>
            <a:r>
              <a:rPr lang="fr-FR" dirty="0" err="1"/>
              <a:t>is</a:t>
            </a:r>
            <a:r>
              <a:rPr lang="fr-FR" dirty="0"/>
              <a:t> N N=1 million… </a:t>
            </a:r>
          </a:p>
        </p:txBody>
      </p:sp>
    </p:spTree>
    <p:extLst>
      <p:ext uri="{BB962C8B-B14F-4D97-AF65-F5344CB8AC3E}">
        <p14:creationId xmlns:p14="http://schemas.microsoft.com/office/powerpoint/2010/main" val="82313987"/>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Weaknesses</a:t>
            </a:r>
            <a:r>
              <a:rPr lang="fr-FR" dirty="0"/>
              <a:t> </a:t>
            </a:r>
            <a:r>
              <a:rPr lang="fr-FR" dirty="0" err="1"/>
              <a:t>continued</a:t>
            </a:r>
            <a:endParaRPr lang="en-GB"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FR" dirty="0" err="1"/>
              <a:t>Doing</a:t>
            </a:r>
            <a:r>
              <a:rPr lang="fr-FR" dirty="0"/>
              <a:t> multiple </a:t>
            </a:r>
            <a:r>
              <a:rPr lang="fr-FR" dirty="0" err="1"/>
              <a:t>testing</a:t>
            </a:r>
            <a:r>
              <a:rPr lang="fr-FR" dirty="0"/>
              <a:t> </a:t>
            </a:r>
            <a:r>
              <a:rPr lang="fr-FR" dirty="0" err="1"/>
              <a:t>with</a:t>
            </a:r>
            <a:r>
              <a:rPr lang="fr-FR" dirty="0"/>
              <a:t> multiple sets of </a:t>
            </a:r>
            <a:r>
              <a:rPr lang="fr-FR" dirty="0" err="1"/>
              <a:t>lagged</a:t>
            </a:r>
            <a:r>
              <a:rPr lang="fr-FR" dirty="0"/>
              <a:t> instrument leads to a </a:t>
            </a:r>
            <a:r>
              <a:rPr lang="fr-FR" dirty="0" err="1"/>
              <a:t>stream</a:t>
            </a:r>
            <a:r>
              <a:rPr lang="fr-FR" dirty="0"/>
              <a:t> of </a:t>
            </a:r>
            <a:r>
              <a:rPr lang="fr-FR" dirty="0" err="1"/>
              <a:t>highly</a:t>
            </a:r>
            <a:r>
              <a:rPr lang="fr-FR" dirty="0"/>
              <a:t> </a:t>
            </a:r>
            <a:r>
              <a:rPr lang="fr-FR" dirty="0" err="1"/>
              <a:t>unstable</a:t>
            </a:r>
            <a:r>
              <a:rPr lang="fr-FR" dirty="0"/>
              <a:t> </a:t>
            </a:r>
            <a:r>
              <a:rPr lang="fr-FR" dirty="0" err="1"/>
              <a:t>parameter</a:t>
            </a:r>
            <a:r>
              <a:rPr lang="fr-FR" dirty="0"/>
              <a:t> </a:t>
            </a:r>
            <a:r>
              <a:rPr lang="fr-FR" dirty="0" err="1"/>
              <a:t>estimates</a:t>
            </a:r>
            <a:r>
              <a:rPr lang="fr-FR" dirty="0"/>
              <a:t> </a:t>
            </a:r>
            <a:r>
              <a:rPr lang="fr-FR" dirty="0" err="1"/>
              <a:t>varying</a:t>
            </a:r>
            <a:r>
              <a:rPr lang="fr-FR" dirty="0"/>
              <a:t> </a:t>
            </a:r>
            <a:r>
              <a:rPr lang="fr-FR" dirty="0" err="1"/>
              <a:t>widely</a:t>
            </a:r>
            <a:r>
              <a:rPr lang="fr-FR" dirty="0"/>
              <a:t>.</a:t>
            </a:r>
          </a:p>
          <a:p>
            <a:pPr marL="0" indent="0">
              <a:buNone/>
            </a:pPr>
            <a:r>
              <a:rPr lang="fr-FR" dirty="0" err="1"/>
              <a:t>Anybody</a:t>
            </a:r>
            <a:r>
              <a:rPr lang="fr-FR" dirty="0"/>
              <a:t> </a:t>
            </a:r>
            <a:r>
              <a:rPr lang="fr-FR" dirty="0" err="1"/>
              <a:t>can</a:t>
            </a:r>
            <a:r>
              <a:rPr lang="fr-FR" dirty="0"/>
              <a:t> </a:t>
            </a:r>
            <a:r>
              <a:rPr lang="fr-FR" dirty="0" err="1"/>
              <a:t>find</a:t>
            </a:r>
            <a:r>
              <a:rPr lang="fr-FR" dirty="0"/>
              <a:t> </a:t>
            </a:r>
            <a:r>
              <a:rPr lang="fr-FR" dirty="0" err="1"/>
              <a:t>any</a:t>
            </a:r>
            <a:r>
              <a:rPr lang="fr-FR" dirty="0"/>
              <a:t> value of the </a:t>
            </a:r>
            <a:r>
              <a:rPr lang="fr-FR" dirty="0" err="1"/>
              <a:t>parameters</a:t>
            </a:r>
            <a:r>
              <a:rPr lang="fr-FR" dirty="0"/>
              <a:t> (</a:t>
            </a:r>
            <a:r>
              <a:rPr lang="fr-FR" dirty="0" err="1"/>
              <a:t>which</a:t>
            </a:r>
            <a:r>
              <a:rPr lang="fr-FR" dirty="0"/>
              <a:t> </a:t>
            </a:r>
            <a:r>
              <a:rPr lang="fr-FR" dirty="0" err="1"/>
              <a:t>is</a:t>
            </a:r>
            <a:r>
              <a:rPr lang="fr-FR" dirty="0"/>
              <a:t> </a:t>
            </a:r>
            <a:r>
              <a:rPr lang="fr-FR" dirty="0" err="1"/>
              <a:t>practical</a:t>
            </a:r>
            <a:r>
              <a:rPr lang="fr-FR" dirty="0"/>
              <a:t> for publication </a:t>
            </a:r>
            <a:r>
              <a:rPr lang="fr-FR" dirty="0" err="1"/>
              <a:t>bias</a:t>
            </a:r>
            <a:r>
              <a:rPr lang="fr-FR" dirty="0"/>
              <a:t>).</a:t>
            </a:r>
          </a:p>
          <a:p>
            <a:pPr marL="0" indent="0">
              <a:buNone/>
            </a:pPr>
            <a:endParaRPr lang="fr-FR" dirty="0"/>
          </a:p>
          <a:p>
            <a:pPr marL="0" indent="0">
              <a:buNone/>
            </a:pPr>
            <a:r>
              <a:rPr lang="fr-FR" dirty="0"/>
              <a:t>At the end, </a:t>
            </a:r>
            <a:r>
              <a:rPr lang="fr-FR" dirty="0" err="1"/>
              <a:t>you</a:t>
            </a:r>
            <a:r>
              <a:rPr lang="fr-FR" dirty="0"/>
              <a:t> </a:t>
            </a:r>
            <a:r>
              <a:rPr lang="fr-FR" dirty="0" err="1"/>
              <a:t>really</a:t>
            </a:r>
            <a:r>
              <a:rPr lang="fr-FR" dirty="0"/>
              <a:t> do not </a:t>
            </a:r>
            <a:r>
              <a:rPr lang="fr-FR" dirty="0" err="1"/>
              <a:t>understand</a:t>
            </a:r>
            <a:r>
              <a:rPr lang="fr-FR" dirty="0"/>
              <a:t> </a:t>
            </a:r>
            <a:r>
              <a:rPr lang="fr-FR" dirty="0" err="1"/>
              <a:t>what</a:t>
            </a:r>
            <a:r>
              <a:rPr lang="fr-FR" dirty="0"/>
              <a:t> </a:t>
            </a:r>
            <a:r>
              <a:rPr lang="fr-FR" dirty="0" err="1"/>
              <a:t>is</a:t>
            </a:r>
            <a:r>
              <a:rPr lang="fr-FR" dirty="0"/>
              <a:t> happening, as the software </a:t>
            </a:r>
            <a:r>
              <a:rPr lang="fr-FR" dirty="0" err="1"/>
              <a:t>does</a:t>
            </a:r>
            <a:r>
              <a:rPr lang="fr-FR" dirty="0"/>
              <a:t> not </a:t>
            </a:r>
            <a:r>
              <a:rPr lang="fr-FR" dirty="0" err="1"/>
              <a:t>provide</a:t>
            </a:r>
            <a:r>
              <a:rPr lang="fr-FR" dirty="0"/>
              <a:t> first stage estimations (as in IVREG) for </a:t>
            </a:r>
            <a:r>
              <a:rPr lang="fr-FR" dirty="0" err="1"/>
              <a:t>weak</a:t>
            </a:r>
            <a:r>
              <a:rPr lang="fr-FR" dirty="0"/>
              <a:t> instruments.</a:t>
            </a:r>
          </a:p>
          <a:p>
            <a:pPr marL="0" indent="0">
              <a:buNone/>
            </a:pPr>
            <a:endParaRPr lang="en-GB" dirty="0"/>
          </a:p>
        </p:txBody>
      </p:sp>
    </p:spTree>
    <p:extLst>
      <p:ext uri="{BB962C8B-B14F-4D97-AF65-F5344CB8AC3E}">
        <p14:creationId xmlns:p14="http://schemas.microsoft.com/office/powerpoint/2010/main" val="2428210391"/>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dirty="0"/>
              <a:t> GMM </a:t>
            </a:r>
            <a:r>
              <a:rPr lang="fr-FR" sz="3600" dirty="0" err="1"/>
              <a:t>Success</a:t>
            </a:r>
            <a:r>
              <a:rPr lang="fr-FR" sz="3600" dirty="0"/>
              <a:t> </a:t>
            </a:r>
            <a:r>
              <a:rPr lang="fr-FR" sz="3600" dirty="0" err="1"/>
              <a:t>decade</a:t>
            </a:r>
            <a:r>
              <a:rPr lang="fr-FR" sz="3600" dirty="0"/>
              <a:t> 2000 </a:t>
            </a:r>
            <a:r>
              <a:rPr lang="fr-FR" sz="3600" dirty="0" err="1"/>
              <a:t>with</a:t>
            </a:r>
            <a:r>
              <a:rPr lang="fr-FR" sz="3600" dirty="0"/>
              <a:t> multiple </a:t>
            </a:r>
            <a:r>
              <a:rPr lang="fr-FR" sz="3600" dirty="0" err="1"/>
              <a:t>testing</a:t>
            </a:r>
            <a:r>
              <a:rPr lang="fr-FR" sz="3600" dirty="0"/>
              <a:t> </a:t>
            </a:r>
            <a:r>
              <a:rPr lang="fr-FR" sz="3600" dirty="0" err="1"/>
              <a:t>without</a:t>
            </a:r>
            <a:r>
              <a:rPr lang="fr-FR" sz="3600" dirty="0"/>
              <a:t> </a:t>
            </a:r>
            <a:r>
              <a:rPr lang="fr-FR" sz="3600" dirty="0" err="1"/>
              <a:t>Bonferroni</a:t>
            </a:r>
            <a:r>
              <a:rPr lang="fr-FR" sz="3600" dirty="0"/>
              <a:t> correction.</a:t>
            </a:r>
          </a:p>
        </p:txBody>
      </p:sp>
      <p:sp>
        <p:nvSpPr>
          <p:cNvPr id="3" name="Espace réservé du contenu 2"/>
          <p:cNvSpPr>
            <a:spLocks noGrp="1"/>
          </p:cNvSpPr>
          <p:nvPr>
            <p:ph idx="1"/>
          </p:nvPr>
        </p:nvSpPr>
        <p:spPr/>
        <p:txBody>
          <a:bodyPr>
            <a:normAutofit lnSpcReduction="10000"/>
          </a:bodyPr>
          <a:lstStyle/>
          <a:p>
            <a:pPr marL="0" indent="0">
              <a:buNone/>
            </a:pPr>
            <a:r>
              <a:rPr lang="fr-FR" dirty="0" err="1"/>
              <a:t>After</a:t>
            </a:r>
            <a:r>
              <a:rPr lang="fr-FR" dirty="0"/>
              <a:t> Gauss version, David </a:t>
            </a:r>
            <a:r>
              <a:rPr lang="fr-FR" dirty="0" err="1"/>
              <a:t>Roodman</a:t>
            </a:r>
            <a:r>
              <a:rPr lang="fr-FR" dirty="0"/>
              <a:t> </a:t>
            </a:r>
            <a:r>
              <a:rPr lang="fr-FR" dirty="0" err="1"/>
              <a:t>coded</a:t>
            </a:r>
            <a:r>
              <a:rPr lang="fr-FR" dirty="0"/>
              <a:t> xtabond2 for Stata.</a:t>
            </a:r>
          </a:p>
          <a:p>
            <a:pPr marL="0" indent="0">
              <a:buNone/>
            </a:pPr>
            <a:r>
              <a:rPr lang="fr-FR" dirty="0" err="1"/>
              <a:t>Widely</a:t>
            </a:r>
            <a:r>
              <a:rPr lang="fr-FR" dirty="0"/>
              <a:t> </a:t>
            </a:r>
            <a:r>
              <a:rPr lang="fr-FR" dirty="0" err="1"/>
              <a:t>used</a:t>
            </a:r>
            <a:r>
              <a:rPr lang="fr-FR" dirty="0"/>
              <a:t> at World Bank and in </a:t>
            </a:r>
            <a:r>
              <a:rPr lang="fr-FR" dirty="0" err="1"/>
              <a:t>academia</a:t>
            </a:r>
            <a:r>
              <a:rPr lang="fr-FR" dirty="0"/>
              <a:t>.</a:t>
            </a:r>
          </a:p>
          <a:p>
            <a:pPr marL="0" indent="0" algn="just">
              <a:buNone/>
            </a:pPr>
            <a:r>
              <a:rPr lang="fr-FR" dirty="0"/>
              <a:t>P-Hacking by multiple </a:t>
            </a:r>
            <a:r>
              <a:rPr lang="fr-FR" dirty="0" err="1"/>
              <a:t>comparisons</a:t>
            </a:r>
            <a:r>
              <a:rPr lang="fr-FR" dirty="0"/>
              <a:t> (multiple </a:t>
            </a:r>
            <a:r>
              <a:rPr lang="fr-FR" dirty="0" err="1"/>
              <a:t>testing</a:t>
            </a:r>
            <a:r>
              <a:rPr lang="fr-FR" dirty="0"/>
              <a:t>) </a:t>
            </a:r>
            <a:r>
              <a:rPr lang="fr-FR" dirty="0" err="1"/>
              <a:t>using</a:t>
            </a:r>
            <a:r>
              <a:rPr lang="fr-FR" dirty="0"/>
              <a:t> </a:t>
            </a:r>
            <a:r>
              <a:rPr lang="fr-FR" dirty="0" err="1"/>
              <a:t>many</a:t>
            </a:r>
            <a:r>
              <a:rPr lang="fr-FR" dirty="0"/>
              <a:t> </a:t>
            </a:r>
            <a:r>
              <a:rPr lang="fr-FR" dirty="0" err="1"/>
              <a:t>combinations</a:t>
            </a:r>
            <a:r>
              <a:rPr lang="fr-FR" dirty="0"/>
              <a:t> of instruments </a:t>
            </a:r>
            <a:r>
              <a:rPr lang="fr-FR" dirty="0" err="1"/>
              <a:t>without</a:t>
            </a:r>
            <a:r>
              <a:rPr lang="fr-FR" dirty="0"/>
              <a:t> </a:t>
            </a:r>
            <a:r>
              <a:rPr lang="fr-FR" dirty="0" err="1"/>
              <a:t>dividing</a:t>
            </a:r>
            <a:r>
              <a:rPr lang="fr-FR" dirty="0"/>
              <a:t> the 5% </a:t>
            </a:r>
            <a:r>
              <a:rPr lang="fr-FR" dirty="0" err="1"/>
              <a:t>threshold</a:t>
            </a:r>
            <a:r>
              <a:rPr lang="fr-FR" dirty="0"/>
              <a:t> by the </a:t>
            </a:r>
            <a:r>
              <a:rPr lang="fr-FR" dirty="0" err="1"/>
              <a:t>number</a:t>
            </a:r>
            <a:r>
              <a:rPr lang="fr-FR" dirty="0"/>
              <a:t> of trials (</a:t>
            </a:r>
            <a:r>
              <a:rPr lang="fr-FR" dirty="0" err="1"/>
              <a:t>Bonferroni</a:t>
            </a:r>
            <a:r>
              <a:rPr lang="fr-FR" dirty="0"/>
              <a:t> correction). The </a:t>
            </a:r>
            <a:r>
              <a:rPr lang="fr-FR" dirty="0" err="1"/>
              <a:t>usual</a:t>
            </a:r>
            <a:r>
              <a:rPr lang="fr-FR" dirty="0"/>
              <a:t> practice </a:t>
            </a:r>
            <a:r>
              <a:rPr lang="fr-FR" dirty="0" err="1"/>
              <a:t>was</a:t>
            </a:r>
            <a:r>
              <a:rPr lang="fr-FR" dirty="0"/>
              <a:t> up to </a:t>
            </a:r>
            <a:r>
              <a:rPr lang="fr-FR" dirty="0" err="1"/>
              <a:t>several</a:t>
            </a:r>
            <a:r>
              <a:rPr lang="fr-FR" dirty="0"/>
              <a:t> </a:t>
            </a:r>
            <a:r>
              <a:rPr lang="fr-FR" dirty="0" err="1"/>
              <a:t>hours</a:t>
            </a:r>
            <a:r>
              <a:rPr lang="fr-FR" dirty="0"/>
              <a:t> of trial and </a:t>
            </a:r>
            <a:r>
              <a:rPr lang="fr-FR" dirty="0" err="1"/>
              <a:t>errors</a:t>
            </a:r>
            <a:r>
              <a:rPr lang="fr-FR" dirty="0"/>
              <a:t>.</a:t>
            </a:r>
          </a:p>
          <a:p>
            <a:pPr marL="0" indent="0">
              <a:buNone/>
            </a:pPr>
            <a:endParaRPr lang="fr-FR" dirty="0"/>
          </a:p>
        </p:txBody>
      </p:sp>
    </p:spTree>
    <p:extLst>
      <p:ext uri="{BB962C8B-B14F-4D97-AF65-F5344CB8AC3E}">
        <p14:creationId xmlns:p14="http://schemas.microsoft.com/office/powerpoint/2010/main" val="3656930855"/>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The </a:t>
            </a:r>
            <a:r>
              <a:rPr lang="fr-FR" dirty="0" err="1"/>
              <a:t>decline</a:t>
            </a:r>
            <a:r>
              <a:rPr lang="fr-FR" dirty="0"/>
              <a:t> of GMM panel </a:t>
            </a:r>
            <a:r>
              <a:rPr lang="fr-FR" dirty="0" err="1"/>
              <a:t>fashion</a:t>
            </a:r>
            <a:endParaRPr lang="fr-FR" dirty="0"/>
          </a:p>
        </p:txBody>
      </p:sp>
      <p:sp>
        <p:nvSpPr>
          <p:cNvPr id="3" name="Espace réservé du contenu 2"/>
          <p:cNvSpPr>
            <a:spLocks noGrp="1"/>
          </p:cNvSpPr>
          <p:nvPr>
            <p:ph idx="1"/>
          </p:nvPr>
        </p:nvSpPr>
        <p:spPr/>
        <p:txBody>
          <a:bodyPr>
            <a:normAutofit fontScale="92500" lnSpcReduction="10000"/>
          </a:bodyPr>
          <a:lstStyle/>
          <a:p>
            <a:pPr marL="0" indent="0" algn="just">
              <a:buNone/>
            </a:pPr>
            <a:r>
              <a:rPr lang="fr-FR" dirty="0" err="1"/>
              <a:t>Roodman</a:t>
            </a:r>
            <a:r>
              <a:rPr lang="fr-FR" dirty="0"/>
              <a:t> </a:t>
            </a:r>
            <a:r>
              <a:rPr lang="fr-FR" dirty="0" err="1"/>
              <a:t>published</a:t>
            </a:r>
            <a:r>
              <a:rPr lang="fr-FR" dirty="0"/>
              <a:t> « </a:t>
            </a:r>
            <a:r>
              <a:rPr lang="fr-FR" dirty="0" err="1"/>
              <a:t>too</a:t>
            </a:r>
            <a:r>
              <a:rPr lang="fr-FR" dirty="0"/>
              <a:t> </a:t>
            </a:r>
            <a:r>
              <a:rPr lang="fr-FR" dirty="0" err="1"/>
              <a:t>many</a:t>
            </a:r>
            <a:r>
              <a:rPr lang="fr-FR" dirty="0"/>
              <a:t> instruments ».</a:t>
            </a:r>
          </a:p>
          <a:p>
            <a:pPr marL="0" indent="0" algn="just">
              <a:buNone/>
            </a:pPr>
            <a:r>
              <a:rPr lang="fr-FR" dirty="0" err="1"/>
              <a:t>Research</a:t>
            </a:r>
            <a:r>
              <a:rPr lang="fr-FR" dirty="0"/>
              <a:t> in </a:t>
            </a:r>
            <a:r>
              <a:rPr lang="fr-FR" dirty="0" err="1"/>
              <a:t>development</a:t>
            </a:r>
            <a:r>
              <a:rPr lang="fr-FR" dirty="0"/>
              <a:t> </a:t>
            </a:r>
            <a:r>
              <a:rPr lang="fr-FR" dirty="0" err="1"/>
              <a:t>shifted</a:t>
            </a:r>
            <a:r>
              <a:rPr lang="fr-FR" dirty="0"/>
              <a:t> to </a:t>
            </a:r>
            <a:r>
              <a:rPr lang="fr-FR" dirty="0" err="1"/>
              <a:t>controlled</a:t>
            </a:r>
            <a:r>
              <a:rPr lang="fr-FR" dirty="0"/>
              <a:t> </a:t>
            </a:r>
            <a:r>
              <a:rPr lang="fr-FR" dirty="0" err="1"/>
              <a:t>experiments</a:t>
            </a:r>
            <a:r>
              <a:rPr lang="fr-FR" dirty="0"/>
              <a:t> </a:t>
            </a:r>
            <a:r>
              <a:rPr lang="fr-FR" dirty="0" err="1"/>
              <a:t>fashion</a:t>
            </a:r>
            <a:r>
              <a:rPr lang="fr-FR" dirty="0"/>
              <a:t>.</a:t>
            </a:r>
          </a:p>
          <a:p>
            <a:pPr marL="0" indent="0" algn="just">
              <a:buNone/>
            </a:pPr>
            <a:r>
              <a:rPr lang="fr-FR" dirty="0"/>
              <a:t>Focus on alternative </a:t>
            </a:r>
            <a:r>
              <a:rPr lang="fr-FR" dirty="0" err="1"/>
              <a:t>methods</a:t>
            </a:r>
            <a:r>
              <a:rPr lang="fr-FR" dirty="0"/>
              <a:t> and </a:t>
            </a:r>
            <a:r>
              <a:rPr lang="fr-FR" dirty="0" err="1"/>
              <a:t>estimators</a:t>
            </a:r>
            <a:r>
              <a:rPr lang="fr-FR" dirty="0"/>
              <a:t> </a:t>
            </a:r>
            <a:r>
              <a:rPr lang="fr-FR" dirty="0" err="1"/>
              <a:t>seeking</a:t>
            </a:r>
            <a:r>
              <a:rPr lang="fr-FR" dirty="0"/>
              <a:t> </a:t>
            </a:r>
            <a:r>
              <a:rPr lang="fr-FR" dirty="0" err="1"/>
              <a:t>other</a:t>
            </a:r>
            <a:r>
              <a:rPr lang="fr-FR" dirty="0"/>
              <a:t> IV or </a:t>
            </a:r>
            <a:r>
              <a:rPr lang="fr-FR" dirty="0" err="1"/>
              <a:t>improving</a:t>
            </a:r>
            <a:r>
              <a:rPr lang="fr-FR" dirty="0"/>
              <a:t> </a:t>
            </a:r>
            <a:r>
              <a:rPr lang="fr-FR" dirty="0" err="1"/>
              <a:t>differences</a:t>
            </a:r>
            <a:r>
              <a:rPr lang="fr-FR" dirty="0"/>
              <a:t> in </a:t>
            </a:r>
            <a:r>
              <a:rPr lang="fr-FR" dirty="0" err="1"/>
              <a:t>differences</a:t>
            </a:r>
            <a:r>
              <a:rPr lang="fr-FR" dirty="0"/>
              <a:t> for causal </a:t>
            </a:r>
            <a:r>
              <a:rPr lang="fr-FR" dirty="0" err="1"/>
              <a:t>factors</a:t>
            </a:r>
            <a:r>
              <a:rPr lang="fr-FR" dirty="0"/>
              <a:t>.</a:t>
            </a:r>
          </a:p>
          <a:p>
            <a:pPr marL="0" indent="0" algn="just">
              <a:buNone/>
            </a:pPr>
            <a:r>
              <a:rPr lang="fr-FR" b="1" dirty="0"/>
              <a:t>You </a:t>
            </a:r>
            <a:r>
              <a:rPr lang="fr-FR" b="1" dirty="0" err="1"/>
              <a:t>may</a:t>
            </a:r>
            <a:r>
              <a:rPr lang="fr-FR" b="1" dirty="0"/>
              <a:t> </a:t>
            </a:r>
            <a:r>
              <a:rPr lang="fr-FR" b="1" dirty="0" err="1"/>
              <a:t>try</a:t>
            </a:r>
            <a:r>
              <a:rPr lang="fr-FR" b="1" dirty="0"/>
              <a:t> for </a:t>
            </a:r>
            <a:r>
              <a:rPr lang="fr-FR" b="1" dirty="0" err="1"/>
              <a:t>robustness</a:t>
            </a:r>
            <a:r>
              <a:rPr lang="fr-FR" b="1" dirty="0"/>
              <a:t> </a:t>
            </a:r>
            <a:r>
              <a:rPr lang="fr-FR" b="1" dirty="0" err="1"/>
              <a:t>checks</a:t>
            </a:r>
            <a:r>
              <a:rPr lang="fr-FR" b="1" dirty="0"/>
              <a:t> </a:t>
            </a:r>
            <a:r>
              <a:rPr lang="fr-FR" b="1" dirty="0" err="1"/>
              <a:t>with</a:t>
            </a:r>
            <a:r>
              <a:rPr lang="fr-FR" b="1" dirty="0"/>
              <a:t> respect to Anderson </a:t>
            </a:r>
            <a:r>
              <a:rPr lang="fr-FR" b="1" dirty="0" err="1"/>
              <a:t>Hsiaoh</a:t>
            </a:r>
            <a:r>
              <a:rPr lang="fr-FR" b="1" dirty="0"/>
              <a:t>, but the </a:t>
            </a:r>
            <a:r>
              <a:rPr lang="fr-FR" b="1" dirty="0" err="1"/>
              <a:t>fashion</a:t>
            </a:r>
            <a:r>
              <a:rPr lang="fr-FR" b="1" dirty="0"/>
              <a:t> </a:t>
            </a:r>
            <a:r>
              <a:rPr lang="fr-FR" b="1" dirty="0" err="1"/>
              <a:t>is</a:t>
            </a:r>
            <a:r>
              <a:rPr lang="fr-FR" b="1" dirty="0"/>
              <a:t> over. SELECT the option of GMM </a:t>
            </a:r>
            <a:r>
              <a:rPr lang="fr-FR" b="1" dirty="0" err="1"/>
              <a:t>with</a:t>
            </a:r>
            <a:r>
              <a:rPr lang="fr-FR" b="1" dirty="0"/>
              <a:t> the SMALLEST </a:t>
            </a:r>
            <a:r>
              <a:rPr lang="fr-FR" b="1" dirty="0" err="1"/>
              <a:t>number</a:t>
            </a:r>
            <a:r>
              <a:rPr lang="fr-FR" b="1" dirty="0"/>
              <a:t> of instruments.</a:t>
            </a:r>
          </a:p>
        </p:txBody>
      </p:sp>
    </p:spTree>
    <p:extLst>
      <p:ext uri="{BB962C8B-B14F-4D97-AF65-F5344CB8AC3E}">
        <p14:creationId xmlns:p14="http://schemas.microsoft.com/office/powerpoint/2010/main" val="3910847336"/>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David </a:t>
            </a:r>
            <a:r>
              <a:rPr lang="fr-FR" dirty="0" err="1"/>
              <a:t>Roodman</a:t>
            </a:r>
            <a:endParaRPr lang="en-GB" dirty="0"/>
          </a:p>
        </p:txBody>
      </p:sp>
      <p:sp>
        <p:nvSpPr>
          <p:cNvPr id="3" name="Espace réservé du contenu 2"/>
          <p:cNvSpPr>
            <a:spLocks noGrp="1"/>
          </p:cNvSpPr>
          <p:nvPr>
            <p:ph idx="1"/>
          </p:nvPr>
        </p:nvSpPr>
        <p:spPr/>
        <p:txBody>
          <a:bodyPr>
            <a:normAutofit/>
          </a:bodyPr>
          <a:lstStyle/>
          <a:p>
            <a:pPr marL="0" indent="0">
              <a:buNone/>
            </a:pPr>
            <a:r>
              <a:rPr lang="en-GB" dirty="0" err="1"/>
              <a:t>Roodman</a:t>
            </a:r>
            <a:r>
              <a:rPr lang="en-GB" dirty="0"/>
              <a:t>, D. (2009). How to do xtabond2: An introduction to difference and system GMM in Stata. </a:t>
            </a:r>
            <a:r>
              <a:rPr lang="en-GB" i="1" dirty="0"/>
              <a:t>The </a:t>
            </a:r>
            <a:r>
              <a:rPr lang="en-GB" i="1" dirty="0" err="1"/>
              <a:t>stata</a:t>
            </a:r>
            <a:r>
              <a:rPr lang="en-GB" i="1" dirty="0"/>
              <a:t> journal</a:t>
            </a:r>
            <a:r>
              <a:rPr lang="en-GB" dirty="0"/>
              <a:t>, </a:t>
            </a:r>
            <a:r>
              <a:rPr lang="en-GB" i="1" dirty="0"/>
              <a:t>9</a:t>
            </a:r>
            <a:r>
              <a:rPr lang="en-GB" dirty="0"/>
              <a:t>(1), 86-136. </a:t>
            </a:r>
          </a:p>
          <a:p>
            <a:pPr marL="0" indent="0">
              <a:buNone/>
            </a:pPr>
            <a:r>
              <a:rPr lang="fr-FR" dirty="0"/>
              <a:t>(11500 citations, 09/2023 G </a:t>
            </a:r>
            <a:r>
              <a:rPr lang="fr-FR" dirty="0" err="1"/>
              <a:t>Scholar</a:t>
            </a:r>
            <a:r>
              <a:rPr lang="fr-FR" dirty="0"/>
              <a:t>)</a:t>
            </a:r>
            <a:endParaRPr lang="en-GB" dirty="0"/>
          </a:p>
          <a:p>
            <a:pPr marL="0" indent="0">
              <a:buNone/>
            </a:pPr>
            <a:r>
              <a:rPr lang="en-GB" dirty="0" err="1"/>
              <a:t>Roodman</a:t>
            </a:r>
            <a:r>
              <a:rPr lang="en-GB" dirty="0"/>
              <a:t>, D. (2009). A note on the theme of too many instruments. </a:t>
            </a:r>
            <a:r>
              <a:rPr lang="en-GB" i="1" dirty="0"/>
              <a:t>Oxford Bulletin of Economics and statistics</a:t>
            </a:r>
            <a:r>
              <a:rPr lang="en-GB" dirty="0"/>
              <a:t>, </a:t>
            </a:r>
            <a:r>
              <a:rPr lang="en-GB" i="1" dirty="0"/>
              <a:t>71</a:t>
            </a:r>
            <a:r>
              <a:rPr lang="en-GB" dirty="0"/>
              <a:t>(1), 135-158.</a:t>
            </a:r>
          </a:p>
          <a:p>
            <a:pPr marL="0" indent="0">
              <a:buNone/>
            </a:pPr>
            <a:r>
              <a:rPr lang="fr-FR" dirty="0"/>
              <a:t>(5600 citations, 09/2023 G </a:t>
            </a:r>
            <a:r>
              <a:rPr lang="fr-FR" dirty="0" err="1"/>
              <a:t>Scholar</a:t>
            </a:r>
            <a:r>
              <a:rPr lang="fr-FR" dirty="0"/>
              <a:t>)</a:t>
            </a:r>
          </a:p>
        </p:txBody>
      </p:sp>
    </p:spTree>
    <p:extLst>
      <p:ext uri="{BB962C8B-B14F-4D97-AF65-F5344CB8AC3E}">
        <p14:creationId xmlns:p14="http://schemas.microsoft.com/office/powerpoint/2010/main" val="34461520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43956</TotalTime>
  <Words>25049</Words>
  <Application>Microsoft Macintosh PowerPoint</Application>
  <PresentationFormat>On-screen Show (4:3)</PresentationFormat>
  <Paragraphs>2096</Paragraphs>
  <Slides>409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409</vt:i4>
      </vt:variant>
    </vt:vector>
  </HeadingPairs>
  <TitlesOfParts>
    <vt:vector size="415" baseType="lpstr">
      <vt:lpstr>Arial</vt:lpstr>
      <vt:lpstr>Calibri</vt:lpstr>
      <vt:lpstr>Cambria</vt:lpstr>
      <vt:lpstr>Cambria Math</vt:lpstr>
      <vt:lpstr>Times New Roman</vt:lpstr>
      <vt:lpstr>Thème Office</vt:lpstr>
      <vt:lpstr>Panel Data Econometrics</vt:lpstr>
      <vt:lpstr>DiD: A particular case of two way fixed effects, Di=1 treated group, Dt=1 post treatment,  parallel trend β01 common slope:  yit=β00+β10Di+β01Dt+β11DiDt+ εit </vt:lpstr>
      <vt:lpstr>We pool time series cross section  for testing differences (un-pool).</vt:lpstr>
      <vt:lpstr>Plan (1/2)</vt:lpstr>
      <vt:lpstr>Plan (2/2)</vt:lpstr>
      <vt:lpstr>1. To do list with panel data</vt:lpstr>
      <vt:lpstr>Sections of the To do list (1/2)</vt:lpstr>
      <vt:lpstr>Sections of the To do list (2/2) 6. Estimations</vt:lpstr>
      <vt:lpstr>1. Small N&lt;20 and k&lt;T=100:  Time Series &gt; Fixed Effects.</vt:lpstr>
      <vt:lpstr>2. Stata xt</vt:lpstr>
      <vt:lpstr>2. Order your variables with separate univariate statistics</vt:lpstr>
      <vt:lpstr>3. Transformations of variables: Between, Within, Two-way Within and First Differences</vt:lpstr>
      <vt:lpstr>4. Univariate statistics on x(i.), x(it)-x(i.), x(it)-x(i.)-x(.t)+x(..), x(it)-x(i,t-1) </vt:lpstr>
      <vt:lpstr>5. Small N (&lt;50) sample:  Within Boxplots by individuals </vt:lpstr>
      <vt:lpstr>6. Small T (&lt;50) sample:  Within Boxplot across time</vt:lpstr>
      <vt:lpstr>7. Bivariate statistics for x(i.), x(it)-x(i.), first differences</vt:lpstr>
      <vt:lpstr>8. xtreg be fe re  Mundlak, First-differences</vt:lpstr>
      <vt:lpstr>9. Residuals by individuals FE or Mundlak</vt:lpstr>
      <vt:lpstr>10. Your key regressor is  time-invariant z(i): Mundlak</vt:lpstr>
      <vt:lpstr>11. Multiple indices with low R2 and low standard error of betas</vt:lpstr>
      <vt:lpstr>12. Combinations by groups with common slopes</vt:lpstr>
      <vt:lpstr>Fragile/Robust group. Quiet/Crisis; Booms/recessions</vt:lpstr>
      <vt:lpstr>Try several combinations of heterogenous groups</vt:lpstr>
      <vt:lpstr>Pooling allows Chow (1960) tests of differences between groups and periods</vt:lpstr>
      <vt:lpstr>Dummy(B)*X allows to test directly β(B) = β(A) </vt:lpstr>
      <vt:lpstr>13. Optional: Other IV methods Lagged dependent Y(i,t-1)</vt:lpstr>
      <vt:lpstr>14. Optional: Other standard errors and models</vt:lpstr>
      <vt:lpstr>15. Statistical significance  is not sufficient. </vt:lpstr>
      <vt:lpstr> A. Four problems of the t-tests </vt:lpstr>
      <vt:lpstr>Pooling time-series cross section, we expand N times several times series with T observations: this increases a lot t-statistics</vt:lpstr>
      <vt:lpstr> Problem 1. Conditioning. p(rejecting H0  with test statistic T&gt;t | H0 true) &lt; α=5%. </vt:lpstr>
      <vt:lpstr>Statistical tests theory versus medical tests, conditional on « true hypothesis»</vt:lpstr>
      <vt:lpstr>Statistical tests theory</vt:lpstr>
      <vt:lpstr>Problem 1: p(H0 true | test statistic |T|&gt; tα  ) &lt; α=5% is WRONG. p(rejecting H0  if test statistic |T|&gt;tα |H0 true)&lt; α=5%.</vt:lpstr>
      <vt:lpstr>A  prior of p(H0 true) would be  necessary for computing p(H0 true |T&gt;t )</vt:lpstr>
      <vt:lpstr>Problem 2: Fishing hypothesis to be tested in the pond of low prior p(H0 true) for fame.</vt:lpstr>
      <vt:lpstr>Pbm3. Statistical significance for tests of parameters vs substantive significance: Answer: composite hypothesis versus point hypothesis</vt:lpstr>
      <vt:lpstr>Standardized variables</vt:lpstr>
      <vt:lpstr>The standardized parameters of a standardized regression </vt:lpstr>
      <vt:lpstr>Standardized parameters do not depend on sample σ(y) and  σ(x) </vt:lpstr>
      <vt:lpstr>The standardized forecast of a standardized simple regression</vt:lpstr>
      <vt:lpstr>The marginal effect interpretation of a standardized simple regression</vt:lpstr>
      <vt:lpstr>Large standardized effect versus large t-statistic</vt:lpstr>
      <vt:lpstr>Substantive significance</vt:lpstr>
      <vt:lpstr>T-stat depends on partial correlation and degrees of freedom</vt:lpstr>
      <vt:lpstr>Partial correlation coefficients</vt:lpstr>
      <vt:lpstr>Particular case: Partial auto-correlation function for an AR(3)</vt:lpstr>
      <vt:lpstr>Particular case: Partial auto-correlation AR(2)</vt:lpstr>
      <vt:lpstr>PowerPoint Presentation</vt:lpstr>
      <vt:lpstr>Critical region H0: r=0 of the t test for n observations.</vt:lpstr>
      <vt:lpstr>Pooling increases  degrees of freedom</vt:lpstr>
      <vt:lpstr>PowerPoint Presentation</vt:lpstr>
      <vt:lpstr>PowerPoint Presentation</vt:lpstr>
      <vt:lpstr>PowerPoint Presentation</vt:lpstr>
      <vt:lpstr>PowerPoint Presentation</vt:lpstr>
      <vt:lpstr>PowerPoint Presentation</vt:lpstr>
      <vt:lpstr>Theoretical answer:  Change H0: β = 0 for H0: β &lt; βmin</vt:lpstr>
      <vt:lpstr>How to check « substantive significance » for N large?</vt:lpstr>
      <vt:lpstr>Difference of R2 vs  degrees of freedom</vt:lpstr>
      <vt:lpstr>Why should I include R2 and the number N of observations for each regression at the bottom of a column in a table of my results in my master thesis?</vt:lpstr>
      <vt:lpstr>Intermezzo: What is a good « R2 » for substantive significance?</vt:lpstr>
      <vt:lpstr>Three cases for changing specification, and/or transform variables</vt:lpstr>
      <vt:lpstr>2nd: marginal increase of R2 too small: R2(y,x,z)-R2(y,z) &lt;1%</vt:lpstr>
      <vt:lpstr>|r(y,x)|&lt;0.1 and R2=r(y,x)2&lt;0.01  is a small effect</vt:lpstr>
      <vt:lpstr>3rd case: R2 &lt;2% (and NT&gt;400) often with panel data</vt:lpstr>
      <vt:lpstr>Too much variance of the dependent?</vt:lpstr>
      <vt:lpstr>Reduce the variance with a transformation of the dependent f(Y)</vt:lpstr>
      <vt:lpstr>Problem 5: Publication Bias with p-hacking Answer: Publish papers who do not reject the null hypothesis of no effect.</vt:lpstr>
      <vt:lpstr>Publication Bias p-value hacking</vt:lpstr>
      <vt:lpstr>Wrong incentives</vt:lpstr>
      <vt:lpstr>Theoretical Answer  to p-value Hacking</vt:lpstr>
      <vt:lpstr>Meta-Analysis</vt:lpstr>
      <vt:lpstr>Funnel plots</vt:lpstr>
      <vt:lpstr>Monte-Carlo simulation</vt:lpstr>
      <vt:lpstr>Explain the results  of this funnel plot?</vt:lpstr>
      <vt:lpstr>For a true large r=0.5 with 95% of samples in the dark funnel, it is only for N&gt;55 that statistical significance (rejecting r=0 at 5% threshold) is obtained in more than 95% of the samples.</vt:lpstr>
      <vt:lpstr>PowerPoint Presentation</vt:lpstr>
      <vt:lpstr>PowerPoint Presentation</vt:lpstr>
      <vt:lpstr>Estimated standard error of estimated parameter and N-k-1</vt:lpstr>
      <vt:lpstr>Estimated parameter  and N-k-1 ?</vt:lpstr>
      <vt:lpstr>American Statistical Association Statement on p-values (2016).</vt:lpstr>
      <vt:lpstr>Problem 4. Multiple testing (multiple comparisons) versus Exploratory data analysis Answer: Bonferroni type correction on the threshold: 5%/number of trials.</vt:lpstr>
      <vt:lpstr>30 independent trials, you may have luck once, « on a misunderstaning »</vt:lpstr>
      <vt:lpstr>20 tests = 1 outcome should reject the null  whereas the null is not true (5%=1/20).</vt:lpstr>
      <vt:lpstr>m=20 different and substitutable explanatory variables measuring “corruption” = m = 20 tests</vt:lpstr>
      <vt:lpstr>Trade-off: p-value&lt;5% or  explorations of the data set properties?</vt:lpstr>
      <vt:lpstr>Part A: Conclusion. p-hacking:  Some of the tricks</vt:lpstr>
      <vt:lpstr>How researchers increase t-stats</vt:lpstr>
      <vt:lpstr>Observations: scientific approach to boost your parameter</vt:lpstr>
      <vt:lpstr>Selecting observations: do it yourself with trial and errors</vt:lpstr>
      <vt:lpstr>Adding highly correlated variables: squares, interaction terms, lags, etc.</vt:lpstr>
      <vt:lpstr>Multiple testing of 20 variable measurements  of the same item.</vt:lpstr>
      <vt:lpstr>A clever trick with IV estimator and weak instrumental variables</vt:lpstr>
      <vt:lpstr>Master thesis</vt:lpstr>
      <vt:lpstr>1. Definitions</vt:lpstr>
      <vt:lpstr>Data with multiple indices:  X(i,j,r(i),r(j),s,t)</vt:lpstr>
      <vt:lpstr>Benchmark case X(i,t) Time-series cross-section: TSCS</vt:lpstr>
      <vt:lpstr>Panel Data sets. (GMM: generalized method of moments for dynamic panel data).</vt:lpstr>
      <vt:lpstr>Minimal panel data set NT = 2 x 2 = 4</vt:lpstr>
      <vt:lpstr>Minimal panel data set  N=2 (ident), T=2 (year)</vt:lpstr>
      <vt:lpstr>Event studies, Fragile/Robust group. Quiet/Crisis; Booms/recessions</vt:lpstr>
      <vt:lpstr>Panel data</vt:lpstr>
      <vt:lpstr>Organizing the database</vt:lpstr>
      <vt:lpstr>2 indices: ident and year. « xt » data set. </vt:lpstr>
      <vt:lpstr>Data set by year: unbalanced?</vt:lpstr>
      <vt:lpstr>Balanced or unbalanced panel</vt:lpstr>
      <vt:lpstr>Signal your software: columns are sorted by indices: ident year</vt:lpstr>
      <vt:lpstr>PowerPoint Presentation</vt:lpstr>
      <vt:lpstr>PowerPoint Presentation</vt:lpstr>
      <vt:lpstr>Single column X(i,t) Lag operator does not work</vt:lpstr>
      <vt:lpstr>Lag and Dif operator: requires mentioning two indices</vt:lpstr>
      <vt:lpstr>Minimal panel data set  N=2 (ident), T=2 (year)</vt:lpstr>
      <vt:lpstr>Descriptives statistics</vt:lpstr>
      <vt:lpstr>NT = 5x20 = 100 is NOT like T = 100 time series OR N = 100, cross-section.</vt:lpstr>
      <vt:lpstr>The case of X(i,j,t,…) at least three indices</vt:lpstr>
      <vt:lpstr>Fixed effects dummies</vt:lpstr>
      <vt:lpstr>Remaining variance explained only by X(i,j,t) variables</vt:lpstr>
      <vt:lpstr>Classify your variables by number of indices</vt:lpstr>
      <vt:lpstr>Classify your variables according to their indices</vt:lpstr>
      <vt:lpstr>2. The unpleasant Fisher pre-test of poolability assuming common slopes for all (or subgroups of) individuals.</vt:lpstr>
      <vt:lpstr>History</vt:lpstr>
      <vt:lpstr>TO DO. Small N&lt;20 and k&lt;T Compare with time series estimations</vt:lpstr>
      <vt:lpstr>Fixed effects or Within estimator Common slopes, Distinct intercepts</vt:lpstr>
      <vt:lpstr>Baltagi Griffin (1983):  Gasoline demand</vt:lpstr>
      <vt:lpstr>Specification of the model with near-multicollinearity due to common trend</vt:lpstr>
      <vt:lpstr>The specification and the  transformations of variables is strategic: it drives the results</vt:lpstr>
      <vt:lpstr>Endogeneity issue: The demand for cars depends on income and relative price</vt:lpstr>
      <vt:lpstr>Diffusion curve for technology adoption (Logistic function also used as F (cdf) in the Logit model)</vt:lpstr>
      <vt:lpstr>Better specification of the model, not used in the published paper (and use instrumental variables)</vt:lpstr>
      <vt:lpstr>Near multicollinearity with small degrees of freedom (sample)</vt:lpstr>
      <vt:lpstr>Degrees of freedom DOFNext slide: subsets of table 1 and table 2</vt:lpstr>
      <vt:lpstr>PowerPoint Presentation</vt:lpstr>
      <vt:lpstr>PowerPoint Presentation</vt:lpstr>
      <vt:lpstr>Questions on the previous tables</vt:lpstr>
      <vt:lpstr>Panel estimators are « restricted » OLS estimators</vt:lpstr>
      <vt:lpstr>Restricted OLS ⇒ SSR increases ⇒ poorer forecast properties.</vt:lpstr>
      <vt:lpstr>When you pool N time series of T observations, degrees of freedom increases widely: NT-k-N (fixed effects, N intercepts)  &gt; T-k-1 (time series of one individual, 1 intercept)</vt:lpstr>
      <vt:lpstr>Critical region H0: r=0 of the t test for n observations.</vt:lpstr>
      <vt:lpstr>Obtain statistical significance outside the funnel  given unchanged partial correlation r for all individuals NT-k-N (fixed effects) ≥ 1.96(1-r2)/r2 ≥ T-k-1 (time series)</vt:lpstr>
      <vt:lpstr>Panel data common slope assumption and near-multicollinearity</vt:lpstr>
      <vt:lpstr>The common slope restriction  ⇒ a bias on intercepts estimates by individual in fixed effects model.</vt:lpstr>
      <vt:lpstr>Times series VERSUS   panel estimators common slopes  VERSUS pooled OLS </vt:lpstr>
      <vt:lpstr>Residuals by individuals,  next three slides</vt:lpstr>
      <vt:lpstr>Pooled OLS residuals by country Common slopes, common intercepts</vt:lpstr>
      <vt:lpstr>Comments on pooled OLS residual by country</vt:lpstr>
      <vt:lpstr>Fixed effects = Within residuals Common slopes, distinct intercepts</vt:lpstr>
      <vt:lpstr>Comments on Fixed Effects or Within residuals by country</vt:lpstr>
      <vt:lpstr>PowerPoint Presentation</vt:lpstr>
      <vt:lpstr>Visual conclusion: Do not waste time, NEVER REPORT POOLED OLS</vt:lpstr>
      <vt:lpstr>Time series residuals by country Distinct slopes, distinct intercepts</vt:lpstr>
      <vt:lpstr>Time Series by country residuals by country</vt:lpstr>
      <vt:lpstr>PowerPoint Presentation</vt:lpstr>
      <vt:lpstr>Visual conclusion: if T&gt;80 and N&lt;20: Stick to time series instead of panel.</vt:lpstr>
      <vt:lpstr>Common slopes estimate</vt:lpstr>
      <vt:lpstr>Investigating into details the consequences of common slopes</vt:lpstr>
      <vt:lpstr>PowerPoint Presentation</vt:lpstr>
      <vt:lpstr>Table: Within (common slopes, different intercepts) versus (different slopes and intercepts)</vt:lpstr>
      <vt:lpstr>(1) Within (common slopes, different intercepts) slopes confidence interval versus (different slopes and intercepts)</vt:lpstr>
      <vt:lpstr>2. Intercept estimates bias.</vt:lpstr>
      <vt:lpstr>Restricting the slopes to be the same  when they are different</vt:lpstr>
      <vt:lpstr>For fixed effects  with individual intercepts</vt:lpstr>
      <vt:lpstr>Bias of the « fixed effects » intercept estimate for Sweden</vt:lpstr>
      <vt:lpstr>Interpretation of fixed effects</vt:lpstr>
      <vt:lpstr>Interpretation of the « fixed effects » intercepts of the fixed effects estimator</vt:lpstr>
      <vt:lpstr>Interpretation of fixed effects:  cross section&lt; panel data &lt;time series</vt:lpstr>
      <vt:lpstr>3. Bias increasing the restricted SSR with respect to unrestricted SSR</vt:lpstr>
      <vt:lpstr>Countries sorted by RSSR/SSR  in this table. </vt:lpstr>
      <vt:lpstr>For fixed effects with individual intercepts</vt:lpstr>
      <vt:lpstr>Bias of the restricted variance of residuals (RMSE) due to common slope restriction</vt:lpstr>
      <vt:lpstr>4. Poolability F-tests cf. F-test for restrictions on parameters</vt:lpstr>
      <vt:lpstr>« Individual » F test</vt:lpstr>
      <vt:lpstr>Table</vt:lpstr>
      <vt:lpstr>Usual Global F test (Kuh (1963)). (Hsiaoh (1986)).</vt:lpstr>
      <vt:lpstr>P-value&lt;&lt;5%, (result published in 1983). Reject the null hypothesis of common slope</vt:lpstr>
      <vt:lpstr>H0: Equal variances, Ha: RSSR&gt;SSR  F(5%) = 1.39 &lt;&lt;&lt; F = 27.33</vt:lpstr>
      <vt:lpstr>Baltagi (1983), « even though » the high power of the test F=27.33, p=10-10&lt;5%</vt:lpstr>
      <vt:lpstr>Baltagi (2005) textbook, see also updated editions</vt:lpstr>
      <vt:lpstr>Following the rejection of the null hypothesis of common slopes</vt:lpstr>
      <vt:lpstr>Use panel data for this idea: distinct groups, distinct periods.</vt:lpstr>
      <vt:lpstr>Concluding remarks on  Poolability in this section</vt:lpstr>
      <vt:lpstr>1. RMSE of residuals: poor forecast vs t-stats&gt;2</vt:lpstr>
      <vt:lpstr>Horse race across specifications: y^ forecast versus β^ effect. </vt:lpstr>
      <vt:lpstr>Common slopes constraint  in panel</vt:lpstr>
      <vt:lpstr>2. Near-multicollinearity between regressors</vt:lpstr>
      <vt:lpstr>3. Boxplots of studentized residuals per country (i): (i)-heteroskedasticity</vt:lpstr>
      <vt:lpstr>Boxplots of studentized residuals per country (i)</vt:lpstr>
      <vt:lpstr>Boxplots of studentized residuals per country (i)</vt:lpstr>
      <vt:lpstr>3. Yule (1907), Frisch Waugh (1933) Lovell (1964) theorem (see exercise).</vt:lpstr>
      <vt:lpstr>Partial correlation measures the degree (strength) of association between two random variables y and x, with the effect of a set of controlling random variables Z removed. </vt:lpstr>
      <vt:lpstr>Student’s t-stat depends on partial correlation and degrees of freedom</vt:lpstr>
      <vt:lpstr>Simple = partial correlation for orthogonal (zero covariance) explanatory variables, for example, in a regression on the principal components of explanatory variables</vt:lpstr>
      <vt:lpstr>Example where simple ≠ partial correlations (PCC) for non-orthogonal regressors. PCC is OK if no high correlation among explanatory variables</vt:lpstr>
      <vt:lpstr>For N=3 observations, the partial correlation coefficient is the cosine of the angle φ of the residuals rx and ry in a plane orthogonal z⊥=Sz to the vector z.</vt:lpstr>
      <vt:lpstr>A partial correlation coefficient is a function of t statistic and of the degrees of freedom</vt:lpstr>
      <vt:lpstr>PowerPoint Presentation</vt:lpstr>
      <vt:lpstr>Critical region H0: r=0 of the t test for n observations.</vt:lpstr>
      <vt:lpstr>Generalization of r( y , x | Z) Yule Frisch-Waugh Lovell theorem </vt:lpstr>
      <vt:lpstr>YFWL theorem is everywhere</vt:lpstr>
      <vt:lpstr>When Z is the matrix of individual dummies in panel data:</vt:lpstr>
      <vt:lpstr>Partial correlation on within transformed variables</vt:lpstr>
      <vt:lpstr>Partial correlation on within transformed variables</vt:lpstr>
      <vt:lpstr>PowerPoint Presentation</vt:lpstr>
      <vt:lpstr>Partial within correlation may not correspond to your intuition </vt:lpstr>
      <vt:lpstr>4. Within versus Between  analysis of variance</vt:lpstr>
      <vt:lpstr>Between transformation as the coefficients of a regression on individual dummies only</vt:lpstr>
      <vt:lpstr>Analysis of variance with OLS regression</vt:lpstr>
      <vt:lpstr>Minimal panel data set  N=2 (ident), T=2 (year)</vt:lpstr>
      <vt:lpstr>Orthogonal projection on E1=F (dimension 2) along orthogonal E2 dimension 1. F=span(col(X)).</vt:lpstr>
      <vt:lpstr>Norm of a  vector u= (x,y)’ Pythagoras’ theorem</vt:lpstr>
      <vt:lpstr>OLS: The orthogonal projection p(x) minimises the distance of x to F with respect to any other vector y in F (Pythagoras’ theorem)</vt:lpstr>
      <vt:lpstr>Regression: F=span(col(X)) with p columns e=y-p(x) vector of residuals. </vt:lpstr>
      <vt:lpstr>Projection matrix H= X (X’X)-1 X’ F=span(col(X)).</vt:lpstr>
      <vt:lpstr>The between transformation is an OLS regression on N individual dummies stacked in matrix Z: Orthogonal projection on F=span(col(Z)).</vt:lpstr>
      <vt:lpstr>Orthogonality implies the analysis of variance (Pythagoras’ theorem).</vt:lpstr>
      <vt:lpstr>Between transformation = an average of cross sections.</vt:lpstr>
      <vt:lpstr>Within transformation</vt:lpstr>
      <vt:lpstr>With two indices:  Two orthogonal worlds</vt:lpstr>
      <vt:lpstr>Analysis of variance operators: Between(groups) and Within(group)</vt:lpstr>
      <vt:lpstr>Analysis of variance: Orthogonal sub-spaces: Within versus Between</vt:lpstr>
      <vt:lpstr>BD: N=275: Analysis of variance</vt:lpstr>
      <vt:lpstr>Dimension of subspaces of observations</vt:lpstr>
      <vt:lpstr>W/B + Forecast/residuals:  2 combined analysis of variance</vt:lpstr>
      <vt:lpstr>Two analysis of variance: 63% within, 37% between</vt:lpstr>
      <vt:lpstr>PowerPoint Presentation</vt:lpstr>
      <vt:lpstr>PowerPoint Presentation</vt:lpstr>
      <vt:lpstr>6. Univariate statistics: Within vs Between (biased) Two way FE vs First differences</vt:lpstr>
      <vt:lpstr>What to look for with univariate distributions graphs, statistics?</vt:lpstr>
      <vt:lpstr>Burnside and Dollar data</vt:lpstr>
      <vt:lpstr>Comparing distributions may predict the non-normality of residuals (exactly true if no other regressors) </vt:lpstr>
      <vt:lpstr>Example: Kurtosis dependent  Kurtosis forecast, kurtosis residuals</vt:lpstr>
      <vt:lpstr>PowerPoint Presentation</vt:lpstr>
      <vt:lpstr>PowerPoint Presentation</vt:lpstr>
      <vt:lpstr>PowerPoint Presentation</vt:lpstr>
      <vt:lpstr>PowerPoint Presentation</vt:lpstr>
      <vt:lpstr>PowerPoint Presentation</vt:lpstr>
      <vt:lpstr>Comparing by country distributions within, two-way FE, FD</vt:lpstr>
      <vt:lpstr>PowerPoint Presentation</vt:lpstr>
      <vt:lpstr>PowerPoint Presentation</vt:lpstr>
      <vt:lpstr>PowerPoint Presentation</vt:lpstr>
      <vt:lpstr>Within distributions  « symmetry and kurtosis »</vt:lpstr>
      <vt:lpstr>Within: outliers, kurtosis</vt:lpstr>
      <vt:lpstr>Within: platykurtic: example</vt:lpstr>
      <vt:lpstr>Kurtosis</vt:lpstr>
      <vt:lpstr>PowerPoint Presentation</vt:lpstr>
      <vt:lpstr>Eda/gdp standardized outliers within (xit-xi.)/sigma(sample) Within: sign symmetry by country  because the sum by country of within transformed is zero</vt:lpstr>
      <vt:lpstr>Within correlation growth of GDP/ head and Aid/GDP: 272 observations NT-N</vt:lpstr>
      <vt:lpstr>Within correlation growth of GDP/ head and Aid/GDP: Kurtosis differences</vt:lpstr>
      <vt:lpstr>Within correlation growth of GDP/ head and Aid/GDP: Correlation</vt:lpstr>
      <vt:lpstr>Within tranformed variable: if N small, do boxplots by individuals</vt:lpstr>
      <vt:lpstr>Aid2*Policy ordered by its mean values over time per country. A few very large country-outliers </vt:lpstr>
      <vt:lpstr>Boxplots (per country) of aid*policy and Aid2*Policy ordered by aid*policy(i.): only a few countries depart from « small » values</vt:lpstr>
      <vt:lpstr>Between: Skewness and  N&lt;&lt; NT-N</vt:lpstr>
      <vt:lpstr>PowerPoint Presentation</vt:lpstr>
      <vt:lpstr>Between: difference of skewness (within: difference of kurtosis)</vt:lpstr>
      <vt:lpstr>PowerPoint Presentation</vt:lpstr>
      <vt:lpstr>Between correlation growth of GDP/ head and Aid/GDP: N=56 countries.</vt:lpstr>
      <vt:lpstr>7. Bivariate Statistics: Within vs Between</vt:lpstr>
      <vt:lpstr>Do not use the « OLS » simple correlation matrix.</vt:lpstr>
      <vt:lpstr>Compare W vs B correlations</vt:lpstr>
      <vt:lpstr>Compare W vs B correlations</vt:lpstr>
      <vt:lpstr>PowerPoint Presentation</vt:lpstr>
      <vt:lpstr>PowerPoint Presentation</vt:lpstr>
      <vt:lpstr>Within correlation growth of GDP/ head and Aid/GDP: 272 observations</vt:lpstr>
      <vt:lpstr>PowerPoint Presentation</vt:lpstr>
      <vt:lpstr>Between correlation growth of GDP/ head and Aid/GDP: 56 countries obs.</vt:lpstr>
      <vt:lpstr>OLS = sum between plus within</vt:lpstr>
      <vt:lpstr>PowerPoint Presentation</vt:lpstr>
      <vt:lpstr>Within correlation growth of GDP/ head and Policies: 272 observations</vt:lpstr>
      <vt:lpstr>PowerPoint Presentation</vt:lpstr>
      <vt:lpstr>Between correlation growth of GDP/ head and Policies: 52 observations</vt:lpstr>
      <vt:lpstr>Correlation matrix diagnosis</vt:lpstr>
      <vt:lpstr>The simple correlation matrix helps to specify the multivariate model.</vt:lpstr>
      <vt:lpstr>Non zero simple correlation with dependent variable (Within):</vt:lpstr>
      <vt:lpstr>3 within transformed regressors with correlation with dependent different from zero. Correlation wM2 with trend, Autocorr wgdpg: -0.03 for 217 obs.</vt:lpstr>
      <vt:lpstr>PowerPoint Presentation</vt:lpstr>
      <vt:lpstr>PowerPoint Presentation</vt:lpstr>
      <vt:lpstr>PowerPoint Presentation</vt:lpstr>
      <vt:lpstr>Zero simple correlation with dependent variable (Within):</vt:lpstr>
      <vt:lpstr>Poorly correlated (&lt;0.1) with dependent (and highly correlated together): spurious parameter identification problem if not robust to outliers: spurious</vt:lpstr>
      <vt:lpstr>PowerPoint Presentation</vt:lpstr>
      <vt:lpstr>PowerPoint Presentation</vt:lpstr>
      <vt:lpstr>PowerPoint Presentation</vt:lpstr>
      <vt:lpstr>Zero correlation with dependent</vt:lpstr>
      <vt:lpstr>PowerPoint Presentation</vt:lpstr>
      <vt:lpstr>PowerPoint Presentation</vt:lpstr>
      <vt:lpstr>PowerPoint Presentation</vt:lpstr>
      <vt:lpstr>Ideally: Specification minimizing the gap Within versus Between (sub-correlation matrix W = B) Between parameters face endogeneity bias, not within.</vt:lpstr>
      <vt:lpstr>8. Group (i) heteroscedasticity GLS « random effects ».</vt:lpstr>
      <vt:lpstr>Group (i) heteroscedasticity</vt:lpstr>
      <vt:lpstr>PowerPoint Presentation</vt:lpstr>
      <vt:lpstr>Boxplots of studentized residuals per country (i): (i)-heteroskedasticity</vt:lpstr>
      <vt:lpstr>Visualizing individual (i) heteroskedascity?</vt:lpstr>
      <vt:lpstr>Studentized residuals (OLS influence statistics)</vt:lpstr>
      <vt:lpstr>Group (i) –  Hetero-skedasticity</vt:lpstr>
      <vt:lpstr>Analysis of variance operators: Between(groups) and Within(group)</vt:lpstr>
      <vt:lpstr>Coded Random Effects</vt:lpstr>
      <vt:lpstr>Does GLS changes the shape  of the residuals distributions?</vt:lpstr>
      <vt:lpstr>GLS Random effects with distinct standard error for each individuals</vt:lpstr>
      <vt:lpstr>What if distinct time-invariant variance across individuals?</vt:lpstr>
      <vt:lpstr>9. Hausman Pre-Test of E(α(i)|X(it)) for then testing either fixed effects OR random effects.</vt:lpstr>
      <vt:lpstr>The IV Hausman test applied on FE (IV) – RE(non-IV)</vt:lpstr>
      <vt:lpstr>Visual Hausman test of each difference of parameters in proportion of parameters</vt:lpstr>
      <vt:lpstr>Hausman pre-tests an observed endogeneity BIAS of estimated parameters.</vt:lpstr>
      <vt:lpstr>Outcome of Hausman pre-test RE versus FE</vt:lpstr>
      <vt:lpstr>Hausman (1978) test:  OLS vs IV, RE vs FE.</vt:lpstr>
      <vt:lpstr>Time-Invariant regressors</vt:lpstr>
      <vt:lpstr>9. Group (i) endogeneity Mundlak and fixed effects</vt:lpstr>
      <vt:lpstr>« Fixed effects » Model Three equivalent estimators</vt:lpstr>
      <vt:lpstr>9.1. Mundlak</vt:lpstr>
      <vt:lpstr>PowerPoint Presentation</vt:lpstr>
      <vt:lpstr>Minimal panel data set  N=2 (ident), T=2 (year)</vt:lpstr>
      <vt:lpstr>Individual – Endogeneity: Fixed effect IV estimator</vt:lpstr>
      <vt:lpstr>α(i)-endogeneity BIAS for β1 and β0</vt:lpstr>
      <vt:lpstr>Mundlak: GLS and IV Heteroskedasticity and endogeneity</vt:lpstr>
      <vt:lpstr>Mundlak is not coded in R, stata and others</vt:lpstr>
      <vt:lpstr>GLS versus IV Random versus Fixed effects</vt:lpstr>
      <vt:lpstr>Properties of Mundlak estimator</vt:lpstr>
      <vt:lpstr>Analysis of variance operators: Between(groups) and Within(group)</vt:lpstr>
      <vt:lpstr>9.2. LSDV, small N = 9.3 due to Frisch Waugh</vt:lpstr>
      <vt:lpstr>Least square dummy variables LSDV</vt:lpstr>
      <vt:lpstr>Multivariate panel estimators</vt:lpstr>
      <vt:lpstr>Advice</vt:lpstr>
      <vt:lpstr>If common trends for dependent and regressors</vt:lpstr>
      <vt:lpstr>9.3. FE (Within)</vt:lpstr>
      <vt:lpstr>PowerPoint Presentation</vt:lpstr>
      <vt:lpstr>Xtreg fe: a 2nd way to compute fixed effects</vt:lpstr>
      <vt:lpstr>PowerPoint Presentation</vt:lpstr>
      <vt:lpstr>PowerPoint Presentation</vt:lpstr>
      <vt:lpstr>PowerPoint Presentation</vt:lpstr>
      <vt:lpstr>Within estimator:  NT-N-k=N(T-1)-k</vt:lpstr>
      <vt:lpstr>Within as an IV estimator:  Eliminates α(i) endogeneity</vt:lpstr>
      <vt:lpstr>Trend hence unit root with within transformed data </vt:lpstr>
      <vt:lpstr>Non stationarity of Within transformed variables</vt:lpstr>
      <vt:lpstr>Two way fixed effects and first differences</vt:lpstr>
      <vt:lpstr>First difference eliminates α(i) and ALSO unit roots</vt:lpstr>
      <vt:lpstr>Hierarchy</vt:lpstr>
      <vt:lpstr>Cross section &lt; fixed effects  &lt; time series different slopes</vt:lpstr>
      <vt:lpstr>TWFE transformation  for univariate and bivariate statistics.</vt:lpstr>
      <vt:lpstr>TWFE and multiple treatments at different dates (diff in diff).</vt:lpstr>
      <vt:lpstr>10. Between explanation of between variance</vt:lpstr>
      <vt:lpstr>PowerPoint Presentation</vt:lpstr>
      <vt:lpstr>PowerPoint Presentation</vt:lpstr>
      <vt:lpstr>Between α_i-endogeneity bias simple regression (true+bias)</vt:lpstr>
      <vt:lpstr>Within vs Between</vt:lpstr>
      <vt:lpstr>Between weaknesses with respect to Within</vt:lpstr>
      <vt:lpstr>Between strengths with respect to Within</vt:lpstr>
      <vt:lpstr>Dynamic model: Between as a long term estimate</vt:lpstr>
      <vt:lpstr>xttab ssa, time-invariant sub-saharan africa dummy</vt:lpstr>
      <vt:lpstr>Repeated data: Z(i), X(i,.) in the database</vt:lpstr>
      <vt:lpstr>Copy T times the same data and run a regression</vt:lpstr>
      <vt:lpstr>Coded Between estimator</vt:lpstr>
      <vt:lpstr>Repeated Between has meaningless degrees of freedom</vt:lpstr>
      <vt:lpstr>11. Time-invariant regressors: Mundlak estimation</vt:lpstr>
      <vt:lpstr>Panel data with time-invariant variables</vt:lpstr>
      <vt:lpstr>Individual invariant Z(t)</vt:lpstr>
      <vt:lpstr>Time invariant regressors</vt:lpstr>
      <vt:lpstr>Mundlak (1978): run RANDOM effects including ALL x(i.)</vt:lpstr>
      <vt:lpstr>Influence statistics not coded for fixed effects?</vt:lpstr>
      <vt:lpstr>PowerPoint Presentation</vt:lpstr>
      <vt:lpstr>Outliers: studentized residuals of the Mundlak regression</vt:lpstr>
      <vt:lpstr>PowerPoint Presentation</vt:lpstr>
      <vt:lpstr>PowerPoint Presentation</vt:lpstr>
      <vt:lpstr>PowerPoint Presentation</vt:lpstr>
      <vt:lpstr>PowerPoint Presentation</vt:lpstr>
      <vt:lpstr>12: Hausman Taylor estimator for α(i)-endogenous  time invariant regressors</vt:lpstr>
      <vt:lpstr>Mundlak then Hausman Taylor coded in Stata</vt:lpstr>
      <vt:lpstr>Z(i): endogeneity bias for slope γ  simple regression (2nd term)</vt:lpstr>
      <vt:lpstr>Hausman and Taylor estimator</vt:lpstr>
      <vt:lpstr>Weaknesses of HT </vt:lpstr>
      <vt:lpstr>Mundlak Pretest of exogeneity </vt:lpstr>
      <vt:lpstr>PowerPoint Presentation</vt:lpstr>
      <vt:lpstr>Variation of Hausman Taylor</vt:lpstr>
      <vt:lpstr>13: TWO WAY FIXED EFFECTS tranformation: X(it) - X(i.) - X(.t) + X(..) Fellow of X(i,t) - X(i,t-1)</vt:lpstr>
      <vt:lpstr>Fixed effects for individuals and for time: different options</vt:lpstr>
      <vt:lpstr>Properties</vt:lpstr>
      <vt:lpstr>Two way fixed effects  may explain « too much » of R2</vt:lpstr>
      <vt:lpstr>14: lagged dependent variable  (ARDL dynamic panel)  First differences Anderson Hsiao (1981).  GMM panel for T&lt;10 and N large</vt:lpstr>
      <vt:lpstr>Auto-regressive distributed lag model (ARDL), cf. time series.</vt:lpstr>
      <vt:lpstr>ARDL long run coefficient  (cf. time series)</vt:lpstr>
      <vt:lpstr>ARDL and Error correction model</vt:lpstr>
      <vt:lpstr>Single column X(i,t) Lag operator does not work</vt:lpstr>
      <vt:lpstr>Lag and Dif operator: requires mentioning two indices</vt:lpstr>
      <vt:lpstr>Several tests of unit roots  for panel data</vt:lpstr>
      <vt:lpstr>Nickell (1981) bias of lagged dependent variable with fixed effects</vt:lpstr>
      <vt:lpstr>DO the Anderson Hsiao (1981) whatever the value of T.</vt:lpstr>
      <vt:lpstr>First differences (and two way within fixed effect) transformation.</vt:lpstr>
      <vt:lpstr>Each time you add a lag for the specification or the instrument</vt:lpstr>
      <vt:lpstr>Descriptive statistics should be done on the sample of estimation:</vt:lpstr>
      <vt:lpstr>Strength</vt:lpstr>
      <vt:lpstr>ARDL Anderson Hsiao (1981)</vt:lpstr>
      <vt:lpstr>Additional issues</vt:lpstr>
      <vt:lpstr>What about the first differences  of a dummy variable?</vt:lpstr>
      <vt:lpstr>14B: The rise and fall of GMM dynamic panel data estimator</vt:lpstr>
      <vt:lpstr>You should report the NUMBER of instruments in your tables</vt:lpstr>
      <vt:lpstr>For T&lt;10 only, GMM first differences and GMM system</vt:lpstr>
      <vt:lpstr>Trade-off for lags as instrumental variables</vt:lpstr>
      <vt:lpstr>Arrelano Bond (1989) GMM first differences</vt:lpstr>
      <vt:lpstr>You may be happy when rejecting the null or sometimes when not rejecting the null.</vt:lpstr>
      <vt:lpstr>Happiness criterion</vt:lpstr>
      <vt:lpstr>PowerPoint Presentation</vt:lpstr>
      <vt:lpstr>p&lt;0.05 (t&gt;2 or t&lt;-2) versus  p&gt;0.05 and 0≤X2&lt;X2(5%) threshold</vt:lpstr>
      <vt:lpstr>Sargan test</vt:lpstr>
      <vt:lpstr>Difference of Sargan test (due to Hansen)</vt:lpstr>
      <vt:lpstr>GMM system doubles the number of equations and of instrumetns</vt:lpstr>
      <vt:lpstr>Weaknesses of GMM</vt:lpstr>
      <vt:lpstr>Weaknesses continued</vt:lpstr>
      <vt:lpstr> GMM Success decade 2000 with multiple testing without Bonferroni correction.</vt:lpstr>
      <vt:lpstr>The decline of GMM panel fashion</vt:lpstr>
      <vt:lpstr>David Roodman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of the year meeting Master 2 Financial Economics</dc:title>
  <dc:creator>Jean-Bernard CHATELAIN</dc:creator>
  <cp:lastModifiedBy>UBERTI BONA BLOTTO LORENZO ALESSANDRO</cp:lastModifiedBy>
  <cp:revision>771</cp:revision>
  <cp:lastPrinted>2016-08-31T16:47:33Z</cp:lastPrinted>
  <dcterms:created xsi:type="dcterms:W3CDTF">2016-08-31T15:14:24Z</dcterms:created>
  <dcterms:modified xsi:type="dcterms:W3CDTF">2025-12-23T11:11:07Z</dcterms:modified>
</cp:coreProperties>
</file>